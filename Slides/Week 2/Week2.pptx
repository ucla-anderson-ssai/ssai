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2"/>
  </p:notesMasterIdLst>
  <p:sldIdLst>
    <p:sldId id="332" r:id="rId2"/>
    <p:sldId id="256" r:id="rId3"/>
    <p:sldId id="257" r:id="rId4"/>
    <p:sldId id="258" r:id="rId5"/>
    <p:sldId id="259" r:id="rId6"/>
    <p:sldId id="261" r:id="rId7"/>
    <p:sldId id="260" r:id="rId8"/>
    <p:sldId id="314" r:id="rId9"/>
    <p:sldId id="263" r:id="rId10"/>
    <p:sldId id="316" r:id="rId11"/>
    <p:sldId id="265" r:id="rId12"/>
    <p:sldId id="266" r:id="rId13"/>
    <p:sldId id="315" r:id="rId14"/>
    <p:sldId id="319" r:id="rId15"/>
    <p:sldId id="320" r:id="rId16"/>
    <p:sldId id="313" r:id="rId17"/>
    <p:sldId id="312" r:id="rId18"/>
    <p:sldId id="272" r:id="rId19"/>
    <p:sldId id="273" r:id="rId20"/>
    <p:sldId id="331" r:id="rId21"/>
    <p:sldId id="329" r:id="rId22"/>
    <p:sldId id="328" r:id="rId23"/>
    <p:sldId id="330" r:id="rId24"/>
    <p:sldId id="277" r:id="rId25"/>
    <p:sldId id="276" r:id="rId26"/>
    <p:sldId id="303" r:id="rId27"/>
    <p:sldId id="309" r:id="rId28"/>
    <p:sldId id="311" r:id="rId29"/>
    <p:sldId id="280" r:id="rId30"/>
    <p:sldId id="317" r:id="rId31"/>
    <p:sldId id="282" r:id="rId32"/>
    <p:sldId id="283" r:id="rId33"/>
    <p:sldId id="324" r:id="rId34"/>
    <p:sldId id="325" r:id="rId35"/>
    <p:sldId id="326" r:id="rId36"/>
    <p:sldId id="327" r:id="rId37"/>
    <p:sldId id="321" r:id="rId38"/>
    <p:sldId id="287" r:id="rId39"/>
    <p:sldId id="288" r:id="rId40"/>
    <p:sldId id="334" r:id="rId41"/>
    <p:sldId id="292" r:id="rId42"/>
    <p:sldId id="318" r:id="rId43"/>
    <p:sldId id="291" r:id="rId44"/>
    <p:sldId id="294" r:id="rId45"/>
    <p:sldId id="297" r:id="rId46"/>
    <p:sldId id="333" r:id="rId47"/>
    <p:sldId id="299" r:id="rId48"/>
    <p:sldId id="300" r:id="rId49"/>
    <p:sldId id="306" r:id="rId50"/>
    <p:sldId id="307" r:id="rId5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74AE"/>
    <a:srgbClr val="005587"/>
    <a:srgbClr val="FFD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003"/>
    <p:restoredTop sz="94675"/>
  </p:normalViewPr>
  <p:slideViewPr>
    <p:cSldViewPr snapToGrid="0" snapToObjects="1">
      <p:cViewPr varScale="1">
        <p:scale>
          <a:sx n="141" d="100"/>
          <a:sy n="141" d="100"/>
        </p:scale>
        <p:origin x="2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8648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84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AAC11-D0D3-9EDB-7413-4D02EF629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2EC4DD-9F33-1AB0-6277-81F612B3E0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143A59-9C0D-DBE3-85E6-AB97FB479C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0F4D02-9CD8-CA5F-431D-D299DDED8F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8914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CDD0E-7B5C-6D3B-3B3A-BACB14C05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D8B080-6648-1A14-F651-DDC2D756BC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50DE2C-2DC1-490F-1844-B1FC82D8CB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9B0E2D-13AB-5972-0693-72E0641359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4590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6F76F-1A3A-6196-61A1-C6C6B8A1A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66DAF7-339F-1B2B-1109-C699BD0D78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D7816E-7560-B07F-DF77-553D9A4308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85C39D-358D-9989-2535-D81D37BBCC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2947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3234D-AD48-5EF6-E4D2-7CAA855F7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43D01E-3EB2-139B-F42B-42200F7110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937E5F-7D39-8B9B-D3DF-CEDDE07A0F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D8D09E-3DAE-ABA6-EF41-CBD93AF1F2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990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EAE10-CC78-9528-D002-5E588734A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B4EB9C-F31B-3FF8-764C-0C595B5FF5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D67E22-12DE-EBB0-C6DF-5DEA459B00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BACCAC-939F-5001-9F20-A760E77DAF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3724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5A188-3D03-3171-DD05-CDECC130F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6EB367-8BEF-2DD6-6153-130542C997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132C3E-A6C8-BC53-B845-1148B29466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71FBEC-41D7-19D7-BCD4-41115FE5FA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2771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7A0E6-4DE2-70F5-ABD9-D99C72D10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8745D3-D2D1-04B0-AC3F-6634625DC3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EAE742-07D9-9E50-2787-270E26FF03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793C13-028F-4D3B-EDA8-98C6A0BC53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8199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4FCF1-D257-9FF4-DDA9-83E9F6A61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93C308-32BD-168A-BAD8-44DCF96F2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E748BF-6C88-8DD9-62B9-85259D499C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271B19-2AC7-59DA-25C0-093A458D40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7916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90296-AD6A-DFAA-CA61-A963EDF5C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816A73-37AA-C081-B165-71A6821DE8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57E647-4EB9-15B8-3FDA-8101E618BF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88A6B4-0FE5-0D0D-5EBB-D3166E3E8D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7991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D6DA5-DA78-A7C3-3B33-963D2DA6D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80C385-1C60-4D9E-BC4D-0D263878F3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D55A6C-8FC9-D4BD-1B27-A9BB9B2F1F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1CB726-CDB6-B561-135C-B4FBEEFAF7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3309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CDE2A-4AA1-C37F-DBDB-333EF02CD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F6DB96-5D81-3F10-CF3E-F18E9C9FB6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4B41AD-D41E-7ED0-A017-6B00539952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5096CC-B3D5-1977-80F7-F8D6EC6A64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0121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2F8B3-9490-44C8-C419-A93A7308D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20D8C6-88CB-1980-FBB1-3C05AF35BD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2054FF-0BE3-4E21-2CB3-E0A08DAA80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6DC01E-F306-971E-B23F-51F0E4DAE5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43565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83DA1-49A1-CB99-2998-E2A09B4EB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3C1075-F582-0982-9C06-823901335D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D07B9F-CE75-9953-6A6C-8F2EFA9DCE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FB6A46-79D1-5993-8E18-29A8A5109F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25116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84177-34F7-882C-1E54-FD3DA58E1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29B9E1-EA4A-93E8-7205-8EB21FF4BC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C87BB4-CD2A-2C58-4406-5EB983EB61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0AD3BC-95BC-EBE8-E625-79D3EF0B1D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41497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1F231-403C-C5C8-3543-2F7CBC63E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FE3580-58F5-AAB1-2DA3-BE4160D23E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F6B8FD-E9D0-3AE4-88BE-0B8EB5CE47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36751-2AC9-524E-42E0-81BCBAD077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44075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AB4B5-B739-C9AC-814B-2E1002B09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774101-27EE-C5B6-E686-D559EE252B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4D5F70-DBBF-65A5-260E-A4D0552E71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A757A9-4DF6-BD2C-ACC3-91049F9AB9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59199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C240B-3142-8386-707C-43371CD2A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7EDEA9-C1AA-2C5A-8E86-CFFFBDD0A2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CDF21B-9D9C-4566-BBBF-0178A57D03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A5E10F-C7F0-5AD1-1893-C99053B26D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97039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7AE19-5ECC-49E0-A2E4-BFD741432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D9A777-1FB0-B93F-4DDE-60D640DA06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77F9F7-C858-9058-CBD9-81CA86ABD1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A03F4A-22F1-8063-5605-4551A550BF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46885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5D03C-ED43-C65E-5EB5-09FDC01EF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5FD388-CA57-87B1-5666-9554DC1EAA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AC6748-EF1A-62BF-6B2B-010FF9EFDC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7260DD-CAA3-A2E5-FFCA-BC1D80E878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48347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1E2FF-E92A-83E8-6CFD-6149DDDF9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312672-6096-6C70-4372-6A7267D6C5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E1F2E0-DEFD-F4EF-7451-A1671911A8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E3C8CE-B92A-E943-8064-600EC0F2EB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1286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91548-9F61-4A65-1143-F237544D2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60DB29-C893-74C6-D9B7-34E89A6105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6E9FA8-B47C-0124-7D95-C5A2016C30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997982-CF8E-A1C5-CC45-D419A7219E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14329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20E0D-50B0-75BF-956F-1200CD606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6A8714-DADB-29A3-85DD-8BCEBF97CD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FEB34B-DA12-E832-7C62-308C90325C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D9D7E4-7933-5BCC-B878-C0D8D3CA88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48955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AAF0A-C413-4330-C3D5-5114215C8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62680A-AAFB-F213-2105-2A7C51529D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BEF4E4-0CF2-A9F6-1145-6927721B43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703DB8-8CA8-F457-A05C-EC979163C7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90473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ucla-anderson-ssai.github.io/SSAI/Simulation%20Demos/Week%202%20-%20Regression%20Tree%20Splits.html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jpe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ucla-anderson-SSAI/SSAI/blob/main/Notebooks/Week2.ipynb" TargetMode="Externa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BB2AF40B-18FF-293F-C548-04B23D1573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74141" y="352707"/>
            <a:ext cx="4598894" cy="4598894"/>
          </a:xfrm>
          <a:prstGeom prst="rect">
            <a:avLst/>
          </a:prstGeom>
        </p:spPr>
      </p:pic>
      <p:sp>
        <p:nvSpPr>
          <p:cNvPr id="2" name="Text 3">
            <a:extLst>
              <a:ext uri="{FF2B5EF4-FFF2-40B4-BE49-F238E27FC236}">
                <a16:creationId xmlns:a16="http://schemas.microsoft.com/office/drawing/2014/main" id="{7A8B3290-C994-3FEC-CADA-D04042C8D4B6}"/>
              </a:ext>
            </a:extLst>
          </p:cNvPr>
          <p:cNvSpPr/>
          <p:nvPr/>
        </p:nvSpPr>
        <p:spPr>
          <a:xfrm>
            <a:off x="304800" y="2579594"/>
            <a:ext cx="35589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774AE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Guess the </a:t>
            </a:r>
            <a:r>
              <a:rPr lang="en-US" sz="2800" dirty="0">
                <a:solidFill>
                  <a:srgbClr val="2774AE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exact</a:t>
            </a:r>
            <a:r>
              <a:rPr lang="en-US" sz="2800" b="1" dirty="0">
                <a:solidFill>
                  <a:srgbClr val="2774AE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 number of jolly ranchers in the jar</a:t>
            </a:r>
          </a:p>
          <a:p>
            <a:pPr marL="0" indent="0" algn="ctr">
              <a:buNone/>
            </a:pPr>
            <a:r>
              <a:rPr lang="en-US" sz="2800" b="1" dirty="0">
                <a:solidFill>
                  <a:srgbClr val="2774AE"/>
                </a:solidFill>
                <a:latin typeface="Whitney Bold" pitchFamily="34" charset="0"/>
                <a:cs typeface="Whitney Bold" pitchFamily="34" charset="-120"/>
              </a:rPr>
              <a:t>--</a:t>
            </a:r>
            <a:r>
              <a:rPr lang="en-US" sz="2800" b="1" dirty="0">
                <a:solidFill>
                  <a:srgbClr val="2774AE"/>
                </a:solidFill>
                <a:latin typeface="Whitney Bold" pitchFamily="34" charset="0"/>
                <a:cs typeface="Whitney Bold" pitchFamily="34" charset="-120"/>
                <a:sym typeface="Wingdings" pitchFamily="2" charset="2"/>
              </a:rPr>
              <a:t>---------------&gt;</a:t>
            </a:r>
          </a:p>
          <a:p>
            <a:pPr marL="0" indent="0" algn="ctr">
              <a:buNone/>
            </a:pPr>
            <a:endParaRPr lang="en-US" sz="2800" b="1" dirty="0">
              <a:solidFill>
                <a:srgbClr val="2774AE"/>
              </a:solidFill>
              <a:latin typeface="Whitney Bold" pitchFamily="34" charset="0"/>
              <a:cs typeface="Whitney Bold" pitchFamily="34" charset="-120"/>
              <a:sym typeface="Wingdings" pitchFamily="2" charset="2"/>
            </a:endParaRPr>
          </a:p>
          <a:p>
            <a:pPr marL="0" indent="0" algn="ctr">
              <a:buNone/>
            </a:pPr>
            <a:endParaRPr lang="en-US" sz="2800" b="1" dirty="0">
              <a:solidFill>
                <a:srgbClr val="2774AE"/>
              </a:solidFill>
              <a:latin typeface="Whitney Bold" pitchFamily="34" charset="0"/>
              <a:cs typeface="Whitney Bold" pitchFamily="34" charset="-12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436262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5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0" y="1645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D100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Week 2</a:t>
            </a:r>
            <a:endParaRPr lang="en-US" sz="2000" dirty="0">
              <a:solidFill>
                <a:srgbClr val="FFD10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0" y="22860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Tree-Based Models: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CART, Random Forests, XGBoost</a:t>
            </a:r>
            <a:endParaRPr lang="en-US" sz="3600" dirty="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3398CE6D-DFE5-0A9C-9EB2-0756CE6AFA51}"/>
              </a:ext>
            </a:extLst>
          </p:cNvPr>
          <p:cNvSpPr/>
          <p:nvPr/>
        </p:nvSpPr>
        <p:spPr>
          <a:xfrm>
            <a:off x="457199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MGMT298D</a:t>
            </a: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Science and Strategy of AI</a:t>
            </a:r>
            <a:b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</a:br>
            <a:endParaRPr 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D1ADE275-9F81-28A7-2DCF-50EBEA6ACA47}"/>
              </a:ext>
            </a:extLst>
          </p:cNvPr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Auyon Siddiq</a:t>
            </a:r>
            <a:b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UCLA Anderson School of Management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car on a blue background  AI-generated content may be incorrect.">
            <a:extLst>
              <a:ext uri="{FF2B5EF4-FFF2-40B4-BE49-F238E27FC236}">
                <a16:creationId xmlns:a16="http://schemas.microsoft.com/office/drawing/2014/main" id="{D78A076A-57F9-D308-E9BC-EA1DA02FA6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766" y="1285480"/>
            <a:ext cx="2962778" cy="3134074"/>
          </a:xfrm>
          <a:prstGeom prst="rect">
            <a:avLst/>
          </a:prstGeom>
        </p:spPr>
      </p:pic>
      <p:pic>
        <p:nvPicPr>
          <p:cNvPr id="5" name="Picture 4" descr="Value Tracker – Katy Cook">
            <a:extLst>
              <a:ext uri="{FF2B5EF4-FFF2-40B4-BE49-F238E27FC236}">
                <a16:creationId xmlns:a16="http://schemas.microsoft.com/office/drawing/2014/main" id="{979C3C6D-5B03-663F-F53C-D3FAC366DE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1" r="5379"/>
          <a:stretch>
            <a:fillRect/>
          </a:stretch>
        </p:blipFill>
        <p:spPr bwMode="auto">
          <a:xfrm>
            <a:off x="385894" y="1384182"/>
            <a:ext cx="5150842" cy="2936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text  AI-generated content may be incorrect.">
            <a:extLst>
              <a:ext uri="{FF2B5EF4-FFF2-40B4-BE49-F238E27FC236}">
                <a16:creationId xmlns:a16="http://schemas.microsoft.com/office/drawing/2014/main" id="{BE1CFE8B-AD44-286A-BF58-5204C1B08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778" y="359840"/>
            <a:ext cx="7772400" cy="1565958"/>
          </a:xfrm>
          <a:prstGeom prst="rect">
            <a:avLst/>
          </a:prstGeom>
        </p:spPr>
      </p:pic>
      <p:pic>
        <p:nvPicPr>
          <p:cNvPr id="5" name="Picture 8">
            <a:extLst>
              <a:ext uri="{FF2B5EF4-FFF2-40B4-BE49-F238E27FC236}">
                <a16:creationId xmlns:a16="http://schemas.microsoft.com/office/drawing/2014/main" id="{A57D4B12-8CC6-8FAC-5041-110C25E856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3948" y="2361543"/>
            <a:ext cx="4493251" cy="2310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sign  AI-generated content may be incorrect.">
            <a:extLst>
              <a:ext uri="{FF2B5EF4-FFF2-40B4-BE49-F238E27FC236}">
                <a16:creationId xmlns:a16="http://schemas.microsoft.com/office/drawing/2014/main" id="{0C392FF5-DBD0-8B86-C46D-D25A9E429C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129" y="1084420"/>
            <a:ext cx="8751871" cy="1565957"/>
          </a:xfrm>
          <a:prstGeom prst="rect">
            <a:avLst/>
          </a:prstGeom>
        </p:spPr>
      </p:pic>
      <p:pic>
        <p:nvPicPr>
          <p:cNvPr id="5" name="Picture 4" descr="A white background with black text  AI-generated content may be incorrect.">
            <a:extLst>
              <a:ext uri="{FF2B5EF4-FFF2-40B4-BE49-F238E27FC236}">
                <a16:creationId xmlns:a16="http://schemas.microsoft.com/office/drawing/2014/main" id="{A8750DAA-E171-E51C-BF55-E58C4B08F9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6136" y="2880110"/>
            <a:ext cx="7158135" cy="14816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55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Algorithmic Pricing: </a:t>
            </a:r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Carvana and Zillow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Handout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Week 1 Recap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43227"/>
            <a:ext cx="8321040" cy="1923595"/>
          </a:xfrm>
          <a:prstGeom prst="rect">
            <a:avLst/>
          </a:prstGeom>
          <a:noFill/>
          <a:ln/>
        </p:spPr>
        <p:txBody>
          <a:bodyPr wrap="square" lIns="0" tIns="76200" rIns="0" bIns="0" rtlCol="0" anchor="t"/>
          <a:lstStyle/>
          <a:p>
            <a:pPr>
              <a:spcAft>
                <a:spcPts val="600"/>
              </a:spcAft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is a branch of AI focused on prediction from tabular data</a:t>
            </a:r>
          </a:p>
          <a:p>
            <a:pPr>
              <a:spcAft>
                <a:spcPts val="600"/>
              </a:spcAft>
            </a:pPr>
            <a:endParaRPr lang="en-US" dirty="0">
              <a:latin typeface="Arial" pitchFamily="34" charset="0"/>
              <a:cs typeface="Arial" pitchFamily="34" charset="-120"/>
            </a:endParaRPr>
          </a:p>
          <a:p>
            <a:pPr>
              <a:spcAft>
                <a:spcPts val="600"/>
              </a:spcAft>
            </a:pPr>
            <a:r>
              <a:rPr lang="en-US" dirty="0">
                <a:latin typeface="Arial" pitchFamily="34" charset="0"/>
                <a:cs typeface="Arial" pitchFamily="34" charset="-120"/>
              </a:rPr>
              <a:t>ML and AI models are trained by minimizing a </a:t>
            </a:r>
            <a:r>
              <a:rPr lang="en-US" b="1" dirty="0">
                <a:latin typeface="Arial" pitchFamily="34" charset="0"/>
                <a:cs typeface="Arial" pitchFamily="34" charset="-120"/>
              </a:rPr>
              <a:t>loss function </a:t>
            </a:r>
            <a:r>
              <a:rPr lang="en-US" i="1" dirty="0">
                <a:latin typeface="Arial" pitchFamily="34" charset="0"/>
                <a:cs typeface="Arial" pitchFamily="34" charset="-120"/>
              </a:rPr>
              <a:t>– </a:t>
            </a:r>
            <a:r>
              <a:rPr lang="en-US" dirty="0">
                <a:latin typeface="Arial" pitchFamily="34" charset="0"/>
                <a:cs typeface="Arial" pitchFamily="34" charset="-120"/>
              </a:rPr>
              <a:t>a measure of error between true labels and model predictions</a:t>
            </a:r>
          </a:p>
          <a:p>
            <a:pPr>
              <a:spcAft>
                <a:spcPts val="600"/>
              </a:spcAft>
            </a:pPr>
            <a:br>
              <a:rPr lang="en-US" dirty="0">
                <a:latin typeface="Arial" pitchFamily="34" charset="0"/>
                <a:cs typeface="Arial" pitchFamily="34" charset="-120"/>
              </a:rPr>
            </a:br>
            <a:r>
              <a:rPr lang="en-US" dirty="0">
                <a:latin typeface="Arial" pitchFamily="34" charset="0"/>
                <a:cs typeface="Arial" pitchFamily="34" charset="-120"/>
              </a:rPr>
              <a:t>Training optimization process gives us the model </a:t>
            </a:r>
            <a:r>
              <a:rPr lang="en-US" b="1" dirty="0">
                <a:latin typeface="Arial" pitchFamily="34" charset="0"/>
                <a:cs typeface="Arial" pitchFamily="34" charset="-120"/>
              </a:rPr>
              <a:t>weights</a:t>
            </a:r>
          </a:p>
          <a:p>
            <a:pPr>
              <a:spcAft>
                <a:spcPts val="600"/>
              </a:spcAft>
            </a:pPr>
            <a:endParaRPr lang="en-US" dirty="0">
              <a:latin typeface="Arial" pitchFamily="34" charset="0"/>
              <a:cs typeface="Arial" pitchFamily="34" charset="-120"/>
            </a:endParaRPr>
          </a:p>
          <a:p>
            <a:pPr>
              <a:spcAft>
                <a:spcPts val="600"/>
              </a:spcAft>
            </a:pPr>
            <a:r>
              <a:rPr lang="en-US" dirty="0">
                <a:latin typeface="Arial" pitchFamily="34" charset="0"/>
                <a:cs typeface="Arial" pitchFamily="34" charset="-120"/>
              </a:rPr>
              <a:t>Linear regression is an example of an ML model. Feature engineering allows for richer models (recall H&amp;M sales) and regularization prevents overfitting to data</a:t>
            </a:r>
          </a:p>
          <a:p>
            <a:pPr>
              <a:spcAft>
                <a:spcPts val="600"/>
              </a:spcAft>
            </a:pPr>
            <a:endParaRPr lang="en-US" dirty="0">
              <a:latin typeface="Arial" pitchFamily="34" charset="0"/>
              <a:cs typeface="Arial" pitchFamily="34" charset="-120"/>
            </a:endParaRPr>
          </a:p>
          <a:p>
            <a:pPr>
              <a:spcAft>
                <a:spcPts val="600"/>
              </a:spcAft>
            </a:pPr>
            <a:r>
              <a:rPr lang="en-US" dirty="0">
                <a:latin typeface="Arial" pitchFamily="34" charset="0"/>
                <a:cs typeface="Arial" pitchFamily="34" charset="-120"/>
              </a:rPr>
              <a:t>Regularization hyperparameters (LASSO, Ridge, </a:t>
            </a:r>
            <a:r>
              <a:rPr lang="en-US" dirty="0" err="1">
                <a:latin typeface="Arial" pitchFamily="34" charset="0"/>
                <a:cs typeface="Arial" pitchFamily="34" charset="-120"/>
              </a:rPr>
              <a:t>ElasticNet</a:t>
            </a:r>
            <a:r>
              <a:rPr lang="en-US" dirty="0">
                <a:latin typeface="Arial" pitchFamily="34" charset="0"/>
                <a:cs typeface="Arial" pitchFamily="34" charset="-120"/>
              </a:rPr>
              <a:t>) selected via </a:t>
            </a:r>
            <a:r>
              <a:rPr lang="en-US" b="1" dirty="0">
                <a:latin typeface="Arial" pitchFamily="34" charset="0"/>
                <a:cs typeface="Arial" pitchFamily="34" charset="-120"/>
              </a:rPr>
              <a:t>cross-validation</a:t>
            </a:r>
            <a:r>
              <a:rPr lang="en-US" dirty="0">
                <a:latin typeface="Arial" pitchFamily="34" charset="0"/>
                <a:cs typeface="Arial" pitchFamily="34" charset="-120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5743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F670E-733D-19E1-889D-51D6DFA29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8107D47-246C-9659-DD54-F6B0EC7F3E07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A6C8235-7ED1-205E-2C63-914E00FD7B92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Today’s Class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1BE361E-AE24-13F4-734C-596AAC84D7D4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425BC7B-DE48-8E5F-7978-CB850A830BD7}"/>
              </a:ext>
            </a:extLst>
          </p:cNvPr>
          <p:cNvSpPr/>
          <p:nvPr/>
        </p:nvSpPr>
        <p:spPr>
          <a:xfrm>
            <a:off x="457200" y="1088051"/>
            <a:ext cx="8321040" cy="1923595"/>
          </a:xfrm>
          <a:prstGeom prst="rect">
            <a:avLst/>
          </a:prstGeom>
          <a:noFill/>
          <a:ln/>
        </p:spPr>
        <p:txBody>
          <a:bodyPr wrap="square" lIns="0" tIns="76200" rIns="0" bIns="0" rtlCol="0" anchor="t"/>
          <a:lstStyle/>
          <a:p>
            <a:pPr>
              <a:spcAft>
                <a:spcPts val="600"/>
              </a:spcAft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We’ll cover an alternative framework to linear regression for standard machine learning predictive tasks</a:t>
            </a:r>
          </a:p>
          <a:p>
            <a:pPr>
              <a:spcAft>
                <a:spcPts val="600"/>
              </a:spcAft>
            </a:pPr>
            <a:endParaRPr lang="en-US" dirty="0"/>
          </a:p>
          <a:p>
            <a:pPr>
              <a:spcAft>
                <a:spcPts val="600"/>
              </a:spcAft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Industry-strength “gold standard” method: XGBoost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849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55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Classification and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Regression Trees (CART)</a:t>
            </a:r>
            <a:endParaRPr lang="en-US" sz="3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680D7-062B-6253-CB61-8F77D0F68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E9E9AF2-F830-4F37-15AA-E30231CCDF91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78F2741-2E19-CC12-A34E-BB16C1E403C8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Classification and Regression Trees (CART)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CA6BDB3-7FFC-4BF0-AFEA-3B187A5A8202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21C6264-1BEC-2AF8-792A-4140A4D98C8A}"/>
              </a:ext>
            </a:extLst>
          </p:cNvPr>
          <p:cNvSpPr/>
          <p:nvPr/>
        </p:nvSpPr>
        <p:spPr>
          <a:xfrm>
            <a:off x="457200" y="1088051"/>
            <a:ext cx="8321040" cy="3500723"/>
          </a:xfrm>
          <a:prstGeom prst="rect">
            <a:avLst/>
          </a:prstGeom>
          <a:noFill/>
          <a:ln/>
        </p:spPr>
        <p:txBody>
          <a:bodyPr wrap="square" lIns="0" tIns="76200" rIns="0" bIns="0" rtlCol="0" anchor="t"/>
          <a:lstStyle/>
          <a:p>
            <a:pPr>
              <a:spcAft>
                <a:spcPts val="600"/>
              </a:spcAft>
            </a:pPr>
            <a:r>
              <a:rPr lang="en-US" sz="2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Tree-based models</a:t>
            </a:r>
            <a:r>
              <a:rPr lang="en-US" sz="2000" dirty="0">
                <a:latin typeface="Arial" pitchFamily="34" charset="0"/>
                <a:ea typeface="Arial" pitchFamily="34" charset="-122"/>
                <a:cs typeface="Arial" pitchFamily="34" charset="-120"/>
              </a:rPr>
              <a:t>: Alternative to linear regression for predictions</a:t>
            </a:r>
          </a:p>
          <a:p>
            <a:pPr>
              <a:spcAft>
                <a:spcPts val="600"/>
              </a:spcAft>
            </a:pPr>
            <a:endParaRPr lang="en-US" sz="2000" dirty="0">
              <a:latin typeface="Arial" pitchFamily="34" charset="0"/>
              <a:cs typeface="Arial" pitchFamily="34" charset="-120"/>
            </a:endParaRPr>
          </a:p>
          <a:p>
            <a:pPr>
              <a:spcAft>
                <a:spcPts val="600"/>
              </a:spcAft>
            </a:pPr>
            <a:r>
              <a:rPr lang="en-US" sz="2000" dirty="0">
                <a:latin typeface="Arial" pitchFamily="34" charset="0"/>
                <a:cs typeface="Arial" pitchFamily="34" charset="-120"/>
              </a:rPr>
              <a:t>In addition to regression (predicting a number), can be used for classification (predicting a category)</a:t>
            </a:r>
            <a:br>
              <a:rPr lang="en-US" sz="2000" dirty="0">
                <a:latin typeface="Arial" pitchFamily="34" charset="0"/>
                <a:cs typeface="Arial" pitchFamily="34" charset="-120"/>
              </a:rPr>
            </a:br>
            <a:br>
              <a:rPr lang="en-US" sz="2000" dirty="0">
                <a:latin typeface="Arial" pitchFamily="34" charset="0"/>
                <a:cs typeface="Arial" pitchFamily="34" charset="-120"/>
              </a:rPr>
            </a:br>
            <a:r>
              <a:rPr lang="en-US" sz="2000" dirty="0">
                <a:latin typeface="Arial" pitchFamily="34" charset="0"/>
                <a:cs typeface="Arial" pitchFamily="34" charset="-120"/>
              </a:rPr>
              <a:t>Together called “CART”, sometimes also “decision tree”</a:t>
            </a:r>
            <a:endParaRPr lang="en-US" sz="2000" dirty="0"/>
          </a:p>
        </p:txBody>
      </p:sp>
      <p:pic>
        <p:nvPicPr>
          <p:cNvPr id="1026" name="Picture 2" descr="Tree Specifications Made Simple: An Essential Guide for Buyers – Arundel  Arboretum">
            <a:extLst>
              <a:ext uri="{FF2B5EF4-FFF2-40B4-BE49-F238E27FC236}">
                <a16:creationId xmlns:a16="http://schemas.microsoft.com/office/drawing/2014/main" id="{F2AB259B-2C34-EEAC-83F6-A4CED9985D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9484" y="3219574"/>
            <a:ext cx="3405466" cy="1923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161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Regression Tree Example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156715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Sample of 375 used Range Rovers</a:t>
            </a:r>
            <a:endParaRPr lang="en-US" dirty="0"/>
          </a:p>
        </p:txBody>
      </p:sp>
      <p:pic>
        <p:nvPicPr>
          <p:cNvPr id="6" name="Image 0" descr="/sessions/gifted-affectionate-thompson/build/w2images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1746504"/>
            <a:ext cx="7772400" cy="322783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Picture 18" descr="A screenshot of a graph  AI-generated content may be incorrect.">
            <a:extLst>
              <a:ext uri="{FF2B5EF4-FFF2-40B4-BE49-F238E27FC236}">
                <a16:creationId xmlns:a16="http://schemas.microsoft.com/office/drawing/2014/main" id="{40A9CCCB-D526-A03A-1C64-A3F5670325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192" y="16778"/>
            <a:ext cx="3602189" cy="1392572"/>
          </a:xfrm>
          <a:prstGeom prst="rect">
            <a:avLst/>
          </a:prstGeom>
        </p:spPr>
      </p:pic>
      <p:pic>
        <p:nvPicPr>
          <p:cNvPr id="21" name="Picture 20" descr="A graph with numbers and dots  AI-generated content may be incorrect.">
            <a:extLst>
              <a:ext uri="{FF2B5EF4-FFF2-40B4-BE49-F238E27FC236}">
                <a16:creationId xmlns:a16="http://schemas.microsoft.com/office/drawing/2014/main" id="{8C0C978D-89BA-07A1-EDE8-433FCE4FB22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019"/>
          <a:stretch>
            <a:fillRect/>
          </a:stretch>
        </p:blipFill>
        <p:spPr>
          <a:xfrm>
            <a:off x="211989" y="1444024"/>
            <a:ext cx="5844862" cy="373303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29D4B-A089-80E7-5DA4-B8A283793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showing different stages of growth  AI-generated content may be incorrect.">
            <a:extLst>
              <a:ext uri="{FF2B5EF4-FFF2-40B4-BE49-F238E27FC236}">
                <a16:creationId xmlns:a16="http://schemas.microsoft.com/office/drawing/2014/main" id="{C6EF8FC0-4352-74AA-267F-33CB8113B3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41" b="-1820"/>
          <a:stretch>
            <a:fillRect/>
          </a:stretch>
        </p:blipFill>
        <p:spPr>
          <a:xfrm>
            <a:off x="203600" y="1410189"/>
            <a:ext cx="5844862" cy="3715694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0EC25895-8B37-960B-AA89-AA7CE9FD7EC6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Picture 18" descr="A screenshot of a graph  AI-generated content may be incorrect.">
            <a:extLst>
              <a:ext uri="{FF2B5EF4-FFF2-40B4-BE49-F238E27FC236}">
                <a16:creationId xmlns:a16="http://schemas.microsoft.com/office/drawing/2014/main" id="{2A18FE96-FE46-037A-B9D9-B609C49949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5192" y="17617"/>
            <a:ext cx="3602189" cy="1392572"/>
          </a:xfrm>
          <a:prstGeom prst="rect">
            <a:avLst/>
          </a:prstGeom>
        </p:spPr>
      </p:pic>
      <p:sp>
        <p:nvSpPr>
          <p:cNvPr id="4" name="Text 21">
            <a:extLst>
              <a:ext uri="{FF2B5EF4-FFF2-40B4-BE49-F238E27FC236}">
                <a16:creationId xmlns:a16="http://schemas.microsoft.com/office/drawing/2014/main" id="{21DE3C0E-77E7-2DCD-8F62-527CC6073341}"/>
              </a:ext>
            </a:extLst>
          </p:cNvPr>
          <p:cNvSpPr/>
          <p:nvPr/>
        </p:nvSpPr>
        <p:spPr>
          <a:xfrm>
            <a:off x="6048462" y="2718872"/>
            <a:ext cx="290259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Each leaf = a prediction</a:t>
            </a:r>
          </a:p>
          <a:p>
            <a:pPr marL="0" indent="0">
              <a:buNone/>
            </a:pP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average price of the vehicles in that leaf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6718425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5F07C-03C5-AA63-9045-2ED60B922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showing different stages of growth  AI-generated content may be incorrect.">
            <a:extLst>
              <a:ext uri="{FF2B5EF4-FFF2-40B4-BE49-F238E27FC236}">
                <a16:creationId xmlns:a16="http://schemas.microsoft.com/office/drawing/2014/main" id="{F64A606E-4B72-5099-52DC-0D69DBA079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41"/>
          <a:stretch>
            <a:fillRect/>
          </a:stretch>
        </p:blipFill>
        <p:spPr>
          <a:xfrm>
            <a:off x="54864" y="83890"/>
            <a:ext cx="4870005" cy="303958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D4251128-D0F4-D153-21F2-AE2B68D5CB8D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Picture 4" descr="A diagram of a tree  AI-generated content may be incorrect.">
            <a:extLst>
              <a:ext uri="{FF2B5EF4-FFF2-40B4-BE49-F238E27FC236}">
                <a16:creationId xmlns:a16="http://schemas.microsoft.com/office/drawing/2014/main" id="{63726B88-04CA-1B9F-CD0D-415BC8E748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4869" y="256045"/>
            <a:ext cx="4111756" cy="2507331"/>
          </a:xfrm>
          <a:prstGeom prst="rect">
            <a:avLst/>
          </a:prstGeom>
        </p:spPr>
      </p:pic>
      <p:pic>
        <p:nvPicPr>
          <p:cNvPr id="6" name="Picture 5" descr="A screenshot of a computer screen  AI-generated content may be incorrect.">
            <a:extLst>
              <a:ext uri="{FF2B5EF4-FFF2-40B4-BE49-F238E27FC236}">
                <a16:creationId xmlns:a16="http://schemas.microsoft.com/office/drawing/2014/main" id="{33ABFAE2-4C3F-B3C5-A010-C352FC3C9D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208" y="3295625"/>
            <a:ext cx="6960597" cy="1773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888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4F4B5-9F81-E67A-33AA-B5753BB1C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0711603-C9F7-4852-C6B7-5CD01BB059C7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2446FFD-F063-7F8F-26E2-0C28E4788F9A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cs typeface="Whitney Bold" pitchFamily="34" charset="-120"/>
              </a:rPr>
              <a:t>Training Regression Trees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CB76001-7BB6-1A1A-E71C-A87CBDE6C9C0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3BB3D6B-0BA3-537A-7349-8F749C88CFB2}"/>
              </a:ext>
            </a:extLst>
          </p:cNvPr>
          <p:cNvSpPr/>
          <p:nvPr/>
        </p:nvSpPr>
        <p:spPr>
          <a:xfrm>
            <a:off x="457200" y="1088051"/>
            <a:ext cx="8321040" cy="3500723"/>
          </a:xfrm>
          <a:prstGeom prst="rect">
            <a:avLst/>
          </a:prstGeom>
          <a:noFill/>
          <a:ln/>
        </p:spPr>
        <p:txBody>
          <a:bodyPr wrap="square" lIns="0" tIns="76200" rIns="0" bIns="0" rtlCol="0" anchor="t"/>
          <a:lstStyle/>
          <a:p>
            <a:pPr>
              <a:spcAft>
                <a:spcPts val="600"/>
              </a:spcAft>
            </a:pPr>
            <a:r>
              <a:rPr lang="en-US" sz="2000" dirty="0">
                <a:latin typeface="Arial" pitchFamily="34" charset="0"/>
                <a:cs typeface="Arial" pitchFamily="34" charset="-120"/>
              </a:rPr>
              <a:t>Training linear regression = finding model weights</a:t>
            </a:r>
          </a:p>
          <a:p>
            <a:pPr>
              <a:spcAft>
                <a:spcPts val="600"/>
              </a:spcAft>
            </a:pPr>
            <a:endParaRPr lang="en-US" sz="2000" dirty="0">
              <a:latin typeface="Arial" pitchFamily="34" charset="0"/>
              <a:cs typeface="Arial" pitchFamily="34" charset="-120"/>
            </a:endParaRPr>
          </a:p>
          <a:p>
            <a:pPr>
              <a:spcAft>
                <a:spcPts val="600"/>
              </a:spcAft>
            </a:pPr>
            <a:r>
              <a:rPr lang="en-US" sz="2000" dirty="0">
                <a:latin typeface="Arial" pitchFamily="34" charset="0"/>
                <a:cs typeface="Arial" pitchFamily="34" charset="-120"/>
              </a:rPr>
              <a:t>Training regression trees = finding split locations (“weight-free”)</a:t>
            </a:r>
          </a:p>
          <a:p>
            <a:pPr>
              <a:spcAft>
                <a:spcPts val="600"/>
              </a:spcAft>
            </a:pPr>
            <a:endParaRPr lang="en-US" sz="2000" dirty="0">
              <a:latin typeface="Arial" pitchFamily="34" charset="0"/>
              <a:cs typeface="Arial" pitchFamily="34" charset="-120"/>
            </a:endParaRPr>
          </a:p>
          <a:p>
            <a:pPr>
              <a:spcAft>
                <a:spcPts val="600"/>
              </a:spcAft>
            </a:pPr>
            <a:r>
              <a:rPr lang="en-US" sz="2000" dirty="0">
                <a:latin typeface="Arial" pitchFamily="34" charset="0"/>
                <a:cs typeface="Arial" pitchFamily="34" charset="-120"/>
              </a:rPr>
              <a:t>Main idea: At each split point, choose a feature and threshold value that minimizes combined error from each new leaf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825600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58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0E7CFD-F27A-50BB-8B7D-F6386964C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3"/>
            <a:extLst>
              <a:ext uri="{FF2B5EF4-FFF2-40B4-BE49-F238E27FC236}">
                <a16:creationId xmlns:a16="http://schemas.microsoft.com/office/drawing/2014/main" id="{FB40EA78-1C04-C2B4-F32D-66316FCA15F8}"/>
              </a:ext>
            </a:extLst>
          </p:cNvPr>
          <p:cNvSpPr/>
          <p:nvPr/>
        </p:nvSpPr>
        <p:spPr>
          <a:xfrm>
            <a:off x="914400" y="137160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D100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Regression Tree Splits</a:t>
            </a:r>
            <a:endParaRPr lang="en-US" sz="3600" dirty="0">
              <a:solidFill>
                <a:srgbClr val="FFD1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29270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641DB-5696-4AF6-1B55-33151116D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5EB3D9B-1B10-EAC6-5B9A-38F074C0B4BC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AB061A5-3E16-5922-85A5-8A525FB7F9C7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Depth &amp; Overfitting in Trees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4F9E998-8584-383B-EE1C-6DFD99BD66E7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Picture 39" descr="A diagram with colorful squares  AI-generated content may be incorrect.">
            <a:extLst>
              <a:ext uri="{FF2B5EF4-FFF2-40B4-BE49-F238E27FC236}">
                <a16:creationId xmlns:a16="http://schemas.microsoft.com/office/drawing/2014/main" id="{881372EA-AB41-7175-9729-64592D6ED7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395" y="3341573"/>
            <a:ext cx="8828650" cy="1619047"/>
          </a:xfrm>
          <a:prstGeom prst="rect">
            <a:avLst/>
          </a:prstGeom>
        </p:spPr>
      </p:pic>
      <p:sp>
        <p:nvSpPr>
          <p:cNvPr id="5" name="Text 3">
            <a:extLst>
              <a:ext uri="{FF2B5EF4-FFF2-40B4-BE49-F238E27FC236}">
                <a16:creationId xmlns:a16="http://schemas.microsoft.com/office/drawing/2014/main" id="{820A2731-12B8-A4E9-E56D-B899AA5B06B5}"/>
              </a:ext>
            </a:extLst>
          </p:cNvPr>
          <p:cNvSpPr/>
          <p:nvPr/>
        </p:nvSpPr>
        <p:spPr>
          <a:xfrm>
            <a:off x="457200" y="1088051"/>
            <a:ext cx="8321040" cy="3500723"/>
          </a:xfrm>
          <a:prstGeom prst="rect">
            <a:avLst/>
          </a:prstGeom>
          <a:noFill/>
          <a:ln/>
        </p:spPr>
        <p:txBody>
          <a:bodyPr wrap="square" lIns="0" tIns="76200" rIns="0" bIns="0" rtlCol="0" anchor="t"/>
          <a:lstStyle/>
          <a:p>
            <a:pPr>
              <a:spcAft>
                <a:spcPts val="600"/>
              </a:spcAft>
            </a:pPr>
            <a:r>
              <a:rPr lang="en-US" sz="2000" dirty="0">
                <a:latin typeface="Arial" pitchFamily="34" charset="0"/>
                <a:cs typeface="Arial" pitchFamily="34" charset="-120"/>
              </a:rPr>
              <a:t>Model complexity determined by tree depth </a:t>
            </a:r>
            <a:br>
              <a:rPr lang="en-US" sz="2000" dirty="0">
                <a:latin typeface="Arial" pitchFamily="34" charset="0"/>
                <a:cs typeface="Arial" pitchFamily="34" charset="-120"/>
              </a:rPr>
            </a:br>
            <a:endParaRPr lang="en-US" sz="2000" dirty="0">
              <a:latin typeface="Arial" pitchFamily="34" charset="0"/>
              <a:cs typeface="Arial" pitchFamily="34" charset="-120"/>
            </a:endParaRPr>
          </a:p>
          <a:p>
            <a:pPr>
              <a:spcAft>
                <a:spcPts val="600"/>
              </a:spcAft>
            </a:pPr>
            <a:r>
              <a:rPr lang="en-US" sz="2000" dirty="0">
                <a:latin typeface="Arial" pitchFamily="34" charset="0"/>
                <a:cs typeface="Arial" pitchFamily="34" charset="-120"/>
              </a:rPr>
              <a:t>Deep trees have stronger explanatory power, but also risk overfitting</a:t>
            </a:r>
          </a:p>
          <a:p>
            <a:pPr>
              <a:spcAft>
                <a:spcPts val="600"/>
              </a:spcAft>
            </a:pPr>
            <a:endParaRPr lang="en-US" sz="2000" dirty="0">
              <a:latin typeface="Arial" pitchFamily="34" charset="0"/>
              <a:cs typeface="Arial" pitchFamily="34" charset="-120"/>
            </a:endParaRPr>
          </a:p>
          <a:p>
            <a:pPr>
              <a:spcAft>
                <a:spcPts val="600"/>
              </a:spcAft>
            </a:pPr>
            <a:r>
              <a:rPr lang="en-US" sz="2000" dirty="0">
                <a:latin typeface="Arial" pitchFamily="34" charset="0"/>
                <a:cs typeface="Arial" pitchFamily="34" charset="-120"/>
              </a:rPr>
              <a:t>Depth of 4-5 is standard in many applications</a:t>
            </a:r>
          </a:p>
        </p:txBody>
      </p:sp>
    </p:spTree>
    <p:extLst>
      <p:ext uri="{BB962C8B-B14F-4D97-AF65-F5344CB8AC3E}">
        <p14:creationId xmlns:p14="http://schemas.microsoft.com/office/powerpoint/2010/main" val="23834109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Feature Importance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Tree-based models tell you which features drive predictions the most, e.g.,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Mileage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0" y="1600200"/>
            <a:ext cx="5029200" cy="274320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828800" y="1600200"/>
            <a:ext cx="1760220" cy="27432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995160" y="1508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9659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0" y="2057400"/>
            <a:ext cx="5029200" cy="274320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828800" y="2057400"/>
            <a:ext cx="1408176" cy="27432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995160" y="19659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4231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Trim Level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828800" y="2514600"/>
            <a:ext cx="5029200" cy="274320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828800" y="2514600"/>
            <a:ext cx="905256" cy="27432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995160" y="24231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28803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0" y="2971800"/>
            <a:ext cx="5029200" cy="274320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828800" y="2971800"/>
            <a:ext cx="502920" cy="27432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995160" y="28803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3375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828800" y="3429000"/>
            <a:ext cx="5029200" cy="274320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828800" y="3429000"/>
            <a:ext cx="251460" cy="27432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995160" y="33375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3794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28800" y="3886200"/>
            <a:ext cx="5029200" cy="274320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828800" y="3886200"/>
            <a:ext cx="201168" cy="27432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995160" y="3794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Trees vs Linear Regression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6F50FD3-C0BA-CED2-9CF5-615D05A8CE38}"/>
              </a:ext>
            </a:extLst>
          </p:cNvPr>
          <p:cNvSpPr/>
          <p:nvPr/>
        </p:nvSpPr>
        <p:spPr>
          <a:xfrm>
            <a:off x="457200" y="1088051"/>
            <a:ext cx="5180524" cy="1923595"/>
          </a:xfrm>
          <a:prstGeom prst="rect">
            <a:avLst/>
          </a:prstGeom>
          <a:noFill/>
          <a:ln/>
        </p:spPr>
        <p:txBody>
          <a:bodyPr wrap="square" lIns="0" tIns="76200" rIns="0" bIns="0" rtlCol="0" anchor="t"/>
          <a:lstStyle/>
          <a:p>
            <a:pPr>
              <a:spcAft>
                <a:spcPts val="600"/>
              </a:spcAft>
            </a:pPr>
            <a:r>
              <a:rPr lang="en-US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regression:</a:t>
            </a:r>
          </a:p>
          <a:p>
            <a:pPr>
              <a:spcAft>
                <a:spcPts val="600"/>
              </a:spcAft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Based on model weights, assumes linear relationship</a:t>
            </a:r>
          </a:p>
          <a:p>
            <a:pPr>
              <a:spcAft>
                <a:spcPts val="600"/>
              </a:spcAft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Requires feature engineering to capture non-linear relationships</a:t>
            </a:r>
          </a:p>
          <a:p>
            <a:pPr>
              <a:spcAft>
                <a:spcPts val="600"/>
              </a:spcAft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Generally does not overfit unless very small dataset and/or many features</a:t>
            </a:r>
          </a:p>
          <a:p>
            <a:pPr>
              <a:spcAft>
                <a:spcPts val="600"/>
              </a:spcAft>
            </a:pPr>
            <a:endParaRPr lang="en-US" dirty="0"/>
          </a:p>
          <a:p>
            <a:pPr>
              <a:spcAft>
                <a:spcPts val="600"/>
              </a:spcAft>
            </a:pPr>
            <a:r>
              <a:rPr lang="en-US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Regression trees:</a:t>
            </a:r>
            <a:endParaRPr lang="en-US" b="1" dirty="0">
              <a:latin typeface="Arial" pitchFamily="34" charset="0"/>
              <a:cs typeface="Arial" pitchFamily="34" charset="-120"/>
            </a:endParaRPr>
          </a:p>
          <a:p>
            <a:pPr>
              <a:spcAft>
                <a:spcPts val="600"/>
              </a:spcAft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No model weights, based on splitting the feature data “directly”</a:t>
            </a:r>
          </a:p>
          <a:p>
            <a:pPr>
              <a:spcAft>
                <a:spcPts val="600"/>
              </a:spcAft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Super flexible, no feature engineering required to capture non-linearity or variable interactions</a:t>
            </a:r>
          </a:p>
          <a:p>
            <a:pPr>
              <a:spcAft>
                <a:spcPts val="600"/>
              </a:spcAft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Tree depth is key for model’s power – deeper trees catch richer patterns in data but more prone to overfitting</a:t>
            </a:r>
          </a:p>
          <a:p>
            <a:pPr>
              <a:spcAft>
                <a:spcPts val="600"/>
              </a:spcAft>
            </a:pPr>
            <a:endParaRPr lang="en-US" b="1" dirty="0"/>
          </a:p>
        </p:txBody>
      </p:sp>
      <p:pic>
        <p:nvPicPr>
          <p:cNvPr id="2052" name="Picture 4" descr="3,957 Decision Tree Sign Symbol Royalty-Free Images, Stock Photos &amp;  Pictures | Shutterstock">
            <a:extLst>
              <a:ext uri="{FF2B5EF4-FFF2-40B4-BE49-F238E27FC236}">
                <a16:creationId xmlns:a16="http://schemas.microsoft.com/office/drawing/2014/main" id="{ED2FAC9A-E9C5-0C7B-AE67-08AA6EAEBA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3308" y="2868704"/>
            <a:ext cx="2005853" cy="2005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Linear Regression Animation Statistics Regression Model Stock Footage Video  (100% Royalty-free) 1085370725 | Shutterstock">
            <a:extLst>
              <a:ext uri="{FF2B5EF4-FFF2-40B4-BE49-F238E27FC236}">
                <a16:creationId xmlns:a16="http://schemas.microsoft.com/office/drawing/2014/main" id="{0419125B-265F-CCEC-AEE1-B7186A0E2D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00" t="1933" r="24853" b="8660"/>
          <a:stretch>
            <a:fillRect/>
          </a:stretch>
        </p:blipFill>
        <p:spPr bwMode="auto">
          <a:xfrm>
            <a:off x="6303308" y="1060036"/>
            <a:ext cx="2013734" cy="1923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8C7C27-0987-4AEC-8680-980AAF00F75B}"/>
              </a:ext>
            </a:extLst>
          </p:cNvPr>
          <p:cNvSpPr txBox="1"/>
          <p:nvPr/>
        </p:nvSpPr>
        <p:spPr>
          <a:xfrm>
            <a:off x="3142055" y="4689891"/>
            <a:ext cx="2215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Can we do better?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A37DE-030D-B5BF-7235-50EB518DA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CC21BF5-4DEE-22B6-2D4D-2DAA27B164AB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37CB26E-D8C7-F0C0-9BB4-78562C323C37}"/>
              </a:ext>
            </a:extLst>
          </p:cNvPr>
          <p:cNvSpPr/>
          <p:nvPr/>
        </p:nvSpPr>
        <p:spPr>
          <a:xfrm>
            <a:off x="2741728" y="2228850"/>
            <a:ext cx="366054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Jolly Ranchers Results</a:t>
            </a:r>
            <a:endParaRPr lang="en-US" sz="28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EACD4CE-0786-F1F2-71E3-59328FA42719}"/>
              </a:ext>
            </a:extLst>
          </p:cNvPr>
          <p:cNvSpPr/>
          <p:nvPr/>
        </p:nvSpPr>
        <p:spPr>
          <a:xfrm>
            <a:off x="446690" y="1151113"/>
            <a:ext cx="8823434" cy="1923595"/>
          </a:xfrm>
          <a:prstGeom prst="rect">
            <a:avLst/>
          </a:prstGeom>
          <a:noFill/>
          <a:ln/>
        </p:spPr>
        <p:txBody>
          <a:bodyPr wrap="square" lIns="0" tIns="76200" rIns="0" bIns="0" rtlCol="0" anchor="t"/>
          <a:lstStyle/>
          <a:p>
            <a:pPr>
              <a:spcAft>
                <a:spcPts val="600"/>
              </a:spcAft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742898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AA407-30E3-77E1-87E3-D7D8EE95E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DC59BAE-8185-EFE5-6637-5B491CCF2099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95F450F-F97A-FCBF-A416-3A7A6E7FA564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Ensembles in Machine Learning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7AF1D9F-719E-8B25-58E9-5774746CABEE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DF1E6FA7-9FBD-FDEA-AFF5-A1377F4A61D7}"/>
              </a:ext>
            </a:extLst>
          </p:cNvPr>
          <p:cNvSpPr/>
          <p:nvPr/>
        </p:nvSpPr>
        <p:spPr>
          <a:xfrm>
            <a:off x="457200" y="1088051"/>
            <a:ext cx="8321040" cy="1923595"/>
          </a:xfrm>
          <a:prstGeom prst="rect">
            <a:avLst/>
          </a:prstGeom>
          <a:noFill/>
          <a:ln/>
        </p:spPr>
        <p:txBody>
          <a:bodyPr wrap="square" lIns="0" tIns="76200" rIns="0" bIns="0" rtlCol="0" anchor="t"/>
          <a:lstStyle/>
          <a:p>
            <a:pPr>
              <a:spcAft>
                <a:spcPts val="600"/>
              </a:spcAft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One of the most powerful ideas in ML: </a:t>
            </a:r>
            <a:r>
              <a:rPr lang="en-US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ensembles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 of models</a:t>
            </a:r>
          </a:p>
          <a:p>
            <a:pPr>
              <a:spcAft>
                <a:spcPts val="600"/>
              </a:spcAft>
            </a:pPr>
            <a:endParaRPr lang="en-US" sz="1400" dirty="0"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spcAft>
                <a:spcPts val="600"/>
              </a:spcAft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Key idea: Train </a:t>
            </a:r>
            <a:r>
              <a:rPr lang="en-US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multiple 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models to produce predictions that outperform individual models</a:t>
            </a:r>
            <a:b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</a:br>
            <a:endParaRPr lang="en-US" dirty="0"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spcAft>
                <a:spcPts val="600"/>
              </a:spcAft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Intuition: Individual errors in models tend to cancel out, stabilizes predictions</a:t>
            </a:r>
          </a:p>
          <a:p>
            <a:pPr>
              <a:spcAft>
                <a:spcPts val="600"/>
              </a:spcAft>
            </a:pPr>
            <a:b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“Wisdom of the crowds”</a:t>
            </a:r>
          </a:p>
          <a:p>
            <a:pPr>
              <a:spcAft>
                <a:spcPts val="600"/>
              </a:spcAft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25272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44C3B-D674-8979-1D9F-A9A08B322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22CE243-F9FE-E6E8-5782-927F6A566841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F26C313-C1C4-51B4-EACD-E8E6C00FCA27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The Netflix Prize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30B5469-FF66-11DF-F831-F49678E19B1E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89386F9-57CA-EB83-1984-F1BE7D00AC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680" y="2660425"/>
            <a:ext cx="3712013" cy="2172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Netflix contest">
            <a:extLst>
              <a:ext uri="{FF2B5EF4-FFF2-40B4-BE49-F238E27FC236}">
                <a16:creationId xmlns:a16="http://schemas.microsoft.com/office/drawing/2014/main" id="{7CCABB4E-3F4A-6ABD-9AC6-0F758F7A56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5971" y="2571750"/>
            <a:ext cx="5019003" cy="2561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72FEF3C8-5EE1-3FBA-A12F-18E5276EFCE9}"/>
              </a:ext>
            </a:extLst>
          </p:cNvPr>
          <p:cNvSpPr/>
          <p:nvPr/>
        </p:nvSpPr>
        <p:spPr>
          <a:xfrm>
            <a:off x="457200" y="1088051"/>
            <a:ext cx="8823434" cy="1923595"/>
          </a:xfrm>
          <a:prstGeom prst="rect">
            <a:avLst/>
          </a:prstGeom>
          <a:noFill/>
          <a:ln/>
        </p:spPr>
        <p:txBody>
          <a:bodyPr wrap="square" lIns="0" tIns="76200" rIns="0" bIns="0" rtlCol="0" anchor="t"/>
          <a:lstStyle/>
          <a:p>
            <a:pPr>
              <a:spcAft>
                <a:spcPts val="600"/>
              </a:spcAft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Competition run by Netflix in late 2000s to beat in-house algorithm for recommendations by at least 10% </a:t>
            </a:r>
            <a:b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</a:br>
            <a:b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After ~3 years, winning team was an ensemble of multiple top models</a:t>
            </a:r>
          </a:p>
          <a:p>
            <a:pPr>
              <a:spcAft>
                <a:spcPts val="600"/>
              </a:spcAft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641089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58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F44C04-EBFF-3C43-0D56-4DE4986F7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DECC29A-5167-134A-5664-5D1A04AB360A}"/>
              </a:ext>
            </a:extLst>
          </p:cNvPr>
          <p:cNvSpPr/>
          <p:nvPr/>
        </p:nvSpPr>
        <p:spPr>
          <a:xfrm>
            <a:off x="914400" y="137160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Random Forests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5186120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Random Forest: Parallel Tree Building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/sessions/gifted-affectionate-thompson/build/w2images/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1801368"/>
            <a:ext cx="7845552" cy="234086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Training and Prediction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474617"/>
            <a:ext cx="8321040" cy="1097280"/>
          </a:xfrm>
          <a:prstGeom prst="rect">
            <a:avLst/>
          </a:prstGeom>
          <a:noFill/>
          <a:ln/>
        </p:spPr>
        <p:txBody>
          <a:bodyPr wrap="square" lIns="0" tIns="76200" rIns="0" bIns="0" rtlCol="0" anchor="t"/>
          <a:lstStyle/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16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At each split, consider only a random subset of features (default is 1/3)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16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Train a single (deep) regression tree on this sample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16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Repeat steps 1-3 for as many trees as you like (20, 100, 500)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541929" y="4148244"/>
            <a:ext cx="576430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= (Tree₁ + Tree₂ + ... + Tree₅₀₀) / 500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8B743E-FDE1-CD01-2AC2-40272766121D}"/>
              </a:ext>
            </a:extLst>
          </p:cNvPr>
          <p:cNvSpPr txBox="1"/>
          <p:nvPr/>
        </p:nvSpPr>
        <p:spPr>
          <a:xfrm>
            <a:off x="352338" y="1157681"/>
            <a:ext cx="1468073" cy="377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Training:</a:t>
            </a:r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50E27B16-9BB4-2CA3-453B-DB062918B400}"/>
              </a:ext>
            </a:extLst>
          </p:cNvPr>
          <p:cNvSpPr/>
          <p:nvPr/>
        </p:nvSpPr>
        <p:spPr>
          <a:xfrm>
            <a:off x="429730" y="3362867"/>
            <a:ext cx="7705288" cy="1097280"/>
          </a:xfrm>
          <a:prstGeom prst="rect">
            <a:avLst/>
          </a:prstGeom>
          <a:noFill/>
          <a:ln/>
        </p:spPr>
        <p:txBody>
          <a:bodyPr wrap="square" lIns="0" tIns="76200" rIns="0" bIns="0" rtlCol="0" anchor="t"/>
          <a:lstStyle/>
          <a:p>
            <a:pPr>
              <a:spcAft>
                <a:spcPts val="600"/>
              </a:spcAft>
            </a:pPr>
            <a:r>
              <a:rPr lang="en-US" sz="16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Each tree makes one prediction, final prediction is simply the average: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A2C15E-9F57-4E57-C767-D1D442BDA111}"/>
              </a:ext>
            </a:extLst>
          </p:cNvPr>
          <p:cNvSpPr txBox="1"/>
          <p:nvPr/>
        </p:nvSpPr>
        <p:spPr>
          <a:xfrm>
            <a:off x="324868" y="2979769"/>
            <a:ext cx="1468073" cy="377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Prediction: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Random Forest: Numerical Example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tree gives a slightly different prediction; the average is more stable: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38976" y="4457700"/>
            <a:ext cx="565765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Averaging reduces noise — more stable than any single tree</a:t>
            </a:r>
            <a:endParaRPr lang="en-US" sz="1600" dirty="0"/>
          </a:p>
        </p:txBody>
      </p:sp>
      <p:pic>
        <p:nvPicPr>
          <p:cNvPr id="9" name="Picture 8" descr="A screenshot of a graph  AI-generated content may be incorrect.">
            <a:extLst>
              <a:ext uri="{FF2B5EF4-FFF2-40B4-BE49-F238E27FC236}">
                <a16:creationId xmlns:a16="http://schemas.microsoft.com/office/drawing/2014/main" id="{705D95AC-A9C2-C951-34A8-15735BC453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69766"/>
            <a:ext cx="7772400" cy="29507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F393C3-D1E7-CC49-1A58-8B422763D5AE}"/>
              </a:ext>
            </a:extLst>
          </p:cNvPr>
          <p:cNvSpPr txBox="1"/>
          <p:nvPr/>
        </p:nvSpPr>
        <p:spPr>
          <a:xfrm>
            <a:off x="7422777" y="4320540"/>
            <a:ext cx="9123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MAE: $875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F0E24-B016-15D5-B3EA-D25FA1D64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1E9B312-C219-DAAA-5C80-57281C824BE7}"/>
              </a:ext>
            </a:extLst>
          </p:cNvPr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AE2146F-1B27-60A1-3841-1E6A025B8998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Random Forest: Numerical Example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0FFF22D-BE3E-0AAA-5302-657D23C3D3F9}"/>
              </a:ext>
            </a:extLst>
          </p:cNvPr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2B41A3-F23D-5791-5792-58C614239113}"/>
              </a:ext>
            </a:extLst>
          </p:cNvPr>
          <p:cNvSpPr txBox="1"/>
          <p:nvPr/>
        </p:nvSpPr>
        <p:spPr>
          <a:xfrm>
            <a:off x="1954637" y="1085024"/>
            <a:ext cx="1870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Single tree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DBE727-64C4-EBBD-223A-D1DB38FF470D}"/>
              </a:ext>
            </a:extLst>
          </p:cNvPr>
          <p:cNvSpPr txBox="1"/>
          <p:nvPr/>
        </p:nvSpPr>
        <p:spPr>
          <a:xfrm>
            <a:off x="5094219" y="1025914"/>
            <a:ext cx="3527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Random forest with 100 trees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187B745-F2C6-D0D8-F047-064ED727E7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264"/>
          <a:stretch>
            <a:fillRect/>
          </a:stretch>
        </p:blipFill>
        <p:spPr>
          <a:xfrm>
            <a:off x="685800" y="1454356"/>
            <a:ext cx="7772400" cy="2780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0565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9316F-4820-ABCA-8698-3B13B2CBD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55A5928-3875-9F5C-CB30-F56FEB6D13EB}"/>
              </a:ext>
            </a:extLst>
          </p:cNvPr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CB1EC5C-7BD6-E800-EC73-E732BD5A4615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Random Forest: Numerical Example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FB44995-B8BF-2046-A66E-A8267A45A0B3}"/>
              </a:ext>
            </a:extLst>
          </p:cNvPr>
          <p:cNvSpPr/>
          <p:nvPr/>
        </p:nvSpPr>
        <p:spPr>
          <a:xfrm>
            <a:off x="457200" y="822960"/>
            <a:ext cx="8229600" cy="1828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776D85-AD66-92AC-7FD8-4D8BA24B23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341"/>
          <a:stretch>
            <a:fillRect/>
          </a:stretch>
        </p:blipFill>
        <p:spPr>
          <a:xfrm>
            <a:off x="1246095" y="1255776"/>
            <a:ext cx="6405282" cy="36134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B19723-9A16-8E11-2E53-524FDF9B4491}"/>
              </a:ext>
            </a:extLst>
          </p:cNvPr>
          <p:cNvSpPr txBox="1"/>
          <p:nvPr/>
        </p:nvSpPr>
        <p:spPr>
          <a:xfrm>
            <a:off x="3130949" y="886968"/>
            <a:ext cx="3527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Random forest with depth = 10</a:t>
            </a:r>
          </a:p>
        </p:txBody>
      </p:sp>
    </p:spTree>
    <p:extLst>
      <p:ext uri="{BB962C8B-B14F-4D97-AF65-F5344CB8AC3E}">
        <p14:creationId xmlns:p14="http://schemas.microsoft.com/office/powerpoint/2010/main" val="20882287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Random Forest Hyperparameters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17220" y="1268730"/>
            <a:ext cx="8001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05587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Number of trees: </a:t>
            </a:r>
            <a:r>
              <a:rPr lang="en-US" sz="16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Typical: 50–500. Usually diminishing returns. Easier prediction problems need fewer trees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319272" y="109728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7220" y="2028825"/>
            <a:ext cx="778397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05587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Maximum tree depth: </a:t>
            </a:r>
            <a:r>
              <a:rPr lang="en-US" sz="16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Typical: 10–15. Deeper OK since averaging predictions controls overfitting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319272" y="164592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17220" y="2743200"/>
            <a:ext cx="7783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05587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Maximum features: </a:t>
            </a:r>
            <a:r>
              <a:rPr lang="en-US" sz="16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Features to consider per split. Typical: n/3. 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319272" y="232029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18705-F905-D39C-289D-E8762F2EE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5C61F51-AA40-517B-1CFB-9658378C99F5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60F994F-E20E-EA0E-EA2D-7185E5F76413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Summary: Trees vs. Forests vs. XGBoost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2952C7C-6156-5679-6878-3A0829D55930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D9578D9-130F-713A-DF24-DE82B3966D0F}"/>
              </a:ext>
            </a:extLst>
          </p:cNvPr>
          <p:cNvSpPr/>
          <p:nvPr/>
        </p:nvSpPr>
        <p:spPr>
          <a:xfrm>
            <a:off x="1883328" y="1504188"/>
            <a:ext cx="26517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7754247-5DC5-B57C-1FFA-C802EA9C8A3C}"/>
              </a:ext>
            </a:extLst>
          </p:cNvPr>
          <p:cNvSpPr/>
          <p:nvPr/>
        </p:nvSpPr>
        <p:spPr>
          <a:xfrm>
            <a:off x="1993056" y="1613916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Tree</a:t>
            </a:r>
            <a:endParaRPr lang="en-US" sz="16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06B013B3-8605-57A2-4EA1-02CCA222AF05}"/>
              </a:ext>
            </a:extLst>
          </p:cNvPr>
          <p:cNvSpPr/>
          <p:nvPr/>
        </p:nvSpPr>
        <p:spPr>
          <a:xfrm>
            <a:off x="1993056" y="1943100"/>
            <a:ext cx="2432304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C92A15C-6704-0ACF-D58C-B295F31D22C3}"/>
              </a:ext>
            </a:extLst>
          </p:cNvPr>
          <p:cNvSpPr/>
          <p:nvPr/>
        </p:nvSpPr>
        <p:spPr>
          <a:xfrm>
            <a:off x="1993056" y="2007108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Interpretability</a:t>
            </a:r>
            <a:endParaRPr lang="en-US" sz="9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72BECD0-81D9-7838-CEE6-D04DB7CE4C6B}"/>
              </a:ext>
            </a:extLst>
          </p:cNvPr>
          <p:cNvSpPr/>
          <p:nvPr/>
        </p:nvSpPr>
        <p:spPr>
          <a:xfrm>
            <a:off x="1993056" y="217170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6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1FC8278-94C2-19FC-C650-EC707530ED75}"/>
              </a:ext>
            </a:extLst>
          </p:cNvPr>
          <p:cNvSpPr/>
          <p:nvPr/>
        </p:nvSpPr>
        <p:spPr>
          <a:xfrm>
            <a:off x="2066208" y="2464308"/>
            <a:ext cx="22860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3145157-0461-51AF-211A-AE6E21BF5BBC}"/>
              </a:ext>
            </a:extLst>
          </p:cNvPr>
          <p:cNvSpPr/>
          <p:nvPr/>
        </p:nvSpPr>
        <p:spPr>
          <a:xfrm>
            <a:off x="1993056" y="2510028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Accuracy</a:t>
            </a:r>
            <a:endParaRPr lang="en-US" sz="9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878E59C-C596-AFA3-CEC8-0A67AD88BFA5}"/>
              </a:ext>
            </a:extLst>
          </p:cNvPr>
          <p:cNvSpPr/>
          <p:nvPr/>
        </p:nvSpPr>
        <p:spPr>
          <a:xfrm>
            <a:off x="1993056" y="267462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</a:t>
            </a:r>
            <a:endParaRPr lang="en-US" sz="16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B8ED0798-4F2F-4736-5813-8B6668DACD02}"/>
              </a:ext>
            </a:extLst>
          </p:cNvPr>
          <p:cNvSpPr/>
          <p:nvPr/>
        </p:nvSpPr>
        <p:spPr>
          <a:xfrm>
            <a:off x="2066208" y="2967228"/>
            <a:ext cx="22860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130F7AC-F121-4ABD-7509-03F51F4B8ACF}"/>
              </a:ext>
            </a:extLst>
          </p:cNvPr>
          <p:cNvSpPr/>
          <p:nvPr/>
        </p:nvSpPr>
        <p:spPr>
          <a:xfrm>
            <a:off x="1993056" y="3012948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Overfitting Risk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5AB983F-BAD1-AFD3-8005-24AD27513099}"/>
              </a:ext>
            </a:extLst>
          </p:cNvPr>
          <p:cNvSpPr/>
          <p:nvPr/>
        </p:nvSpPr>
        <p:spPr>
          <a:xfrm>
            <a:off x="1993056" y="317754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6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A62EE601-0123-2589-224F-F635A9A09D99}"/>
              </a:ext>
            </a:extLst>
          </p:cNvPr>
          <p:cNvSpPr/>
          <p:nvPr/>
        </p:nvSpPr>
        <p:spPr>
          <a:xfrm>
            <a:off x="2066208" y="3470148"/>
            <a:ext cx="22860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33577EB-4A59-60FF-82D7-3E4995B5AA77}"/>
              </a:ext>
            </a:extLst>
          </p:cNvPr>
          <p:cNvSpPr/>
          <p:nvPr/>
        </p:nvSpPr>
        <p:spPr>
          <a:xfrm>
            <a:off x="1993056" y="3515868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Tuning Required</a:t>
            </a:r>
            <a:endParaRPr lang="en-US" sz="9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235D672F-C5C8-015C-A554-F53E795597B7}"/>
              </a:ext>
            </a:extLst>
          </p:cNvPr>
          <p:cNvSpPr/>
          <p:nvPr/>
        </p:nvSpPr>
        <p:spPr>
          <a:xfrm>
            <a:off x="1993056" y="368046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</a:t>
            </a:r>
            <a:endParaRPr lang="en-US" sz="16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EA2CF684-50C0-1EDC-740E-DB10BBCC489C}"/>
              </a:ext>
            </a:extLst>
          </p:cNvPr>
          <p:cNvSpPr/>
          <p:nvPr/>
        </p:nvSpPr>
        <p:spPr>
          <a:xfrm>
            <a:off x="2066208" y="3973068"/>
            <a:ext cx="22860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5CC6AE20-E3F9-E67D-F0EE-514F28BDCA6D}"/>
              </a:ext>
            </a:extLst>
          </p:cNvPr>
          <p:cNvSpPr/>
          <p:nvPr/>
        </p:nvSpPr>
        <p:spPr>
          <a:xfrm>
            <a:off x="4672248" y="1504188"/>
            <a:ext cx="26517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AF7532F4-8A05-CC2F-695F-02A538E87F46}"/>
              </a:ext>
            </a:extLst>
          </p:cNvPr>
          <p:cNvSpPr/>
          <p:nvPr/>
        </p:nvSpPr>
        <p:spPr>
          <a:xfrm>
            <a:off x="4781976" y="1613916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FC92AA86-10D6-0BC9-32FB-2B3F53CFD9BD}"/>
              </a:ext>
            </a:extLst>
          </p:cNvPr>
          <p:cNvSpPr/>
          <p:nvPr/>
        </p:nvSpPr>
        <p:spPr>
          <a:xfrm>
            <a:off x="4781976" y="1943100"/>
            <a:ext cx="2432304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A32F33B7-E231-A973-620D-819C78A0CDD2}"/>
              </a:ext>
            </a:extLst>
          </p:cNvPr>
          <p:cNvSpPr/>
          <p:nvPr/>
        </p:nvSpPr>
        <p:spPr>
          <a:xfrm>
            <a:off x="4781976" y="2007108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Interpretability</a:t>
            </a:r>
            <a:endParaRPr lang="en-US" sz="9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C8CF0DCB-2EFB-79AE-0F2E-A3DB60A4502D}"/>
              </a:ext>
            </a:extLst>
          </p:cNvPr>
          <p:cNvSpPr/>
          <p:nvPr/>
        </p:nvSpPr>
        <p:spPr>
          <a:xfrm>
            <a:off x="4781976" y="217170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6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D294DDD2-EC40-D9F8-76CB-E99B55D58CD8}"/>
              </a:ext>
            </a:extLst>
          </p:cNvPr>
          <p:cNvSpPr/>
          <p:nvPr/>
        </p:nvSpPr>
        <p:spPr>
          <a:xfrm>
            <a:off x="4855128" y="2464308"/>
            <a:ext cx="22860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93EA281B-6F49-8405-B0D3-0F920D252819}"/>
              </a:ext>
            </a:extLst>
          </p:cNvPr>
          <p:cNvSpPr/>
          <p:nvPr/>
        </p:nvSpPr>
        <p:spPr>
          <a:xfrm>
            <a:off x="4781976" y="2510028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9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82E3181B-7F79-A682-B11B-969440791626}"/>
              </a:ext>
            </a:extLst>
          </p:cNvPr>
          <p:cNvSpPr/>
          <p:nvPr/>
        </p:nvSpPr>
        <p:spPr>
          <a:xfrm>
            <a:off x="4781976" y="267462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6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F710FE96-5288-AB17-0276-F07F7E9BA369}"/>
              </a:ext>
            </a:extLst>
          </p:cNvPr>
          <p:cNvSpPr/>
          <p:nvPr/>
        </p:nvSpPr>
        <p:spPr>
          <a:xfrm>
            <a:off x="4855128" y="2967228"/>
            <a:ext cx="22860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9E3C3A08-5C01-2DAE-1C08-9C9C1DDC2093}"/>
              </a:ext>
            </a:extLst>
          </p:cNvPr>
          <p:cNvSpPr/>
          <p:nvPr/>
        </p:nvSpPr>
        <p:spPr>
          <a:xfrm>
            <a:off x="4781976" y="3012948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Overfitting Risk</a:t>
            </a:r>
            <a:endParaRPr lang="en-US" sz="9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535F012C-2151-9155-1C8A-E7FD76197AFF}"/>
              </a:ext>
            </a:extLst>
          </p:cNvPr>
          <p:cNvSpPr/>
          <p:nvPr/>
        </p:nvSpPr>
        <p:spPr>
          <a:xfrm>
            <a:off x="4781976" y="317754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Low</a:t>
            </a:r>
            <a:endParaRPr lang="en-US" sz="16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DA2CCD90-5922-C9D0-2835-B0FDFF40E4A0}"/>
              </a:ext>
            </a:extLst>
          </p:cNvPr>
          <p:cNvSpPr/>
          <p:nvPr/>
        </p:nvSpPr>
        <p:spPr>
          <a:xfrm>
            <a:off x="4855128" y="3470148"/>
            <a:ext cx="22860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62B5DA4D-A054-73C1-E102-050415BF1060}"/>
              </a:ext>
            </a:extLst>
          </p:cNvPr>
          <p:cNvSpPr/>
          <p:nvPr/>
        </p:nvSpPr>
        <p:spPr>
          <a:xfrm>
            <a:off x="4781976" y="3515868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Tuning Required</a:t>
            </a:r>
            <a:endParaRPr lang="en-US" sz="9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FCE224E9-EA0D-43AB-20C3-6FB1EFF7F184}"/>
              </a:ext>
            </a:extLst>
          </p:cNvPr>
          <p:cNvSpPr/>
          <p:nvPr/>
        </p:nvSpPr>
        <p:spPr>
          <a:xfrm>
            <a:off x="4781976" y="368046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60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92093D77-D44A-DA18-2E84-1BC023617253}"/>
              </a:ext>
            </a:extLst>
          </p:cNvPr>
          <p:cNvSpPr/>
          <p:nvPr/>
        </p:nvSpPr>
        <p:spPr>
          <a:xfrm>
            <a:off x="4855128" y="3973068"/>
            <a:ext cx="22860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1117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055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B84D339D-F77B-542F-9BF0-05FD02752F4B}"/>
              </a:ext>
            </a:extLst>
          </p:cNvPr>
          <p:cNvSpPr/>
          <p:nvPr/>
        </p:nvSpPr>
        <p:spPr>
          <a:xfrm rot="20158012">
            <a:off x="325465" y="1503335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8BB8E8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15-min Break</a:t>
            </a:r>
            <a:endParaRPr lang="en-US" sz="8000" dirty="0">
              <a:solidFill>
                <a:srgbClr val="8BB8E8"/>
              </a:solidFill>
            </a:endParaRPr>
          </a:p>
        </p:txBody>
      </p:sp>
      <p:pic>
        <p:nvPicPr>
          <p:cNvPr id="5" name="Picture 8" descr="Sleepy Robot 3D Icons - Free Download in PNG, glTF">
            <a:extLst>
              <a:ext uri="{FF2B5EF4-FFF2-40B4-BE49-F238E27FC236}">
                <a16:creationId xmlns:a16="http://schemas.microsoft.com/office/drawing/2014/main" id="{AF68FB14-2518-F0E9-BD72-8A67CABEF7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2269" y="2646335"/>
            <a:ext cx="2315059" cy="2315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055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Tree Models in Practice</a:t>
            </a:r>
            <a:endParaRPr lang="en-US" sz="3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38289-D3F8-8C74-ED23-D9F264051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B4A6205-3028-DBEC-5F83-24EA5E51949E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8F91A03-40DD-91C9-B19B-4323388E8F21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Uber: ETA Predictions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D06B03E-BB77-4F61-B9CD-08DC36C68110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77F637FB-02B7-7449-929E-2D20914253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266" y="1988131"/>
            <a:ext cx="5903376" cy="2694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4E180E3-918C-7D1B-FB08-05749F067C49}"/>
              </a:ext>
            </a:extLst>
          </p:cNvPr>
          <p:cNvSpPr txBox="1"/>
          <p:nvPr/>
        </p:nvSpPr>
        <p:spPr>
          <a:xfrm>
            <a:off x="4679578" y="4782232"/>
            <a:ext cx="446442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https://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www.uber.com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/us/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/blog/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deepeta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-how-uber-predicts-arrival-times/</a:t>
            </a:r>
          </a:p>
        </p:txBody>
      </p:sp>
      <p:pic>
        <p:nvPicPr>
          <p:cNvPr id="8196" name="Picture 4" descr="Behind the Wheel: How Uber Predicts Your ETA with Millisecond Precision |  by varun mathur | Medium">
            <a:extLst>
              <a:ext uri="{FF2B5EF4-FFF2-40B4-BE49-F238E27FC236}">
                <a16:creationId xmlns:a16="http://schemas.microsoft.com/office/drawing/2014/main" id="{A94CB921-30AA-EC31-5AAC-2259017A87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000" y="1988130"/>
            <a:ext cx="2026883" cy="3040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40EC931-BDFB-2018-BAEC-8D8B92FDE3E6}"/>
              </a:ext>
            </a:extLst>
          </p:cNvPr>
          <p:cNvSpPr txBox="1"/>
          <p:nvPr/>
        </p:nvSpPr>
        <p:spPr>
          <a:xfrm>
            <a:off x="354644" y="964997"/>
            <a:ext cx="84347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Prediction task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Predict estimated time of arrival (ETA) for Uber trips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Features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traffic conditions, route + map details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Label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travel time</a:t>
            </a:r>
          </a:p>
        </p:txBody>
      </p:sp>
    </p:spTree>
    <p:extLst>
      <p:ext uri="{BB962C8B-B14F-4D97-AF65-F5344CB8AC3E}">
        <p14:creationId xmlns:p14="http://schemas.microsoft.com/office/powerpoint/2010/main" val="3316102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55E15-5FEB-9224-B5FA-CF4D75CF1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DB4D6D1-060C-7927-6E83-B794F9D4C8CE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29890BD-2DEA-006B-7A0C-E7489B14F82F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Airbnb: Search Ranking for Experiences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4CE5800-FDEE-B92A-6DDF-3E27C4045701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81E5F8-C390-313E-480E-3292D34F66B3}"/>
              </a:ext>
            </a:extLst>
          </p:cNvPr>
          <p:cNvSpPr txBox="1"/>
          <p:nvPr/>
        </p:nvSpPr>
        <p:spPr>
          <a:xfrm>
            <a:off x="3541060" y="4705683"/>
            <a:ext cx="57015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https://</a:t>
            </a:r>
            <a:r>
              <a:rPr lang="en-US" sz="900" dirty="0" err="1">
                <a:latin typeface="Arial" panose="020B0604020202020204" pitchFamily="34" charset="0"/>
                <a:cs typeface="Arial" panose="020B0604020202020204" pitchFamily="34" charset="0"/>
              </a:rPr>
              <a:t>medium.com</a:t>
            </a: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900" dirty="0" err="1">
                <a:latin typeface="Arial" panose="020B0604020202020204" pitchFamily="34" charset="0"/>
                <a:cs typeface="Arial" panose="020B0604020202020204" pitchFamily="34" charset="0"/>
              </a:rPr>
              <a:t>airbnb</a:t>
            </a:r>
            <a:r>
              <a:rPr lang="en-US" sz="900" dirty="0">
                <a:latin typeface="Arial" panose="020B0604020202020204" pitchFamily="34" charset="0"/>
                <a:cs typeface="Arial" panose="020B0604020202020204" pitchFamily="34" charset="0"/>
              </a:rPr>
              <a:t>-engineering/machine-learning-powered-search-ranking-of-airbnb-experiences-110b4b1a0789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B001C85A-A912-44AB-4627-61DB0E93E4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4566" y="1808150"/>
            <a:ext cx="4455716" cy="2635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 descr="Host an experience on Airbnb">
            <a:extLst>
              <a:ext uri="{FF2B5EF4-FFF2-40B4-BE49-F238E27FC236}">
                <a16:creationId xmlns:a16="http://schemas.microsoft.com/office/drawing/2014/main" id="{DA48A61C-5234-6CB7-099A-9C0683BF72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94" r="6685"/>
          <a:stretch>
            <a:fillRect/>
          </a:stretch>
        </p:blipFill>
        <p:spPr bwMode="auto">
          <a:xfrm>
            <a:off x="829481" y="1913279"/>
            <a:ext cx="2554555" cy="3043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F3CB30-5674-546A-004D-0A6A5C068CBB}"/>
              </a:ext>
            </a:extLst>
          </p:cNvPr>
          <p:cNvSpPr txBox="1"/>
          <p:nvPr/>
        </p:nvSpPr>
        <p:spPr>
          <a:xfrm>
            <a:off x="385482" y="977153"/>
            <a:ext cx="843471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Prediction task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Predict which experiences users will click or book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Features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experience duration, price, category, reviews, occupancy, number of bookings, user click history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Label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if user clicks, if user books</a:t>
            </a:r>
          </a:p>
        </p:txBody>
      </p:sp>
    </p:spTree>
    <p:extLst>
      <p:ext uri="{BB962C8B-B14F-4D97-AF65-F5344CB8AC3E}">
        <p14:creationId xmlns:p14="http://schemas.microsoft.com/office/powerpoint/2010/main" val="3429218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17B00-A4FC-DC73-CBAE-1EE596D31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2BB4531-B25B-0749-7C8E-E256FAEA1F3F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CD7DFA3-8AB4-BE1D-135E-713B14FBD164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Spotify: Content Marketing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C50395E-B65A-57D5-C3CB-A17A1F00FA71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C86C10-98C3-B0C9-0387-57710C339D42}"/>
              </a:ext>
            </a:extLst>
          </p:cNvPr>
          <p:cNvSpPr txBox="1"/>
          <p:nvPr/>
        </p:nvSpPr>
        <p:spPr>
          <a:xfrm>
            <a:off x="2841812" y="4837509"/>
            <a:ext cx="689385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https://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engineering.atspotify.com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/2023/11/how-we-automated-content-marketing-to-acquire-users-at-</a:t>
            </a:r>
            <a:r>
              <a:rPr lang="en-US" sz="1000" dirty="0" err="1">
                <a:latin typeface="Arial" panose="020B0604020202020204" pitchFamily="34" charset="0"/>
                <a:cs typeface="Arial" panose="020B0604020202020204" pitchFamily="34" charset="0"/>
              </a:rPr>
              <a:t>scaleAr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290" name="Picture 2" descr="Feature Image">
            <a:extLst>
              <a:ext uri="{FF2B5EF4-FFF2-40B4-BE49-F238E27FC236}">
                <a16:creationId xmlns:a16="http://schemas.microsoft.com/office/drawing/2014/main" id="{536A5C2F-A91E-26B9-022B-BE0972ADC1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1" y="1889190"/>
            <a:ext cx="4572000" cy="240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CCAEF12-F7E4-DF9B-587F-CEA30937D779}"/>
              </a:ext>
            </a:extLst>
          </p:cNvPr>
          <p:cNvSpPr txBox="1"/>
          <p:nvPr/>
        </p:nvSpPr>
        <p:spPr>
          <a:xfrm>
            <a:off x="385482" y="977153"/>
            <a:ext cx="84347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Prediction task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Predict success rate of online ad campaigns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Features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artist shown, ad creative design details, market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Label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conversion rate (e.g., new user sign-ups)</a:t>
            </a:r>
          </a:p>
        </p:txBody>
      </p:sp>
    </p:spTree>
    <p:extLst>
      <p:ext uri="{BB962C8B-B14F-4D97-AF65-F5344CB8AC3E}">
        <p14:creationId xmlns:p14="http://schemas.microsoft.com/office/powerpoint/2010/main" val="19029546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58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90F70A-837E-3B6F-514A-C9B8DA9B6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FD7557B-6910-E45A-C2C1-19DA1010883C}"/>
              </a:ext>
            </a:extLst>
          </p:cNvPr>
          <p:cNvSpPr/>
          <p:nvPr/>
        </p:nvSpPr>
        <p:spPr>
          <a:xfrm>
            <a:off x="914400" y="137160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XGBoost</a:t>
            </a:r>
            <a:endParaRPr lang="en-US" sz="3600" dirty="0"/>
          </a:p>
        </p:txBody>
      </p:sp>
      <p:pic>
        <p:nvPicPr>
          <p:cNvPr id="3076" name="Picture 4" descr="undefined">
            <a:extLst>
              <a:ext uri="{FF2B5EF4-FFF2-40B4-BE49-F238E27FC236}">
                <a16:creationId xmlns:a16="http://schemas.microsoft.com/office/drawing/2014/main" id="{C40BD7D9-43F7-2EE6-B646-DAFC8A0C26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5420" y="1895475"/>
            <a:ext cx="3924780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4327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DE8FF-1344-7FCB-5CA1-D7B0AF3FE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42D7C01-70BB-A9D4-FB5A-97AD831622D1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9D3789E-A0CA-87CB-2AD1-DA2142CC577D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Parallel vs Sequential Trees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7585E5D-6D58-347B-C72D-CFF2E0486AF7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4E71979-9DE8-0B7A-2195-B0B27AA3AEB6}"/>
              </a:ext>
            </a:extLst>
          </p:cNvPr>
          <p:cNvSpPr/>
          <p:nvPr/>
        </p:nvSpPr>
        <p:spPr>
          <a:xfrm>
            <a:off x="457200" y="1088051"/>
            <a:ext cx="8321040" cy="1923595"/>
          </a:xfrm>
          <a:prstGeom prst="rect">
            <a:avLst/>
          </a:prstGeom>
          <a:noFill/>
          <a:ln/>
        </p:spPr>
        <p:txBody>
          <a:bodyPr wrap="square" lIns="0" tIns="76200" rIns="0" bIns="0" rtlCol="0" anchor="t"/>
          <a:lstStyle/>
          <a:p>
            <a:pPr>
              <a:spcAft>
                <a:spcPts val="600"/>
              </a:spcAft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Two common approaches to ensemble methods: parallel vs sequential models</a:t>
            </a:r>
          </a:p>
          <a:p>
            <a:pPr>
              <a:spcAft>
                <a:spcPts val="600"/>
              </a:spcAft>
            </a:pPr>
            <a:endParaRPr lang="en-US" dirty="0"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spcAft>
                <a:spcPts val="600"/>
              </a:spcAft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Parallel: train independent ML models and average / combine predictions </a:t>
            </a:r>
          </a:p>
          <a:p>
            <a:pPr>
              <a:spcAft>
                <a:spcPts val="600"/>
              </a:spcAft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 Random Forest</a:t>
            </a:r>
          </a:p>
          <a:p>
            <a:pPr>
              <a:spcAft>
                <a:spcPts val="600"/>
              </a:spcAft>
            </a:pPr>
            <a:endParaRPr lang="en-US" dirty="0"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spcAft>
                <a:spcPts val="600"/>
              </a:spcAft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Sequential: Train models one at a time, with each model building on the last</a:t>
            </a:r>
          </a:p>
          <a:p>
            <a:pPr>
              <a:spcAft>
                <a:spcPts val="600"/>
              </a:spcAft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 </a:t>
            </a:r>
            <a:r>
              <a:rPr lang="en-US" b="1" dirty="0" err="1"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XGBoost</a:t>
            </a:r>
            <a:r>
              <a:rPr lang="en-US" b="1" dirty="0">
                <a:latin typeface="Arial" pitchFamily="34" charset="0"/>
                <a:ea typeface="Arial" pitchFamily="34" charset="-122"/>
                <a:cs typeface="Arial" pitchFamily="34" charset="-120"/>
                <a:sym typeface="Wingdings" pitchFamily="2" charset="2"/>
              </a:rPr>
              <a:t> </a:t>
            </a:r>
            <a:endParaRPr lang="en-US" b="1" dirty="0"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spcAft>
                <a:spcPts val="600"/>
              </a:spcAft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18921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XGBoost: The Algorithm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91306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= Base + η·Tree₁ + η·Tree₂ + η·Tree₃ + ...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2571749"/>
            <a:ext cx="8321040" cy="2242297"/>
          </a:xfrm>
          <a:prstGeom prst="rect">
            <a:avLst/>
          </a:prstGeom>
          <a:noFill/>
          <a:ln/>
        </p:spPr>
        <p:txBody>
          <a:bodyPr wrap="square" lIns="0" tIns="76200" rIns="0" bIns="0" rtlCol="0" anchor="t"/>
          <a:lstStyle/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The</a:t>
            </a: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learning rate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η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determines how much each new tree’s prediction contributes to overall prediction</a:t>
            </a:r>
          </a:p>
          <a:p>
            <a:pPr>
              <a:spcAft>
                <a:spcPts val="600"/>
              </a:spcAf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Lower η → more trees needed, but more accurate / less overfitting risk</a:t>
            </a:r>
          </a:p>
          <a:p>
            <a:pPr>
              <a:spcAft>
                <a:spcPts val="600"/>
              </a:spcAf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Overall training error shrinks with each tree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83ED9465-39DB-ACD7-D89C-830DA29981ED}"/>
              </a:ext>
            </a:extLst>
          </p:cNvPr>
          <p:cNvSpPr/>
          <p:nvPr/>
        </p:nvSpPr>
        <p:spPr>
          <a:xfrm>
            <a:off x="457200" y="1020519"/>
            <a:ext cx="8321040" cy="2242297"/>
          </a:xfrm>
          <a:prstGeom prst="rect">
            <a:avLst/>
          </a:prstGeom>
          <a:noFill/>
          <a:ln/>
        </p:spPr>
        <p:txBody>
          <a:bodyPr wrap="square" lIns="0" tIns="76200" rIns="0" bIns="0" rtlCol="0" anchor="t"/>
          <a:lstStyle/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Instead of predicting the target directly, each new tree </a:t>
            </a: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predicts the error from all previous trees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" name="Table 0">
            <a:extLst>
              <a:ext uri="{FF2B5EF4-FFF2-40B4-BE49-F238E27FC236}">
                <a16:creationId xmlns:a16="http://schemas.microsoft.com/office/drawing/2014/main" id="{1A384174-42D8-30CF-990F-1C9464BCF0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1540886"/>
              </p:ext>
            </p:extLst>
          </p:nvPr>
        </p:nvGraphicFramePr>
        <p:xfrm>
          <a:off x="458745" y="2313840"/>
          <a:ext cx="7964424" cy="2103120"/>
        </p:xfrm>
        <a:graphic>
          <a:graphicData uri="http://schemas.openxmlformats.org/drawingml/2006/table">
            <a:tbl>
              <a:tblPr/>
              <a:tblGrid>
                <a:gridCol w="475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48"/>
                    </a:solidFill>
                  </a:tcPr>
                </a:tc>
                <a:tc gridSpan="9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Sequential Trees (η = 0.1)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4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B0C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Vehicle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B0C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Price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B0C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B0C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Resid₀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B0C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Tree 1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B0C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η × T1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B0C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Resid₁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B0C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Tree 2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B0C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η × T2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B0C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Resid₂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B0C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Tree 3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B0C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η × T3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B0C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Resid₃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 Pred.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B6A8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RR 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$48,000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$36,500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$10,750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$10,050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$9,400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$38,600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B6A8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RR 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$32,000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$36,500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-$4,500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-$2,500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-$250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-$4,250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-$2,500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-$250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-$4,000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-$2,000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-$200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-$3,800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$35,800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B6A8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RR 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$36,500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-$22,500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-$15,500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-$1,550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-$20,950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-$14,500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-$1,450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-$19,500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-$13,500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-$1,350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-$18,150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$32,150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B6A8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RR 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$52,000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$36,500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$14,550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$13,700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$12,900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$39,100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XGBoost: Numerical Example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5">
            <a:extLst>
              <a:ext uri="{FF2B5EF4-FFF2-40B4-BE49-F238E27FC236}">
                <a16:creationId xmlns:a16="http://schemas.microsoft.com/office/drawing/2014/main" id="{436E7B1B-E843-6DA9-E490-251D7CD104F4}"/>
              </a:ext>
            </a:extLst>
          </p:cNvPr>
          <p:cNvSpPr/>
          <p:nvPr/>
        </p:nvSpPr>
        <p:spPr>
          <a:xfrm>
            <a:off x="457200" y="1104911"/>
            <a:ext cx="8321040" cy="2242297"/>
          </a:xfrm>
          <a:prstGeom prst="rect">
            <a:avLst/>
          </a:prstGeom>
          <a:noFill/>
          <a:ln/>
        </p:spPr>
        <p:txBody>
          <a:bodyPr wrap="square" lIns="0" tIns="76200" rIns="0" bIns="0" rtlCol="0" anchor="t"/>
          <a:lstStyle/>
          <a:p>
            <a:pPr>
              <a:spcAft>
                <a:spcPts val="600"/>
              </a:spcAft>
            </a:pP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XGBoost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: Each tree fits the residual left by all previous trees</a:t>
            </a:r>
          </a:p>
          <a:p>
            <a:pPr>
              <a:spcAft>
                <a:spcPts val="600"/>
              </a:spcAft>
            </a:pPr>
            <a:b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 tree uses a random subsample of data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107E861C-C1BC-B02E-DE4E-7EE73F26DFAE}"/>
              </a:ext>
            </a:extLst>
          </p:cNvPr>
          <p:cNvSpPr/>
          <p:nvPr/>
        </p:nvSpPr>
        <p:spPr>
          <a:xfrm>
            <a:off x="458745" y="3262351"/>
            <a:ext cx="8075655" cy="1283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052D9EE7-2345-0370-1D66-20816DC51E4C}"/>
              </a:ext>
            </a:extLst>
          </p:cNvPr>
          <p:cNvSpPr/>
          <p:nvPr/>
        </p:nvSpPr>
        <p:spPr>
          <a:xfrm flipH="1">
            <a:off x="4440955" y="2885132"/>
            <a:ext cx="1602491" cy="3982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36B9BBED-54C0-5D97-DC58-2B22BB273F2E}"/>
              </a:ext>
            </a:extLst>
          </p:cNvPr>
          <p:cNvSpPr/>
          <p:nvPr/>
        </p:nvSpPr>
        <p:spPr>
          <a:xfrm flipH="1">
            <a:off x="2817442" y="2885132"/>
            <a:ext cx="1754558" cy="3877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CAF2742D-2F92-659A-3188-0E8EEA117451}"/>
              </a:ext>
            </a:extLst>
          </p:cNvPr>
          <p:cNvSpPr/>
          <p:nvPr/>
        </p:nvSpPr>
        <p:spPr>
          <a:xfrm flipH="1">
            <a:off x="6043446" y="2889277"/>
            <a:ext cx="2490954" cy="4845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4BD16F22-47E9-E9DB-D49D-FE7957D430B1}"/>
              </a:ext>
            </a:extLst>
          </p:cNvPr>
          <p:cNvSpPr/>
          <p:nvPr/>
        </p:nvSpPr>
        <p:spPr>
          <a:xfrm rot="6079230">
            <a:off x="2448464" y="2892504"/>
            <a:ext cx="737918" cy="676485"/>
          </a:xfrm>
          <a:prstGeom prst="arc">
            <a:avLst>
              <a:gd name="adj1" fmla="val 16200000"/>
              <a:gd name="adj2" fmla="val 405719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BB991C26-278A-FF49-3DB4-D33BEAE3AC59}"/>
              </a:ext>
            </a:extLst>
          </p:cNvPr>
          <p:cNvSpPr/>
          <p:nvPr/>
        </p:nvSpPr>
        <p:spPr>
          <a:xfrm rot="6079230">
            <a:off x="1297840" y="2141236"/>
            <a:ext cx="1749296" cy="1975864"/>
          </a:xfrm>
          <a:prstGeom prst="arc">
            <a:avLst>
              <a:gd name="adj1" fmla="val 16111889"/>
              <a:gd name="adj2" fmla="val 405719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33,900+ Green Check Mark Stock Photos, Pictures &amp; Royalty-Free Images -  iStock | Green check mark transparent, Green check mark icon, Green check  mark vector">
            <a:extLst>
              <a:ext uri="{FF2B5EF4-FFF2-40B4-BE49-F238E27FC236}">
                <a16:creationId xmlns:a16="http://schemas.microsoft.com/office/drawing/2014/main" id="{143CD92C-8661-6105-8058-CF370429B7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20098" r="15345" b="16026"/>
          <a:stretch>
            <a:fillRect/>
          </a:stretch>
        </p:blipFill>
        <p:spPr bwMode="auto">
          <a:xfrm>
            <a:off x="2706440" y="3388489"/>
            <a:ext cx="222004" cy="167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2,200+ Red X Mark Stock Photos, Pictures &amp; Royalty-Free Images - iStock |  Green check mark, Check mark">
            <a:extLst>
              <a:ext uri="{FF2B5EF4-FFF2-40B4-BE49-F238E27FC236}">
                <a16:creationId xmlns:a16="http://schemas.microsoft.com/office/drawing/2014/main" id="{D0C637AF-BDFB-E4E9-38C0-2E84411BC7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30" t="18718" r="16577" b="17423"/>
          <a:stretch>
            <a:fillRect/>
          </a:stretch>
        </p:blipFill>
        <p:spPr bwMode="auto">
          <a:xfrm>
            <a:off x="2124549" y="3821053"/>
            <a:ext cx="186389" cy="170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Arc 9">
            <a:extLst>
              <a:ext uri="{FF2B5EF4-FFF2-40B4-BE49-F238E27FC236}">
                <a16:creationId xmlns:a16="http://schemas.microsoft.com/office/drawing/2014/main" id="{2830350E-58C8-A553-7965-8724067950CD}"/>
              </a:ext>
            </a:extLst>
          </p:cNvPr>
          <p:cNvSpPr/>
          <p:nvPr/>
        </p:nvSpPr>
        <p:spPr>
          <a:xfrm rot="6079230">
            <a:off x="4127613" y="2892503"/>
            <a:ext cx="737918" cy="676485"/>
          </a:xfrm>
          <a:prstGeom prst="arc">
            <a:avLst>
              <a:gd name="adj1" fmla="val 16200000"/>
              <a:gd name="adj2" fmla="val 405719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5363B59B-C884-E3F4-D7C9-411FD350EE24}"/>
              </a:ext>
            </a:extLst>
          </p:cNvPr>
          <p:cNvSpPr/>
          <p:nvPr/>
        </p:nvSpPr>
        <p:spPr>
          <a:xfrm rot="6079230">
            <a:off x="5730101" y="2888253"/>
            <a:ext cx="737918" cy="676485"/>
          </a:xfrm>
          <a:prstGeom prst="arc">
            <a:avLst>
              <a:gd name="adj1" fmla="val 16200000"/>
              <a:gd name="adj2" fmla="val 405719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 animBg="1"/>
      <p:bldP spid="84" grpId="0" animBg="1"/>
      <p:bldP spid="87" grpId="0" animBg="1"/>
      <p:bldP spid="88" grpId="0" animBg="1"/>
      <p:bldP spid="7" grpId="0" animBg="1"/>
      <p:bldP spid="7" grpId="1" animBg="1"/>
      <p:bldP spid="8" grpId="0" animBg="1"/>
      <p:bldP spid="8" grpId="1" animBg="1"/>
      <p:bldP spid="10" grpId="0" animBg="1"/>
      <p:bldP spid="10" grpId="1" animBg="1"/>
      <p:bldP spid="11" grpId="0" animBg="1"/>
      <p:bldP spid="11" grpId="1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83823-051C-3752-AF74-0AE6992D6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" name="Table 0">
            <a:extLst>
              <a:ext uri="{FF2B5EF4-FFF2-40B4-BE49-F238E27FC236}">
                <a16:creationId xmlns:a16="http://schemas.microsoft.com/office/drawing/2014/main" id="{C966842E-BE7B-92D2-F6DC-1C62398C91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7400112"/>
              </p:ext>
            </p:extLst>
          </p:nvPr>
        </p:nvGraphicFramePr>
        <p:xfrm>
          <a:off x="458745" y="2313840"/>
          <a:ext cx="7964424" cy="2103120"/>
        </p:xfrm>
        <a:graphic>
          <a:graphicData uri="http://schemas.openxmlformats.org/drawingml/2006/table">
            <a:tbl>
              <a:tblPr/>
              <a:tblGrid>
                <a:gridCol w="475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48"/>
                    </a:solidFill>
                  </a:tcPr>
                </a:tc>
                <a:tc gridSpan="9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Sequential Trees (η = 0.1)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4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B0C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Vehicle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B0C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Price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B0C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B0C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Resid₀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B0C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Tree 1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B0C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η × T1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B0C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Resid₁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B0C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Tree 2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B0C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η × T2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B0C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Resid₂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B0C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Tree 3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B0C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η × T3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B0C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Resid₃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 Pred.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B6A8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RR 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$48,000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$36,500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$10,750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$10,050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$9,400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$38,600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B6A8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RR 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$32,000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$36,500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-$4,500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-$2,500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-$250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-$4,250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-$2,500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-$250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-$4,000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-$2,000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-$200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-$3,800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$35,800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B6A8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RR 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$36,500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-$22,500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-$15,500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-$1,550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-$20,950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-$14,500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-$1,450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-$19,500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-$13,500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-$1,350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-$18,150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$32,150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B6A8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RR 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$52,000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$36,500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$14,550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$13,700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$12,900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2A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$39,100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Shape 0">
            <a:extLst>
              <a:ext uri="{FF2B5EF4-FFF2-40B4-BE49-F238E27FC236}">
                <a16:creationId xmlns:a16="http://schemas.microsoft.com/office/drawing/2014/main" id="{6E661CFA-B998-5BE6-2261-BE722E6166E0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94571F3-C542-B0E4-9474-2E807A43E734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XGBoost: Numerical Example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38BDEF9-D962-EB08-2EF7-EDA605466148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5">
            <a:extLst>
              <a:ext uri="{FF2B5EF4-FFF2-40B4-BE49-F238E27FC236}">
                <a16:creationId xmlns:a16="http://schemas.microsoft.com/office/drawing/2014/main" id="{C3AEB012-C8A8-3956-765D-AF00E7622A99}"/>
              </a:ext>
            </a:extLst>
          </p:cNvPr>
          <p:cNvSpPr/>
          <p:nvPr/>
        </p:nvSpPr>
        <p:spPr>
          <a:xfrm>
            <a:off x="457200" y="1104911"/>
            <a:ext cx="8321040" cy="2242297"/>
          </a:xfrm>
          <a:prstGeom prst="rect">
            <a:avLst/>
          </a:prstGeom>
          <a:noFill/>
          <a:ln/>
        </p:spPr>
        <p:txBody>
          <a:bodyPr wrap="square" lIns="0" tIns="76200" rIns="0" bIns="0" rtlCol="0" anchor="t"/>
          <a:lstStyle/>
          <a:p>
            <a:pPr>
              <a:spcAft>
                <a:spcPts val="600"/>
              </a:spcAft>
            </a:pP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XGBoost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: Each tree fits the residual left by all previous trees</a:t>
            </a:r>
          </a:p>
          <a:p>
            <a:pPr>
              <a:spcAft>
                <a:spcPts val="600"/>
              </a:spcAft>
            </a:pPr>
            <a:b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 tree uses a random subsample of data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63796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B26A4-5F51-9363-AE3E-F006FB04F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0565EF4-0246-E59D-D78F-681028ADF4D5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4920F6E-1C0A-E7E6-3BA0-9E53469BF806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005587"/>
                </a:solidFill>
                <a:latin typeface="Whitney Bold" pitchFamily="34" charset="0"/>
                <a:cs typeface="Whitney Bold" pitchFamily="34" charset="-120"/>
              </a:rPr>
              <a:t>XGBoost</a:t>
            </a: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cs typeface="Whitney Bold" pitchFamily="34" charset="-120"/>
              </a:rPr>
              <a:t> Hyperparameters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FAD9C53-8EF1-E83F-556E-21BE4E86C63B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8056B74-5441-C26F-09A5-50A5EC1F1014}"/>
              </a:ext>
            </a:extLst>
          </p:cNvPr>
          <p:cNvSpPr/>
          <p:nvPr/>
        </p:nvSpPr>
        <p:spPr>
          <a:xfrm>
            <a:off x="457200" y="1188720"/>
            <a:ext cx="8321040" cy="1371600"/>
          </a:xfrm>
          <a:prstGeom prst="rect">
            <a:avLst/>
          </a:prstGeom>
          <a:noFill/>
          <a:ln/>
        </p:spPr>
        <p:txBody>
          <a:bodyPr wrap="square" lIns="0" tIns="76200" rIns="0" bIns="0" rtlCol="0" anchor="t"/>
          <a:lstStyle/>
          <a:p>
            <a:pPr>
              <a:spcAft>
                <a:spcPts val="600"/>
              </a:spcAft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XGBoost is very sensitive to tuning parameters and more prone to overfitting than random forests</a:t>
            </a:r>
            <a:endParaRPr lang="en-US" dirty="0"/>
          </a:p>
          <a:p>
            <a:pPr>
              <a:spcAft>
                <a:spcPts val="600"/>
              </a:spcAft>
            </a:pPr>
            <a:endParaRPr lang="en-US" dirty="0"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spcAft>
                <a:spcPts val="600"/>
              </a:spcAft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Three main parameters: </a:t>
            </a:r>
          </a:p>
          <a:p>
            <a:pPr>
              <a:spcAft>
                <a:spcPts val="600"/>
              </a:spcAft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r>
              <a:rPr lang="en-US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learning rate 			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(0.01 to 0.3)</a:t>
            </a:r>
          </a:p>
          <a:p>
            <a:pPr>
              <a:spcAft>
                <a:spcPts val="600"/>
              </a:spcAft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2. number of trees 		(50 to 1000) </a:t>
            </a:r>
          </a:p>
          <a:p>
            <a:pPr>
              <a:spcAft>
                <a:spcPts val="600"/>
              </a:spcAft>
            </a:pP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3. max tree depth 		(3-6)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A8068B-CCD1-E3A4-D145-69AF4AA7742E}"/>
              </a:ext>
            </a:extLst>
          </p:cNvPr>
          <p:cNvSpPr txBox="1"/>
          <p:nvPr/>
        </p:nvSpPr>
        <p:spPr>
          <a:xfrm>
            <a:off x="4004441" y="2190988"/>
            <a:ext cx="1639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Typical range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FE6CD3-BAB1-A17B-CFBC-4F9FAFFADA43}"/>
              </a:ext>
            </a:extLst>
          </p:cNvPr>
          <p:cNvSpPr txBox="1"/>
          <p:nvPr/>
        </p:nvSpPr>
        <p:spPr>
          <a:xfrm>
            <a:off x="332591" y="3954780"/>
            <a:ext cx="85702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 optional parameter is data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subsample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Each tree fits to a random sample (e.g. 70%) of the training data. Helps a bit with regularization</a:t>
            </a:r>
          </a:p>
        </p:txBody>
      </p:sp>
    </p:spTree>
    <p:extLst>
      <p:ext uri="{BB962C8B-B14F-4D97-AF65-F5344CB8AC3E}">
        <p14:creationId xmlns:p14="http://schemas.microsoft.com/office/powerpoint/2010/main" val="3855224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0DAF9-AF3B-B9D7-696F-1E85C74AF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514BB30-9821-14CA-50A8-FE391218C2FA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90C7632-A1F1-9AC6-2D3E-913B126D9A68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Summary: Trees vs. Forests vs. XGBoost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DBF5A92-E456-FD62-6147-6A262226F137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0ABA492-8FBD-D184-2123-14CF3399AB64}"/>
              </a:ext>
            </a:extLst>
          </p:cNvPr>
          <p:cNvSpPr/>
          <p:nvPr/>
        </p:nvSpPr>
        <p:spPr>
          <a:xfrm>
            <a:off x="457200" y="1504188"/>
            <a:ext cx="26517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9D60A97-A4A7-8F00-C4E5-FB93EF3C7436}"/>
              </a:ext>
            </a:extLst>
          </p:cNvPr>
          <p:cNvSpPr/>
          <p:nvPr/>
        </p:nvSpPr>
        <p:spPr>
          <a:xfrm>
            <a:off x="566928" y="1613916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Tree</a:t>
            </a:r>
            <a:endParaRPr lang="en-US" sz="16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C4E9D73-0BA6-0B35-CC03-73CB63AF6716}"/>
              </a:ext>
            </a:extLst>
          </p:cNvPr>
          <p:cNvSpPr/>
          <p:nvPr/>
        </p:nvSpPr>
        <p:spPr>
          <a:xfrm>
            <a:off x="566928" y="1943100"/>
            <a:ext cx="2432304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8AC0E3D-D671-B7CD-1731-DCDD949B074D}"/>
              </a:ext>
            </a:extLst>
          </p:cNvPr>
          <p:cNvSpPr/>
          <p:nvPr/>
        </p:nvSpPr>
        <p:spPr>
          <a:xfrm>
            <a:off x="566928" y="2007108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Interpretability</a:t>
            </a:r>
            <a:endParaRPr lang="en-US" sz="9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5CC9FC6-C6BC-8CCD-DF02-92C065FB11EC}"/>
              </a:ext>
            </a:extLst>
          </p:cNvPr>
          <p:cNvSpPr/>
          <p:nvPr/>
        </p:nvSpPr>
        <p:spPr>
          <a:xfrm>
            <a:off x="566928" y="217170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6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C1EBC9E5-5275-5DA4-816A-99E262F31FA5}"/>
              </a:ext>
            </a:extLst>
          </p:cNvPr>
          <p:cNvSpPr/>
          <p:nvPr/>
        </p:nvSpPr>
        <p:spPr>
          <a:xfrm>
            <a:off x="640080" y="2464308"/>
            <a:ext cx="22860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0E3509C-3F4A-3E70-A797-E1765B16939B}"/>
              </a:ext>
            </a:extLst>
          </p:cNvPr>
          <p:cNvSpPr/>
          <p:nvPr/>
        </p:nvSpPr>
        <p:spPr>
          <a:xfrm>
            <a:off x="566928" y="2510028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9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48C81DD-759D-5F78-676C-0542F8D71535}"/>
              </a:ext>
            </a:extLst>
          </p:cNvPr>
          <p:cNvSpPr/>
          <p:nvPr/>
        </p:nvSpPr>
        <p:spPr>
          <a:xfrm>
            <a:off x="566928" y="267462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</a:t>
            </a:r>
            <a:endParaRPr lang="en-US" sz="16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82C421EB-1109-F724-4CB5-AC42BEAE7364}"/>
              </a:ext>
            </a:extLst>
          </p:cNvPr>
          <p:cNvSpPr/>
          <p:nvPr/>
        </p:nvSpPr>
        <p:spPr>
          <a:xfrm>
            <a:off x="640080" y="2967228"/>
            <a:ext cx="22860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1592098-AB64-D374-97A7-02B421960577}"/>
              </a:ext>
            </a:extLst>
          </p:cNvPr>
          <p:cNvSpPr/>
          <p:nvPr/>
        </p:nvSpPr>
        <p:spPr>
          <a:xfrm>
            <a:off x="566928" y="3012948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Overfitting Risk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AF75D55-5BBB-8615-DF70-0468EA7CC16F}"/>
              </a:ext>
            </a:extLst>
          </p:cNvPr>
          <p:cNvSpPr/>
          <p:nvPr/>
        </p:nvSpPr>
        <p:spPr>
          <a:xfrm>
            <a:off x="566928" y="317754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6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59BA3A05-D947-F0E1-191B-897FE06298F9}"/>
              </a:ext>
            </a:extLst>
          </p:cNvPr>
          <p:cNvSpPr/>
          <p:nvPr/>
        </p:nvSpPr>
        <p:spPr>
          <a:xfrm>
            <a:off x="640080" y="3470148"/>
            <a:ext cx="22860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8598707-0D3C-91F9-D3FC-A347FBDE369F}"/>
              </a:ext>
            </a:extLst>
          </p:cNvPr>
          <p:cNvSpPr/>
          <p:nvPr/>
        </p:nvSpPr>
        <p:spPr>
          <a:xfrm>
            <a:off x="566928" y="3515868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Tuning Required</a:t>
            </a:r>
            <a:endParaRPr lang="en-US" sz="9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73D724AE-87C5-7C18-5712-21A053CDD3E8}"/>
              </a:ext>
            </a:extLst>
          </p:cNvPr>
          <p:cNvSpPr/>
          <p:nvPr/>
        </p:nvSpPr>
        <p:spPr>
          <a:xfrm>
            <a:off x="566928" y="368046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</a:t>
            </a:r>
            <a:endParaRPr lang="en-US" sz="16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2BB2041F-0928-2C53-00D3-FFEF59FAA221}"/>
              </a:ext>
            </a:extLst>
          </p:cNvPr>
          <p:cNvSpPr/>
          <p:nvPr/>
        </p:nvSpPr>
        <p:spPr>
          <a:xfrm>
            <a:off x="640080" y="3973068"/>
            <a:ext cx="22860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20A3C18F-B16E-8921-0423-74221032C395}"/>
              </a:ext>
            </a:extLst>
          </p:cNvPr>
          <p:cNvSpPr/>
          <p:nvPr/>
        </p:nvSpPr>
        <p:spPr>
          <a:xfrm>
            <a:off x="3246120" y="1504188"/>
            <a:ext cx="26517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91759E1-CE8F-DE20-45BA-09F50C5B4711}"/>
              </a:ext>
            </a:extLst>
          </p:cNvPr>
          <p:cNvSpPr/>
          <p:nvPr/>
        </p:nvSpPr>
        <p:spPr>
          <a:xfrm>
            <a:off x="3355848" y="1613916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AB4C3EE2-22CD-9652-5CC5-819B847D842F}"/>
              </a:ext>
            </a:extLst>
          </p:cNvPr>
          <p:cNvSpPr/>
          <p:nvPr/>
        </p:nvSpPr>
        <p:spPr>
          <a:xfrm>
            <a:off x="3355848" y="1943100"/>
            <a:ext cx="2432304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202C1F99-21F9-E2AB-71F5-74E69EFD5452}"/>
              </a:ext>
            </a:extLst>
          </p:cNvPr>
          <p:cNvSpPr/>
          <p:nvPr/>
        </p:nvSpPr>
        <p:spPr>
          <a:xfrm>
            <a:off x="3355848" y="2007108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Interpretability</a:t>
            </a:r>
            <a:endParaRPr lang="en-US" sz="9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F21810A6-5AFD-9C66-264D-1498DE86A877}"/>
              </a:ext>
            </a:extLst>
          </p:cNvPr>
          <p:cNvSpPr/>
          <p:nvPr/>
        </p:nvSpPr>
        <p:spPr>
          <a:xfrm>
            <a:off x="3355848" y="217170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6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B0F8CA4D-E08E-2102-0296-EAAB9506074F}"/>
              </a:ext>
            </a:extLst>
          </p:cNvPr>
          <p:cNvSpPr/>
          <p:nvPr/>
        </p:nvSpPr>
        <p:spPr>
          <a:xfrm>
            <a:off x="3429000" y="2464308"/>
            <a:ext cx="22860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7BD472D7-DF8F-EE3C-C366-F2B522AE559A}"/>
              </a:ext>
            </a:extLst>
          </p:cNvPr>
          <p:cNvSpPr/>
          <p:nvPr/>
        </p:nvSpPr>
        <p:spPr>
          <a:xfrm>
            <a:off x="3355848" y="2510028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9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AD93DFB7-5816-68BD-D03A-805B36C31E55}"/>
              </a:ext>
            </a:extLst>
          </p:cNvPr>
          <p:cNvSpPr/>
          <p:nvPr/>
        </p:nvSpPr>
        <p:spPr>
          <a:xfrm>
            <a:off x="3355848" y="267462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6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C30598AD-3B92-8509-28D7-5B5A4781934C}"/>
              </a:ext>
            </a:extLst>
          </p:cNvPr>
          <p:cNvSpPr/>
          <p:nvPr/>
        </p:nvSpPr>
        <p:spPr>
          <a:xfrm>
            <a:off x="3429000" y="2967228"/>
            <a:ext cx="22860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5F90CB94-5522-3177-481D-904A915C4FC0}"/>
              </a:ext>
            </a:extLst>
          </p:cNvPr>
          <p:cNvSpPr/>
          <p:nvPr/>
        </p:nvSpPr>
        <p:spPr>
          <a:xfrm>
            <a:off x="3355848" y="3012948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Overfitting Risk</a:t>
            </a:r>
            <a:endParaRPr lang="en-US" sz="9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BA3BDD6A-FDDE-7ED0-CF83-4D3D85C73B98}"/>
              </a:ext>
            </a:extLst>
          </p:cNvPr>
          <p:cNvSpPr/>
          <p:nvPr/>
        </p:nvSpPr>
        <p:spPr>
          <a:xfrm>
            <a:off x="3355848" y="317754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Low</a:t>
            </a:r>
            <a:endParaRPr lang="en-US" sz="16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914BB09A-0A98-8D4F-2110-548D2B6A58A1}"/>
              </a:ext>
            </a:extLst>
          </p:cNvPr>
          <p:cNvSpPr/>
          <p:nvPr/>
        </p:nvSpPr>
        <p:spPr>
          <a:xfrm>
            <a:off x="3429000" y="3470148"/>
            <a:ext cx="22860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35DA3C78-3337-4C10-C9A2-73C8A35189FF}"/>
              </a:ext>
            </a:extLst>
          </p:cNvPr>
          <p:cNvSpPr/>
          <p:nvPr/>
        </p:nvSpPr>
        <p:spPr>
          <a:xfrm>
            <a:off x="3355848" y="3515868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Tuning Required</a:t>
            </a:r>
            <a:endParaRPr lang="en-US" sz="9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6FFF5435-5882-48CB-CC17-EF48E4F84222}"/>
              </a:ext>
            </a:extLst>
          </p:cNvPr>
          <p:cNvSpPr/>
          <p:nvPr/>
        </p:nvSpPr>
        <p:spPr>
          <a:xfrm>
            <a:off x="3355848" y="368046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60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42C62FCA-9B5F-A168-0597-2E7A68362103}"/>
              </a:ext>
            </a:extLst>
          </p:cNvPr>
          <p:cNvSpPr/>
          <p:nvPr/>
        </p:nvSpPr>
        <p:spPr>
          <a:xfrm>
            <a:off x="3429000" y="3973068"/>
            <a:ext cx="22860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19">
            <a:extLst>
              <a:ext uri="{FF2B5EF4-FFF2-40B4-BE49-F238E27FC236}">
                <a16:creationId xmlns:a16="http://schemas.microsoft.com/office/drawing/2014/main" id="{23C71A51-948D-2E86-B672-01FC8DD3F410}"/>
              </a:ext>
            </a:extLst>
          </p:cNvPr>
          <p:cNvSpPr/>
          <p:nvPr/>
        </p:nvSpPr>
        <p:spPr>
          <a:xfrm>
            <a:off x="6080760" y="1504188"/>
            <a:ext cx="26517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3491D667-3E9F-7B68-532D-1DFDB1A53DF4}"/>
              </a:ext>
            </a:extLst>
          </p:cNvPr>
          <p:cNvSpPr/>
          <p:nvPr/>
        </p:nvSpPr>
        <p:spPr>
          <a:xfrm>
            <a:off x="6190488" y="1613916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1600" dirty="0"/>
          </a:p>
        </p:txBody>
      </p:sp>
      <p:sp>
        <p:nvSpPr>
          <p:cNvPr id="37" name="Shape 22">
            <a:extLst>
              <a:ext uri="{FF2B5EF4-FFF2-40B4-BE49-F238E27FC236}">
                <a16:creationId xmlns:a16="http://schemas.microsoft.com/office/drawing/2014/main" id="{45F29F1F-E561-16BC-773E-159619BD64BF}"/>
              </a:ext>
            </a:extLst>
          </p:cNvPr>
          <p:cNvSpPr/>
          <p:nvPr/>
        </p:nvSpPr>
        <p:spPr>
          <a:xfrm>
            <a:off x="6190488" y="1943100"/>
            <a:ext cx="2432304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23">
            <a:extLst>
              <a:ext uri="{FF2B5EF4-FFF2-40B4-BE49-F238E27FC236}">
                <a16:creationId xmlns:a16="http://schemas.microsoft.com/office/drawing/2014/main" id="{BBF2EE7D-A210-11E2-4C56-BA055A67D960}"/>
              </a:ext>
            </a:extLst>
          </p:cNvPr>
          <p:cNvSpPr/>
          <p:nvPr/>
        </p:nvSpPr>
        <p:spPr>
          <a:xfrm>
            <a:off x="6190488" y="2007108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Interpretability</a:t>
            </a:r>
            <a:endParaRPr lang="en-US" sz="900" dirty="0"/>
          </a:p>
        </p:txBody>
      </p:sp>
      <p:sp>
        <p:nvSpPr>
          <p:cNvPr id="39" name="Text 24">
            <a:extLst>
              <a:ext uri="{FF2B5EF4-FFF2-40B4-BE49-F238E27FC236}">
                <a16:creationId xmlns:a16="http://schemas.microsoft.com/office/drawing/2014/main" id="{77FB8F47-0906-E46D-A593-830C2E1EAB54}"/>
              </a:ext>
            </a:extLst>
          </p:cNvPr>
          <p:cNvSpPr/>
          <p:nvPr/>
        </p:nvSpPr>
        <p:spPr>
          <a:xfrm>
            <a:off x="6190488" y="217170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600" dirty="0"/>
          </a:p>
        </p:txBody>
      </p:sp>
      <p:sp>
        <p:nvSpPr>
          <p:cNvPr id="40" name="Shape 25">
            <a:extLst>
              <a:ext uri="{FF2B5EF4-FFF2-40B4-BE49-F238E27FC236}">
                <a16:creationId xmlns:a16="http://schemas.microsoft.com/office/drawing/2014/main" id="{88082B8B-FED7-6729-3B9E-01CB7BFE869A}"/>
              </a:ext>
            </a:extLst>
          </p:cNvPr>
          <p:cNvSpPr/>
          <p:nvPr/>
        </p:nvSpPr>
        <p:spPr>
          <a:xfrm>
            <a:off x="6263640" y="2464308"/>
            <a:ext cx="22860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26">
            <a:extLst>
              <a:ext uri="{FF2B5EF4-FFF2-40B4-BE49-F238E27FC236}">
                <a16:creationId xmlns:a16="http://schemas.microsoft.com/office/drawing/2014/main" id="{660A19F8-AE36-2570-C73D-A1AF871EA323}"/>
              </a:ext>
            </a:extLst>
          </p:cNvPr>
          <p:cNvSpPr/>
          <p:nvPr/>
        </p:nvSpPr>
        <p:spPr>
          <a:xfrm>
            <a:off x="6190488" y="2510028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900" dirty="0"/>
          </a:p>
        </p:txBody>
      </p:sp>
      <p:sp>
        <p:nvSpPr>
          <p:cNvPr id="42" name="Text 27">
            <a:extLst>
              <a:ext uri="{FF2B5EF4-FFF2-40B4-BE49-F238E27FC236}">
                <a16:creationId xmlns:a16="http://schemas.microsoft.com/office/drawing/2014/main" id="{0AB53E32-07F5-83BD-2E01-6F3A31153035}"/>
              </a:ext>
            </a:extLst>
          </p:cNvPr>
          <p:cNvSpPr/>
          <p:nvPr/>
        </p:nvSpPr>
        <p:spPr>
          <a:xfrm>
            <a:off x="6190488" y="267462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High</a:t>
            </a:r>
            <a:endParaRPr lang="en-US" sz="1600" dirty="0"/>
          </a:p>
        </p:txBody>
      </p:sp>
      <p:sp>
        <p:nvSpPr>
          <p:cNvPr id="43" name="Shape 28">
            <a:extLst>
              <a:ext uri="{FF2B5EF4-FFF2-40B4-BE49-F238E27FC236}">
                <a16:creationId xmlns:a16="http://schemas.microsoft.com/office/drawing/2014/main" id="{12FF2929-2856-3169-BA76-1AF307132360}"/>
              </a:ext>
            </a:extLst>
          </p:cNvPr>
          <p:cNvSpPr/>
          <p:nvPr/>
        </p:nvSpPr>
        <p:spPr>
          <a:xfrm>
            <a:off x="6263640" y="2967228"/>
            <a:ext cx="22860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29">
            <a:extLst>
              <a:ext uri="{FF2B5EF4-FFF2-40B4-BE49-F238E27FC236}">
                <a16:creationId xmlns:a16="http://schemas.microsoft.com/office/drawing/2014/main" id="{4593E7D5-7C85-0303-ED52-7C355D3BCEE1}"/>
              </a:ext>
            </a:extLst>
          </p:cNvPr>
          <p:cNvSpPr/>
          <p:nvPr/>
        </p:nvSpPr>
        <p:spPr>
          <a:xfrm>
            <a:off x="6190488" y="3012948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Overfitting Risk</a:t>
            </a:r>
            <a:endParaRPr lang="en-US" sz="900" dirty="0"/>
          </a:p>
        </p:txBody>
      </p:sp>
      <p:sp>
        <p:nvSpPr>
          <p:cNvPr id="45" name="Text 30">
            <a:extLst>
              <a:ext uri="{FF2B5EF4-FFF2-40B4-BE49-F238E27FC236}">
                <a16:creationId xmlns:a16="http://schemas.microsoft.com/office/drawing/2014/main" id="{0071812C-559A-76F5-1D22-8B7BD5FBD4F9}"/>
              </a:ext>
            </a:extLst>
          </p:cNvPr>
          <p:cNvSpPr/>
          <p:nvPr/>
        </p:nvSpPr>
        <p:spPr>
          <a:xfrm>
            <a:off x="6190488" y="317754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Moderate</a:t>
            </a:r>
            <a:endParaRPr lang="en-US" sz="1600" dirty="0"/>
          </a:p>
        </p:txBody>
      </p:sp>
      <p:sp>
        <p:nvSpPr>
          <p:cNvPr id="46" name="Shape 31">
            <a:extLst>
              <a:ext uri="{FF2B5EF4-FFF2-40B4-BE49-F238E27FC236}">
                <a16:creationId xmlns:a16="http://schemas.microsoft.com/office/drawing/2014/main" id="{8701403D-48EC-E975-C512-107719574E7B}"/>
              </a:ext>
            </a:extLst>
          </p:cNvPr>
          <p:cNvSpPr/>
          <p:nvPr/>
        </p:nvSpPr>
        <p:spPr>
          <a:xfrm>
            <a:off x="6263640" y="3470148"/>
            <a:ext cx="22860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32">
            <a:extLst>
              <a:ext uri="{FF2B5EF4-FFF2-40B4-BE49-F238E27FC236}">
                <a16:creationId xmlns:a16="http://schemas.microsoft.com/office/drawing/2014/main" id="{57D22A57-36C9-BAD3-D22F-91E528871019}"/>
              </a:ext>
            </a:extLst>
          </p:cNvPr>
          <p:cNvSpPr/>
          <p:nvPr/>
        </p:nvSpPr>
        <p:spPr>
          <a:xfrm>
            <a:off x="6190488" y="3515868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Tuning Required</a:t>
            </a:r>
            <a:endParaRPr lang="en-US" sz="900" dirty="0"/>
          </a:p>
        </p:txBody>
      </p:sp>
      <p:sp>
        <p:nvSpPr>
          <p:cNvPr id="48" name="Text 33">
            <a:extLst>
              <a:ext uri="{FF2B5EF4-FFF2-40B4-BE49-F238E27FC236}">
                <a16:creationId xmlns:a16="http://schemas.microsoft.com/office/drawing/2014/main" id="{6936195B-988E-0FD9-9BAD-B34610D2BADC}"/>
              </a:ext>
            </a:extLst>
          </p:cNvPr>
          <p:cNvSpPr/>
          <p:nvPr/>
        </p:nvSpPr>
        <p:spPr>
          <a:xfrm>
            <a:off x="6190488" y="368046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High</a:t>
            </a:r>
            <a:endParaRPr lang="en-US" sz="1600" dirty="0"/>
          </a:p>
        </p:txBody>
      </p:sp>
      <p:sp>
        <p:nvSpPr>
          <p:cNvPr id="49" name="Shape 34">
            <a:extLst>
              <a:ext uri="{FF2B5EF4-FFF2-40B4-BE49-F238E27FC236}">
                <a16:creationId xmlns:a16="http://schemas.microsoft.com/office/drawing/2014/main" id="{1296B851-80B6-B6EB-5BB6-E0937E1F1480}"/>
              </a:ext>
            </a:extLst>
          </p:cNvPr>
          <p:cNvSpPr/>
          <p:nvPr/>
        </p:nvSpPr>
        <p:spPr>
          <a:xfrm>
            <a:off x="6263640" y="3973068"/>
            <a:ext cx="22860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498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055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Best Practices: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Hyperparameter Tuning</a:t>
            </a:r>
            <a:endParaRPr lang="en-US" sz="36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learning_rate (η)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2A6557-F792-51B9-672E-5AA3AB887B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491"/>
          <a:stretch>
            <a:fillRect/>
          </a:stretch>
        </p:blipFill>
        <p:spPr>
          <a:xfrm>
            <a:off x="156488" y="1416429"/>
            <a:ext cx="8831024" cy="31824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735A18A-F9B3-5CFC-65AE-872EDD465529}"/>
              </a:ext>
            </a:extLst>
          </p:cNvPr>
          <p:cNvSpPr txBox="1"/>
          <p:nvPr/>
        </p:nvSpPr>
        <p:spPr>
          <a:xfrm>
            <a:off x="1954637" y="1085024"/>
            <a:ext cx="1870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005587"/>
                </a:solidFill>
                <a:latin typeface="Arial" panose="020B0604020202020204" pitchFamily="34" charset="0"/>
                <a:ea typeface="Whitney Bold" pitchFamily="34" charset="-122"/>
                <a:cs typeface="Arial" panose="020B0604020202020204" pitchFamily="34" charset="0"/>
              </a:rPr>
              <a:t>η</a:t>
            </a:r>
            <a:r>
              <a:rPr lang="en-US" b="1" dirty="0">
                <a:solidFill>
                  <a:srgbClr val="005587"/>
                </a:solidFill>
                <a:latin typeface="Arial" panose="020B0604020202020204" pitchFamily="34" charset="0"/>
                <a:ea typeface="Whitney Bold" pitchFamily="34" charset="-122"/>
                <a:cs typeface="Arial" panose="020B0604020202020204" pitchFamily="34" charset="0"/>
              </a:rPr>
              <a:t> = 0.01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D9000D-013A-8636-3DF3-E8739EBE4EF2}"/>
              </a:ext>
            </a:extLst>
          </p:cNvPr>
          <p:cNvSpPr txBox="1"/>
          <p:nvPr/>
        </p:nvSpPr>
        <p:spPr>
          <a:xfrm>
            <a:off x="6481813" y="1085024"/>
            <a:ext cx="1870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005587"/>
                </a:solidFill>
                <a:latin typeface="Arial" panose="020B0604020202020204" pitchFamily="34" charset="0"/>
                <a:ea typeface="Whitney Bold" pitchFamily="34" charset="-122"/>
                <a:cs typeface="Arial" panose="020B0604020202020204" pitchFamily="34" charset="0"/>
              </a:rPr>
              <a:t>η</a:t>
            </a:r>
            <a:r>
              <a:rPr lang="en-US" b="1" dirty="0">
                <a:solidFill>
                  <a:srgbClr val="005587"/>
                </a:solidFill>
                <a:latin typeface="Arial" panose="020B0604020202020204" pitchFamily="34" charset="0"/>
                <a:ea typeface="Whitney Bold" pitchFamily="34" charset="-122"/>
                <a:cs typeface="Arial" panose="020B0604020202020204" pitchFamily="34" charset="0"/>
              </a:rPr>
              <a:t> = 0.2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Best Practices: Hyperparameter Tuning 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21792" y="1143000"/>
            <a:ext cx="66015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Start with defaults. </a:t>
            </a: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If it works good enough “out of the box”, use as is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319272" y="114300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1791" y="1851660"/>
            <a:ext cx="73450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Tune hyperparameters. </a:t>
            </a: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Try a handful of different combinations; </a:t>
            </a: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number of trees</a:t>
            </a: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learning rate </a:t>
            </a: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matter more than </a:t>
            </a:r>
            <a:r>
              <a:rPr lang="en-US" sz="1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tree depth  </a:t>
            </a:r>
            <a:endParaRPr lang="en-US" sz="1600" b="1" dirty="0"/>
          </a:p>
        </p:txBody>
      </p:sp>
      <p:sp>
        <p:nvSpPr>
          <p:cNvPr id="12" name="Text 10"/>
          <p:cNvSpPr/>
          <p:nvPr/>
        </p:nvSpPr>
        <p:spPr>
          <a:xfrm>
            <a:off x="621791" y="2846070"/>
            <a:ext cx="62309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Use proper validation. 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cross-validation to choose hyperparameters, keep test set for “final” evaluation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19272" y="242316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1" y="3726180"/>
            <a:ext cx="800100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Monitor for overfitting. 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an eye on train vs. validation error. Excessive divergence = overfitting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19272" y="306324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3D958-2B38-0075-8DDF-380EF167B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10AA3C8-977C-5B55-04CA-2F3A6C5F6FFC}"/>
              </a:ext>
            </a:extLst>
          </p:cNvPr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0690FB3-8883-4046-F369-918F96995FA6}"/>
              </a:ext>
            </a:extLst>
          </p:cNvPr>
          <p:cNvSpPr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Which model should you use?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9128CAA-86D1-49FE-7970-7D6AA301EFBB}"/>
              </a:ext>
            </a:extLst>
          </p:cNvPr>
          <p:cNvSpPr/>
          <p:nvPr/>
        </p:nvSpPr>
        <p:spPr>
          <a:xfrm>
            <a:off x="457200" y="896112"/>
            <a:ext cx="832104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6F4F0BB-7F22-DA8A-614C-50B1F30BF5F2}"/>
              </a:ext>
            </a:extLst>
          </p:cNvPr>
          <p:cNvSpPr/>
          <p:nvPr/>
        </p:nvSpPr>
        <p:spPr>
          <a:xfrm>
            <a:off x="457200" y="1504188"/>
            <a:ext cx="26517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19B39A0-AD9B-AE50-01B5-26D850E2848D}"/>
              </a:ext>
            </a:extLst>
          </p:cNvPr>
          <p:cNvSpPr/>
          <p:nvPr/>
        </p:nvSpPr>
        <p:spPr>
          <a:xfrm>
            <a:off x="566928" y="1613916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Tree</a:t>
            </a:r>
            <a:endParaRPr lang="en-US" sz="16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A6524DD-F697-DF7E-6CBA-E51EE7B9594D}"/>
              </a:ext>
            </a:extLst>
          </p:cNvPr>
          <p:cNvSpPr/>
          <p:nvPr/>
        </p:nvSpPr>
        <p:spPr>
          <a:xfrm>
            <a:off x="566928" y="1943100"/>
            <a:ext cx="2432304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2242ACD-05C5-B719-871E-0C180CCF51CB}"/>
              </a:ext>
            </a:extLst>
          </p:cNvPr>
          <p:cNvSpPr/>
          <p:nvPr/>
        </p:nvSpPr>
        <p:spPr>
          <a:xfrm>
            <a:off x="566928" y="2007108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Interpretability</a:t>
            </a:r>
            <a:endParaRPr lang="en-US" sz="9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7F7D237-4AA9-C395-90C6-A1D7D3556C27}"/>
              </a:ext>
            </a:extLst>
          </p:cNvPr>
          <p:cNvSpPr/>
          <p:nvPr/>
        </p:nvSpPr>
        <p:spPr>
          <a:xfrm>
            <a:off x="566928" y="217170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6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300BE37-1A14-B58F-627D-28F1AC311832}"/>
              </a:ext>
            </a:extLst>
          </p:cNvPr>
          <p:cNvSpPr/>
          <p:nvPr/>
        </p:nvSpPr>
        <p:spPr>
          <a:xfrm>
            <a:off x="640080" y="2464308"/>
            <a:ext cx="22860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3947160-9F9D-E8E2-54D5-2F74C654AAE9}"/>
              </a:ext>
            </a:extLst>
          </p:cNvPr>
          <p:cNvSpPr/>
          <p:nvPr/>
        </p:nvSpPr>
        <p:spPr>
          <a:xfrm>
            <a:off x="566928" y="2510028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9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F30F1F2-4497-8C2A-D52B-63F4AEA01C4E}"/>
              </a:ext>
            </a:extLst>
          </p:cNvPr>
          <p:cNvSpPr/>
          <p:nvPr/>
        </p:nvSpPr>
        <p:spPr>
          <a:xfrm>
            <a:off x="566928" y="267462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</a:t>
            </a:r>
            <a:endParaRPr lang="en-US" sz="16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DEB07851-E800-E681-F810-B03778154EF4}"/>
              </a:ext>
            </a:extLst>
          </p:cNvPr>
          <p:cNvSpPr/>
          <p:nvPr/>
        </p:nvSpPr>
        <p:spPr>
          <a:xfrm>
            <a:off x="640080" y="2967228"/>
            <a:ext cx="22860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0B23D44-C1EF-E0D2-74C1-3F90EC021E8B}"/>
              </a:ext>
            </a:extLst>
          </p:cNvPr>
          <p:cNvSpPr/>
          <p:nvPr/>
        </p:nvSpPr>
        <p:spPr>
          <a:xfrm>
            <a:off x="566928" y="3012948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Overfitting Risk</a:t>
            </a:r>
            <a:endParaRPr lang="en-US" sz="9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35FEBD6-0CAF-376A-FD82-E484B1EBE285}"/>
              </a:ext>
            </a:extLst>
          </p:cNvPr>
          <p:cNvSpPr/>
          <p:nvPr/>
        </p:nvSpPr>
        <p:spPr>
          <a:xfrm>
            <a:off x="566928" y="317754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6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10C24E44-17D7-7CDA-4594-DA88B9811258}"/>
              </a:ext>
            </a:extLst>
          </p:cNvPr>
          <p:cNvSpPr/>
          <p:nvPr/>
        </p:nvSpPr>
        <p:spPr>
          <a:xfrm>
            <a:off x="640080" y="3470148"/>
            <a:ext cx="22860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93EA4CB2-D3EC-5AEE-0788-2D04AB8E9447}"/>
              </a:ext>
            </a:extLst>
          </p:cNvPr>
          <p:cNvSpPr/>
          <p:nvPr/>
        </p:nvSpPr>
        <p:spPr>
          <a:xfrm>
            <a:off x="566928" y="3515868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Tuning Required</a:t>
            </a:r>
            <a:endParaRPr lang="en-US" sz="9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A17B2C7C-D322-DCAB-9B18-0B394E0DCA21}"/>
              </a:ext>
            </a:extLst>
          </p:cNvPr>
          <p:cNvSpPr/>
          <p:nvPr/>
        </p:nvSpPr>
        <p:spPr>
          <a:xfrm>
            <a:off x="566928" y="368046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</a:t>
            </a:r>
            <a:endParaRPr lang="en-US" sz="16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C9805635-385F-EE85-461E-47070F0D9C3C}"/>
              </a:ext>
            </a:extLst>
          </p:cNvPr>
          <p:cNvSpPr/>
          <p:nvPr/>
        </p:nvSpPr>
        <p:spPr>
          <a:xfrm>
            <a:off x="640080" y="3973068"/>
            <a:ext cx="22860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C740FAC4-F178-689F-C297-5E2A536417FC}"/>
              </a:ext>
            </a:extLst>
          </p:cNvPr>
          <p:cNvSpPr/>
          <p:nvPr/>
        </p:nvSpPr>
        <p:spPr>
          <a:xfrm>
            <a:off x="3246120" y="1504188"/>
            <a:ext cx="26517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F59630D2-ED61-F6D1-D2CE-477B1B3990F7}"/>
              </a:ext>
            </a:extLst>
          </p:cNvPr>
          <p:cNvSpPr/>
          <p:nvPr/>
        </p:nvSpPr>
        <p:spPr>
          <a:xfrm>
            <a:off x="3355848" y="1613916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DDFCCAF7-5A32-D818-32DC-1AF19A85CBD7}"/>
              </a:ext>
            </a:extLst>
          </p:cNvPr>
          <p:cNvSpPr/>
          <p:nvPr/>
        </p:nvSpPr>
        <p:spPr>
          <a:xfrm>
            <a:off x="3355848" y="1943100"/>
            <a:ext cx="2432304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DCC48661-DCDD-32A2-B728-C133F5C2C517}"/>
              </a:ext>
            </a:extLst>
          </p:cNvPr>
          <p:cNvSpPr/>
          <p:nvPr/>
        </p:nvSpPr>
        <p:spPr>
          <a:xfrm>
            <a:off x="3355848" y="2007108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Interpretability</a:t>
            </a:r>
            <a:endParaRPr lang="en-US" sz="9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276A897F-A04C-2BEF-90E5-1FC1FCF3F818}"/>
              </a:ext>
            </a:extLst>
          </p:cNvPr>
          <p:cNvSpPr/>
          <p:nvPr/>
        </p:nvSpPr>
        <p:spPr>
          <a:xfrm>
            <a:off x="3355848" y="217170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6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19D6EAEA-6C36-E1B3-D6C0-B853C6D07FA1}"/>
              </a:ext>
            </a:extLst>
          </p:cNvPr>
          <p:cNvSpPr/>
          <p:nvPr/>
        </p:nvSpPr>
        <p:spPr>
          <a:xfrm>
            <a:off x="3429000" y="2464308"/>
            <a:ext cx="22860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A4386228-F943-82BE-E70C-6265418E2539}"/>
              </a:ext>
            </a:extLst>
          </p:cNvPr>
          <p:cNvSpPr/>
          <p:nvPr/>
        </p:nvSpPr>
        <p:spPr>
          <a:xfrm>
            <a:off x="3355848" y="2510028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9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27EBBCF3-9466-6F53-C082-6E0803D106AD}"/>
              </a:ext>
            </a:extLst>
          </p:cNvPr>
          <p:cNvSpPr/>
          <p:nvPr/>
        </p:nvSpPr>
        <p:spPr>
          <a:xfrm>
            <a:off x="3355848" y="267462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6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CE3203ED-F852-1D81-D3EF-2C5C30B8F729}"/>
              </a:ext>
            </a:extLst>
          </p:cNvPr>
          <p:cNvSpPr/>
          <p:nvPr/>
        </p:nvSpPr>
        <p:spPr>
          <a:xfrm>
            <a:off x="3429000" y="2967228"/>
            <a:ext cx="22860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2AD2E8AC-A89E-AC59-67BE-DD8929A1B342}"/>
              </a:ext>
            </a:extLst>
          </p:cNvPr>
          <p:cNvSpPr/>
          <p:nvPr/>
        </p:nvSpPr>
        <p:spPr>
          <a:xfrm>
            <a:off x="3355848" y="3012948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Overfitting Risk</a:t>
            </a:r>
            <a:endParaRPr lang="en-US" sz="9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880D57B5-349C-4939-946E-DCF3CEDB1F4A}"/>
              </a:ext>
            </a:extLst>
          </p:cNvPr>
          <p:cNvSpPr/>
          <p:nvPr/>
        </p:nvSpPr>
        <p:spPr>
          <a:xfrm>
            <a:off x="3355848" y="317754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Low</a:t>
            </a:r>
            <a:endParaRPr lang="en-US" sz="16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82B829F2-9052-4C0E-05DF-407BAFDB190E}"/>
              </a:ext>
            </a:extLst>
          </p:cNvPr>
          <p:cNvSpPr/>
          <p:nvPr/>
        </p:nvSpPr>
        <p:spPr>
          <a:xfrm>
            <a:off x="3429000" y="3470148"/>
            <a:ext cx="22860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AE0874A6-D3C8-DB36-1686-FE374FEB06B7}"/>
              </a:ext>
            </a:extLst>
          </p:cNvPr>
          <p:cNvSpPr/>
          <p:nvPr/>
        </p:nvSpPr>
        <p:spPr>
          <a:xfrm>
            <a:off x="3355848" y="3515868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Tuning Required</a:t>
            </a:r>
            <a:endParaRPr lang="en-US" sz="9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5D2F28D0-2CF4-69D9-0314-6274CD59024E}"/>
              </a:ext>
            </a:extLst>
          </p:cNvPr>
          <p:cNvSpPr/>
          <p:nvPr/>
        </p:nvSpPr>
        <p:spPr>
          <a:xfrm>
            <a:off x="3355848" y="368046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60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FC3D270E-BA19-9C77-E5B9-FDD89F9EC0B6}"/>
              </a:ext>
            </a:extLst>
          </p:cNvPr>
          <p:cNvSpPr/>
          <p:nvPr/>
        </p:nvSpPr>
        <p:spPr>
          <a:xfrm>
            <a:off x="3429000" y="3973068"/>
            <a:ext cx="22860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19">
            <a:extLst>
              <a:ext uri="{FF2B5EF4-FFF2-40B4-BE49-F238E27FC236}">
                <a16:creationId xmlns:a16="http://schemas.microsoft.com/office/drawing/2014/main" id="{527BFD5E-BDAF-2BEF-401E-33E77A0589E3}"/>
              </a:ext>
            </a:extLst>
          </p:cNvPr>
          <p:cNvSpPr/>
          <p:nvPr/>
        </p:nvSpPr>
        <p:spPr>
          <a:xfrm>
            <a:off x="6080760" y="1504188"/>
            <a:ext cx="26517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37BA4222-D86B-FDAE-544D-35F17453C6C4}"/>
              </a:ext>
            </a:extLst>
          </p:cNvPr>
          <p:cNvSpPr/>
          <p:nvPr/>
        </p:nvSpPr>
        <p:spPr>
          <a:xfrm>
            <a:off x="6190488" y="1613916"/>
            <a:ext cx="2432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1600" dirty="0"/>
          </a:p>
        </p:txBody>
      </p:sp>
      <p:sp>
        <p:nvSpPr>
          <p:cNvPr id="37" name="Shape 22">
            <a:extLst>
              <a:ext uri="{FF2B5EF4-FFF2-40B4-BE49-F238E27FC236}">
                <a16:creationId xmlns:a16="http://schemas.microsoft.com/office/drawing/2014/main" id="{6C370087-D857-6463-34D8-2C9D6D89C92F}"/>
              </a:ext>
            </a:extLst>
          </p:cNvPr>
          <p:cNvSpPr/>
          <p:nvPr/>
        </p:nvSpPr>
        <p:spPr>
          <a:xfrm>
            <a:off x="6190488" y="1943100"/>
            <a:ext cx="2432304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23">
            <a:extLst>
              <a:ext uri="{FF2B5EF4-FFF2-40B4-BE49-F238E27FC236}">
                <a16:creationId xmlns:a16="http://schemas.microsoft.com/office/drawing/2014/main" id="{AE6FA6AB-B21B-C717-A5C5-A3C8C49C2B37}"/>
              </a:ext>
            </a:extLst>
          </p:cNvPr>
          <p:cNvSpPr/>
          <p:nvPr/>
        </p:nvSpPr>
        <p:spPr>
          <a:xfrm>
            <a:off x="6190488" y="2007108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Interpretability</a:t>
            </a:r>
            <a:endParaRPr lang="en-US" sz="900" dirty="0"/>
          </a:p>
        </p:txBody>
      </p:sp>
      <p:sp>
        <p:nvSpPr>
          <p:cNvPr id="39" name="Text 24">
            <a:extLst>
              <a:ext uri="{FF2B5EF4-FFF2-40B4-BE49-F238E27FC236}">
                <a16:creationId xmlns:a16="http://schemas.microsoft.com/office/drawing/2014/main" id="{A3046612-0BD4-FA59-ADA9-7ED2C9294A8A}"/>
              </a:ext>
            </a:extLst>
          </p:cNvPr>
          <p:cNvSpPr/>
          <p:nvPr/>
        </p:nvSpPr>
        <p:spPr>
          <a:xfrm>
            <a:off x="6190488" y="217170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600" dirty="0"/>
          </a:p>
        </p:txBody>
      </p:sp>
      <p:sp>
        <p:nvSpPr>
          <p:cNvPr id="40" name="Shape 25">
            <a:extLst>
              <a:ext uri="{FF2B5EF4-FFF2-40B4-BE49-F238E27FC236}">
                <a16:creationId xmlns:a16="http://schemas.microsoft.com/office/drawing/2014/main" id="{585D3995-00A6-A974-AB13-27ABFC69CABE}"/>
              </a:ext>
            </a:extLst>
          </p:cNvPr>
          <p:cNvSpPr/>
          <p:nvPr/>
        </p:nvSpPr>
        <p:spPr>
          <a:xfrm>
            <a:off x="6263640" y="2464308"/>
            <a:ext cx="22860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26">
            <a:extLst>
              <a:ext uri="{FF2B5EF4-FFF2-40B4-BE49-F238E27FC236}">
                <a16:creationId xmlns:a16="http://schemas.microsoft.com/office/drawing/2014/main" id="{266DAD8C-AFEB-81CC-7A6E-51D9DE734799}"/>
              </a:ext>
            </a:extLst>
          </p:cNvPr>
          <p:cNvSpPr/>
          <p:nvPr/>
        </p:nvSpPr>
        <p:spPr>
          <a:xfrm>
            <a:off x="6190488" y="2510028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900" dirty="0"/>
          </a:p>
        </p:txBody>
      </p:sp>
      <p:sp>
        <p:nvSpPr>
          <p:cNvPr id="42" name="Text 27">
            <a:extLst>
              <a:ext uri="{FF2B5EF4-FFF2-40B4-BE49-F238E27FC236}">
                <a16:creationId xmlns:a16="http://schemas.microsoft.com/office/drawing/2014/main" id="{69369941-04D2-5CED-28BE-FD799EED111D}"/>
              </a:ext>
            </a:extLst>
          </p:cNvPr>
          <p:cNvSpPr/>
          <p:nvPr/>
        </p:nvSpPr>
        <p:spPr>
          <a:xfrm>
            <a:off x="6190488" y="267462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High</a:t>
            </a:r>
            <a:endParaRPr lang="en-US" sz="1600" dirty="0"/>
          </a:p>
        </p:txBody>
      </p:sp>
      <p:sp>
        <p:nvSpPr>
          <p:cNvPr id="43" name="Shape 28">
            <a:extLst>
              <a:ext uri="{FF2B5EF4-FFF2-40B4-BE49-F238E27FC236}">
                <a16:creationId xmlns:a16="http://schemas.microsoft.com/office/drawing/2014/main" id="{CFCA8708-2FFB-A3CE-AED4-8ACBE7C29CA0}"/>
              </a:ext>
            </a:extLst>
          </p:cNvPr>
          <p:cNvSpPr/>
          <p:nvPr/>
        </p:nvSpPr>
        <p:spPr>
          <a:xfrm>
            <a:off x="6263640" y="2967228"/>
            <a:ext cx="22860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29">
            <a:extLst>
              <a:ext uri="{FF2B5EF4-FFF2-40B4-BE49-F238E27FC236}">
                <a16:creationId xmlns:a16="http://schemas.microsoft.com/office/drawing/2014/main" id="{DB0AA83C-266F-8EEB-FC91-460BAEFE6A90}"/>
              </a:ext>
            </a:extLst>
          </p:cNvPr>
          <p:cNvSpPr/>
          <p:nvPr/>
        </p:nvSpPr>
        <p:spPr>
          <a:xfrm>
            <a:off x="6190488" y="3012948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Overfitting Risk</a:t>
            </a:r>
            <a:endParaRPr lang="en-US" sz="900" dirty="0"/>
          </a:p>
        </p:txBody>
      </p:sp>
      <p:sp>
        <p:nvSpPr>
          <p:cNvPr id="45" name="Text 30">
            <a:extLst>
              <a:ext uri="{FF2B5EF4-FFF2-40B4-BE49-F238E27FC236}">
                <a16:creationId xmlns:a16="http://schemas.microsoft.com/office/drawing/2014/main" id="{37571FD8-63A2-5C7D-653D-EFEB4E99AD15}"/>
              </a:ext>
            </a:extLst>
          </p:cNvPr>
          <p:cNvSpPr/>
          <p:nvPr/>
        </p:nvSpPr>
        <p:spPr>
          <a:xfrm>
            <a:off x="6190488" y="317754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Moderate</a:t>
            </a:r>
            <a:endParaRPr lang="en-US" sz="1600" dirty="0"/>
          </a:p>
        </p:txBody>
      </p:sp>
      <p:sp>
        <p:nvSpPr>
          <p:cNvPr id="46" name="Shape 31">
            <a:extLst>
              <a:ext uri="{FF2B5EF4-FFF2-40B4-BE49-F238E27FC236}">
                <a16:creationId xmlns:a16="http://schemas.microsoft.com/office/drawing/2014/main" id="{71BB4DFA-4DA6-5648-9CF8-2A09845CBFB0}"/>
              </a:ext>
            </a:extLst>
          </p:cNvPr>
          <p:cNvSpPr/>
          <p:nvPr/>
        </p:nvSpPr>
        <p:spPr>
          <a:xfrm>
            <a:off x="6263640" y="3470148"/>
            <a:ext cx="22860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32">
            <a:extLst>
              <a:ext uri="{FF2B5EF4-FFF2-40B4-BE49-F238E27FC236}">
                <a16:creationId xmlns:a16="http://schemas.microsoft.com/office/drawing/2014/main" id="{662A95AE-357E-D8B1-2206-B51B841573BE}"/>
              </a:ext>
            </a:extLst>
          </p:cNvPr>
          <p:cNvSpPr/>
          <p:nvPr/>
        </p:nvSpPr>
        <p:spPr>
          <a:xfrm>
            <a:off x="6190488" y="3515868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Tuning Required</a:t>
            </a:r>
            <a:endParaRPr lang="en-US" sz="900" dirty="0"/>
          </a:p>
        </p:txBody>
      </p:sp>
      <p:sp>
        <p:nvSpPr>
          <p:cNvPr id="48" name="Text 33">
            <a:extLst>
              <a:ext uri="{FF2B5EF4-FFF2-40B4-BE49-F238E27FC236}">
                <a16:creationId xmlns:a16="http://schemas.microsoft.com/office/drawing/2014/main" id="{C04248E1-5DD9-C4C2-A654-9D9364F2FA99}"/>
              </a:ext>
            </a:extLst>
          </p:cNvPr>
          <p:cNvSpPr/>
          <p:nvPr/>
        </p:nvSpPr>
        <p:spPr>
          <a:xfrm>
            <a:off x="6190488" y="368046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High</a:t>
            </a:r>
            <a:endParaRPr lang="en-US" sz="1600" dirty="0"/>
          </a:p>
        </p:txBody>
      </p:sp>
      <p:sp>
        <p:nvSpPr>
          <p:cNvPr id="49" name="Shape 34">
            <a:extLst>
              <a:ext uri="{FF2B5EF4-FFF2-40B4-BE49-F238E27FC236}">
                <a16:creationId xmlns:a16="http://schemas.microsoft.com/office/drawing/2014/main" id="{A3C5CA8E-664D-D606-1CBA-06484B57EED3}"/>
              </a:ext>
            </a:extLst>
          </p:cNvPr>
          <p:cNvSpPr/>
          <p:nvPr/>
        </p:nvSpPr>
        <p:spPr>
          <a:xfrm>
            <a:off x="6263640" y="3973068"/>
            <a:ext cx="22860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56192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055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olab: An easy way to learn and use TensorFlow | by TensorFlow | TensorFlow  | Medium">
            <a:hlinkClick r:id="rId3"/>
            <a:extLst>
              <a:ext uri="{FF2B5EF4-FFF2-40B4-BE49-F238E27FC236}">
                <a16:creationId xmlns:a16="http://schemas.microsoft.com/office/drawing/2014/main" id="{EADCD1FA-63CD-3318-DD00-FA81F50A09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9487" y="1929719"/>
            <a:ext cx="2905025" cy="1284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055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D100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Assignment 2</a:t>
            </a:r>
            <a:endParaRPr lang="en-US" sz="3600" dirty="0">
              <a:solidFill>
                <a:srgbClr val="FFD100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Box 101"/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005587"/>
                </a:solidFill>
                <a:latin typeface="Whitney Bold"/>
              </a:rPr>
              <a:t>Glossary (1/2)</a:t>
            </a:r>
          </a:p>
        </p:txBody>
      </p:sp>
      <p:sp>
        <p:nvSpPr>
          <p:cNvPr id="103" name="Rectangle"/>
          <p:cNvSpPr/>
          <p:nvPr/>
        </p:nvSpPr>
        <p:spPr>
          <a:xfrm>
            <a:off x="457200" y="896112"/>
            <a:ext cx="8321040" cy="127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Rectangle"/>
          <p:cNvSpPr/>
          <p:nvPr/>
        </p:nvSpPr>
        <p:spPr>
          <a:xfrm>
            <a:off x="457200" y="1051560"/>
            <a:ext cx="54864" cy="384048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Box 104"/>
          <p:cNvSpPr txBox="1"/>
          <p:nvPr/>
        </p:nvSpPr>
        <p:spPr>
          <a:xfrm>
            <a:off x="621792" y="1051560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dirty="0">
                <a:solidFill>
                  <a:srgbClr val="005587"/>
                </a:solidFill>
                <a:latin typeface="Arial"/>
              </a:rPr>
              <a:t>Decision Tree (CART)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319271" y="1051560"/>
            <a:ext cx="53035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A model that makes predictions by splitting data with yes/no questions, forming a tree of decision rules.</a:t>
            </a:r>
          </a:p>
        </p:txBody>
      </p:sp>
      <p:sp>
        <p:nvSpPr>
          <p:cNvPr id="110" name="Rectangle"/>
          <p:cNvSpPr/>
          <p:nvPr/>
        </p:nvSpPr>
        <p:spPr>
          <a:xfrm>
            <a:off x="457200" y="1519481"/>
            <a:ext cx="54864" cy="50292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Box 110"/>
          <p:cNvSpPr txBox="1"/>
          <p:nvPr/>
        </p:nvSpPr>
        <p:spPr>
          <a:xfrm>
            <a:off x="621792" y="1519481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05587"/>
                </a:solidFill>
                <a:latin typeface="Arial"/>
              </a:rPr>
              <a:t>Leaf Node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319271" y="1519481"/>
            <a:ext cx="530352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dirty="0">
                <a:solidFill>
                  <a:srgbClr val="000000"/>
                </a:solidFill>
                <a:latin typeface="Arial"/>
              </a:rPr>
              <a:t>The </a:t>
            </a:r>
            <a:r>
              <a:rPr lang="en-US" sz="1100" b="0" dirty="0">
                <a:solidFill>
                  <a:srgbClr val="000000"/>
                </a:solidFill>
                <a:latin typeface="Arial"/>
              </a:rPr>
              <a:t>smallest unit of a </a:t>
            </a:r>
            <a:r>
              <a:rPr sz="1100" b="0" dirty="0">
                <a:solidFill>
                  <a:srgbClr val="000000"/>
                </a:solidFill>
                <a:latin typeface="Arial"/>
              </a:rPr>
              <a:t>decision tree that contains a prediction value, such as the average price of all data points that landed there.</a:t>
            </a:r>
          </a:p>
        </p:txBody>
      </p:sp>
      <p:sp>
        <p:nvSpPr>
          <p:cNvPr id="113" name="Rectangle"/>
          <p:cNvSpPr/>
          <p:nvPr/>
        </p:nvSpPr>
        <p:spPr>
          <a:xfrm>
            <a:off x="457200" y="2077265"/>
            <a:ext cx="54864" cy="384048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Box 113"/>
          <p:cNvSpPr txBox="1"/>
          <p:nvPr/>
        </p:nvSpPr>
        <p:spPr>
          <a:xfrm>
            <a:off x="621792" y="2077265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05587"/>
                </a:solidFill>
                <a:latin typeface="Arial"/>
              </a:rPr>
              <a:t>Tree Depth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319271" y="2077265"/>
            <a:ext cx="53035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The number of levels of splits in a tree; deeper trees are more complex and more prone to overfitting.</a:t>
            </a:r>
          </a:p>
        </p:txBody>
      </p:sp>
      <p:sp>
        <p:nvSpPr>
          <p:cNvPr id="116" name="Rectangle"/>
          <p:cNvSpPr/>
          <p:nvPr/>
        </p:nvSpPr>
        <p:spPr>
          <a:xfrm>
            <a:off x="457200" y="2516177"/>
            <a:ext cx="54864" cy="50292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Box 116"/>
          <p:cNvSpPr txBox="1"/>
          <p:nvPr/>
        </p:nvSpPr>
        <p:spPr>
          <a:xfrm>
            <a:off x="621792" y="2516177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05587"/>
                </a:solidFill>
                <a:latin typeface="Arial"/>
              </a:rPr>
              <a:t>Hyperparameter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319271" y="2516177"/>
            <a:ext cx="53035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A setting chosen before training that controls model behavior, such as tree depth or learning rate. Not learned from data.</a:t>
            </a:r>
          </a:p>
        </p:txBody>
      </p:sp>
      <p:sp>
        <p:nvSpPr>
          <p:cNvPr id="119" name="Rectangle"/>
          <p:cNvSpPr/>
          <p:nvPr/>
        </p:nvSpPr>
        <p:spPr>
          <a:xfrm>
            <a:off x="457200" y="3073961"/>
            <a:ext cx="54864" cy="384048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TextBox 119"/>
          <p:cNvSpPr txBox="1"/>
          <p:nvPr/>
        </p:nvSpPr>
        <p:spPr>
          <a:xfrm>
            <a:off x="621792" y="3073961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05587"/>
                </a:solidFill>
                <a:latin typeface="Arial"/>
              </a:rPr>
              <a:t>Feature Importance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319271" y="3073961"/>
            <a:ext cx="53035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A score showing how much each input variable contributed to the model's predictions.</a:t>
            </a:r>
          </a:p>
        </p:txBody>
      </p:sp>
      <p:sp>
        <p:nvSpPr>
          <p:cNvPr id="122" name="Rectangle"/>
          <p:cNvSpPr/>
          <p:nvPr/>
        </p:nvSpPr>
        <p:spPr>
          <a:xfrm>
            <a:off x="457200" y="3512873"/>
            <a:ext cx="54864" cy="50292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TextBox 122"/>
          <p:cNvSpPr txBox="1"/>
          <p:nvPr/>
        </p:nvSpPr>
        <p:spPr>
          <a:xfrm>
            <a:off x="621792" y="3512873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05587"/>
                </a:solidFill>
                <a:latin typeface="Arial"/>
              </a:rPr>
              <a:t>Random Forest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319271" y="3512873"/>
            <a:ext cx="53035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An ensemble of many decision trees, each trained on a random sample of data, whose predictions are averaged for stability.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Box 101"/>
          <p:cNvSpPr txBox="1"/>
          <p:nvPr/>
        </p:nvSpPr>
        <p:spPr>
          <a:xfrm>
            <a:off x="457200" y="182880"/>
            <a:ext cx="8321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800" b="1">
                <a:solidFill>
                  <a:srgbClr val="005587"/>
                </a:solidFill>
                <a:latin typeface="Whitney Bold"/>
              </a:rPr>
              <a:t>Glossary (2/2)</a:t>
            </a:r>
          </a:p>
        </p:txBody>
      </p:sp>
      <p:sp>
        <p:nvSpPr>
          <p:cNvPr id="103" name="Rectangle"/>
          <p:cNvSpPr/>
          <p:nvPr/>
        </p:nvSpPr>
        <p:spPr>
          <a:xfrm>
            <a:off x="457200" y="896112"/>
            <a:ext cx="8321040" cy="127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Rectangle"/>
          <p:cNvSpPr/>
          <p:nvPr/>
        </p:nvSpPr>
        <p:spPr>
          <a:xfrm>
            <a:off x="457200" y="1051560"/>
            <a:ext cx="54864" cy="50292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Box 104"/>
          <p:cNvSpPr txBox="1"/>
          <p:nvPr/>
        </p:nvSpPr>
        <p:spPr>
          <a:xfrm>
            <a:off x="621792" y="1051560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05587"/>
                </a:solidFill>
                <a:latin typeface="Arial"/>
              </a:rPr>
              <a:t>Ensemble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319271" y="1051560"/>
            <a:ext cx="53035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A method that combines multiple models to produce predictions that outperform any individual model, leveraging the “wisdom of the crowds.”</a:t>
            </a:r>
          </a:p>
        </p:txBody>
      </p:sp>
      <p:sp>
        <p:nvSpPr>
          <p:cNvPr id="107" name="Rectangle"/>
          <p:cNvSpPr/>
          <p:nvPr/>
        </p:nvSpPr>
        <p:spPr>
          <a:xfrm>
            <a:off x="457200" y="1609344"/>
            <a:ext cx="54864" cy="50292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Box 107"/>
          <p:cNvSpPr txBox="1"/>
          <p:nvPr/>
        </p:nvSpPr>
        <p:spPr>
          <a:xfrm>
            <a:off x="621792" y="1609344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05587"/>
                </a:solidFill>
                <a:latin typeface="Arial"/>
              </a:rPr>
              <a:t>XGBoost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319271" y="1609344"/>
            <a:ext cx="53035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A sequential ensemble algorithm that builds trees one at a time, where each new tree focuses on correcting the errors of previous trees.</a:t>
            </a:r>
          </a:p>
        </p:txBody>
      </p:sp>
      <p:sp>
        <p:nvSpPr>
          <p:cNvPr id="110" name="Rectangle"/>
          <p:cNvSpPr/>
          <p:nvPr/>
        </p:nvSpPr>
        <p:spPr>
          <a:xfrm>
            <a:off x="457200" y="2167128"/>
            <a:ext cx="54864" cy="50292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Box 110"/>
          <p:cNvSpPr txBox="1"/>
          <p:nvPr/>
        </p:nvSpPr>
        <p:spPr>
          <a:xfrm>
            <a:off x="621792" y="2167128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05587"/>
                </a:solidFill>
                <a:latin typeface="Arial"/>
              </a:rPr>
              <a:t>Residuals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319271" y="2167128"/>
            <a:ext cx="53035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The difference between actual values and current predictions; in XGBoost, each new tree is trained to predict these gaps.</a:t>
            </a:r>
          </a:p>
        </p:txBody>
      </p:sp>
      <p:sp>
        <p:nvSpPr>
          <p:cNvPr id="113" name="Rectangle"/>
          <p:cNvSpPr/>
          <p:nvPr/>
        </p:nvSpPr>
        <p:spPr>
          <a:xfrm>
            <a:off x="457200" y="2724912"/>
            <a:ext cx="54864" cy="502920"/>
          </a:xfrm>
          <a:prstGeom prst="rect">
            <a:avLst/>
          </a:prstGeom>
          <a:solidFill>
            <a:srgbClr val="00558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Box 113"/>
          <p:cNvSpPr txBox="1"/>
          <p:nvPr/>
        </p:nvSpPr>
        <p:spPr>
          <a:xfrm>
            <a:off x="621792" y="2724912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05587"/>
                </a:solidFill>
                <a:latin typeface="Arial"/>
              </a:rPr>
              <a:t>Learning Rate (eta)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319271" y="2724912"/>
            <a:ext cx="53035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A shrinkage factor that controls how much each new tree contributes to the overall prediction; lower values reduce overfitting but require more trees.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2447</TotalTime>
  <Words>1975</Words>
  <Application>Microsoft Macintosh PowerPoint</Application>
  <PresentationFormat>On-screen Show (16:9)</PresentationFormat>
  <Paragraphs>445</Paragraphs>
  <Slides>50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Whitney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Siddiq, Auyon</cp:lastModifiedBy>
  <cp:revision>250</cp:revision>
  <cp:lastPrinted>2026-04-02T05:32:42Z</cp:lastPrinted>
  <dcterms:created xsi:type="dcterms:W3CDTF">2026-02-16T04:53:49Z</dcterms:created>
  <dcterms:modified xsi:type="dcterms:W3CDTF">2026-04-12T17:54:03Z</dcterms:modified>
</cp:coreProperties>
</file>