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2" r:id="rId17"/>
    <p:sldId id="301" r:id="rId18"/>
    <p:sldId id="277" r:id="rId19"/>
    <p:sldId id="302" r:id="rId20"/>
    <p:sldId id="299" r:id="rId21"/>
    <p:sldId id="273" r:id="rId22"/>
    <p:sldId id="276" r:id="rId23"/>
    <p:sldId id="274" r:id="rId24"/>
    <p:sldId id="280" r:id="rId25"/>
    <p:sldId id="283" r:id="rId26"/>
    <p:sldId id="281" r:id="rId27"/>
    <p:sldId id="304" r:id="rId28"/>
    <p:sldId id="278" r:id="rId29"/>
    <p:sldId id="279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303" r:id="rId41"/>
    <p:sldId id="296" r:id="rId42"/>
    <p:sldId id="297" r:id="rId43"/>
    <p:sldId id="298" r:id="rId4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52" d="100"/>
          <a:sy n="152" d="100"/>
        </p:scale>
        <p:origin x="57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340387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917D0C-C03B-C6CB-D101-FB9E158EF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E62CE7-3AF6-61B7-1379-E96EC40813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9E4524-E451-A8DE-DAB9-CC9AB18354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35C482-787F-E50C-9FC9-B076A1D582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73055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E4CD8-025B-95B0-B53C-45F18B71C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AF39C5-C500-1000-4851-C5663C7434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038891-B9B6-D855-2494-A501E363F3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4FADDD-F30F-3F71-BF0C-1389F7796A9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48278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DF61C6-38CE-90A7-E508-DAB42A1A33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311FEB-EE8A-81FA-7D70-397269CD37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90FE1E-7228-24F9-B12D-D067D977F6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969031-8B8F-0243-E072-6C0A367BBC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49256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763E0-1F03-95CC-1C93-9838C78C9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1B019E-6DFA-4E39-F049-993AB2F356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C93982-A0A5-6844-6AA8-DBB3946C71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D78FFE-A0F8-FE76-7CC6-F952A43D2D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860671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E97341-A8EE-07DF-D1A8-9BC14298B2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64033D-4D37-48F7-DDB3-721C69DBFF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4B5ABE-0ACE-E548-6F25-A7A48AA63E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519699-19C4-1DBC-1F5D-831B992E063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88911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2BC63-6366-0269-6E1B-A3557C235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49A895-E910-97A2-EFD3-390CBA0ED4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E4A5E3-A729-D1A5-CF43-6D523C4D70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5B67DC-B72F-5E59-30E2-E48556FC93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301224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EAAAD-30A8-1F0A-D831-B2473EB4F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6151AB-3EEF-58EB-74B6-A4F93022EB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6F5EC9-3A25-7C64-F464-0DBBC8D623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D93F25-269F-C79D-98FE-09FD3B4AE40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14331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C0BCB-BA19-C768-5D61-20286AEDDD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3643CA-8233-06CA-0C5B-4EA69E2AFA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4B580D-D3B5-240F-4E5B-4B57396E42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38D80E-D697-1BE5-5CE3-40FBC566664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935680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3F2939-56A8-E0D9-4824-50937E1ED0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166F60-42F0-35BE-7494-9D79C5279B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81C027-0ABD-C505-7F9C-323255700D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F3A49B-468C-1CDB-072F-C9D78F4370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99743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347EA3-653C-E866-8D6B-06644886C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F59B15-D2E9-32D9-9485-7FAF4719E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F5294D-5E40-54E7-69E8-1ADBC94E57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723378-B73D-1E8E-40CA-174C7CB5301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513050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jpe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ucla-anderson-SSAI/SSAI/blob/main/Notebooks/Week1.ipynb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ucla-ssai-week1.up.railway.app/app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558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D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MGMT298D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D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Science and Strategy of AI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Week 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0574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Course Introduction;</a:t>
            </a:r>
            <a:endParaRPr lang="en-US" sz="3400" dirty="0"/>
          </a:p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Regression with Feature Engineering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UCLA Anderson School of Management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37490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Auyon Siddiq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When Did "Artificial Intelligence" Begin?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1956: Dartmouth Conference — John McCarthy coins the term</a:t>
            </a:r>
            <a:endParaRPr lang="en-US" sz="1400" dirty="0"/>
          </a:p>
          <a:p>
            <a:pPr marL="685800" lvl="1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small group of researchers proposed that machines could simulate every aspect of learning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https://spectrum.ieee.org/dartmouth-ai-workshop</a:t>
            </a:r>
            <a:endParaRPr lang="en-US" sz="1400" dirty="0"/>
          </a:p>
        </p:txBody>
      </p:sp>
      <p:pic>
        <p:nvPicPr>
          <p:cNvPr id="6" name="Picture 2" descr="Close up of a black and white photo of seven smiling men, sitting on a lawn.">
            <a:extLst>
              <a:ext uri="{FF2B5EF4-FFF2-40B4-BE49-F238E27FC236}">
                <a16:creationId xmlns:a16="http://schemas.microsoft.com/office/drawing/2014/main" id="{13F1F3D3-874E-4CD4-0F22-72E9DD15E0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3356" y="2152722"/>
            <a:ext cx="3777288" cy="28329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AAD5A-0063-94BE-29D6-13C9B49A4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CFBADA8-BDF4-685A-5C6D-5F52E5F681CD}"/>
              </a:ext>
            </a:extLst>
          </p:cNvPr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56EFA063-7EC8-CE12-FF88-DA19C847C8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7639" y="0"/>
            <a:ext cx="508635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>
            <a:extLst>
              <a:ext uri="{FF2B5EF4-FFF2-40B4-BE49-F238E27FC236}">
                <a16:creationId xmlns:a16="http://schemas.microsoft.com/office/drawing/2014/main" id="{59ECDF39-D49C-7DFD-9C56-8E5F2F055F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33989" y="1263535"/>
            <a:ext cx="1901109" cy="29899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33446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Confident Predictions!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"Machines will be capable of doing any work a man can do."</a:t>
            </a:r>
            <a:endParaRPr lang="en-US" sz="15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Herbert Simon, 1965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"Within a generation... the problem of creating 'artificial intelligence' will substantially be solved."</a:t>
            </a:r>
            <a:endParaRPr lang="en-US" sz="15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Marvin Minsky, 1967</a:t>
            </a:r>
            <a:endParaRPr lang="en-US" sz="15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500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"In 3 to 8 years we will have a machine with the general intelligence of an average human being."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Marvin Minsky, 1970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F2D6D6-E879-1AD4-613C-97E241468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97167D0-4C2F-F598-17BD-7CC952B0B98C}"/>
              </a:ext>
            </a:extLst>
          </p:cNvPr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Deep Blue (1997)</a:t>
            </a:r>
            <a:endParaRPr lang="en-US" sz="2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06E004A-4CE4-430D-2959-352701793D68}"/>
              </a:ext>
            </a:extLst>
          </p:cNvPr>
          <p:cNvSpPr/>
          <p:nvPr/>
        </p:nvSpPr>
        <p:spPr>
          <a:xfrm>
            <a:off x="822960" y="1280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D09E6AB-41F0-D5C0-E27E-267F8D7DA889}"/>
              </a:ext>
            </a:extLst>
          </p:cNvPr>
          <p:cNvSpPr/>
          <p:nvPr/>
        </p:nvSpPr>
        <p:spPr>
          <a:xfrm>
            <a:off x="82296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57CE08F-BC86-6363-BD26-0F03FEF46EE2}"/>
              </a:ext>
            </a:extLst>
          </p:cNvPr>
          <p:cNvSpPr/>
          <p:nvPr/>
        </p:nvSpPr>
        <p:spPr>
          <a:xfrm>
            <a:off x="822960" y="2011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F9698FA-6A2E-9861-F405-E36B12379766}"/>
              </a:ext>
            </a:extLst>
          </p:cNvPr>
          <p:cNvSpPr/>
          <p:nvPr/>
        </p:nvSpPr>
        <p:spPr>
          <a:xfrm>
            <a:off x="822960" y="29260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43295095-59A4-24B0-38C0-19E1EFAA2054}"/>
              </a:ext>
            </a:extLst>
          </p:cNvPr>
          <p:cNvSpPr/>
          <p:nvPr/>
        </p:nvSpPr>
        <p:spPr>
          <a:xfrm>
            <a:off x="822960" y="3291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500" dirty="0"/>
          </a:p>
        </p:txBody>
      </p:sp>
      <p:pic>
        <p:nvPicPr>
          <p:cNvPr id="11" name="Picture 2" descr="What Is Intelligence? 20 Years After Deep Blue, AI Still Can't Think Like  Humans | Live Science">
            <a:extLst>
              <a:ext uri="{FF2B5EF4-FFF2-40B4-BE49-F238E27FC236}">
                <a16:creationId xmlns:a16="http://schemas.microsoft.com/office/drawing/2014/main" id="{61AB6AB4-3D82-D6E3-C805-48454BEFD3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620" y="899614"/>
            <a:ext cx="6721110" cy="40529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hape 0">
            <a:extLst>
              <a:ext uri="{FF2B5EF4-FFF2-40B4-BE49-F238E27FC236}">
                <a16:creationId xmlns:a16="http://schemas.microsoft.com/office/drawing/2014/main" id="{3FCD8890-867D-AFBA-A41F-AD77824445E7}"/>
              </a:ext>
            </a:extLst>
          </p:cNvPr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5775A21B-1800-3775-28B9-717CB74B848B}"/>
              </a:ext>
            </a:extLst>
          </p:cNvPr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46884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528436-A18F-D2BC-0430-7F24DBF697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FA4FA8D-96CB-B6D1-08ED-606AF32A7EC7}"/>
              </a:ext>
            </a:extLst>
          </p:cNvPr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IBM Watson (2011)</a:t>
            </a:r>
            <a:endParaRPr lang="en-US" sz="2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313A8A3-B85E-E606-F9A9-2E10487603A5}"/>
              </a:ext>
            </a:extLst>
          </p:cNvPr>
          <p:cNvSpPr/>
          <p:nvPr/>
        </p:nvSpPr>
        <p:spPr>
          <a:xfrm>
            <a:off x="822960" y="1280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EBB85C0-4DF0-ABD8-520B-323AABEEDFA7}"/>
              </a:ext>
            </a:extLst>
          </p:cNvPr>
          <p:cNvSpPr/>
          <p:nvPr/>
        </p:nvSpPr>
        <p:spPr>
          <a:xfrm>
            <a:off x="82296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918F542-18F6-339B-6DC4-BC588C625F56}"/>
              </a:ext>
            </a:extLst>
          </p:cNvPr>
          <p:cNvSpPr/>
          <p:nvPr/>
        </p:nvSpPr>
        <p:spPr>
          <a:xfrm>
            <a:off x="822960" y="2011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8789F4D4-5B99-1037-9F23-34A66F487F7C}"/>
              </a:ext>
            </a:extLst>
          </p:cNvPr>
          <p:cNvSpPr/>
          <p:nvPr/>
        </p:nvSpPr>
        <p:spPr>
          <a:xfrm>
            <a:off x="822960" y="29260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8D2CF5D9-267C-BDAF-5CC5-1F68639D4912}"/>
              </a:ext>
            </a:extLst>
          </p:cNvPr>
          <p:cNvSpPr/>
          <p:nvPr/>
        </p:nvSpPr>
        <p:spPr>
          <a:xfrm>
            <a:off x="822960" y="3291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500" dirty="0"/>
          </a:p>
        </p:txBody>
      </p:sp>
      <p:pic>
        <p:nvPicPr>
          <p:cNvPr id="7172" name="Picture 4" descr="Watch Jeopardy! Season 27, Episode 111: The IBM Challenge 1 | Peacock">
            <a:extLst>
              <a:ext uri="{FF2B5EF4-FFF2-40B4-BE49-F238E27FC236}">
                <a16:creationId xmlns:a16="http://schemas.microsoft.com/office/drawing/2014/main" id="{AF6FAD01-629A-A793-163B-D943348AE4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7920" y="1005840"/>
            <a:ext cx="6868160" cy="38633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hape 0">
            <a:extLst>
              <a:ext uri="{FF2B5EF4-FFF2-40B4-BE49-F238E27FC236}">
                <a16:creationId xmlns:a16="http://schemas.microsoft.com/office/drawing/2014/main" id="{56DC83C0-D076-A06C-B240-8FC97FFF8D16}"/>
              </a:ext>
            </a:extLst>
          </p:cNvPr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2E6767CF-B781-554E-ACC1-D40FA9F00A38}"/>
              </a:ext>
            </a:extLst>
          </p:cNvPr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8278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8DE64-93A7-E242-9C40-64652BD4C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2004BC5-6018-4CF8-92F9-89C9709BA39F}"/>
              </a:ext>
            </a:extLst>
          </p:cNvPr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 err="1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AlexNet</a:t>
            </a: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 (2012)</a:t>
            </a:r>
            <a:endParaRPr lang="en-US" sz="2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EDC6AB1-1338-8FAD-4F7A-239FB6AD3B0B}"/>
              </a:ext>
            </a:extLst>
          </p:cNvPr>
          <p:cNvSpPr/>
          <p:nvPr/>
        </p:nvSpPr>
        <p:spPr>
          <a:xfrm>
            <a:off x="822960" y="1280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1609094-3631-7C4A-B556-DAC54D26BFA6}"/>
              </a:ext>
            </a:extLst>
          </p:cNvPr>
          <p:cNvSpPr/>
          <p:nvPr/>
        </p:nvSpPr>
        <p:spPr>
          <a:xfrm>
            <a:off x="82296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D3F1BE4-5F88-57EA-055E-28A7D753EEBD}"/>
              </a:ext>
            </a:extLst>
          </p:cNvPr>
          <p:cNvSpPr/>
          <p:nvPr/>
        </p:nvSpPr>
        <p:spPr>
          <a:xfrm>
            <a:off x="822960" y="2011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F6828C39-56FC-5E95-271B-7F92AF5D723D}"/>
              </a:ext>
            </a:extLst>
          </p:cNvPr>
          <p:cNvSpPr/>
          <p:nvPr/>
        </p:nvSpPr>
        <p:spPr>
          <a:xfrm>
            <a:off x="822960" y="29260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71E79CA6-17D9-8D9A-F086-B5750817001C}"/>
              </a:ext>
            </a:extLst>
          </p:cNvPr>
          <p:cNvSpPr/>
          <p:nvPr/>
        </p:nvSpPr>
        <p:spPr>
          <a:xfrm>
            <a:off x="822960" y="3291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500" dirty="0"/>
          </a:p>
        </p:txBody>
      </p:sp>
      <p:pic>
        <p:nvPicPr>
          <p:cNvPr id="5122" name="Picture 2" descr="AlexNet: Revolutionizing Deep Learning in Image Classification">
            <a:extLst>
              <a:ext uri="{FF2B5EF4-FFF2-40B4-BE49-F238E27FC236}">
                <a16:creationId xmlns:a16="http://schemas.microsoft.com/office/drawing/2014/main" id="{8DF36407-8F65-A1DE-95D9-538671E661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2541" y="2873533"/>
            <a:ext cx="4164259" cy="1751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At Last, a Self-Driving Car That Can Explain Itself">
            <a:extLst>
              <a:ext uri="{FF2B5EF4-FFF2-40B4-BE49-F238E27FC236}">
                <a16:creationId xmlns:a16="http://schemas.microsoft.com/office/drawing/2014/main" id="{EFF5C628-7526-4232-4170-E844B03278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10122" y="97487"/>
            <a:ext cx="5442438" cy="23583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 descr="Waymo's driverless cars are coming to Denver, but you can't ride one yet">
            <a:extLst>
              <a:ext uri="{FF2B5EF4-FFF2-40B4-BE49-F238E27FC236}">
                <a16:creationId xmlns:a16="http://schemas.microsoft.com/office/drawing/2014/main" id="{CF77E97E-3541-471B-2831-AACAEA1E24C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03" t="16905" r="21468" b="22507"/>
          <a:stretch>
            <a:fillRect/>
          </a:stretch>
        </p:blipFill>
        <p:spPr bwMode="auto">
          <a:xfrm>
            <a:off x="91440" y="2986377"/>
            <a:ext cx="3790023" cy="1956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hape 0">
            <a:extLst>
              <a:ext uri="{FF2B5EF4-FFF2-40B4-BE49-F238E27FC236}">
                <a16:creationId xmlns:a16="http://schemas.microsoft.com/office/drawing/2014/main" id="{39508055-FD0D-1F2F-97AA-445F17DBC467}"/>
              </a:ext>
            </a:extLst>
          </p:cNvPr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BF9BC501-A1CB-AD2F-9B65-CB62EB77D357}"/>
              </a:ext>
            </a:extLst>
          </p:cNvPr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0926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FA3850-3C7C-1B06-D918-6B1280D68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830B11B-9569-71D0-2812-3E848FA12F6D}"/>
              </a:ext>
            </a:extLst>
          </p:cNvPr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cs typeface="Whitney Bold" pitchFamily="34" charset="-120"/>
              </a:rPr>
              <a:t>Transformers (2017)</a:t>
            </a:r>
            <a:endParaRPr lang="en-US" sz="28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B88F964-5905-C910-84B3-069B3770EC93}"/>
              </a:ext>
            </a:extLst>
          </p:cNvPr>
          <p:cNvSpPr/>
          <p:nvPr/>
        </p:nvSpPr>
        <p:spPr>
          <a:xfrm>
            <a:off x="82296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882ECA9-D3FF-2A80-405D-903C45316365}"/>
              </a:ext>
            </a:extLst>
          </p:cNvPr>
          <p:cNvSpPr/>
          <p:nvPr/>
        </p:nvSpPr>
        <p:spPr>
          <a:xfrm>
            <a:off x="822960" y="2011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607E210A-EC56-1BBD-BEB2-6ED558DDE337}"/>
              </a:ext>
            </a:extLst>
          </p:cNvPr>
          <p:cNvSpPr/>
          <p:nvPr/>
        </p:nvSpPr>
        <p:spPr>
          <a:xfrm>
            <a:off x="822960" y="29260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118A1667-17D4-A832-51D8-5B1DF36E202C}"/>
              </a:ext>
            </a:extLst>
          </p:cNvPr>
          <p:cNvSpPr/>
          <p:nvPr/>
        </p:nvSpPr>
        <p:spPr>
          <a:xfrm>
            <a:off x="822960" y="3291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500" dirty="0"/>
          </a:p>
        </p:txBody>
      </p:sp>
      <p:pic>
        <p:nvPicPr>
          <p:cNvPr id="4098" name="Picture 2" descr="Amazon.com: Transformers Toys Heroic Optimus Prime Action Figure - Timeless  Large-Scale Figure, Changes into Toy Truck - Toys for Kids 6 and Up,  11-inch (Amazon Exclusive) : Toys &amp; Games">
            <a:extLst>
              <a:ext uri="{FF2B5EF4-FFF2-40B4-BE49-F238E27FC236}">
                <a16:creationId xmlns:a16="http://schemas.microsoft.com/office/drawing/2014/main" id="{15F04CEA-63E4-029A-A8B1-D5D329A1C6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60309" y="713063"/>
            <a:ext cx="2951432" cy="4121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The Transformer Model - MachineLearningMastery.com">
            <a:extLst>
              <a:ext uri="{FF2B5EF4-FFF2-40B4-BE49-F238E27FC236}">
                <a16:creationId xmlns:a16="http://schemas.microsoft.com/office/drawing/2014/main" id="{9C8BCB55-04F6-F6ED-DD02-D40EA86EEF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285" y="912552"/>
            <a:ext cx="2857470" cy="4027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A document with text and images  AI-generated content may be incorrect.">
            <a:extLst>
              <a:ext uri="{FF2B5EF4-FFF2-40B4-BE49-F238E27FC236}">
                <a16:creationId xmlns:a16="http://schemas.microsoft.com/office/drawing/2014/main" id="{B33553D4-C446-F705-7C26-27F7A64AAE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09708" y="1132513"/>
            <a:ext cx="3769546" cy="3406979"/>
          </a:xfrm>
          <a:prstGeom prst="rect">
            <a:avLst/>
          </a:prstGeom>
        </p:spPr>
      </p:pic>
      <p:sp>
        <p:nvSpPr>
          <p:cNvPr id="3" name="Shape 0">
            <a:extLst>
              <a:ext uri="{FF2B5EF4-FFF2-40B4-BE49-F238E27FC236}">
                <a16:creationId xmlns:a16="http://schemas.microsoft.com/office/drawing/2014/main" id="{F5C907EF-054F-3B71-CDFF-04D56E2EF6BA}"/>
              </a:ext>
            </a:extLst>
          </p:cNvPr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332D777-B088-FC71-9200-A4D2C251A6E8}"/>
              </a:ext>
            </a:extLst>
          </p:cNvPr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15521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DAD10-F476-F574-61C9-FE8233B40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8D247657-B1CA-45DF-3D66-1BAD9E05BF08}"/>
              </a:ext>
            </a:extLst>
          </p:cNvPr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cs typeface="Whitney Bold" pitchFamily="34" charset="-120"/>
              </a:rPr>
              <a:t>ChatGPT (2022)</a:t>
            </a:r>
            <a:endParaRPr lang="en-US" sz="28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3CCCB9E-F369-2997-7331-B77F432B25A4}"/>
              </a:ext>
            </a:extLst>
          </p:cNvPr>
          <p:cNvSpPr/>
          <p:nvPr/>
        </p:nvSpPr>
        <p:spPr>
          <a:xfrm>
            <a:off x="82296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D6E7F497-66C2-89C7-5ED7-8171F2A78E90}"/>
              </a:ext>
            </a:extLst>
          </p:cNvPr>
          <p:cNvSpPr/>
          <p:nvPr/>
        </p:nvSpPr>
        <p:spPr>
          <a:xfrm>
            <a:off x="822960" y="2011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113F0DF-873C-FD7A-4804-4E444A719F58}"/>
              </a:ext>
            </a:extLst>
          </p:cNvPr>
          <p:cNvSpPr/>
          <p:nvPr/>
        </p:nvSpPr>
        <p:spPr>
          <a:xfrm>
            <a:off x="822960" y="29260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07C4FD98-74DD-9E3D-F890-EF7D1C7B4C75}"/>
              </a:ext>
            </a:extLst>
          </p:cNvPr>
          <p:cNvSpPr/>
          <p:nvPr/>
        </p:nvSpPr>
        <p:spPr>
          <a:xfrm>
            <a:off x="822960" y="3291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500" dirty="0"/>
          </a:p>
        </p:txBody>
      </p:sp>
      <p:pic>
        <p:nvPicPr>
          <p:cNvPr id="6146" name="Picture 2" descr="ChatGPT: Everything you need to know about the AI chatbot">
            <a:extLst>
              <a:ext uri="{FF2B5EF4-FFF2-40B4-BE49-F238E27FC236}">
                <a16:creationId xmlns:a16="http://schemas.microsoft.com/office/drawing/2014/main" id="{14B3D604-9E33-84BB-E2D6-3CDBBBE1C3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0638" y="1029644"/>
            <a:ext cx="5686967" cy="37928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hape 0">
            <a:extLst>
              <a:ext uri="{FF2B5EF4-FFF2-40B4-BE49-F238E27FC236}">
                <a16:creationId xmlns:a16="http://schemas.microsoft.com/office/drawing/2014/main" id="{093A0D8D-F928-CFE0-3969-9BEC489AE66E}"/>
              </a:ext>
            </a:extLst>
          </p:cNvPr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71172B4-50F2-9878-CC10-AED33E864163}"/>
              </a:ext>
            </a:extLst>
          </p:cNvPr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80701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600" b="1" dirty="0">
                <a:solidFill>
                  <a:srgbClr val="005587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Milestones in AI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3982529"/>
              </p:ext>
            </p:extLst>
          </p:nvPr>
        </p:nvGraphicFramePr>
        <p:xfrm>
          <a:off x="457200" y="1051560"/>
          <a:ext cx="8229600" cy="3017518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107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Year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Early Era (1956–1993)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Year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Modern Era (1997–2023)</a:t>
                      </a:r>
                      <a:endParaRPr lang="en-US" sz="11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1956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Dartmouth Conference coins 'AI'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1997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Deep Blue defeats Kasparov at chess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1966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ELIZA chatbot — early NLP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2011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IBM Watson wins Jeopardy!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1969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Shakey the Robot — perception + reasoning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2012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AlexNet revolutionizes computer vision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1974–80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 AI Winter — unmet expectations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2016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AlphaGo defeats Go champion Lee Sedol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1980s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Expert systems boom in enterprises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2017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Transformer architecture → modern LLMs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1987–93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Second AI Winter — brittle systems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2022–23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ChatGPT / GPT-4 — generative AI</a:t>
                      </a:r>
                      <a:endParaRPr lang="en-US" sz="10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So What Is This Course About?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199" y="1005840"/>
            <a:ext cx="8376407" cy="3863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Survey of ”core” machine learning and AI models</a:t>
            </a:r>
            <a:b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a </a:t>
            </a:r>
            <a:r>
              <a:rPr lang="en-US" sz="1500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tech-forward</a:t>
            </a: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class: Learn how the underlying technology and data drives value</a:t>
            </a:r>
            <a:b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 on math, heavy on intuition</a:t>
            </a:r>
          </a:p>
          <a:p>
            <a:pPr marL="800100" lvl="1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Mostly adding/subtracting/multiplication/division -- quant refresher available on </a:t>
            </a:r>
            <a:r>
              <a:rPr lang="en-US" sz="1400" dirty="0" err="1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BruinLearn</a:t>
            </a:r>
            <a:b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will still get technical to build genuine understanding</a:t>
            </a:r>
            <a:b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will go slowly when needed so everyone is on the same page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Who Is This Course For?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863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Non-technical leaders (consultants, PMs) who are genuinely curious about how ML/AI works</a:t>
            </a:r>
            <a:b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invest in this knowledge?</a:t>
            </a:r>
            <a:endParaRPr lang="en-US" sz="1500" dirty="0"/>
          </a:p>
          <a:p>
            <a:pPr marL="342900" lvl="1">
              <a:spcAft>
                <a:spcPts val="300"/>
              </a:spcAft>
              <a:buSzPct val="100000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Confidence in AI topics — when to deploy, what it can/can't do</a:t>
            </a:r>
            <a:endParaRPr lang="en-US" sz="1500" dirty="0"/>
          </a:p>
          <a:p>
            <a:pPr marL="342900" lvl="1">
              <a:spcAft>
                <a:spcPts val="300"/>
              </a:spcAft>
              <a:buSzPct val="100000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Credibility with AI teams, easier to lead and collaborate</a:t>
            </a:r>
            <a:endParaRPr lang="en-US" sz="1500" dirty="0"/>
          </a:p>
          <a:p>
            <a:pPr marL="342900" lvl="1">
              <a:spcAft>
                <a:spcPts val="300"/>
              </a:spcAft>
              <a:buSzPct val="100000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Competitive advantage and </a:t>
            </a:r>
            <a:r>
              <a:rPr lang="en-US" sz="1500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differentiation</a:t>
            </a: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job market</a:t>
            </a:r>
            <a:endParaRPr lang="en-US" sz="1500" dirty="0"/>
          </a:p>
          <a:p>
            <a:pPr marL="342900" lvl="1">
              <a:spcAft>
                <a:spcPts val="300"/>
              </a:spcAft>
              <a:buSzPct val="100000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Complementary to other Anderson courses</a:t>
            </a:r>
            <a:endParaRPr lang="en-US" sz="1500" dirty="0"/>
          </a:p>
          <a:p>
            <a:pPr marL="342900" lvl="1">
              <a:spcAft>
                <a:spcPts val="400"/>
              </a:spcAft>
              <a:buSzPct val="100000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It is interesting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Course Structure (convert to visual)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863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/>
              <a:t>3 blocks: ML, DL, Project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558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>
            <a:extLst>
              <a:ext uri="{FF2B5EF4-FFF2-40B4-BE49-F238E27FC236}">
                <a16:creationId xmlns:a16="http://schemas.microsoft.com/office/drawing/2014/main" id="{9F57548E-6A8E-440B-B589-E5B8508533A8}"/>
              </a:ext>
            </a:extLst>
          </p:cNvPr>
          <p:cNvSpPr/>
          <p:nvPr/>
        </p:nvSpPr>
        <p:spPr>
          <a:xfrm>
            <a:off x="457200" y="19431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Case Handout</a:t>
            </a:r>
            <a:endParaRPr lang="en-US" sz="36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FA22853A-93FA-7533-511A-7756CD3413C6}"/>
              </a:ext>
            </a:extLst>
          </p:cNvPr>
          <p:cNvSpPr/>
          <p:nvPr/>
        </p:nvSpPr>
        <p:spPr>
          <a:xfrm>
            <a:off x="457200" y="2834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H&amp;M Demand Forecasting</a:t>
            </a:r>
            <a:br>
              <a:rPr lang="en-US" sz="320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endParaRPr lang="en-US" sz="3200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Discussion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863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AutoNum type="arabicParenR"/>
            </a:pPr>
            <a:r>
              <a:rPr lang="en-US" sz="1600" dirty="0"/>
              <a:t>Q1</a:t>
            </a:r>
          </a:p>
          <a:p>
            <a:pPr marL="342900" indent="-342900">
              <a:spcAft>
                <a:spcPts val="600"/>
              </a:spcAft>
              <a:buAutoNum type="arabicParenR"/>
            </a:pPr>
            <a:endParaRPr lang="en-US" sz="1600" dirty="0"/>
          </a:p>
          <a:p>
            <a:pPr marL="342900" indent="-342900">
              <a:spcAft>
                <a:spcPts val="600"/>
              </a:spcAft>
              <a:buAutoNum type="arabicParenR"/>
            </a:pPr>
            <a:r>
              <a:rPr lang="en-US" sz="1600" dirty="0"/>
              <a:t>Q2</a:t>
            </a:r>
          </a:p>
          <a:p>
            <a:pPr marL="342900" indent="-342900">
              <a:spcAft>
                <a:spcPts val="600"/>
              </a:spcAft>
              <a:buAutoNum type="arabicParenR"/>
            </a:pPr>
            <a:endParaRPr lang="en-US" sz="1600" dirty="0"/>
          </a:p>
          <a:p>
            <a:pPr marL="342900" indent="-342900">
              <a:spcAft>
                <a:spcPts val="600"/>
              </a:spcAft>
              <a:buAutoNum type="arabicParenR"/>
            </a:pPr>
            <a:r>
              <a:rPr lang="en-US" sz="1600" dirty="0"/>
              <a:t>Q3</a:t>
            </a:r>
          </a:p>
        </p:txBody>
      </p:sp>
      <p:pic>
        <p:nvPicPr>
          <p:cNvPr id="6" name="Picture 2" descr="670+ H&amp;M Stock Photos, Pictures &amp; Royalty-Free Images - iStock | H&amp;m shop,  H&amp;m clothes, H&amp;m bag">
            <a:extLst>
              <a:ext uri="{FF2B5EF4-FFF2-40B4-BE49-F238E27FC236}">
                <a16:creationId xmlns:a16="http://schemas.microsoft.com/office/drawing/2014/main" id="{BEA080A3-8056-9AE8-A2A7-5223CAE0EE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08011" y="2533043"/>
            <a:ext cx="3726933" cy="24846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558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chemeClr val="bg1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The Machine Learning Pipeline</a:t>
            </a:r>
            <a:endParaRPr lang="en-US" sz="36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25B05F-4B39-7F96-BAB1-15AEE20F1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BDD24D5-AE77-A18D-74C2-F863AD9DBF8A}"/>
              </a:ext>
            </a:extLst>
          </p:cNvPr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F956054-E4DE-19D9-11F2-CE539D7BFFB4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Machine Learning</a:t>
            </a:r>
            <a:endParaRPr lang="en-US" sz="2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5F6256C5-18C3-52BD-DBFD-B931A9FF613B}"/>
              </a:ext>
            </a:extLst>
          </p:cNvPr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8DA2DD7E-AE35-3BB0-D099-84259B236AE8}"/>
              </a:ext>
            </a:extLst>
          </p:cNvPr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Tabular data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274121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Data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H&amp;M sales data: Each row = one week observation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/>
        </p:nvGraphicFramePr>
        <p:xfrm>
          <a:off x="640080" y="1371600"/>
          <a:ext cx="7863840" cy="1737360"/>
        </p:xfrm>
        <a:graphic>
          <a:graphicData uri="http://schemas.openxmlformats.org/drawingml/2006/table">
            <a:tbl>
              <a:tblPr/>
              <a:tblGrid>
                <a:gridCol w="15727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895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product_id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price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lag_m1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discount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sales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12345</a:t>
                      </a:r>
                      <a:endParaRPr lang="en-US" sz="11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$42.50</a:t>
                      </a:r>
                      <a:endParaRPr lang="en-US" sz="11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125</a:t>
                      </a:r>
                      <a:endParaRPr lang="en-US" sz="11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0.15</a:t>
                      </a:r>
                      <a:endParaRPr lang="en-US" sz="11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110</a:t>
                      </a:r>
                      <a:endParaRPr lang="en-US" sz="11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12346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$38.00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95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0.20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88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12347</a:t>
                      </a:r>
                      <a:endParaRPr lang="en-US" sz="11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$55.00</a:t>
                      </a:r>
                      <a:endParaRPr lang="en-US" sz="11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200</a:t>
                      </a:r>
                      <a:endParaRPr lang="en-US" sz="11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0.00</a:t>
                      </a:r>
                      <a:endParaRPr lang="en-US" sz="11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185</a:t>
                      </a:r>
                      <a:endParaRPr lang="en-US" sz="11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12348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$29.99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75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0.30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65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95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...</a:t>
                      </a:r>
                      <a:endParaRPr lang="en-US" sz="11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...</a:t>
                      </a:r>
                      <a:endParaRPr lang="en-US" sz="11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...</a:t>
                      </a:r>
                      <a:endParaRPr lang="en-US" sz="11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...</a:t>
                      </a:r>
                      <a:endParaRPr lang="en-US" sz="11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...</a:t>
                      </a:r>
                      <a:endParaRPr lang="en-US" sz="11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888479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CAB63E-2908-95CB-3820-F554EC88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4792395-B5EA-8B8B-FE48-453A30E28660}"/>
              </a:ext>
            </a:extLst>
          </p:cNvPr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65B57D6-D23B-C943-5FB8-843680AD1844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Terminology</a:t>
            </a:r>
            <a:endParaRPr lang="en-US" sz="2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8BF73AD-3C01-64C5-6BC4-7CBD211DF7F2}"/>
              </a:ext>
            </a:extLst>
          </p:cNvPr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6FB8DE00-E9D2-ADC9-93DA-ABB1B028C906}"/>
              </a:ext>
            </a:extLst>
          </p:cNvPr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Labels, weights, features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7083572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558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EA4D0A-AB92-DBD1-7335-85997479E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21FE64C-05B2-CC77-1473-012596E47703}"/>
              </a:ext>
            </a:extLst>
          </p:cNvPr>
          <p:cNvSpPr/>
          <p:nvPr/>
        </p:nvSpPr>
        <p:spPr>
          <a:xfrm>
            <a:off x="457200" y="137160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chemeClr val="bg1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Linear Regression</a:t>
            </a:r>
            <a:endParaRPr lang="en-US" sz="3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249536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Linear Regression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5587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ŷ = β₀ + β₁x₁ + β₂x₂ + ... + βₙxₙ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5684555"/>
              </p:ext>
            </p:extLst>
          </p:nvPr>
        </p:nvGraphicFramePr>
        <p:xfrm>
          <a:off x="457200" y="1645920"/>
          <a:ext cx="8229600" cy="201168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Symbol</a:t>
                      </a:r>
                      <a:endParaRPr lang="en-US" sz="13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Meaning</a:t>
                      </a:r>
                      <a:endParaRPr lang="en-US" sz="13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ŷ</a:t>
                      </a:r>
                      <a:endParaRPr lang="en-US" sz="13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Predicted value (our forecast)</a:t>
                      </a:r>
                      <a:endParaRPr lang="en-US" sz="13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β₀</a:t>
                      </a:r>
                      <a:endParaRPr lang="en-US" sz="13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Intercept — baseline prediction when all features are zero</a:t>
                      </a:r>
                      <a:endParaRPr lang="en-US" sz="13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β₁...βₙ</a:t>
                      </a:r>
                      <a:endParaRPr lang="en-US" sz="13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Coefficients — weights learned from data; how much each feature matters</a:t>
                      </a:r>
                      <a:endParaRPr lang="en-US" sz="13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x₁...xₙ</a:t>
                      </a:r>
                      <a:endParaRPr lang="en-US" sz="13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Features — the input variables (price, discount, category, etc.)</a:t>
                      </a:r>
                      <a:endParaRPr lang="en-US" sz="13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learns coefficients that minimize prediction error on training data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model is an equation with learned parameters: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= β₀ + β₁(price) + β₂(lag_m1)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2103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Training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β₀ = ?, β₁ = ?, β₂ = ?</a:t>
            </a:r>
            <a:endParaRPr lang="en-US" sz="1400" dirty="0"/>
          </a:p>
          <a:p>
            <a:pPr marL="0" indent="0">
              <a:buNone/>
            </a:pPr>
            <a:r>
              <a:rPr lang="en-US" sz="13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(Unknown coefficients)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54880" y="21031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Training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754880" y="242316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β₀ = 850, β₁ = -15.2, β₂ = 0.73</a:t>
            </a:r>
            <a:endParaRPr lang="en-US" sz="1400" dirty="0"/>
          </a:p>
          <a:p>
            <a:pPr marL="0" indent="0">
              <a:buNone/>
            </a:pPr>
            <a:r>
              <a:rPr lang="en-US" sz="13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(Learned from 42K examples)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29184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94360" y="329184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price=$45, lag_m1=120 → sales = 850 - 684 + 87.6 = 253.6 units</a:t>
            </a:r>
            <a:endParaRPr lang="en-US" sz="1300" dirty="0"/>
          </a:p>
        </p:txBody>
      </p:sp>
      <p:sp>
        <p:nvSpPr>
          <p:cNvPr id="14" name="Text 1">
            <a:extLst>
              <a:ext uri="{FF2B5EF4-FFF2-40B4-BE49-F238E27FC236}">
                <a16:creationId xmlns:a16="http://schemas.microsoft.com/office/drawing/2014/main" id="{01C51DB0-CC12-8C20-0FCD-AFE617FA2B0E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Example Regression Model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0666361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Regression: Numerical Example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Predicting weekly units sold for an H&amp;M product: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3383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Prediction:</a:t>
            </a:r>
            <a:endParaRPr lang="en-US" sz="14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ŷ = 120 + (-75.0) + 48.0 + 45.0 = 138 units</a:t>
            </a:r>
            <a:endParaRPr lang="en-US" sz="1400" dirty="0"/>
          </a:p>
          <a:p>
            <a:pPr marL="0" indent="0">
              <a:buNone/>
            </a:pPr>
            <a:r>
              <a:rPr lang="en-US" sz="13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Interpretation: higher price → fewer sales (β = -2.5), discounts boost sales (β = +3.2), holidays add ~45 units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Model Training: Finding “Best” Weights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Goal: Find β values that minimize Mean Squared Error (MSE)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57200" y="3543301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94360" y="3543301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Result: β₀ = 850, β₁ = -15.2, β₂ = 0.73 (optimal coefficients found!)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11685206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80D1A-63F2-9960-5579-D6E8175246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25A4004-0298-2A66-E0AF-42D3A40EA14B}"/>
              </a:ext>
            </a:extLst>
          </p:cNvPr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26" name="Picture 2" descr="Cross Entropy Loss: Intro, Applications, Code">
            <a:extLst>
              <a:ext uri="{FF2B5EF4-FFF2-40B4-BE49-F238E27FC236}">
                <a16:creationId xmlns:a16="http://schemas.microsoft.com/office/drawing/2014/main" id="{71C9382D-1759-57CB-A12D-979F229DCFA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93" t="3788" r="1907" b="5242"/>
          <a:stretch>
            <a:fillRect/>
          </a:stretch>
        </p:blipFill>
        <p:spPr bwMode="auto">
          <a:xfrm>
            <a:off x="813730" y="618122"/>
            <a:ext cx="7365536" cy="41682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7809571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Making Predictions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trained coefficients, prediction is simple arithmetic: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3258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Trained Model: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600200"/>
            <a:ext cx="8229600" cy="45720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16002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= 850 - 15.2(price) + 0.73(lag_m1)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2402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Calculation (from test set):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514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Given: price = $38, lag_m1 = 95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= 850 + (-15.2)(38) + (0.73)(95)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= 850 - 577.6 + 69.4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= 341.8 units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868C7-694E-E54A-0FC8-4E5BD3A122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D8D1198-01FD-E9A4-10BC-90615C3BF295}"/>
              </a:ext>
            </a:extLst>
          </p:cNvPr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68C0462-D02D-0318-FE7E-DF5250608A50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Evaluating Prediction Error</a:t>
            </a:r>
            <a:endParaRPr lang="en-US" sz="2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5C35D94B-E22D-1758-34F3-621771527727}"/>
              </a:ext>
            </a:extLst>
          </p:cNvPr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E2E8DC7-B693-957E-E901-FD8BC79C0F89}"/>
              </a:ext>
            </a:extLst>
          </p:cNvPr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trained coefficients, prediction is simple arithmetic:</a:t>
            </a:r>
            <a:endParaRPr lang="en-US" sz="15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9EA0D6E-923A-5FFF-64DA-13232398A180}"/>
              </a:ext>
            </a:extLst>
          </p:cNvPr>
          <p:cNvSpPr/>
          <p:nvPr/>
        </p:nvSpPr>
        <p:spPr>
          <a:xfrm>
            <a:off x="457200" y="13258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Trained Model:</a:t>
            </a:r>
            <a:endParaRPr lang="en-US" sz="14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889B7D84-D9AD-1FD1-F9E5-1FDA3BE57B26}"/>
              </a:ext>
            </a:extLst>
          </p:cNvPr>
          <p:cNvSpPr/>
          <p:nvPr/>
        </p:nvSpPr>
        <p:spPr>
          <a:xfrm>
            <a:off x="457200" y="1600200"/>
            <a:ext cx="8229600" cy="45720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4447BB0-0E7F-3F98-3075-ECB16EF8D44E}"/>
              </a:ext>
            </a:extLst>
          </p:cNvPr>
          <p:cNvSpPr/>
          <p:nvPr/>
        </p:nvSpPr>
        <p:spPr>
          <a:xfrm>
            <a:off x="457200" y="16002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= 850 - 15.2(price) + 0.73(lag_m1)</a:t>
            </a:r>
            <a:endParaRPr lang="en-US" sz="18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6BC2C610-43DF-580A-2958-3EB168F7F721}"/>
              </a:ext>
            </a:extLst>
          </p:cNvPr>
          <p:cNvSpPr/>
          <p:nvPr/>
        </p:nvSpPr>
        <p:spPr>
          <a:xfrm>
            <a:off x="457200" y="22402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Calculation (from test set):</a:t>
            </a:r>
            <a:endParaRPr lang="en-US" sz="14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90431D8A-B9A2-7540-0CF4-06C8A12D662F}"/>
              </a:ext>
            </a:extLst>
          </p:cNvPr>
          <p:cNvSpPr/>
          <p:nvPr/>
        </p:nvSpPr>
        <p:spPr>
          <a:xfrm>
            <a:off x="914400" y="2514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Given: price = $38, lag_m1 = 95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 = 850 + (-15.2)(38) + (0.73)(95)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= 850 - 577.6 + 69.4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= 341.8 units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62166377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Best Practices: Train/Test Split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set simulates future, unseen data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Detects overfitting (memorization vs learning)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set is LOCKED until final evaluation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011680"/>
            <a:ext cx="5760720" cy="457200"/>
          </a:xfrm>
          <a:prstGeom prst="rect">
            <a:avLst/>
          </a:prstGeom>
          <a:solidFill>
            <a:srgbClr val="2774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201168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Data (80%) — 42,400 observations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17920" y="2011680"/>
            <a:ext cx="2468880" cy="457200"/>
          </a:xfrm>
          <a:prstGeom prst="rect">
            <a:avLst/>
          </a:prstGeom>
          <a:solidFill>
            <a:srgbClr val="FFD1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217920" y="20116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Data (20%)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560320" y="25603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β coefficients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675120" y="256032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🔒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 once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38328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94360" y="338328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Practice: Split by time (train Jan-Oct, test Nov-Dec) to avoid information leakage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40190535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Best Practices: Feature Standardization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Problem: Features have different scales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/>
        </p:nvGraphicFramePr>
        <p:xfrm>
          <a:off x="457200" y="1371600"/>
          <a:ext cx="3840480" cy="1107440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003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Feature</a:t>
                      </a:r>
                      <a:endParaRPr lang="en-US" sz="12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Range</a:t>
                      </a:r>
                      <a:endParaRPr lang="en-US" sz="12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Units</a:t>
                      </a:r>
                      <a:endParaRPr lang="en-US" sz="12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003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price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$10 – $150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dollars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003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lag_m1</a:t>
                      </a:r>
                      <a:endParaRPr lang="en-US" sz="12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0 – 5,000</a:t>
                      </a:r>
                      <a:endParaRPr lang="en-US" sz="12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units sold</a:t>
                      </a:r>
                      <a:endParaRPr lang="en-US" sz="12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003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discount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0.0 – 0.8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percentage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 4"/>
          <p:cNvSpPr/>
          <p:nvPr/>
        </p:nvSpPr>
        <p:spPr>
          <a:xfrm>
            <a:off x="4754880" y="137160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StandardScaler Formula: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754880" y="1645920"/>
            <a:ext cx="3931920" cy="45720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4754880" y="164592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 = (x - mean) / std_dev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457200" y="25146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Transformation Example:</a:t>
            </a:r>
            <a:endParaRPr lang="en-US" sz="14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/>
        </p:nvGraphicFramePr>
        <p:xfrm>
          <a:off x="1828800" y="2834640"/>
          <a:ext cx="5486400" cy="110744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717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Feature</a:t>
                      </a:r>
                      <a:endParaRPr lang="en-US" sz="12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Before (raw)</a:t>
                      </a:r>
                      <a:endParaRPr lang="en-US" sz="12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After (scaled)</a:t>
                      </a:r>
                      <a:endParaRPr lang="en-US" sz="12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717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price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42.50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0.15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717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lag_m1</a:t>
                      </a:r>
                      <a:endParaRPr lang="en-US" sz="12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125</a:t>
                      </a:r>
                      <a:endParaRPr lang="en-US" sz="12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-0.42</a:t>
                      </a:r>
                      <a:endParaRPr lang="en-US" sz="12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7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discount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0.15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0.88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457200" y="38404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features now have mean=0, std=1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131291788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558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chemeClr val="bg1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Feature Engineering</a:t>
            </a:r>
            <a:endParaRPr lang="en-US" sz="36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Feature Engineering: The Art of Model Building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863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 raw data into model inputs that capture hidden patterns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data often misses important relationships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feature engineering strategies:</a:t>
            </a:r>
            <a:endParaRPr lang="en-US" sz="15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Temporal: week of year, month, is_holiday, days_since_launch</a:t>
            </a:r>
            <a:endParaRPr lang="en-US" sz="15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Aggregates: avg sales last 4 weeks, rolling std, trend slope</a:t>
            </a:r>
            <a:endParaRPr lang="en-US" sz="15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Interactions: price × discount, category × season</a:t>
            </a:r>
            <a:endParaRPr lang="en-US" sz="1500" dirty="0"/>
          </a:p>
          <a:p>
            <a:pPr marL="685800" lvl="1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Encoding: one-hot encode categories (color, section, department)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new features make sense for H&amp;M? Discussion...</a:t>
            </a:r>
            <a:endParaRPr lang="en-US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Feature Engineering Impact: Model Comparison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algorithm, different features — what happens?</a:t>
            </a:r>
            <a:endParaRPr lang="en-US" sz="14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1312710"/>
              </p:ext>
            </p:extLst>
          </p:nvPr>
        </p:nvGraphicFramePr>
        <p:xfrm>
          <a:off x="457200" y="1508760"/>
          <a:ext cx="8229600" cy="164592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  <a:endParaRPr lang="en-US" sz="13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Features</a:t>
                      </a:r>
                      <a:endParaRPr lang="en-US" sz="13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Test MAE</a:t>
                      </a:r>
                      <a:endParaRPr lang="en-US" sz="13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Improvement</a:t>
                      </a:r>
                      <a:endParaRPr lang="en-US" sz="13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 A</a:t>
                      </a:r>
                      <a:endParaRPr lang="en-US" sz="13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Raw features only</a:t>
                      </a:r>
                      <a:endParaRPr lang="en-US" sz="13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847 units</a:t>
                      </a:r>
                      <a:endParaRPr lang="en-US" sz="13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Baseline</a:t>
                      </a:r>
                      <a:endParaRPr lang="en-US" sz="13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 B</a:t>
                      </a:r>
                      <a:endParaRPr lang="en-US" sz="13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 Temporal features</a:t>
                      </a:r>
                      <a:endParaRPr lang="en-US" sz="13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612 units</a:t>
                      </a:r>
                      <a:endParaRPr lang="en-US" sz="13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558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28% better</a:t>
                      </a:r>
                      <a:endParaRPr lang="en-US" sz="13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 C</a:t>
                      </a:r>
                      <a:endParaRPr lang="en-US" sz="13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 Historical aggregates</a:t>
                      </a:r>
                      <a:endParaRPr lang="en-US" sz="13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423 units</a:t>
                      </a:r>
                      <a:endParaRPr lang="en-US" sz="13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0558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50% better</a:t>
                      </a:r>
                      <a:endParaRPr lang="en-US" sz="13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347472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594360" y="347472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engineering often matters more than algorithm choice — 50% improvement from better features alone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The Danger of Overfitting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863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learns training data too well, including noise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Warning signs:</a:t>
            </a:r>
            <a:endParaRPr lang="en-US" sz="15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error is very low, but test error is much higher</a:t>
            </a:r>
            <a:endParaRPr lang="en-US" sz="1500" dirty="0"/>
          </a:p>
          <a:p>
            <a:pPr marL="685800" lvl="1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performs great on old data, poorly on new data</a:t>
            </a:r>
            <a:endParaRPr lang="en-US" sz="15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5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happens:</a:t>
            </a:r>
            <a:endParaRPr lang="en-US" sz="15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 many features relative to data points</a:t>
            </a:r>
            <a:endParaRPr lang="en-US" sz="15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is too complex (too flexible)</a:t>
            </a:r>
            <a:endParaRPr lang="en-US" sz="1500" dirty="0"/>
          </a:p>
          <a:p>
            <a:pPr marL="685800" lvl="1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regularization to constrain coefficients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Analogy: memorizing answers vs. learning concepts — memorization doesn't transfer</a:t>
            </a:r>
            <a:endParaRPr lang="en-US" sz="1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Overfitting Visualized</a:t>
            </a:r>
            <a:endParaRPr lang="en-US" sz="2800" dirty="0"/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2E3A050C-CC51-9388-4C77-C093D40152BD}"/>
              </a:ext>
            </a:extLst>
          </p:cNvPr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558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chemeClr val="bg1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Regularization:</a:t>
            </a:r>
            <a:endParaRPr lang="en-US" sz="3600" dirty="0">
              <a:solidFill>
                <a:schemeClr val="bg1"/>
              </a:solidFill>
            </a:endParaRPr>
          </a:p>
          <a:p>
            <a:pPr marL="0" indent="0" algn="ctr">
              <a:buNone/>
            </a:pPr>
            <a:r>
              <a:rPr lang="en-US" sz="3600" b="1" dirty="0">
                <a:solidFill>
                  <a:schemeClr val="bg1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Preventing Overfitting</a:t>
            </a:r>
            <a:endParaRPr lang="en-US" sz="36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Regularization: Three Approaches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Problem: Too many features → model memorizes noise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Solution: Add penalty for model complexity to the loss function</a:t>
            </a:r>
            <a:endParaRPr lang="en-US" sz="1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8229600" cy="113792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289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Method</a:t>
                      </a:r>
                      <a:endParaRPr lang="en-US" sz="12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Penalty</a:t>
                      </a:r>
                      <a:endParaRPr lang="en-US" sz="12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Effect</a:t>
                      </a:r>
                      <a:endParaRPr lang="en-US" sz="12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289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LASSO (L1)</a:t>
                      </a:r>
                      <a:endParaRPr lang="en-US" sz="12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λ Σ|β|</a:t>
                      </a:r>
                      <a:endParaRPr lang="en-US" sz="12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Zeros out weak features</a:t>
                      </a:r>
                      <a:endParaRPr lang="en-US" sz="12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289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Ridge (L2)</a:t>
                      </a:r>
                      <a:endParaRPr lang="en-US" sz="12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λ Σβ²</a:t>
                      </a:r>
                      <a:endParaRPr lang="en-US" sz="12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Shrinks all, keeps all</a:t>
                      </a:r>
                      <a:endParaRPr lang="en-US" sz="12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289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ElasticNet</a:t>
                      </a:r>
                      <a:endParaRPr lang="en-US" sz="12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λ[(1-α)Σβ² + αΣ|β|]</a:t>
                      </a:r>
                      <a:endParaRPr lang="en-US" sz="12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Combination of L1 + L2</a:t>
                      </a:r>
                      <a:endParaRPr lang="en-US" sz="12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29260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three use cross-validation to find optimal λ (regularization strength)</a:t>
            </a:r>
            <a:endParaRPr lang="en-US" sz="13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LASSO Regression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9601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 = MSE + λ Σ|βᵢ|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15087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λ Affects Coefficients: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7863840" cy="1493520"/>
        </p:xfrm>
        <a:graphic>
          <a:graphicData uri="http://schemas.openxmlformats.org/drawingml/2006/table">
            <a:tbl>
              <a:tblPr/>
              <a:tblGrid>
                <a:gridCol w="15727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62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Feature</a:t>
                      </a:r>
                      <a:endParaRPr lang="en-US" sz="11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λ=0</a:t>
                      </a:r>
                      <a:endParaRPr lang="en-US" sz="11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λ=1</a:t>
                      </a:r>
                      <a:endParaRPr lang="en-US" sz="11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λ=10</a:t>
                      </a:r>
                      <a:endParaRPr lang="en-US" sz="11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λ=100</a:t>
                      </a:r>
                      <a:endParaRPr lang="en-US" sz="11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62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price</a:t>
                      </a:r>
                      <a:endParaRPr lang="en-US" sz="11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-2.5</a:t>
                      </a:r>
                      <a:endParaRPr lang="en-US" sz="11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-2.3</a:t>
                      </a:r>
                      <a:endParaRPr lang="en-US" sz="11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-1.8</a:t>
                      </a:r>
                      <a:endParaRPr lang="en-US" sz="11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-0.9</a:t>
                      </a:r>
                      <a:endParaRPr lang="en-US" sz="11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62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discount</a:t>
                      </a:r>
                      <a:endParaRPr lang="en-US" sz="12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+3.2</a:t>
                      </a:r>
                      <a:endParaRPr lang="en-US" sz="12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+2.9</a:t>
                      </a:r>
                      <a:endParaRPr lang="en-US" sz="12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+1.5</a:t>
                      </a:r>
                      <a:endParaRPr lang="en-US" sz="12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2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62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holiday</a:t>
                      </a:r>
                      <a:endParaRPr lang="en-US" sz="11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+45</a:t>
                      </a:r>
                      <a:endParaRPr lang="en-US" sz="11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+42</a:t>
                      </a:r>
                      <a:endParaRPr lang="en-US" sz="11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+30</a:t>
                      </a:r>
                      <a:endParaRPr lang="en-US" sz="11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+12</a:t>
                      </a:r>
                      <a:endParaRPr lang="en-US" sz="11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62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color</a:t>
                      </a:r>
                      <a:endParaRPr lang="en-US" sz="12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CC0000"/>
                          </a:solidFill>
                        </a:rPr>
                        <a:t>+0.3</a:t>
                      </a:r>
                      <a:endParaRPr lang="en-US" sz="11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CC0000"/>
                          </a:solidFill>
                        </a:rPr>
                        <a:t>+0.1</a:t>
                      </a:r>
                      <a:endParaRPr lang="en-US" sz="11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C0000"/>
                          </a:solidFill>
                        </a:rPr>
                        <a:t>0</a:t>
                      </a:r>
                      <a:endParaRPr lang="en-US" sz="11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C0000"/>
                          </a:solidFill>
                        </a:rPr>
                        <a:t>0</a:t>
                      </a:r>
                      <a:endParaRPr lang="en-US" sz="11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62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day_week</a:t>
                      </a:r>
                      <a:endParaRPr lang="en-US" sz="11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CC0000"/>
                          </a:solidFill>
                        </a:rPr>
                        <a:t>-0.8</a:t>
                      </a:r>
                      <a:endParaRPr lang="en-US" sz="11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CC0000"/>
                          </a:solidFill>
                        </a:rPr>
                        <a:t>-0.2</a:t>
                      </a:r>
                      <a:endParaRPr lang="en-US" sz="11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C0000"/>
                          </a:solidFill>
                        </a:rPr>
                        <a:t>0</a:t>
                      </a:r>
                      <a:endParaRPr lang="en-US" sz="11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C0000"/>
                          </a:solidFill>
                        </a:rPr>
                        <a:t>0</a:t>
                      </a:r>
                      <a:endParaRPr lang="en-US" sz="11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342900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594360" y="342900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 features (color, day_week) eliminated first; strong features survive</a:t>
            </a:r>
            <a:endParaRPr lang="en-US" sz="13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Ridge Regression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9601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 = MSE + λ Σβᵢ²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15087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Ridge vs LASSO (λ=10):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7863840" cy="1493520"/>
        </p:xfrm>
        <a:graphic>
          <a:graphicData uri="http://schemas.openxmlformats.org/drawingml/2006/table">
            <a:tbl>
              <a:tblPr/>
              <a:tblGrid>
                <a:gridCol w="1965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362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Feature</a:t>
                      </a:r>
                      <a:endParaRPr lang="en-US" sz="11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No Reg</a:t>
                      </a:r>
                      <a:endParaRPr lang="en-US" sz="11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LASSO</a:t>
                      </a:r>
                      <a:endParaRPr lang="en-US" sz="11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Ridge</a:t>
                      </a:r>
                      <a:endParaRPr lang="en-US" sz="11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62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price</a:t>
                      </a:r>
                      <a:endParaRPr lang="en-US" sz="11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-2.5</a:t>
                      </a:r>
                      <a:endParaRPr lang="en-US" sz="11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-1.8</a:t>
                      </a:r>
                      <a:endParaRPr lang="en-US" sz="11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-2.1</a:t>
                      </a:r>
                      <a:endParaRPr lang="en-US" sz="11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62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discount</a:t>
                      </a:r>
                      <a:endParaRPr lang="en-US" sz="12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+3.2</a:t>
                      </a:r>
                      <a:endParaRPr lang="en-US" sz="12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+1.5</a:t>
                      </a:r>
                      <a:endParaRPr lang="en-US" sz="12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+2.6</a:t>
                      </a:r>
                      <a:endParaRPr lang="en-US" sz="12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62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holiday</a:t>
                      </a:r>
                      <a:endParaRPr lang="en-US" sz="11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+45</a:t>
                      </a:r>
                      <a:endParaRPr lang="en-US" sz="11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+30</a:t>
                      </a:r>
                      <a:endParaRPr lang="en-US" sz="11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+39</a:t>
                      </a:r>
                      <a:endParaRPr lang="en-US" sz="11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62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color</a:t>
                      </a:r>
                      <a:endParaRPr lang="en-US" sz="12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+0.3</a:t>
                      </a:r>
                      <a:endParaRPr lang="en-US" sz="12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C0000"/>
                          </a:solidFill>
                        </a:rPr>
                        <a:t>0 (killed)</a:t>
                      </a:r>
                      <a:endParaRPr lang="en-US" sz="11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5587"/>
                          </a:solidFill>
                        </a:rPr>
                        <a:t>+0.2 (kept)</a:t>
                      </a:r>
                      <a:endParaRPr lang="en-US" sz="11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62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day_week</a:t>
                      </a:r>
                      <a:endParaRPr lang="en-US" sz="11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-0.8</a:t>
                      </a:r>
                      <a:endParaRPr lang="en-US" sz="11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CC0000"/>
                          </a:solidFill>
                        </a:rPr>
                        <a:t>0 (killed)</a:t>
                      </a:r>
                      <a:endParaRPr lang="en-US" sz="11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5587"/>
                          </a:solidFill>
                        </a:rPr>
                        <a:t>-0.6 (kept)</a:t>
                      </a:r>
                      <a:endParaRPr lang="en-US" sz="1100" dirty="0"/>
                    </a:p>
                  </a:txBody>
                  <a:tcPr marL="63500" marR="635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457200" y="3383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Ridge shrinks all coefficients but keeps all features (no zeros)</a:t>
            </a:r>
            <a:endParaRPr lang="en-US" sz="13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ElasticNet: Best of Both Worlds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 = MSE + λ[(1-α)Σβ² + αΣ|β|]</a:t>
            </a:r>
            <a:endParaRPr lang="en-US" sz="18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                └─Ridge─┘  └─LASSO─┘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 = 0 → Pure Ridge (L2 only)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 = 0.5 → 50/50 mix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 = 1 → Pure LASSO (L1 only)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651760"/>
            <a:ext cx="8229600" cy="411480"/>
          </a:xfrm>
          <a:prstGeom prst="rect">
            <a:avLst/>
          </a:prstGeom>
          <a:solidFill>
            <a:srgbClr val="EBF5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94360" y="265176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Default choice when unsure — combines stability of Ridge with selection of LASSO</a:t>
            </a:r>
            <a:endParaRPr lang="en-US" sz="13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744474-6887-40E0-690B-123B9B769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A24DAC1-8E3D-D2E6-1E43-CDBA6B61CBB7}"/>
              </a:ext>
            </a:extLst>
          </p:cNvPr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E6A4239-33AC-A2C9-80E1-260973A7B442}"/>
              </a:ext>
            </a:extLst>
          </p:cNvPr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Cross-Validation: Tuning Penalty Parameter</a:t>
            </a:r>
            <a:endParaRPr lang="en-US" sz="2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2CC4CA0-0C02-1BD7-2CE6-9A3146B03EB1}"/>
              </a:ext>
            </a:extLst>
          </p:cNvPr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8494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05587"/>
                </a:solidFill>
                <a:latin typeface="Whitney Bold" pitchFamily="34" charset="0"/>
                <a:ea typeface="Whitney Bold" pitchFamily="34" charset="-122"/>
                <a:cs typeface="Whitney Bold" pitchFamily="34" charset="-120"/>
              </a:rPr>
              <a:t>Which Regularization Should You Use?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18288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lstStyle/>
          <a:p>
            <a:endParaRPr lang="en-US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1107440"/>
        </p:xfrm>
        <a:graphic>
          <a:graphicData uri="http://schemas.openxmlformats.org/drawingml/2006/table">
            <a:tbl>
              <a:tblPr/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LASSO (L1)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Ridge (L2)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ElasticNet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Feature Selection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✓ Yes (zeros)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✗ No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✓ Partial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Correlated Features</a:t>
                      </a:r>
                      <a:endParaRPr lang="en-US" sz="12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Struggles</a:t>
                      </a:r>
                      <a:endParaRPr lang="en-US" sz="12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✓ Excellent</a:t>
                      </a:r>
                      <a:endParaRPr lang="en-US" sz="12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✓ Good</a:t>
                      </a:r>
                      <a:endParaRPr lang="en-US" sz="12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Best For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Feature selection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Correlated features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General purpose</a:t>
                      </a:r>
                      <a:endParaRPr lang="en-US" sz="1100" dirty="0"/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22402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Guide: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251460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 feature selection? → Use LASSO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 highly correlated? → Use Ridge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Unsure or large feature set? → Use ElasticNet</a:t>
            </a:r>
            <a:endParaRPr lang="en-US" sz="15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0558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3"/>
          </p:cNvPr>
          <p:cNvSpPr/>
          <p:nvPr/>
        </p:nvSpPr>
        <p:spPr>
          <a:xfrm>
            <a:off x="457200" y="137160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 err="1">
                <a:solidFill>
                  <a:srgbClr val="FFD100"/>
                </a:solidFill>
                <a:latin typeface="Whitney Bold" pitchFamily="34" charset="0"/>
                <a:cs typeface="Arial" pitchFamily="34" charset="-120"/>
              </a:rPr>
              <a:t>Colab</a:t>
            </a:r>
            <a:r>
              <a:rPr lang="en-US" sz="3200" b="1" dirty="0">
                <a:solidFill>
                  <a:srgbClr val="FFD100"/>
                </a:solidFill>
                <a:latin typeface="Whitney Bold" pitchFamily="34" charset="0"/>
                <a:cs typeface="Arial" pitchFamily="34" charset="-120"/>
              </a:rPr>
              <a:t> Demo</a:t>
            </a:r>
            <a:endParaRPr lang="en-US" sz="32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0558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hlinkClick r:id="rId3"/>
          </p:cNvPr>
          <p:cNvSpPr/>
          <p:nvPr/>
        </p:nvSpPr>
        <p:spPr>
          <a:xfrm>
            <a:off x="457200" y="1371600"/>
            <a:ext cx="8229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D100"/>
                </a:solidFill>
                <a:latin typeface="Whitney Bold" pitchFamily="34" charset="0"/>
                <a:ea typeface="Arial" pitchFamily="34" charset="-122"/>
                <a:cs typeface="Arial" pitchFamily="34" charset="-120"/>
              </a:rPr>
              <a:t>Assignment 1</a:t>
            </a:r>
            <a:endParaRPr lang="en-US" sz="3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1733</Words>
  <Application>Microsoft Macintosh PowerPoint</Application>
  <PresentationFormat>On-screen Show (16:9)</PresentationFormat>
  <Paragraphs>387</Paragraphs>
  <Slides>43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Whitney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MGMT298D Week 1 - Course Introduction; Regression with Feature Engineering</dc:title>
  <dc:subject>PptxGenJS Presentation</dc:subject>
  <dc:creator>Auyon Siddiq</dc:creator>
  <cp:lastModifiedBy>Siddiq, Auyon</cp:lastModifiedBy>
  <cp:revision>49</cp:revision>
  <dcterms:created xsi:type="dcterms:W3CDTF">2026-02-02T18:55:02Z</dcterms:created>
  <dcterms:modified xsi:type="dcterms:W3CDTF">2026-02-05T18:49:24Z</dcterms:modified>
</cp:coreProperties>
</file>