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306" r:id="rId18"/>
    <p:sldId id="301" r:id="rId19"/>
    <p:sldId id="277" r:id="rId20"/>
    <p:sldId id="302" r:id="rId21"/>
    <p:sldId id="299" r:id="rId22"/>
    <p:sldId id="273" r:id="rId23"/>
    <p:sldId id="276" r:id="rId24"/>
    <p:sldId id="280" r:id="rId25"/>
    <p:sldId id="283" r:id="rId26"/>
    <p:sldId id="281" r:id="rId27"/>
    <p:sldId id="304" r:id="rId28"/>
    <p:sldId id="278" r:id="rId29"/>
    <p:sldId id="279" r:id="rId30"/>
    <p:sldId id="286" r:id="rId31"/>
    <p:sldId id="287" r:id="rId32"/>
    <p:sldId id="289" r:id="rId33"/>
    <p:sldId id="290" r:id="rId34"/>
    <p:sldId id="291" r:id="rId35"/>
    <p:sldId id="305" r:id="rId36"/>
    <p:sldId id="293" r:id="rId37"/>
    <p:sldId id="294" r:id="rId38"/>
    <p:sldId id="295" r:id="rId39"/>
    <p:sldId id="292" r:id="rId40"/>
    <p:sldId id="303" r:id="rId41"/>
    <p:sldId id="296" r:id="rId42"/>
    <p:sldId id="297" r:id="rId43"/>
    <p:sldId id="298" r:id="rId4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52" d="100"/>
          <a:sy n="152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4038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17D0C-C03B-C6CB-D101-FB9E158EF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62CE7-3AF6-61B7-1379-E96EC40813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9E4524-E451-A8DE-DAB9-CC9AB18354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5C482-787F-E50C-9FC9-B076A1D58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3055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E4CD8-025B-95B0-B53C-45F18B71C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F39C5-C500-1000-4851-C5663C743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38891-B9B6-D855-2494-A501E363F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FADDD-F30F-3F71-BF0C-1389F7796A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827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F61C6-38CE-90A7-E508-DAB42A1A3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311FEB-EE8A-81FA-7D70-397269CD3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0FE1E-7228-24F9-B12D-D067D977F6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69031-8B8F-0243-E072-6C0A367BB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925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763E0-1F03-95CC-1C93-9838C78C9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B019E-6DFA-4E39-F049-993AB2F356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C93982-A0A5-6844-6AA8-DBB3946C71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78FFE-A0F8-FE76-7CC6-F952A43D2D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606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97341-A8EE-07DF-D1A8-9BC14298B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4033D-4D37-48F7-DDB3-721C69DBFF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4B5ABE-0ACE-E548-6F25-A7A48AA63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19699-19C4-1DBC-1F5D-831B992E06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8911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2BC63-6366-0269-6E1B-A3557C235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49A895-E910-97A2-EFD3-390CBA0ED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E4A5E3-A729-D1A5-CF43-6D523C4D70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B67DC-B72F-5E59-30E2-E48556FC93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122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6D60F-99F6-0248-D0D5-30F54399C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76A74A-DF25-1025-9657-D33E0BCE1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7662E-9122-78D0-F00D-040ED5617B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C9BED-7BBD-2ECB-FB24-9871BC9D44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779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EAAAD-30A8-1F0A-D831-B2473EB4F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151AB-3EEF-58EB-74B6-A4F93022E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6F5EC9-3A25-7C64-F464-0DBBC8D62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93F25-269F-C79D-98FE-09FD3B4AE4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1433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C0BCB-BA19-C768-5D61-20286AEDD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3643CA-8233-06CA-0C5B-4EA69E2AF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4B580D-D3B5-240F-4E5B-4B57396E42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8D80E-D697-1BE5-5CE3-40FBC56666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3568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F2939-56A8-E0D9-4824-50937E1ED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66F60-42F0-35BE-7494-9D79C5279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81C027-0ABD-C505-7F9C-323255700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3A49B-468C-1CDB-072F-C9D78F4370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974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47EA3-653C-E866-8D6B-06644886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F59B15-D2E9-32D9-9485-7FAF4719E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5294D-5E40-54E7-69E8-1ADBC94E5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23378-B73D-1E8E-40CA-174C7CB530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1305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ucla-anderson-SSAI/SSAI/blob/main/Notebooks/Week1.ipyn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ucla-ssai-week1.up.railway.app/app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Course Introduction;</a:t>
            </a:r>
            <a:endParaRPr lang="en-US" sz="3400" dirty="0"/>
          </a:p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Regression with Feature Engineering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When Did "Artificial Intelligence" Begin?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1956: Dartmouth Conference — John McCarthy coins the term</a:t>
            </a:r>
            <a:endParaRPr lang="en-US" sz="1400" dirty="0"/>
          </a:p>
          <a:p>
            <a:pPr marL="685800" lvl="1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group of researchers proposed that machines could simulate every aspect of learning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https://spectrum.ieee.org/dartmouth-ai-workshop</a:t>
            </a:r>
            <a:endParaRPr lang="en-US" sz="1400" dirty="0"/>
          </a:p>
        </p:txBody>
      </p:sp>
      <p:pic>
        <p:nvPicPr>
          <p:cNvPr id="6" name="Picture 2" descr="Close up of a black and white photo of seven smiling men, sitting on a lawn.">
            <a:extLst>
              <a:ext uri="{FF2B5EF4-FFF2-40B4-BE49-F238E27FC236}">
                <a16:creationId xmlns:a16="http://schemas.microsoft.com/office/drawing/2014/main" id="{13F1F3D3-874E-4CD4-0F22-72E9DD15E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3356" y="2152722"/>
            <a:ext cx="3777288" cy="2832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AAD5A-0063-94BE-29D6-13C9B49A4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CFBADA8-BDF4-685A-5C6D-5F52E5F681CD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56EFA063-7EC8-CE12-FF88-DA19C847C8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127" y="0"/>
            <a:ext cx="4949453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>
            <a:extLst>
              <a:ext uri="{FF2B5EF4-FFF2-40B4-BE49-F238E27FC236}">
                <a16:creationId xmlns:a16="http://schemas.microsoft.com/office/drawing/2014/main" id="{59ECDF39-D49C-7DFD-9C56-8E5F2F055F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3989" y="1263535"/>
            <a:ext cx="1901109" cy="2989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3446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Confident Predictions!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"Machines will be capable of doing any work a man can do."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Herbert Simon, 1965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"Within a generation... the problem of creating 'artificial intelligence' will substantially be solved."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Marvin Minsky, 1967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3 to 8 years we will have a machine with the general intelligence of an average human being."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Marvin Minsky, 1970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2D6D6-E879-1AD4-613C-97E241468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7167D0-4C2F-F598-17BD-7CC952B0B98C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Deep Blue (1997)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06E004A-4CE4-430D-2959-352701793D68}"/>
              </a:ext>
            </a:extLst>
          </p:cNvPr>
          <p:cNvSpPr/>
          <p:nvPr/>
        </p:nvSpPr>
        <p:spPr>
          <a:xfrm>
            <a:off x="82296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D09E6AB-41F0-D5C0-E27E-267F8D7DA889}"/>
              </a:ext>
            </a:extLst>
          </p:cNvPr>
          <p:cNvSpPr/>
          <p:nvPr/>
        </p:nvSpPr>
        <p:spPr>
          <a:xfrm>
            <a:off x="82296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57CE08F-BC86-6363-BD26-0F03FEF46EE2}"/>
              </a:ext>
            </a:extLst>
          </p:cNvPr>
          <p:cNvSpPr/>
          <p:nvPr/>
        </p:nvSpPr>
        <p:spPr>
          <a:xfrm>
            <a:off x="82296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9698FA-6A2E-9861-F405-E36B12379766}"/>
              </a:ext>
            </a:extLst>
          </p:cNvPr>
          <p:cNvSpPr/>
          <p:nvPr/>
        </p:nvSpPr>
        <p:spPr>
          <a:xfrm>
            <a:off x="8229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3295095-59A4-24B0-38C0-19E1EFAA2054}"/>
              </a:ext>
            </a:extLst>
          </p:cNvPr>
          <p:cNvSpPr/>
          <p:nvPr/>
        </p:nvSpPr>
        <p:spPr>
          <a:xfrm>
            <a:off x="82296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11" name="Picture 2" descr="What Is Intelligence? 20 Years After Deep Blue, AI Still Can't Think Like  Humans | Live Science">
            <a:extLst>
              <a:ext uri="{FF2B5EF4-FFF2-40B4-BE49-F238E27FC236}">
                <a16:creationId xmlns:a16="http://schemas.microsoft.com/office/drawing/2014/main" id="{61AB6AB4-3D82-D6E3-C805-48454BEFD3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963" y="1013915"/>
            <a:ext cx="5427626" cy="4052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3FCD8890-867D-AFBA-A41F-AD77824445E7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5775A21B-1800-3775-28B9-717CB74B848B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688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28436-A18F-D2BC-0430-7F24DBF69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FA4FA8D-96CB-B6D1-08ED-606AF32A7EC7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IBM Watson (2011)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313A8A3-B85E-E606-F9A9-2E10487603A5}"/>
              </a:ext>
            </a:extLst>
          </p:cNvPr>
          <p:cNvSpPr/>
          <p:nvPr/>
        </p:nvSpPr>
        <p:spPr>
          <a:xfrm>
            <a:off x="82296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BB85C0-4DF0-ABD8-520B-323AABEEDFA7}"/>
              </a:ext>
            </a:extLst>
          </p:cNvPr>
          <p:cNvSpPr/>
          <p:nvPr/>
        </p:nvSpPr>
        <p:spPr>
          <a:xfrm>
            <a:off x="82296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918F542-18F6-339B-6DC4-BC588C625F56}"/>
              </a:ext>
            </a:extLst>
          </p:cNvPr>
          <p:cNvSpPr/>
          <p:nvPr/>
        </p:nvSpPr>
        <p:spPr>
          <a:xfrm>
            <a:off x="82296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789F4D4-5B99-1037-9F23-34A66F487F7C}"/>
              </a:ext>
            </a:extLst>
          </p:cNvPr>
          <p:cNvSpPr/>
          <p:nvPr/>
        </p:nvSpPr>
        <p:spPr>
          <a:xfrm>
            <a:off x="8229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D2CF5D9-267C-BDAF-5CC5-1F68639D4912}"/>
              </a:ext>
            </a:extLst>
          </p:cNvPr>
          <p:cNvSpPr/>
          <p:nvPr/>
        </p:nvSpPr>
        <p:spPr>
          <a:xfrm>
            <a:off x="82296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7172" name="Picture 4" descr="Watch Jeopardy! Season 27, Episode 111: The IBM Challenge 1 | Peacock">
            <a:extLst>
              <a:ext uri="{FF2B5EF4-FFF2-40B4-BE49-F238E27FC236}">
                <a16:creationId xmlns:a16="http://schemas.microsoft.com/office/drawing/2014/main" id="{AF6FAD01-629A-A793-163B-D943348AE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920" y="1005840"/>
            <a:ext cx="6868160" cy="3863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56DC83C0-D076-A06C-B240-8FC97FFF8D16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2E6767CF-B781-554E-ACC1-D40FA9F00A38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27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8DE64-93A7-E242-9C40-64652BD4C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2004BC5-6018-4CF8-92F9-89C9709BA39F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AlexNet</a:t>
            </a: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 (2012)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EDC6AB1-1338-8FAD-4F7A-239FB6AD3B0B}"/>
              </a:ext>
            </a:extLst>
          </p:cNvPr>
          <p:cNvSpPr/>
          <p:nvPr/>
        </p:nvSpPr>
        <p:spPr>
          <a:xfrm>
            <a:off x="82296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609094-3631-7C4A-B556-DAC54D26BFA6}"/>
              </a:ext>
            </a:extLst>
          </p:cNvPr>
          <p:cNvSpPr/>
          <p:nvPr/>
        </p:nvSpPr>
        <p:spPr>
          <a:xfrm>
            <a:off x="82296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D3F1BE4-5F88-57EA-055E-28A7D753EEBD}"/>
              </a:ext>
            </a:extLst>
          </p:cNvPr>
          <p:cNvSpPr/>
          <p:nvPr/>
        </p:nvSpPr>
        <p:spPr>
          <a:xfrm>
            <a:off x="82296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828C39-56FC-5E95-271B-7F92AF5D723D}"/>
              </a:ext>
            </a:extLst>
          </p:cNvPr>
          <p:cNvSpPr/>
          <p:nvPr/>
        </p:nvSpPr>
        <p:spPr>
          <a:xfrm>
            <a:off x="8229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1E79CA6-17D9-8D9A-F086-B5750817001C}"/>
              </a:ext>
            </a:extLst>
          </p:cNvPr>
          <p:cNvSpPr/>
          <p:nvPr/>
        </p:nvSpPr>
        <p:spPr>
          <a:xfrm>
            <a:off x="82296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5122" name="Picture 2" descr="AlexNet: Revolutionizing Deep Learning in Image Classification">
            <a:extLst>
              <a:ext uri="{FF2B5EF4-FFF2-40B4-BE49-F238E27FC236}">
                <a16:creationId xmlns:a16="http://schemas.microsoft.com/office/drawing/2014/main" id="{8DF36407-8F65-A1DE-95D9-538671E66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81" y="1205215"/>
            <a:ext cx="4164259" cy="175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At Last, a Self-Driving Car That Can Explain Itself">
            <a:extLst>
              <a:ext uri="{FF2B5EF4-FFF2-40B4-BE49-F238E27FC236}">
                <a16:creationId xmlns:a16="http://schemas.microsoft.com/office/drawing/2014/main" id="{EFF5C628-7526-4232-4170-E844B0327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000" y="1200000"/>
            <a:ext cx="3800000" cy="2358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Waymo's driverless cars are coming to Denver, but you can't ride one yet">
            <a:extLst>
              <a:ext uri="{FF2B5EF4-FFF2-40B4-BE49-F238E27FC236}">
                <a16:creationId xmlns:a16="http://schemas.microsoft.com/office/drawing/2014/main" id="{CF77E97E-3541-471B-2831-AACAEA1E24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3" t="16905" r="21468" b="22507"/>
          <a:stretch>
            <a:fillRect/>
          </a:stretch>
        </p:blipFill>
        <p:spPr bwMode="auto">
          <a:xfrm>
            <a:off x="583181" y="3031173"/>
            <a:ext cx="3790023" cy="1956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39508055-FD0D-1F2F-97AA-445F17DBC467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BF9BC501-A1CB-AD2F-9B65-CB62EB77D357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092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A3850-3C7C-1B06-D918-6B1280D68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830B11B-9569-71D0-2812-3E848FA12F6D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Transformers (2017)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B88F964-5905-C910-84B3-069B3770EC93}"/>
              </a:ext>
            </a:extLst>
          </p:cNvPr>
          <p:cNvSpPr/>
          <p:nvPr/>
        </p:nvSpPr>
        <p:spPr>
          <a:xfrm>
            <a:off x="82296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882ECA9-D3FF-2A80-405D-903C45316365}"/>
              </a:ext>
            </a:extLst>
          </p:cNvPr>
          <p:cNvSpPr/>
          <p:nvPr/>
        </p:nvSpPr>
        <p:spPr>
          <a:xfrm>
            <a:off x="82296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07E210A-EC56-1BBD-BEB2-6ED558DDE337}"/>
              </a:ext>
            </a:extLst>
          </p:cNvPr>
          <p:cNvSpPr/>
          <p:nvPr/>
        </p:nvSpPr>
        <p:spPr>
          <a:xfrm>
            <a:off x="8229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8A1667-17D4-A832-51D8-5B1DF36E202C}"/>
              </a:ext>
            </a:extLst>
          </p:cNvPr>
          <p:cNvSpPr/>
          <p:nvPr/>
        </p:nvSpPr>
        <p:spPr>
          <a:xfrm>
            <a:off x="82296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4098" name="Picture 2" descr="Amazon.com: Transformers Toys Heroic Optimus Prime Action Figure - Timeless  Large-Scale Figure, Changes into Toy Truck - Toys for Kids 6 and Up,  11-inch (Amazon Exclusive) : Toys &amp; Games">
            <a:extLst>
              <a:ext uri="{FF2B5EF4-FFF2-40B4-BE49-F238E27FC236}">
                <a16:creationId xmlns:a16="http://schemas.microsoft.com/office/drawing/2014/main" id="{15F04CEA-63E4-029A-A8B1-D5D329A1C6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6391" y="1262344"/>
            <a:ext cx="2546324" cy="3556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The Transformer Model - MachineLearningMastery.com">
            <a:extLst>
              <a:ext uri="{FF2B5EF4-FFF2-40B4-BE49-F238E27FC236}">
                <a16:creationId xmlns:a16="http://schemas.microsoft.com/office/drawing/2014/main" id="{9C8BCB55-04F6-F6ED-DD02-D40EA86EEF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285" y="912552"/>
            <a:ext cx="2857470" cy="4027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document with text and images  AI-generated content may be incorrect.">
            <a:extLst>
              <a:ext uri="{FF2B5EF4-FFF2-40B4-BE49-F238E27FC236}">
                <a16:creationId xmlns:a16="http://schemas.microsoft.com/office/drawing/2014/main" id="{B33553D4-C446-F705-7C26-27F7A64AAE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9708" y="1132513"/>
            <a:ext cx="3769546" cy="340697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F5C907EF-054F-3B71-CDFF-04D56E2EF6BA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32D777-B088-FC71-9200-A4D2C251A6E8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552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AD10-F476-F574-61C9-FE8233B40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D247657-B1CA-45DF-3D66-1BAD9E05BF08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ChatGPT (2022)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3CCCB9E-F369-2997-7331-B77F432B25A4}"/>
              </a:ext>
            </a:extLst>
          </p:cNvPr>
          <p:cNvSpPr/>
          <p:nvPr/>
        </p:nvSpPr>
        <p:spPr>
          <a:xfrm>
            <a:off x="82296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6E7F497-66C2-89C7-5ED7-8171F2A78E90}"/>
              </a:ext>
            </a:extLst>
          </p:cNvPr>
          <p:cNvSpPr/>
          <p:nvPr/>
        </p:nvSpPr>
        <p:spPr>
          <a:xfrm>
            <a:off x="82296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13F0DF-873C-FD7A-4804-4E444A719F58}"/>
              </a:ext>
            </a:extLst>
          </p:cNvPr>
          <p:cNvSpPr/>
          <p:nvPr/>
        </p:nvSpPr>
        <p:spPr>
          <a:xfrm>
            <a:off x="8229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7C4FD98-74DD-9E3D-F890-EF7D1C7B4C75}"/>
              </a:ext>
            </a:extLst>
          </p:cNvPr>
          <p:cNvSpPr/>
          <p:nvPr/>
        </p:nvSpPr>
        <p:spPr>
          <a:xfrm>
            <a:off x="82296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6146" name="Picture 2" descr="ChatGPT: Everything you need to know about the AI chatbot">
            <a:extLst>
              <a:ext uri="{FF2B5EF4-FFF2-40B4-BE49-F238E27FC236}">
                <a16:creationId xmlns:a16="http://schemas.microsoft.com/office/drawing/2014/main" id="{14B3D604-9E33-84BB-E2D6-3CDBBBE1C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0638" y="1029644"/>
            <a:ext cx="5686967" cy="3792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093A0D8D-F928-CFE0-3969-9BEC489AE66E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1172B4-50F2-9878-CC10-AED33E864163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070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Milestones in AI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82529"/>
              </p:ext>
            </p:extLst>
          </p:nvPr>
        </p:nvGraphicFramePr>
        <p:xfrm>
          <a:off x="457200" y="1051560"/>
          <a:ext cx="8229600" cy="3017518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Year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Early Era (1956–1993)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Year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Modern Era (1997–2023)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1956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Dartmouth Conference coins 'AI'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Deep Blue defeats Kasparov at chess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1966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ELIZA chatbot — early NLP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IBM Watson wins Jeopardy!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1969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Shakey the Robot — perception + reasoning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AlexNet revolutionizes computer vision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1974–80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AI Winter — unmet expectations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2016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AlphaGo defeats Go champion Lee Sedol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Expert systems boom in enterprises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2017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Transformer architecture → modern LLMs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1987–93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Second AI Winter — brittle systems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2022–23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ChatGPT / GPT-4 — generative AI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So What Is This Course About?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199" y="1005840"/>
            <a:ext cx="8376407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 of core machine learning and AI models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Tech-forward: understand how the technology and data drives value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on math, heavy on intuition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get technical to build genuine understanding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Who Is This Course For?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Non-technical leaders (consultants, PMs) who are genuinely curious about how ML/AI works</a:t>
            </a:r>
            <a:b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invest in this knowledge?</a:t>
            </a:r>
            <a:endParaRPr lang="en-US" sz="1500" dirty="0"/>
          </a:p>
          <a:p>
            <a:pPr marL="342900" lvl="1">
              <a:spcAft>
                <a:spcPts val="3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Confidence in AI topics — when to deploy, what it can/can't do</a:t>
            </a:r>
            <a:endParaRPr lang="en-US" sz="1500" dirty="0"/>
          </a:p>
          <a:p>
            <a:pPr marL="342900" lvl="1">
              <a:spcAft>
                <a:spcPts val="3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Credibility with AI teams, easier to lead and collaborate</a:t>
            </a:r>
            <a:endParaRPr lang="en-US" sz="1500" dirty="0"/>
          </a:p>
          <a:p>
            <a:pPr marL="342900" lvl="1">
              <a:spcAft>
                <a:spcPts val="3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Competitive advantage and </a:t>
            </a: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job market</a:t>
            </a:r>
            <a:endParaRPr lang="en-US" sz="1500" dirty="0"/>
          </a:p>
          <a:p>
            <a:pPr marL="342900" lvl="1">
              <a:spcAft>
                <a:spcPts val="3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Complementary to other Anderson courses</a:t>
            </a:r>
            <a:endParaRPr lang="en-US" sz="1500" dirty="0"/>
          </a:p>
          <a:p>
            <a:pPr marL="342900" lvl="1">
              <a:spcAft>
                <a:spcPts val="4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It is interesting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Course Structure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Machine Learning (Weeks 1-4)</a:t>
            </a:r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Week 1: Linear Regression, Feature Engineering, Regularization</a:t>
            </a:r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Week 2: Decision Trees, Random Forests, XGBoost</a:t>
            </a:r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Week 3: Clustering, Recommendation Systems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Week 4: Reinforcement Learning, Dynamic Pricing</a:t>
            </a:r>
          </a:p>
          <a:p>
            <a:pPr marL="342900" indent="-342900">
              <a:spcAft>
                <a:spcPts val="200"/>
              </a:spcAft>
              <a:buSzPct val="100000"/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Deep Learning (Weeks 5-7)</a:t>
            </a:r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Week 5: Neural Networks</a:t>
            </a:r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Week 6: Convolutional Neural Networks (Computer Vision)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Week 7: Word Embeddings, Transformers, LLMs</a:t>
            </a:r>
          </a:p>
          <a:p>
            <a:pPr marL="342900" indent="-342900">
              <a:spcAft>
                <a:spcPts val="200"/>
              </a:spcAft>
              <a:buSzPct val="100000"/>
              <a:buNone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Project (Week 8)</a:t>
            </a:r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Week 8: LLM Parameters, Generative AI, Team Presentations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9F57548E-6A8E-440B-B589-E5B8508533A8}"/>
              </a:ext>
            </a:extLst>
          </p:cNvPr>
          <p:cNvSpPr/>
          <p:nvPr/>
        </p:nvSpPr>
        <p:spPr>
          <a:xfrm>
            <a:off x="457200" y="19431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Case Handout</a:t>
            </a:r>
            <a:endParaRPr lang="en-US" sz="3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A22853A-93FA-7533-511A-7756CD3413C6}"/>
              </a:ext>
            </a:extLst>
          </p:cNvPr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H&amp;M Demand Forecasting</a:t>
            </a:r>
            <a:br>
              <a:rPr lang="en-US" sz="32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32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AutoNum type="arabicParenR"/>
            </a:pPr>
            <a:r>
              <a:rPr lang="en-US" sz="1600" dirty="0"/>
              <a:t>Q1</a:t>
            </a:r>
          </a:p>
          <a:p>
            <a:pPr marL="342900" indent="-342900">
              <a:spcAft>
                <a:spcPts val="600"/>
              </a:spcAft>
              <a:buAutoNum type="arabicParenR"/>
            </a:pPr>
            <a:endParaRPr lang="en-US" sz="1600" dirty="0"/>
          </a:p>
          <a:p>
            <a:pPr marL="342900" indent="-342900">
              <a:spcAft>
                <a:spcPts val="600"/>
              </a:spcAft>
              <a:buAutoNum type="arabicParenR"/>
            </a:pPr>
            <a:r>
              <a:rPr lang="en-US" sz="1600" dirty="0"/>
              <a:t>Q2</a:t>
            </a:r>
          </a:p>
          <a:p>
            <a:pPr marL="342900" indent="-342900">
              <a:spcAft>
                <a:spcPts val="600"/>
              </a:spcAft>
              <a:buAutoNum type="arabicParenR"/>
            </a:pPr>
            <a:endParaRPr lang="en-US" sz="1600" dirty="0"/>
          </a:p>
          <a:p>
            <a:pPr marL="342900" indent="-342900">
              <a:spcAft>
                <a:spcPts val="600"/>
              </a:spcAft>
              <a:buAutoNum type="arabicParenR"/>
            </a:pPr>
            <a:r>
              <a:rPr lang="en-US" sz="1600" dirty="0"/>
              <a:t>Q3</a:t>
            </a:r>
          </a:p>
        </p:txBody>
      </p:sp>
      <p:pic>
        <p:nvPicPr>
          <p:cNvPr id="6" name="Picture 2" descr="670+ H&amp;M Stock Photos, Pictures &amp; Royalty-Free Images - iStock | H&amp;m shop,  H&amp;m clothes, H&amp;m bag">
            <a:extLst>
              <a:ext uri="{FF2B5EF4-FFF2-40B4-BE49-F238E27FC236}">
                <a16:creationId xmlns:a16="http://schemas.microsoft.com/office/drawing/2014/main" id="{BEA080A3-8056-9AE8-A2A7-5223CAE0E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8011" y="2533043"/>
            <a:ext cx="3726933" cy="2484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50962-9174-20CE-DA99-10802A972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E32B2CF-565E-827E-678F-1A35BA76DCFA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BEA5C1-EE94-9DC7-9B0C-FB4A118559CE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What is Machine Learning?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5AB3B85-DBB1-F596-F321-496056EDA30E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28E7339-DDB9-7948-ED88-FC82450ADE8A}"/>
              </a:ext>
            </a:extLst>
          </p:cNvPr>
          <p:cNvSpPr/>
          <p:nvPr/>
        </p:nvSpPr>
        <p:spPr>
          <a:xfrm>
            <a:off x="457200" y="1348363"/>
            <a:ext cx="8229600" cy="5437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of artificial intelligence</a:t>
            </a:r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endParaRPr lang="en-US" sz="1500" dirty="0">
              <a:solidFill>
                <a:srgbClr val="333333"/>
              </a:solidFill>
              <a:latin typeface="Arial" pitchFamily="34" charset="0"/>
              <a:cs typeface="Arial" pitchFamily="34" charset="-120"/>
            </a:endParaRPr>
          </a:p>
          <a:p>
            <a:pPr marL="342900" indent="-342900">
              <a:spcAft>
                <a:spcPts val="200"/>
              </a:spcAft>
              <a:buSzPct val="100000"/>
              <a:buFontTx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cs typeface="Arial" pitchFamily="34" charset="-120"/>
              </a:rPr>
              <a:t>Standard ML models use tabular data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endParaRPr lang="en-US" sz="1500" dirty="0"/>
          </a:p>
        </p:txBody>
      </p:sp>
      <p:pic>
        <p:nvPicPr>
          <p:cNvPr id="4098" name="Picture 2" descr="220+ Robot Reading Book Icon Stock Illustrations, Royalty-Free Vector  Graphics &amp; Clip Art - iStock">
            <a:extLst>
              <a:ext uri="{FF2B5EF4-FFF2-40B4-BE49-F238E27FC236}">
                <a16:creationId xmlns:a16="http://schemas.microsoft.com/office/drawing/2014/main" id="{D6F073F4-AD85-10C2-DCD2-ED2AFA802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0538" y="2571750"/>
            <a:ext cx="2553462" cy="2553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96988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B05F-4B39-7F96-BAB1-15AEE20F1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BDD24D5-AE77-A18D-74C2-F863AD9DBF8A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F956054-E4DE-19D9-11F2-CE539D7BFFB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What is a Model?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F6256C5-18C3-52BD-DBFD-B931A9FF613B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DA2DD7E-AE35-3BB0-D099-84259B236AE8}"/>
              </a:ext>
            </a:extLst>
          </p:cNvPr>
          <p:cNvSpPr/>
          <p:nvPr/>
        </p:nvSpPr>
        <p:spPr>
          <a:xfrm>
            <a:off x="457200" y="981511"/>
            <a:ext cx="8229600" cy="17197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of the game is prediction</a:t>
            </a:r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standard setup: Take in some training examples (input and output data pairs), and produce a prediction</a:t>
            </a:r>
          </a:p>
          <a:p>
            <a:pPr lvl="1">
              <a:spcAft>
                <a:spcPts val="2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Regression (predict a number)</a:t>
            </a:r>
          </a:p>
          <a:p>
            <a:pPr lvl="1">
              <a:spcAft>
                <a:spcPts val="2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Classification (predict a category)</a:t>
            </a:r>
          </a:p>
        </p:txBody>
      </p:sp>
    </p:spTree>
    <p:extLst>
      <p:ext uri="{BB962C8B-B14F-4D97-AF65-F5344CB8AC3E}">
        <p14:creationId xmlns:p14="http://schemas.microsoft.com/office/powerpoint/2010/main" val="227412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Data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H&amp;M sales data: Each row = one week observation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640080" y="1371600"/>
          <a:ext cx="7863840" cy="1737360"/>
        </p:xfrm>
        <a:graphic>
          <a:graphicData uri="http://schemas.openxmlformats.org/drawingml/2006/table">
            <a:tbl>
              <a:tblPr/>
              <a:tblGrid>
                <a:gridCol w="157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product_id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lag_m1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discount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sales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12345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$42.50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0.15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110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12346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$38.00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12347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$55.00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0.00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185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12348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$29.99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0.30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88479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AB63E-2908-95CB-3820-F554EC88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4792395-B5EA-8B8B-FE48-453A30E28660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65B57D6-D23B-C943-5FB8-843680AD184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Terminology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8BF73AD-3C01-64C5-6BC4-7CBD211DF7F2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FB8DE00-E9D2-ADC9-93DA-ABB1B028C906}"/>
              </a:ext>
            </a:extLst>
          </p:cNvPr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(x):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input variables the model uses to make predictions (e.g., price, discount, last month's sales)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/ Label (y):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variable we want to predict (e.g., units sold)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Coefficients / Weights (beta):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learned parameters that determine how much each feature matters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Training: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process of finding optimal weights by minimizing prediction error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Inference: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the trained model to make predictions on new data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7083572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58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EA4D0A-AB92-DBD1-7335-85997479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1FE64C-05B2-CC77-1473-012596E47703}"/>
              </a:ext>
            </a:extLst>
          </p:cNvPr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Linear Regression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9536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Linear Regression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58162" y="1622011"/>
            <a:ext cx="6534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ŷ = β₀ + β₁x₁ + β₂x₂ + ... + βₙxₙ</a:t>
            </a:r>
            <a:endParaRPr lang="en-US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is an equation with learned parameters: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= β₀ + β₁(price) + β₂(lag_m1)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Training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β₀ = ?, β₁ = ?, β₂ = ?</a:t>
            </a:r>
            <a:endParaRPr lang="en-US" sz="14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(Unknown coefficients)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2103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Training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242316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β₀ = 850, β₁ = -15.2, β₂ = 0.73</a:t>
            </a:r>
            <a:endParaRPr lang="en-US" sz="14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(Learned from 42K examples)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3291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price=$45, lag_m1=120 → sales = 850 - 684 + 87.6 = 253.6 units</a:t>
            </a:r>
            <a:endParaRPr lang="en-US" sz="1300" dirty="0"/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01C51DB0-CC12-8C20-0FCD-AFE617FA2B0E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Example Regression Model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066636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Model Training: Finding “Best” Weights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β values that minimize a </a:t>
            </a: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function</a:t>
            </a:r>
            <a:endParaRPr lang="en-US" sz="1500" b="1" dirty="0"/>
          </a:p>
        </p:txBody>
      </p:sp>
      <p:sp>
        <p:nvSpPr>
          <p:cNvPr id="10" name="Shape 7"/>
          <p:cNvSpPr/>
          <p:nvPr/>
        </p:nvSpPr>
        <p:spPr>
          <a:xfrm>
            <a:off x="457200" y="3543301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94360" y="3543301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β₀ = 850, β₁ = -15.2, β₂ = 0.73 (optimal coefficients found!)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685206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80D1A-63F2-9960-5579-D6E817524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5A4004-0298-2A66-E0AF-42D3A40EA14B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28" name="Picture 4" descr="The world of optimization">
            <a:extLst>
              <a:ext uri="{FF2B5EF4-FFF2-40B4-BE49-F238E27FC236}">
                <a16:creationId xmlns:a16="http://schemas.microsoft.com/office/drawing/2014/main" id="{D4DEA4E2-2EDA-0F0D-41AD-58215E0CC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1457" y="457200"/>
            <a:ext cx="4495377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8095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Making Predictions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trained coefficients, prediction is simple arithmetic: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Model: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= 850 - 15.2(price) + 0.73(lag_m1)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Calculation (from test set):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Given: price = $38, lag_m1 = 95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= 850 + (-15.2)(38) + (0.73)(95)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= 850 - 577.6 + 69.4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= 341.8 units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868C7-694E-E54A-0FC8-4E5BD3A12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8D1198-01FD-E9A4-10BC-90615C3BF295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68C0462-D02D-0318-FE7E-DF5250608A5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Evaluating Prediction Error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C35D94B-E22D-1758-34F3-621771527727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2E8DC7-B693-957E-E901-FD8BC79C0F89}"/>
              </a:ext>
            </a:extLst>
          </p:cNvPr>
          <p:cNvSpPr/>
          <p:nvPr/>
        </p:nvSpPr>
        <p:spPr>
          <a:xfrm>
            <a:off x="457200" y="960120"/>
            <a:ext cx="8229600" cy="36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 (Mean Absolute Error):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average of |actual - predicted| across all test observations. Easy to interpret: "on average, we're off by X units”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MSE (Mean Squared Error):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average of (actual - predicted)². 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Prediction error does not have to be the same as the loss function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6216637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Best Practices: Train/Test Split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04069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set represents future, unseen data</a:t>
            </a:r>
          </a:p>
          <a:p>
            <a:pPr marL="342900" indent="-342900">
              <a:buSzPct val="100000"/>
              <a:buChar char="•"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overfitting (memorization vs learning)</a:t>
            </a:r>
          </a:p>
          <a:p>
            <a:pPr marL="342900" indent="-342900">
              <a:buSzPct val="100000"/>
              <a:buChar char="•"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Test set is locked until final evaluation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903221"/>
            <a:ext cx="5760720" cy="45720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903221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 (80%) 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2903221"/>
            <a:ext cx="2468880" cy="457200"/>
          </a:xfrm>
          <a:prstGeom prst="rect">
            <a:avLst/>
          </a:prstGeom>
          <a:solidFill>
            <a:srgbClr val="FFD1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0" y="2903221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Data (20%)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3451861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β coefficients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3451861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once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0190535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Best Practices: Feature Standardization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Features have different scales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770625"/>
              </p:ext>
            </p:extLst>
          </p:nvPr>
        </p:nvGraphicFramePr>
        <p:xfrm>
          <a:off x="457200" y="1371600"/>
          <a:ext cx="3840480" cy="11074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Range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Units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$10 – $150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dollars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lag_m1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– 5,000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units sold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discount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 – 0.8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4"/>
          <p:cNvSpPr/>
          <p:nvPr/>
        </p:nvSpPr>
        <p:spPr>
          <a:xfrm>
            <a:off x="4754880" y="13716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StandardScaler Formula: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54880" y="1645920"/>
            <a:ext cx="3931920" cy="45720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754880" y="1645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= (x - mean) / std_dev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57200" y="2514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 Example:</a:t>
            </a:r>
            <a:endParaRPr lang="en-US" sz="14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6121436"/>
              </p:ext>
            </p:extLst>
          </p:nvPr>
        </p:nvGraphicFramePr>
        <p:xfrm>
          <a:off x="1828800" y="2834640"/>
          <a:ext cx="5486400" cy="110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Before (raw)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(scaled)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42.50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0.15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lag_m1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125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-0.42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discount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0.15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0.88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features now have mean=0, std=1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312917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Feature Engineering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Feature Engineering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Use existing features to create new features! </a:t>
            </a:r>
            <a:b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500" dirty="0"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Capture more complex patterns (e.g., interaction terms between features)</a:t>
            </a:r>
            <a:endParaRPr lang="en-US" sz="1500" b="1" dirty="0">
              <a:solidFill>
                <a:srgbClr val="00558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500" b="1" dirty="0">
              <a:solidFill>
                <a:srgbClr val="00558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What new features make sense for H&amp;M? </a:t>
            </a:r>
            <a:endParaRPr lang="en-US" sz="1500" dirty="0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9466741F-EEF5-DDEE-861D-42AE80C2B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954243"/>
              </p:ext>
            </p:extLst>
          </p:nvPr>
        </p:nvGraphicFramePr>
        <p:xfrm>
          <a:off x="640080" y="2937510"/>
          <a:ext cx="7863840" cy="1737360"/>
        </p:xfrm>
        <a:graphic>
          <a:graphicData uri="http://schemas.openxmlformats.org/drawingml/2006/table">
            <a:tbl>
              <a:tblPr/>
              <a:tblGrid>
                <a:gridCol w="157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product_id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lag_m1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discount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sales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12345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$42.50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0.15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110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12346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$38.00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12347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$55.00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0.00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185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12348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$29.99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0.30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Overfitting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cs typeface="Arial" pitchFamily="34" charset="-120"/>
              </a:rPr>
              <a:t>Overfitting: Model is too complex for available data, fits to random noise in data instead of extracting real signal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500" dirty="0">
              <a:solidFill>
                <a:srgbClr val="333333"/>
              </a:solidFill>
              <a:latin typeface="Arial" pitchFamily="34" charset="0"/>
              <a:cs typeface="Arial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cs typeface="Arial" pitchFamily="34" charset="-120"/>
              </a:rPr>
              <a:t>Increasing number of features through feature engineering can risk overfitting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 signs: training error very low, test error much higher</a:t>
            </a:r>
          </a:p>
          <a:p>
            <a:pPr>
              <a:spcAft>
                <a:spcPts val="600"/>
              </a:spcAft>
              <a:buSzPct val="100000"/>
            </a:pP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74" name="Picture 2" descr="Overfitting in Machine Learning | H2O.ai Wiki">
            <a:extLst>
              <a:ext uri="{FF2B5EF4-FFF2-40B4-BE49-F238E27FC236}">
                <a16:creationId xmlns:a16="http://schemas.microsoft.com/office/drawing/2014/main" id="{DFCB7FA7-B5C1-20A7-8F3C-4B85F9EE45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6" t="3181" r="996"/>
          <a:stretch>
            <a:fillRect/>
          </a:stretch>
        </p:blipFill>
        <p:spPr bwMode="auto">
          <a:xfrm>
            <a:off x="687897" y="1325461"/>
            <a:ext cx="7768206" cy="2152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Regularization:</a:t>
            </a:r>
            <a:endParaRPr lang="en-US" sz="36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Preventing Overfitting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9B870-6856-4ECF-1628-642709ABA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8221AC2-1479-6899-DD8E-0777FC437816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E61D432-C949-32A1-0E17-5A1A776865F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Regularization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F55201E-2B2D-DF70-25E8-2C09CAD31D00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DFD76E-2F13-9E7D-C1DC-02C157B8CCF3}"/>
              </a:ext>
            </a:extLst>
          </p:cNvPr>
          <p:cNvSpPr/>
          <p:nvPr/>
        </p:nvSpPr>
        <p:spPr>
          <a:xfrm>
            <a:off x="457200" y="1304069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cs typeface="Arial" pitchFamily="34" charset="-120"/>
              </a:rPr>
              <a:t>Regularization refers to any method that decreases model complexity</a:t>
            </a:r>
          </a:p>
          <a:p>
            <a:pPr marL="342900" indent="-342900">
              <a:buSzPct val="100000"/>
              <a:buChar char="•"/>
            </a:pPr>
            <a:endParaRPr lang="en-US" sz="1500" dirty="0">
              <a:solidFill>
                <a:srgbClr val="333333"/>
              </a:solidFill>
              <a:latin typeface="Arial" pitchFamily="34" charset="0"/>
              <a:cs typeface="Arial" pitchFamily="34" charset="-120"/>
            </a:endParaRPr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cs typeface="Arial" pitchFamily="34" charset="-120"/>
              </a:rPr>
              <a:t>Not just for linear regression, but other methods too (e.g., neural networks)</a:t>
            </a:r>
          </a:p>
          <a:p>
            <a:pPr marL="342900" indent="-342900">
              <a:buSzPct val="100000"/>
              <a:buChar char="•"/>
            </a:pPr>
            <a:endParaRPr lang="en-US" sz="1500" dirty="0">
              <a:solidFill>
                <a:srgbClr val="333333"/>
              </a:solidFill>
              <a:latin typeface="Arial" pitchFamily="34" charset="0"/>
              <a:cs typeface="Arial" pitchFamily="34" charset="-120"/>
            </a:endParaRPr>
          </a:p>
          <a:p>
            <a:pPr marL="342900" indent="-342900">
              <a:buSzPct val="100000"/>
              <a:buChar char="•"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7574378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LASSO Regression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= MSE + λ Σ|βᵢ|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λ Affects Coefficients: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555770"/>
              </p:ext>
            </p:extLst>
          </p:nvPr>
        </p:nvGraphicFramePr>
        <p:xfrm>
          <a:off x="640080" y="1783080"/>
          <a:ext cx="7863840" cy="1493520"/>
        </p:xfrm>
        <a:graphic>
          <a:graphicData uri="http://schemas.openxmlformats.org/drawingml/2006/table">
            <a:tbl>
              <a:tblPr/>
              <a:tblGrid>
                <a:gridCol w="157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λ=0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λ=1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λ=10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λ=100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-2.5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-2.3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-1.8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-0.9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discount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+3.2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+2.9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+1.5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holiday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+45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+42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+30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+12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color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+0.3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+0.1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day_week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-0.8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-0.2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3470945"/>
            <a:ext cx="2873229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3470945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predictive features survive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Ridge Regression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= MSE + λ Σβᵢ²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vs LASSO (λ=10):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510532"/>
              </p:ext>
            </p:extLst>
          </p:nvPr>
        </p:nvGraphicFramePr>
        <p:xfrm>
          <a:off x="640080" y="1783080"/>
          <a:ext cx="7863840" cy="149352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Reg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LASSO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Ridge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-2.5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-1.8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-2.1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discount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+3.2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+1.5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+2.6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holiday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+45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+30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+39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color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+0.3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(removed)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558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+0.2 (kept)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day_week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-0.8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(removed)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558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-0.6 (kept)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ElasticNet: Best of Both Worlds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= MSE + λ[(1-α)Σβ² + αΣ|β|]</a:t>
            </a:r>
            <a:endParaRPr lang="en-US" sz="18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└─Ridge─┘  └─LASSO─┘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0 → Pure Ridge (L2 only)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0.5 → 50/50 mix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1 → Pure LASSO (L1 only)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265176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choice when unsure — combines stability of Ridge with selection of LASSO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Regularization: Three Approaches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Too many features → model memorizes noise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Add penalty for model complexity to the loss function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457200" y="1691640"/>
          <a:ext cx="8229600" cy="11379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28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Penalty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LASSO (L1)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λ Σ|β|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Zeros out weak features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Ridge (L2)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λ Σβ²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Shrinks all, keeps all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ElasticNet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λ[(1-α)Σβ² + αΣ|β|]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Combination of L1 + L2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use cross-validation to find optimal λ (regularization strength)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58345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44474-6887-40E0-690B-123B9B769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A24DAC1-8E3D-D2E6-1E43-CDBA6B61CBB7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E6A4239-33AC-A2C9-80E1-260973A7B44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Cross-Validation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2CC4CA0-0C02-1BD7-2CE6-9A3146B03EB1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52" name="Picture 4" descr="3.1. Cross-validation: evaluating estimator performance — scikit-learn  1.8.0 documentation">
            <a:extLst>
              <a:ext uri="{FF2B5EF4-FFF2-40B4-BE49-F238E27FC236}">
                <a16:creationId xmlns:a16="http://schemas.microsoft.com/office/drawing/2014/main" id="{FE3EE108-46A9-E4F0-7AAD-E6B47B9BB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5570" y="1627632"/>
            <a:ext cx="4858604" cy="3365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D8D97820-5EF0-00C8-2213-784977B50B71}"/>
              </a:ext>
            </a:extLst>
          </p:cNvPr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choose best penalty parameter through cross-validation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126849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Which Regularization Should You Use?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857005"/>
              </p:ext>
            </p:extLst>
          </p:nvPr>
        </p:nvGraphicFramePr>
        <p:xfrm>
          <a:off x="457200" y="2177375"/>
          <a:ext cx="8229600" cy="110744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LASSO (L1)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Ridge (L2)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ElasticNet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 Selection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✓ Yes (zeros)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✗ No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✓ Partial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Correlated Features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Struggles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✓ Excellent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✓ Good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Best For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 selection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Correlated features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General purpose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3"/>
          </p:cNvPr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 err="1">
                <a:solidFill>
                  <a:srgbClr val="FFD100"/>
                </a:solidFill>
                <a:latin typeface="Whitney Bold" pitchFamily="34" charset="0"/>
                <a:cs typeface="Arial" pitchFamily="34" charset="-120"/>
              </a:rPr>
              <a:t>Colab</a:t>
            </a:r>
            <a:r>
              <a:rPr lang="en-US" sz="3200" b="1" dirty="0">
                <a:solidFill>
                  <a:srgbClr val="FFD100"/>
                </a:solidFill>
                <a:latin typeface="Whitney Bold" pitchFamily="34" charset="0"/>
                <a:cs typeface="Arial" pitchFamily="34" charset="-120"/>
              </a:rPr>
              <a:t> Demo</a:t>
            </a:r>
            <a:endParaRPr lang="en-US" sz="3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3"/>
          </p:cNvPr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D100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Assignment 1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1606</Words>
  <Application>Microsoft Macintosh PowerPoint</Application>
  <PresentationFormat>On-screen Show (16:9)</PresentationFormat>
  <Paragraphs>388</Paragraphs>
  <Slides>43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MGMT298D Week 1 - Course Introduction; Regression with Feature Engineering</dc:title>
  <dc:subject>PptxGenJS Presentation</dc:subject>
  <dc:creator>Auyon Siddiq</dc:creator>
  <cp:lastModifiedBy>Siddiq, Auyon</cp:lastModifiedBy>
  <cp:revision>82</cp:revision>
  <dcterms:created xsi:type="dcterms:W3CDTF">2026-02-02T18:55:02Z</dcterms:created>
  <dcterms:modified xsi:type="dcterms:W3CDTF">2026-02-06T00:23:17Z</dcterms:modified>
</cp:coreProperties>
</file>