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87" r:id="rId4"/>
    <p:sldId id="258" r:id="rId5"/>
    <p:sldId id="288" r:id="rId6"/>
    <p:sldId id="289" r:id="rId7"/>
    <p:sldId id="290" r:id="rId8"/>
    <p:sldId id="291" r:id="rId9"/>
    <p:sldId id="292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038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17D0C-C03B-C6CB-D101-FB9E158EF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62CE7-3AF6-61B7-1379-E96EC4081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E4524-E451-A8DE-DAB9-CC9AB1835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5C482-787F-E50C-9FC9-B076A1D58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05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E4CD8-025B-95B0-B53C-45F18B71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F39C5-C500-1000-4851-C5663C743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38891-B9B6-D855-2494-A501E363F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FADDD-F30F-3F71-BF0C-1389F7796A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27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F61C6-38CE-90A7-E508-DAB42A1A3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11FEB-EE8A-81FA-7D70-397269CD3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0FE1E-7228-24F9-B12D-D067D977F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69031-8B8F-0243-E072-6C0A367BBC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25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763E0-1F03-95CC-1C93-9838C78C9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B019E-6DFA-4E39-F049-993AB2F35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93982-A0A5-6844-6AA8-DBB3946C7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78FFE-A0F8-FE76-7CC6-F952A43D2D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06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97341-A8EE-07DF-D1A8-9BC14298B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4033D-4D37-48F7-DDB3-721C69DBF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B5ABE-0ACE-E548-6F25-A7A48AA63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19699-19C4-1DBC-1F5D-831B992E06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91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2BC63-6366-0269-6E1B-A3557C235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49A895-E910-97A2-EFD3-390CBA0ED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4A5E3-A729-D1A5-CF43-6D523C4D7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B67DC-B72F-5E59-30E2-E48556FC93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12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Course Introduction;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Regression with Feature Engineering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When Did "Artificial Intelligence" Begin?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1956: Dartmouth Conference — John McCarthy coins the term</a:t>
            </a:r>
            <a:endParaRPr lang="en-US" sz="14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group of researchers proposed that machines could simulate every aspect of learning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https://spectrum.ieee.org/dartmouth-ai-workshop</a:t>
            </a:r>
            <a:endParaRPr lang="en-US" sz="1400" dirty="0"/>
          </a:p>
        </p:txBody>
      </p:sp>
      <p:pic>
        <p:nvPicPr>
          <p:cNvPr id="6" name="Picture 2" descr="Close up of a black and white photo of seven smiling men, sitting on a lawn.">
            <a:extLst>
              <a:ext uri="{FF2B5EF4-FFF2-40B4-BE49-F238E27FC236}">
                <a16:creationId xmlns:a16="http://schemas.microsoft.com/office/drawing/2014/main" id="{13F1F3D3-874E-4CD4-0F22-72E9DD15E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356" y="2152722"/>
            <a:ext cx="3777288" cy="283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AAD5A-0063-94BE-29D6-13C9B49A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FBADA8-BDF4-685A-5C6D-5F52E5F681CD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6EFA063-7EC8-CE12-FF88-DA19C847C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639" y="0"/>
            <a:ext cx="50863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59ECDF39-D49C-7DFD-9C56-8E5F2F055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3989" y="1263535"/>
            <a:ext cx="1901109" cy="2989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44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Confident Predictions!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"Machines will be capable of doing any work a man can do."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Herbert Simon, 1965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"Within a generation... the problem of creating 'artificial intelligence' will substantially be solved."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Marvin Minsky, 1967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3 to 8 years we will have a machine with the general intelligence of an average human being."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Marvin Minsky, 1970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2D6D6-E879-1AD4-613C-97E241468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7167D0-4C2F-F598-17BD-7CC952B0B98C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Deep Blue (1997)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6E004A-4CE4-430D-2959-352701793D68}"/>
              </a:ext>
            </a:extLst>
          </p:cNvPr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09E6AB-41F0-D5C0-E27E-267F8D7DA889}"/>
              </a:ext>
            </a:extLst>
          </p:cNvPr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57CE08F-BC86-6363-BD26-0F03FEF46EE2}"/>
              </a:ext>
            </a:extLst>
          </p:cNvPr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F9698FA-6A2E-9861-F405-E36B12379766}"/>
              </a:ext>
            </a:extLst>
          </p:cNvPr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3295095-59A4-24B0-38C0-19E1EFAA2054}"/>
              </a:ext>
            </a:extLst>
          </p:cNvPr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11" name="Picture 2" descr="What Is Intelligence? 20 Years After Deep Blue, AI Still Can't Think Like  Humans | Live Science">
            <a:extLst>
              <a:ext uri="{FF2B5EF4-FFF2-40B4-BE49-F238E27FC236}">
                <a16:creationId xmlns:a16="http://schemas.microsoft.com/office/drawing/2014/main" id="{61AB6AB4-3D82-D6E3-C805-48454BEFD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620" y="899614"/>
            <a:ext cx="6721110" cy="4052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FCD8890-867D-AFBA-A41F-AD77824445E7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5775A21B-1800-3775-28B9-717CB74B848B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88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28436-A18F-D2BC-0430-7F24DBF69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A4FA8D-96CB-B6D1-08ED-606AF32A7EC7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IBM Watson (2011)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13A8A3-B85E-E606-F9A9-2E10487603A5}"/>
              </a:ext>
            </a:extLst>
          </p:cNvPr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BB85C0-4DF0-ABD8-520B-323AABEEDFA7}"/>
              </a:ext>
            </a:extLst>
          </p:cNvPr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918F542-18F6-339B-6DC4-BC588C625F56}"/>
              </a:ext>
            </a:extLst>
          </p:cNvPr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89F4D4-5B99-1037-9F23-34A66F487F7C}"/>
              </a:ext>
            </a:extLst>
          </p:cNvPr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D2CF5D9-267C-BDAF-5CC5-1F68639D4912}"/>
              </a:ext>
            </a:extLst>
          </p:cNvPr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7172" name="Picture 4" descr="Watch Jeopardy! Season 27, Episode 111: The IBM Challenge 1 | Peacock">
            <a:extLst>
              <a:ext uri="{FF2B5EF4-FFF2-40B4-BE49-F238E27FC236}">
                <a16:creationId xmlns:a16="http://schemas.microsoft.com/office/drawing/2014/main" id="{AF6FAD01-629A-A793-163B-D943348AE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920" y="1005840"/>
            <a:ext cx="6868160" cy="3863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6DC83C0-D076-A06C-B240-8FC97FFF8D16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E6767CF-B781-554E-ACC1-D40FA9F00A38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27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DE64-93A7-E242-9C40-64652BD4C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004BC5-6018-4CF8-92F9-89C9709BA39F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AlexNet</a:t>
            </a: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 (2012)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DC6AB1-1338-8FAD-4F7A-239FB6AD3B0B}"/>
              </a:ext>
            </a:extLst>
          </p:cNvPr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609094-3631-7C4A-B556-DAC54D26BFA6}"/>
              </a:ext>
            </a:extLst>
          </p:cNvPr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D3F1BE4-5F88-57EA-055E-28A7D753EEBD}"/>
              </a:ext>
            </a:extLst>
          </p:cNvPr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6828C39-56FC-5E95-271B-7F92AF5D723D}"/>
              </a:ext>
            </a:extLst>
          </p:cNvPr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1E79CA6-17D9-8D9A-F086-B5750817001C}"/>
              </a:ext>
            </a:extLst>
          </p:cNvPr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5122" name="Picture 2" descr="AlexNet: Revolutionizing Deep Learning in Image Classification">
            <a:extLst>
              <a:ext uri="{FF2B5EF4-FFF2-40B4-BE49-F238E27FC236}">
                <a16:creationId xmlns:a16="http://schemas.microsoft.com/office/drawing/2014/main" id="{8DF36407-8F65-A1DE-95D9-538671E66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541" y="2873533"/>
            <a:ext cx="4164259" cy="175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At Last, a Self-Driving Car That Can Explain Itself">
            <a:extLst>
              <a:ext uri="{FF2B5EF4-FFF2-40B4-BE49-F238E27FC236}">
                <a16:creationId xmlns:a16="http://schemas.microsoft.com/office/drawing/2014/main" id="{EFF5C628-7526-4232-4170-E844B0327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122" y="97487"/>
            <a:ext cx="5442438" cy="235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Waymo's driverless cars are coming to Denver, but you can't ride one yet">
            <a:extLst>
              <a:ext uri="{FF2B5EF4-FFF2-40B4-BE49-F238E27FC236}">
                <a16:creationId xmlns:a16="http://schemas.microsoft.com/office/drawing/2014/main" id="{CF77E97E-3541-471B-2831-AACAEA1E24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3" t="16905" r="21468" b="22507"/>
          <a:stretch>
            <a:fillRect/>
          </a:stretch>
        </p:blipFill>
        <p:spPr bwMode="auto">
          <a:xfrm>
            <a:off x="91440" y="2986377"/>
            <a:ext cx="3790023" cy="195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9508055-FD0D-1F2F-97AA-445F17DBC467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BF9BC501-A1CB-AD2F-9B65-CB62EB77D357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92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A3850-3C7C-1B06-D918-6B1280D68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830B11B-9569-71D0-2812-3E848FA12F6D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Transformers (2017)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88F964-5905-C910-84B3-069B3770EC93}"/>
              </a:ext>
            </a:extLst>
          </p:cNvPr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82ECA9-D3FF-2A80-405D-903C45316365}"/>
              </a:ext>
            </a:extLst>
          </p:cNvPr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07E210A-EC56-1BBD-BEB2-6ED558DDE337}"/>
              </a:ext>
            </a:extLst>
          </p:cNvPr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18A1667-17D4-A832-51D8-5B1DF36E202C}"/>
              </a:ext>
            </a:extLst>
          </p:cNvPr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4098" name="Picture 2" descr="Amazon.com: Transformers Toys Heroic Optimus Prime Action Figure - Timeless  Large-Scale Figure, Changes into Toy Truck - Toys for Kids 6 and Up,  11-inch (Amazon Exclusive) : Toys &amp; Games">
            <a:extLst>
              <a:ext uri="{FF2B5EF4-FFF2-40B4-BE49-F238E27FC236}">
                <a16:creationId xmlns:a16="http://schemas.microsoft.com/office/drawing/2014/main" id="{15F04CEA-63E4-029A-A8B1-D5D329A1C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309" y="713063"/>
            <a:ext cx="2951432" cy="4121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he Transformer Model - MachineLearningMastery.com">
            <a:extLst>
              <a:ext uri="{FF2B5EF4-FFF2-40B4-BE49-F238E27FC236}">
                <a16:creationId xmlns:a16="http://schemas.microsoft.com/office/drawing/2014/main" id="{9C8BCB55-04F6-F6ED-DD02-D40EA86EE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85" y="912552"/>
            <a:ext cx="2857470" cy="402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document with text and images&#10;&#10;AI-generated content may be incorrect.">
            <a:extLst>
              <a:ext uri="{FF2B5EF4-FFF2-40B4-BE49-F238E27FC236}">
                <a16:creationId xmlns:a16="http://schemas.microsoft.com/office/drawing/2014/main" id="{B33553D4-C446-F705-7C26-27F7A64AA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708" y="1132513"/>
            <a:ext cx="3769546" cy="340697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F5C907EF-054F-3B71-CDFF-04D56E2EF6BA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32D777-B088-FC71-9200-A4D2C251A6E8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5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DAD10-F476-F574-61C9-FE8233B40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247657-B1CA-45DF-3D66-1BAD9E05BF08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ChatGPT (2022)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CCCB9E-F369-2997-7331-B77F432B25A4}"/>
              </a:ext>
            </a:extLst>
          </p:cNvPr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E7F497-66C2-89C7-5ED7-8171F2A78E90}"/>
              </a:ext>
            </a:extLst>
          </p:cNvPr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113F0DF-873C-FD7A-4804-4E444A719F58}"/>
              </a:ext>
            </a:extLst>
          </p:cNvPr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7C4FD98-74DD-9E3D-F890-EF7D1C7B4C75}"/>
              </a:ext>
            </a:extLst>
          </p:cNvPr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6146" name="Picture 2" descr="ChatGPT: Everything you need to know about the AI chatbot">
            <a:extLst>
              <a:ext uri="{FF2B5EF4-FFF2-40B4-BE49-F238E27FC236}">
                <a16:creationId xmlns:a16="http://schemas.microsoft.com/office/drawing/2014/main" id="{14B3D604-9E33-84BB-E2D6-3CDBBBE1C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638" y="1029644"/>
            <a:ext cx="5686967" cy="379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93A0D8D-F928-CFE0-3969-9BEC489AE66E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1172B4-50F2-9878-CC10-AED33E864163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070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Milestones in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982529"/>
              </p:ext>
            </p:extLst>
          </p:nvPr>
        </p:nvGraphicFramePr>
        <p:xfrm>
          <a:off x="457200" y="1051560"/>
          <a:ext cx="8229600" cy="301751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Early Era (1956–1993)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Modern Era (1997–2023)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1956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Dartmouth Conference coins 'AI'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1997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Deep Blue defeats Kasparov at chess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1966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ELIZA chatbot — early NLP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2011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IBM Watson wins Jeopardy!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1969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Shakey the Robot — perception + reasoning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2012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AlexNet revolutionizes computer vision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1974–80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First AI Winter — unmet expectations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2016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AlphaGo defeats Go champion Lee Sedol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1980s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Expert systems boom in enterprises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2017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Transformer architecture → modern LLMs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1987–93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 AI Winter — brittle systems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2022–23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ChatGPT / GPT-4 — generative AI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So What Is This Course About?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of core machine learning and AI models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the underlying technology and data drives value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on math, heavy on intuition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sometimes get technical to build genuine understanding</a:t>
            </a:r>
            <a:endParaRPr lang="en-US" sz="15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refresher available on BruinLearn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go slow when needed so everyone is on the same page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Who Is This Course For?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Non-technical leaders (consultants, PMs) who are genuinely curious about how ML/AI works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invest in this knowledge?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Confidence in AI topics — when to deploy, what it can/can't do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Credibility with AI teams, easier to lead and collaborate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Competitive advantage and differentiation in market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Complementary to other Anderson courses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It is interesting!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Course Structure (convert to visual)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week introduces a core ML/AI topic with a unifying view across methods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Linear Regression — H&amp;M demand forecasting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Tree Models — Carvana/Zillow algorithmic pricing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Clustering &amp; CF — Netflix/Spotify personalization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Reinforcement Learning — dynamic pricing, robotics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Neural Networks — deep learning foundations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coding required — Python notebooks provided for the curious, assignments via front-end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9F57548E-6A8E-440B-B589-E5B8508533A8}"/>
              </a:ext>
            </a:extLst>
          </p:cNvPr>
          <p:cNvSpPr/>
          <p:nvPr/>
        </p:nvSpPr>
        <p:spPr>
          <a:xfrm>
            <a:off x="457200" y="19431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Case Handout</a:t>
            </a:r>
            <a:endParaRPr lang="en-US" sz="3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A22853A-93FA-7533-511A-7756CD3413C6}"/>
              </a:ext>
            </a:extLst>
          </p:cNvPr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H&amp;M Demand Forecasting</a:t>
            </a:r>
            <a:b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3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H&amp;M's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rich historical data to forecast sales?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retailer with thousands of products across categories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vary wildly by product, season, promotion, and trend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first AI model: linear regression on real H&amp;M data</a:t>
            </a:r>
            <a:endParaRPr lang="en-US" sz="1600" dirty="0"/>
          </a:p>
        </p:txBody>
      </p:sp>
      <p:pic>
        <p:nvPicPr>
          <p:cNvPr id="6" name="Picture 2" descr="670+ H&amp;M Stock Photos, Pictures &amp; Royalty-Free Images - iStock | H&amp;m shop,  H&amp;m clothes, H&amp;m bag">
            <a:extLst>
              <a:ext uri="{FF2B5EF4-FFF2-40B4-BE49-F238E27FC236}">
                <a16:creationId xmlns:a16="http://schemas.microsoft.com/office/drawing/2014/main" id="{BEA080A3-8056-9AE8-A2A7-5223CAE0E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011" y="2533043"/>
            <a:ext cx="3726933" cy="2484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H&amp;M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53,000+ observations, 2 years of sales data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per product-week: price, discount %, category, color, section, seasonal indicators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variable: next week's unit sales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sales vary wildly — can we predict them?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ŷ = β₀ + β₁x₁ + β₂x₂ + ... + βₙxₙ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011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ŷ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Predicted value (our forecast)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β₀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Intercept — baseline prediction when all features are zero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β₁...βₙ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Coefficients — weights learned from data; how much each feature matters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x₁...xₙ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Features — the input variables (price, discount, category, etc.)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learns coefficients that minimize prediction error on training data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Regression: Numerical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weekly units sold for an H&amp;M product: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40080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 (x)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Coefficient (β)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β × x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Intercept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Price ($)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29.99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-2.5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-75.0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Discount %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+3.2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+48.0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Is Holiday Week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+45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+45.0</a:t>
                      </a:r>
                      <a:endParaRPr lang="en-US" sz="12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Prediction: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ŷ = 120 + (-75.0) + 48.0 + 45.0 = 138 units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 higher price → fewer sales (β = -2.5), discounts boost sales (β = +3.2), holidays add ~45 units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Loss Functions: How Models Learn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finds coefficients that minimize a </a:t>
            </a: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measure of how wrong our predictions are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560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 Absolute Error (MAE)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 Squared Error (MSE)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Formula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(1/n) Σ |y - ŷ|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(1/n) Σ (y - ŷ)²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Treats errors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All errors equally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Penalizes large errors heavily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Outlier sensitivity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More robust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Sensitive to outliers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Interpretation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Same units as target (easy)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Squared units (less intuitive)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Math properties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Not differentiable at 0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Smooth — easy to optimize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 is the default for regression because it's smooth and easy to optimize via gradient descent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Loss Functions: Numerical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predictions vs. actuals: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Actual (y)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Predicted (ŷ)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Error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|Error|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Error²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138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-38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38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1,444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185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+15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225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55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-5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= (38 + 15 + 5) / 3 = 19.3 units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 = (1,444 + 225 + 25) / 3 = 564.7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Notice: Product A's large error (38) barely changes MAE but dominates MSE — this is why MSE penalizes big misses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Train/Test Split: Validating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split? 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can memorize training data instead of learning generalizable patterns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760720" cy="4572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(70–80%)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2468880" cy="45720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 (20–30%)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data: learn coefficients (β values)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data: held out, never seen during training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on test data for unbiased performance estimate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Time-series? Use temporal splits — train on past, test on future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Cross-validation: rotate splits for more robust estimates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Interpreting Coefficients: From Numbers to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coefficient = predicted change per one-unit increase in that feature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from our H&amp;M model: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β(price) = -2.5 → each $1 price increase predicts 2.5 fewer units sold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β(discount%) = +3.2 → each 1% more discount predicts 3.2 more units</a:t>
            </a:r>
            <a:endParaRPr lang="en-US" sz="15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β(holiday) = +45 → holiday weeks predict 45 extra units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 these are correlations, not causal effects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inference-focused courses, here we care about prediction accuracy, not statistical significance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Feature Engineering: The Art of Model Building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raw data into model inputs that capture hidden patterns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often misses important relationships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feature engineering strategies: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Temporal: week of year, month, is_holiday, days_since_launch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Aggregates: avg sales last 4 weeks, rolling std, trend slope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Interactions: price × discount, category × season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Encoding: one-hot encode categories (color, section, department)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new features make sense for H&amp;M? Discussion...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Feature Engineering Impact: Model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algorithm, different features — what happens?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16459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MAE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Model A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Raw features only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847 units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Model B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 Temporal features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612 units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5587"/>
                          </a:solidFill>
                        </a:rPr>
                        <a:t>28% better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Model C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 Historical aggregates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423 units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5587"/>
                          </a:solidFill>
                        </a:rPr>
                        <a:t>50% better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34747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often matters more than algorithm choice — 50% improvement from better features alone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The Danger of Overfitting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learns training data too well, including noise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signs: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error is very low, but test error is much higher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performs great on old data, poorly on new data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happens: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features relative to data points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is too complex (too flexible)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regularization to constrain coefficients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 memorizing answers vs. learning concepts — memorization doesn't transfer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Overfitting: Numerical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regression model, two datasets: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Training MAE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MAE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Diagnosis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5 features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180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210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8B22"/>
                          </a:solidFill>
                        </a:rPr>
                        <a:t>Good fit ✔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50 features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C0000"/>
                          </a:solidFill>
                        </a:rPr>
                        <a:t>380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C0000"/>
                          </a:solidFill>
                        </a:rPr>
                        <a:t>335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C0000"/>
                          </a:solidFill>
                        </a:rPr>
                        <a:t>Overfit ✘</a:t>
                      </a:r>
                      <a:endParaRPr lang="en-US" sz="13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50-feature model: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perfect on training data (MAE = 45) — it memorized the noise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Terrible on new data (MAE = 380) — 8× worse!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5-feature model generalizes: small gap between train and test error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regularization (LASSO) to automatically shrink unneeded features to zero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Regularization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LASSO: Preventing Overfitting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Loss = MSE + λ Σ|βᵢ|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penalty for model complexity — large coefficients are penalized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 penalty shrinks coefficients toward zero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Unimportant features get driven to exactly zero — automatic feature selection!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simpler, more generalizable models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controls regularization strength:</a:t>
            </a:r>
            <a:endParaRPr lang="en-US" sz="140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0: no penalty → standard regression (may overfit)</a:t>
            </a:r>
            <a:endParaRPr lang="en-US" sz="140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λ: mild regularization, keeps most features</a:t>
            </a:r>
            <a:endParaRPr lang="en-US" sz="140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λ: aggressive, eliminates most features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LASSO: Numerical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λ affects coefficients — same data, different penalty: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λ = 0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(no penalty)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λ = 1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(mild)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λ = 10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(moderate)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λ = 100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(aggressive)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Price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-2.5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-2.3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-1.8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-0.9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Discount %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+3.2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+2.9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+1.5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Holiday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+45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+42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+30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+12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Color (red)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+0.3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+0.1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Day of week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-0.8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-0.2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38404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λ increases: weak features (color, day of week) drop to zero first; strong features (price, holiday) shrink but survive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Regression Hyperparameters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5603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Controls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Typical Values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λ (alpha)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Regularization strength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0.001–100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Too low: overfit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Too high: underfit (all βs → 0)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Penalty type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 (LASSO) vs L2 (Ridge) vs ElasticNet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 or ElasticNet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L1: sparse (feature selection)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L2: shrinks all, keeps all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fit_intercept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Whether to include β₀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 (default)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Almost always True; False only if data is centered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normalize</a:t>
                      </a:r>
                      <a:endParaRPr lang="en-US" sz="12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Scale features before fitting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 for LASSO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Important when features have different scales</a:t>
                      </a:r>
                      <a:endParaRPr lang="en-US" sz="11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is by far the most important — use cross-validation to find the optimal value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Cross-Validation: Choosing 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pick the best λ without peeking at the test set?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K-Fold Cross-Validation (e.g., K=5):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Split training data into 5 equal folds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For each λ candidate: train on 4 folds, validate on the 5th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Rotate which fold is held out (5 rounds)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Average validation error across all 5 rounds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Pick λ with lowest average validation error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Finally: retrain on full training set with best λ, evaluate once on test set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Cross-Validation: Numerical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3 values of λ with 5-fold CV:</a:t>
            </a:r>
            <a:endParaRPr lang="en-US" sz="1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λ</a:t>
                      </a:r>
                      <a:endParaRPr lang="en-US" sz="12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Fold 1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Fold 2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Fold 3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Fold 4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Fold 5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Avg MAE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0.01</a:t>
                      </a:r>
                      <a:endParaRPr lang="en-US" sz="12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385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412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398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420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390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401</a:t>
                      </a:r>
                      <a:endParaRPr lang="en-US" sz="12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n-US" sz="12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350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365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358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370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355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</a:rPr>
                        <a:t>360</a:t>
                      </a:r>
                      <a:endParaRPr lang="en-US" sz="12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480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495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488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485</a:t>
                      </a:r>
                      <a:endParaRPr lang="en-US" sz="11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490</a:t>
                      </a:r>
                      <a:endParaRPr lang="en-US" sz="12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0.01: too little regularization → overfit (high variance across folds)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1.0: best balance → lowest avg MAE (360) ✔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100: too much regularization → underfit (kills useful features)</a:t>
            </a: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practice: test many more values (e.g., 50 candidates on a log scale from 0.001 to 1000)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The ML Pipeline: Summary of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Collect and explore data (53K H&amp;M transactions)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Feature engineering — create temporal, aggregate, interaction features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Train/test split — hold out 20–30% for evaluation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Choose model — start with linear regression as baseline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Train model — find coefficients that minimize loss (MSE)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Regularize — use LASSO + cross-validation to prevent overfitting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Evaluate — measure MAE on held-out test set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Iterate — try new features, tune λ, compare models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100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Colab Demo</a:t>
            </a:r>
            <a:endParaRPr lang="en-US" sz="3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100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Assignment 1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2146</Words>
  <Application>Microsoft Macintosh PowerPoint</Application>
  <PresentationFormat>On-screen Show (16:9)</PresentationFormat>
  <Paragraphs>416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MGMT298D Week 1 - Course Introduction; Regression with Feature Engineering</dc:title>
  <dc:subject>PptxGenJS Presentation</dc:subject>
  <dc:creator>Auyon Siddiq</dc:creator>
  <cp:lastModifiedBy>Siddiq, Auyon</cp:lastModifiedBy>
  <cp:revision>5</cp:revision>
  <dcterms:created xsi:type="dcterms:W3CDTF">2026-02-02T18:55:02Z</dcterms:created>
  <dcterms:modified xsi:type="dcterms:W3CDTF">2026-02-02T21:33:43Z</dcterms:modified>
</cp:coreProperties>
</file>