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93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qz.com/939195/netflix-nflx-divides-its-93-million-users-around-the-world-not-by-geography-but-into-1300-taste-communities" TargetMode="External"/><Relationship Id="rId2" Type="http://schemas.openxmlformats.org/officeDocument/2006/relationships/hyperlink" Target="https://www.music-tomorrow.com/blog/how-spotify-recommendation-system-works-complete-guide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Clustering and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Collaborative Filtering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4D7C6-6AF6-29C7-8E78-CA3447EBABA7}"/>
              </a:ext>
            </a:extLst>
          </p:cNvPr>
          <p:cNvSpPr txBox="1"/>
          <p:nvPr/>
        </p:nvSpPr>
        <p:spPr>
          <a:xfrm>
            <a:off x="1460473" y="2288784"/>
            <a:ext cx="79724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https://www.music-tomorrow.com/blog/how-spotify-recommendation-system-works-complete-guide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https://</a:t>
            </a:r>
            <a:r>
              <a:rPr lang="en-US" sz="2400" dirty="0" err="1"/>
              <a:t>www.amazon.science</a:t>
            </a:r>
            <a:r>
              <a:rPr lang="en-US" sz="2400" dirty="0"/>
              <a:t>/the-history-of-amazons-recommendation-algorithm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8B547-C07B-7AA9-7249-657A8985D775}"/>
              </a:ext>
            </a:extLst>
          </p:cNvPr>
          <p:cNvSpPr txBox="1"/>
          <p:nvPr/>
        </p:nvSpPr>
        <p:spPr>
          <a:xfrm>
            <a:off x="1460473" y="612798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2400" u="none" strike="noStrike" dirty="0">
                <a:effectLst/>
                <a:hlinkClick r:id="rId3"/>
              </a:rPr>
              <a:t>https://qz.com/939195/netflix-nflx-divides-its-93-million-users-around-the-world-not-by-geography-but-into-1300-taste-communities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03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From Supervised to Unsupervised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labeled examples to predict outcomes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data includes both inputs (X) and known outputs (y)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 is prediction: given new data, what will the outcome be? Examples include predicting customer churn or credit default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 is measured by comparing predictions against true labels using metrics like accuracy, RMSE, or AUC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significant effort in data labeling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hidden patterns without labels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labels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 is understanding: segment customers into meaningful groups, reduce dimensionality, or find anomalies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is harder since there's no 'ground truth'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337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Scales easily with data since no manual labeling is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Business Problem: Personalization at Scale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recommend content to 230+ million subscribers with much different tastes?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 catalog of 15,000+ titles spanning genres, languages, and formats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user has unique preferences shaped by mood, time of day, viewing history, and cultural background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attention is limited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Cold start problem: new users have no history, and new content has no ratings - how do we recommend?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Personalization drives 80% of content watched on Netflix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Better recommendations reduce churn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behavior data provides rich signal for learning preferences implicitly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Algorithmic curation enables long-tail content discovery, helping niche titles find their perfect audience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Toolkit: Clustering (segment users) + Collaborative Filtering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K-Means Clustering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Structure in Customer Data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Sample Dataset: Users × Items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Our Simplified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5,000 users with their viewing histories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 movies selected to span genres: action, comedy, drama, documentary, horror, romance, sci-fi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Ratings on 1-5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Sparse matrix: average user rates only 15-20 movies - 80%+ of entries are missing values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14400"/>
          <a:ext cx="3931920" cy="1417320"/>
        </p:xfrm>
        <a:graphic>
          <a:graphicData uri="http://schemas.openxmlformats.org/drawingml/2006/table">
            <a:tbl>
              <a:tblPr/>
              <a:tblGrid>
                <a:gridCol w="65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Inception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Notebook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Avengers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Titanic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Find natural groupings of users based on their rating patterns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Why Clustering First?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complexity from 5,000 individuals to a manageable number of segments for business strategy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 interpretable 'viewer personas'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Business Applications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5488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Targeted marketing campaigns tailored to each segment's preferences and viewing behaviors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0" y="4023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acquisition decisions informed by the size and engagement levels of each viewer segment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K-Means Algorithm: 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Initialize K cluster centers randomly from the data points, or use smarter initialization like K-means++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 until convergence: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algorithm minimizes within-cluster sum of squares (WCSS)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properties: guaranteed to converge, but may find local optimum depending on initialization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Computational complexity: O(n * K * d * i) where n = data points, K = clusters, d = dimensions, i = iterations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Choosing K: How Many Clusters?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Elbow Method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WCSS against different values of K. Look for the 'elbow' 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Intuition: More clusters always reduce WCSS (to 0 at K=n), but we want the point of diminishing returns.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Silhouette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how similar points are to their own cluster vs. neighboring clusters. Score ranges from -1 (wrong cluster) to +1 (well-clustered). Choose 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s(i) = (b(i)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Practical Considerations for Business Applications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interpretability matters: 3-7 segments are typically manageable for teams to understand and operationalize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Segment size: each cluster should be large enough to warrant distinct treatment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Stability: run clustering multiple times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 knowledge: sometimes the 'right' K is determined by external factors like budget for targeted campaigns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Cluster Profiles: Interpreting Your Segments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After clustering, examine the centroid of each cluster to understand what makes each segment distinct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Profile each cluster by looking at average ratings across genres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profiles by examining actual movie preferences within each cluster - do patterns make sense?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Augment with demographic data if available: do clusters correlate with age, location, or viewing time?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your segments with memorable, useful labels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cluster characteristics for handoff to marketing, product, and content teams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From Segments to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Cluster Insights into Business Value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Characteristics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Blockbuster Fans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action/sci-fi, weekend bingers, 4+ hours/session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access to Marvel/DC releases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Thoughtful Viewers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Documentaries, foreign films, weekday evenings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season 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 Streamers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Animation, family comedies, shared profiles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Kids-safe filters; family movie nights promotions; holiday 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Casual Browsers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engagement, few ratings, high skip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Simplified UI; trending/popular content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reduces the problem from 5,000 unique individuals to 4-6 useful segments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clustering tells us about groups, not individuals. For personalized predictions, we need Collaborative Filtering...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Collaborative Filtering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Recommendations at Scale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Industry Example: Spotify's Recommendation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Weekly reaches 100M+ users with 30 personalized songs every Monday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Collaborative Filtering Approach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Analyze listening patterns of 500M+ users to find 'taste neighbors'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 songs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more you listen, the better it gets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 with content-based features for hybrid recommendations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 Weekly drives significant engagement: users who use it have 20% higher retention rates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Helps artists reach new audiences - 8B+ artist discoveries attributed to personalized playlists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competitive moat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Personalization is a key differentiator vs. Apple Music and YouTube Music in subscriber acquisition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'Users who liked X also liked Y'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Amazon's Item-to-Item Collaborative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Amazon pioneered item-to-item CF in 2003, transforming e-commerce recommendations at massive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Traditional user-based CF: 'Find similar users, recommend what they bought'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Amazon's innovation: 'Find similar items, recommend items similar to what you've bought'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'Customers who bought this also bought...' drives 35% of Amazon's revenue - a $100B+ feature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Item-based CF scales better for retail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Today Amazon combines CF with deep learning, contextual bandits, and real-time personalization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User-Based Collaborative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Step 1: Calculate User Similarity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each pair of users based on movies they've both rated. Common metrics include: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2801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sim(u,v) = (u · v) / (||u|| ||v||)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-1 to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688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user rating bias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-1 to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Step 2: Find Neighbors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active user, identify K most similar users (neighbors) who have rated the target item: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to users with similarity above threshold to ensure relevance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 minimum co-rated items to ensure similarity is statistically meaningful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top-K neighbors as the 'voting committee' for predictions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Step 3: Make Predictions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active user's rating for an unrated item as a weighted average of neighbor ratings: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Neighbors with higher similarity get more weight in the prediction - their 'votes' count more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items with highest predicted ratings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Making Predictions: The Weighted Average Formula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Basic Prediction Formula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r̂(u,i) = sum(sim(u,v) * r(v,i)) / sum(|sim(u,v)|) for all neighbors v who rated item 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r̂(u,i) = predicted rating for user u on item i - what we're trying to estimate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sim(u,v) = similarity between active user u and neighbor v - how much v's opinion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r(v,i) = neighbor v's actual rating for item i - the evidence we're aggregating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Denominator normalizes by total similarity weight to keep predictions on the rating scale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Mean-Centered Variant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r̂(u,i) = r̅(u) + sum(sim(u,v) * (r(v,i) - r̅(v))) / sum(|sim(u,v)|)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Collaborative Filtering as K-Nearest Neighbors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KNN Connection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 CF is KNN in the 'rating space'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predict a rating: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Find K nearest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Average their ratings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Weight by distance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CF as KNN helps with: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Hyperparameter tuning (K selection)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Similarity metric choice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Computational optimizations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Connections to other ML methods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algorithmic framework, different application domain.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Choosing K in Collaborative Filtering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Small K (5-10): More personalized but noisier predictions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 K (50-100): Smoother predictions but may over-generalize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Optimal K typically found via cross-validation, often in range 20-50 for most recommendation systems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Evaluating Recommendation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Metrics: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Online Metrics: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Beyond Accuracy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Limitations and Extensions of Collaborative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Challenges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46304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have no rating history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651760" cy="14630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rate only a tiny fraction of items (&lt;1% typically). Hard to find neighbors with overlapping ratings. Solutions: dimensionality reduction, matrix factorization.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5176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2648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all pairwise similarities is O(n^2). Netflix has 200M+ users. Solutions: approximate nearest neighbors, LSH, item-based CF, matrix factorization.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Modern Extensions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Matrix Factorization: Decompose user-item matrix into latent factors; captures underlying taste dimensions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Learning: Neural collaborative filtering, autoencoders, and transformers for sequential recommendations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Hybrid Systems: Combine collaborative + content-based + contextual signals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Bandits: Balance exploration vs exploitation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 discovers structure in data without labels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groups users by similarity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profiles should be useful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Filtering recommends based on similar users/items - 'wisdom of the crowd' for personalization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 CF finds neighbors and predicts ratings as weighted averages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systems face cold start, sparsity, and scale challenges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metrics validate algorithms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</Words>
  <Application>Microsoft Macintosh PowerPoint</Application>
  <PresentationFormat>On-screen Show (16:9)</PresentationFormat>
  <Paragraphs>245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 Narrow</vt:lpstr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Clustering and Collaborative Filtering</dc:title>
  <dc:subject>MGMT298D: Science and Strategy of AI</dc:subject>
  <dc:creator>UCLA Anderson</dc:creator>
  <cp:lastModifiedBy>Siddiq, Auyon</cp:lastModifiedBy>
  <cp:revision>2</cp:revision>
  <dcterms:created xsi:type="dcterms:W3CDTF">2026-01-16T03:11:58Z</dcterms:created>
  <dcterms:modified xsi:type="dcterms:W3CDTF">2026-01-24T16:07:51Z</dcterms:modified>
</cp:coreProperties>
</file>