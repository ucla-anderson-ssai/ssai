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D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MGMT298D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D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Science and Strategy of 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Week 6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Convolutional Neural Networks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Seeing Like a Machine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UCLA Anderson School of Management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Auyon Siddiq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Limits of Regular Neural Networks for Images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Fully-Connected Networks Struggle with Images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Parameter explosion: A 224x224 RGB image has 150,528 pixels. Connecting to a 1,000-neuron layer = 150 million parameters in just one layer.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spatial awareness: A fully-connected network treats pixel (0,0) the same as pixel (100,100)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Translation variance: A cat in the top-left looks completely different than the same cat in the bottom-right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weight sharing: The network must separately learn 'edge detector at position 1' and 'edge detector at position 2' - much inefficient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Overfitting: With so many parameters and limited training data, the network memorizes rather than generalizes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Object Recognition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Dataset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60,000 color images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32 x 32 pixels, 3 color channels (RGB)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3,072 features per image (32x32x3)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More challenging than Fashion-MNIST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Real-world objects with backgrounds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914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10 Categories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13258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 Airplane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61848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 Automobile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0" y="191109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2: Bird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220370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3: Cat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249631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4: Deer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66560" y="13258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5: Dog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66560" y="161848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6: Frog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66560" y="191109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7: Horse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66560" y="220370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8: Ship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66560" y="249631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 Truck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CIFAR-10 is Harder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3337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adds complexity, objects have varied poses/backgrounds, categories are semantically closer. Human accuracy ~94%, best models achieve ~99%.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MLP Baseline: Fully-Connected Network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Applying what we learned in Week 5 to CIFAR-10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(Model A)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Input: 3,072 neurons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Hidden 1: 512 neurons, ReLU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Hidden 2: 256 neurons, ReLU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Dropout: 30% after each hidden layer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Output: 10 neurons, Softmax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63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Total parameters: 1,735,178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371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0" y="1737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62828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52.3%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754880" y="22860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Training accuracy: 61.5%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5603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Barely better than random (10%)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2834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1.7 million parameters wasted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31089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No spatial understanding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 massive failure. The MLP has no way to learn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The Convolution Intuition: A Flashlight Scanning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Imagine scanning an image with a small 'flashlight'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flashlight is a small grid that slides across the entire image, one position at a time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At each position, it checks: 'Does this local region match my pattern?' and outputs a score (high = match)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same flashlight (same weights) is used everywhere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If the flashlight is an edge detector, it will 'light up' wherever edges appear in the image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By sliding across all positions, we create a new image (feature map) showing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86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Different flashlights detect different patterns: edges, textures, etc.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cat is a cat whether it's in the top-left or bottom-right. The same pattern detector should work everywhere.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The Convolution Operation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Definition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output[i,j] = sum + bias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Terms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Filter/Kernel: A small matrix of learnable weights. This IS the pattern detector.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Stride: How many pixels to move the filter each step. Stride 1 = move 1 pixel, Stride 2 = move 2 pixels (shrinks output).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Padding: Adding zeros around the input border. 'Same' padding preserves spatial dimensions. 'Valid' padding shrinks them.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Feature Map: The output of applying one filter across the entire image. Shows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A 32x32 input with a 3x3 filter, stride 1, and 'same' padding produces a 32x32 feature map. The filter has just 9 weights (plus 1 bias) = 10 parameters total.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Filters as Pattern Detectors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filters actually learn? Visualizing trained CNN filters reveals interpretable patterns: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Filters (Edge Detectors)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Horizontal edges: bright-to-dark transitions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Vertical edges: left-to-right changes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Diagonal edges: 45/135 degree lines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Color gradients: red-to-green transitions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Gabor-like patterns: oriented bars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1371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Deeper Layer Filters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1691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Textures: fur, feathers, grass patterns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9659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Object parts: wheels, eyes, wings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22402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Complex shapes: circles, curves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5146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Semantic features: car grills, bird beaks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7889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Scene elements: sky, water, roads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network learns this hierarchy automatically through backpropagation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mirrors how the visual cortex processes images: V1 (edges) -&gt; V2 (textures) -&gt; V4 (shapes) -&gt; IT (objects)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Multiple Filters = Multiple Feature Maps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filter detects one pattern type. We need many filters to capture diverse features.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convolutional layer typically has 32, 64, 128, or more filters, each learning a different pattern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Each filter produces its own feature map, so 64 filters on a 32x32 input produces 64 feature maps of 32x32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The output is a 'volume': 32 x 32 x 64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Deep layers have MORE filters because they combine lower-level features into exponentially more patterns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Parameter count: 64 filters of size 3x3 on 3-channel input = 64 * (3*3*3 + 1) = 1,792 parameters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86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Compare to fully-connected: 32*32*3 inputs to 64 outputs = 196,608 parameters. CNNs are 100x more efficient.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Pooling: Downsampling for Efficiency and Invariance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Pooling reduces spatial dimensions while preserving important features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Pooling (Most Common)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Divide feature map into non-overlapping regions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Take maximum value from each region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2x2 pooling with stride 2 halves each dimension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32x32 -&gt; 16x16 -&gt; 8x8 -&gt; 4x4 as depth increases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Keeps strongest activations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1371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Pooling Matters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1691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Reduces computation: 4x fewer values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9659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Reduces parameters in later layers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22402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Adds translation invariance: small shifts don't change max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5146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Expands receptive field: each neuron 'sees' more of original image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7889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Controls overfitting by reducing representation size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Alternative: Strided convolution (stride=2) can replace pooling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The CNN Architecture: Conv -&gt; ReLU -&gt; Pool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Standard Building Block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-&gt; [Conv -&gt; ReLU -&gt; Pool] x N -&gt; Flatten -&gt; Dense -&gt; Output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by Layer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Convolutional Layer: Apply filters to detect patterns. Learnable weights. Preserves spatial structure.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359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ReLU Activation: Introduce non-linearity. max(0, x). Applied element-wise after convolution.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70662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Pooling Layer: Downsample to reduce computation and gain invariance. Typically 2x2 max pooling.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05409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Repeat: Stack multiple [Conv -&gt; ReLU -&gt; Pool] blocks. Depth increases, spatial size decreases.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4015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Flatten: Convert 3D volume to 1D vector (2,048) for classification.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Dense Layer: Fully-connected layer(s) to combine features for final classification.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09651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Softmax Output: Convert to class probabilities.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Model B: Simple CNN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minimal CNN architecture for CIFAR-10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Conv2D: 32 filters, 3x3, ReLU, same padding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MaxPooling2D: 2x2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Conv2D: 64 filters, 3x3, ReLU, same padding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MaxPooling2D: 2x2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Flatten -&gt; Dense 128 -&gt; Dense 10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632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Total parameters: 222,346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371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0" y="1737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774AE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70.8%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754880" y="22860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Training accuracy: 82.4%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5603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+18.5% improvement over MLP.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2834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8x fewer parameters than MLP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31089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Training time: ~2 min on GPU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CNN significantly outperforms the MLP despite having far fewer parameters. Spatial structure matters.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Model C: Advanced CNN with Regularization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Adding depth, BatchNorm, and Dropout for better performance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Block 1: Conv(32) -&gt; BN -&gt; ReLU -&gt; Conv(32) -&gt; BN -&gt; ReLU -&gt; Pool -&gt; Dropout(25%)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956816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Block 2: Conv(64) -&gt; BN -&gt; ReLU -&gt; Conv(64) -&gt; BN -&gt; ReLU -&gt; Pool -&gt; Dropout(25%)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2219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Block 3: Conv(128) -&gt; BN -&gt; ReLU -&gt; Pool -&gt; Dropout(25%)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487168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Dense: 256 neurons, Dropout(50%)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752344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Output: 10 neurons, Softmax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Total parameters: 576,394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1371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1737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Accuracy: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83680" y="1737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7D32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82.6%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754880" y="22860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Training accuracy: 85.3%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5603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+30.3% over MLP baseline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2834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+11.8% over simple CNN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31089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Gap: only 2.7%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Stacking conv layers before pooling lets network learn more complex patterns before downsampling.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Model Comparison: CIFAR-10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Parameters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 Acc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vs MLP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A: MLP Baseline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Fully-Connected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1,735,178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52.3%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B: Simple CNN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Conv + 2 Pool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222,346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70.8%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+18.5%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C: Advanced CNN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Conv + BN + Dropout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576,394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82.6%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+30.3%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ResNet-20 (ref)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layers, skip connections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270,000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91.3%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+39.0%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Human Performance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~86B neurons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~94%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+41.7%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Insights: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35204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CNNs achieve significantly better results with far fewer parameters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38130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Simple CNN (70.8%) vs MLP (52.3%): spatial structure awareness provides massive gains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410565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Advanced CNN closes gap with state-of-art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39826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Even basic CNNs approach human performance on this benchmark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Transfer Learning: Standing on Giants' Shoulders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train from scratch when others have learned to see?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Insight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Early CNN layers learn universal features: edges, textures, patterns that apply to ALL images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network trained on 1M+ ImageNet images has already learned an excellent visual vocabulary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Instead of random initialization, start with pre-trained weights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Transfer learning: Use a network trained on task A as starting point for task 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Often achieves state-of-art with just hundreds of examples instead of millions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Impact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learning made accessible deep learning. Companies without massive datasets or GPU clusters can build production-quality image classifiers. Training time drops from weeks to hours.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Pre-trained Models: The Computer Vision Zoo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ImageNet-trained models available in Keras/PyTorch with one line of code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AlexNet (2012)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560320" y="12801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60M params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749040" y="12801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advance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VGG16/19 (2014)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0320" y="18288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138M params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749040" y="18288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architecture: stack 3x3 convs. Showed depth matters. Still popular for transfer learning.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 (2015)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23774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25M params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49040" y="23774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connections enable 152+ layers without degradation. Still a top choice for many tasks.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9260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EfficientNet (2019)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29260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5-66M params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49040" y="29260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Systematically scales depth/width/resolution. Best accuracy/efficiency tradeoff.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4747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MobileNet (2017)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60320" y="34747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3.4M params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49040" y="34747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for mobile devices. Depthwise separable convolutions. Real-time on phones.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available in TensorFlow/Keras: tf.keras.applications.ResNet50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Using Pre-trained Models: Two Approaches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Extraction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Freeze all pre-trained layers (no training)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Remove original classification head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Add new Dense layer(s) for your classes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Only train the new layers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Fastest option: minutes to train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Best when: limited data, similar domain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914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12344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Start with pre-trained weights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5087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Unfreeze some or all layers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17830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Train with very low learning rate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0574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Allows adaptation to new domain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331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Slower but often more accurate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26060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Best when: different domain, more data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Strategy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3375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Start with feature extraction to establish baseline (fast iteration).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If accuracy insufficient, gradually unfreeze layers from top to bottom.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Use very small learning rate (1e-5) for fine-tuning to avoid destroying pre-trained features.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CNNs in Production: Best current Applications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914400"/>
          <a:ext cx="8778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219456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Players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Healthcare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Medical imaging diagnosis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Health, Zebra Medical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Matches/exceeds radiologist accuracy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Retail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Visual search, product tagging, inventory monitoring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Pinterest, Amazon, Alibaba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Billions in e-commerce revenue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Automotive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Object detection for autonomous vehicles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Tesla, Waymo, Cruise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 safety system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Facial recognition, surveillance, access control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Clearview, NEC, Apple FaceID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Controversial but widespread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Agriculture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Crop disease detection, yield prediction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Blue River (John Deere)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 farming for large datasets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Manufacturing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Defect detection, quality control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Landing AI, Cognex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Reduces waste and recalls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thread: CNNs excel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Beyond Classification: Detection and Segmentation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is just the beginning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Detection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Find AND locate multiple objects in image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Output: bounding boxes + class labels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Architectures: YOLO, Faster R-CNN, SSD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Real-time on modern GPUs (30+ FPS)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Enables: autonomous causing, security, retail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1371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Semantic Segmentation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1691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Classify EVERY pixel in the image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9659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Output: pixel-level mask for each class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22402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Architectures: U-Net, DeepLab, Mask R-CNN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5146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More compute-intensive than detection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7889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Enables: medical imaging, satellite analysis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Instance Segmentation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3520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Combines detection + segmentation: identifies each individual object AND segments its exact boundary. Enables AR/VR effects, photo editing, and robotic manipulation.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The Deep Learning Revolution: Why 2012 Changed Everything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ImageNet 2012: The 'Big Bang' of Modern AI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AlexNet won ImageNet 2012 with 15.3% error vs. 26.2% for second place. A 10%+ margin was unprecedented.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Made It Possible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57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Big Data: ImageNet provided 1.2M labeled images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GPU Computing: NVIDIA GPUs made training deep networks feasible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Algorithmic improvements: ReLU, Dropout, data augmentation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0175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Open research culture: Published code, reproducible results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17373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Followed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20574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Error rate: 26% (2011) -&gt; 3.6% (2015) -&gt; &lt;2% (2020)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0" y="2377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Google, Facebook, Baidu pivoted to deep learning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26974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Sparked NLP revolution (BERT, GPT)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0" y="30175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winter ended; billions invested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"[ImageNet 2012] was the moment the field of AI changed forever." - Fei-Fei Li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Limitations of CNNs: What Can Go Wrong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Adversarial Examples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Imperceptible pixel changes can fool CNNs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'panda' becomes a 'gibbon' with 99% confidence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Physical-world attacks possible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concern for autonomous systems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Active research area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914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and Fairness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12344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Models inherit biases from training data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5087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Facial recognition less accurate for minorities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7830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ImageNet categories reflect Western perspective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20574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Disparate impact in real-world deployment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331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Requires careful dataset curation and auditing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5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Limitations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063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 hungry: Need thousands of labeled examples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3558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Lack reasoning: CNNs recognize patterns but don't 'understand' objects or physics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364845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Domain shift: A model trained on studio photos may fail on smartphone photos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9410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Interpretability: Hard to explain why a specific prediction was made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587"/>
                </a:solidFill>
                <a:latin typeface="Whitney" pitchFamily="34" charset="0"/>
                <a:ea typeface="Whitney" pitchFamily="34" charset="-122"/>
                <a:cs typeface="Whitney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005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CNNs exploit spatial structure through local connectivity, weight sharing, and hierarchical feature learning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508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Conv -&gt; ReLU -&gt; Pool pattern builds representations from edges to textures to objects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Transfer learning from ImageNet-pretrained models enables state-of-art results with limited data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514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CNNs power billions of real-world applications: medical imaging, autonomous vehicles, visual search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3017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remain: adversarial vulnerability, bias, and lack of true visual understanding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74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3520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week: Recurrent Neural Networks for sequential data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6: Convolutional Neural Networks</dc:title>
  <dc:subject>MGMT298D: Science and Strategy of AI</dc:subject>
  <dc:creator>UCLA Anderson</dc:creator>
  <cp:lastModifiedBy>UCLA Anderson</cp:lastModifiedBy>
  <cp:revision>1</cp:revision>
  <dcterms:created xsi:type="dcterms:W3CDTF">2026-01-16T03:09:21Z</dcterms:created>
  <dcterms:modified xsi:type="dcterms:W3CDTF">2026-01-16T03:09:21Z</dcterms:modified>
</cp:coreProperties>
</file>