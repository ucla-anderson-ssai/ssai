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5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7025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Tree Models:</a:t>
            </a:r>
            <a:endParaRPr lang="en-US" sz="3400" dirty="0"/>
          </a:p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Random Forests and XGBoost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Jellybean Guess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6CCD29F6-682E-C594-2AE1-1FEA30873DFC}"/>
              </a:ext>
            </a:extLst>
          </p:cNvPr>
          <p:cNvSpPr/>
          <p:nvPr/>
        </p:nvSpPr>
        <p:spPr>
          <a:xfrm>
            <a:off x="457200" y="19431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 Handout</a:t>
            </a:r>
            <a:endParaRPr lang="en-US" sz="3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6CE8595-381F-89A3-73F6-0A9726B7B36E}"/>
              </a:ext>
            </a:extLst>
          </p:cNvPr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Algorithmic Pricing at Carvana and Zillow</a:t>
            </a:r>
            <a:b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32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Pure Prediction Problems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problems prioritize accuracy over interpretability: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prediction matters most: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Carvana's instant online offers — the algorithm IS the price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dealer negotiation, no middleman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Where does AI fit into Carvana's strategy?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interpretability matters most: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compliance, fairness, credit decisions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Stakeholders need to understand "why" behind each decision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Why might this work for used cars but not houses?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Carvana pricing: accuracy drives profit directly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4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Linear Regression vs. Tree-Based Models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638005"/>
              </p:ext>
            </p:extLst>
          </p:nvPr>
        </p:nvGraphicFramePr>
        <p:xfrm>
          <a:off x="457200" y="1051560"/>
          <a:ext cx="8229600" cy="25603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Aspect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Tree-Based Models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Relationships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Assumes linear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Captures non-linear patterns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Interactions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Must be manually created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Automatically discovered via splits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Interpretability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 — coefficients show impact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Lower — ensemble behavior is complex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Outlier handling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Sensitive to outliers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Robust — splits based on ordering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Best for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Inference, simple relationships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Prediction accuracy, complex tabular data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Tree-based models dominate Kaggle competitions and industry applications for tabular data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The Dataset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15,847 actual used vehicle transactions from the market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year, mileage, model/trim, accident history, engine size, drivetrain, color, region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variable: actual sale price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range from $15,000 to $95,000+ with complex interactions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 2019 with 60K miles may be worth more than a 2020 with 90K miles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Decision Trees: The Building Block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trees predict via sequential yes/no questions: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560320" cy="36576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926080" y="14630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Mileage &lt; 50K?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103120"/>
            <a:ext cx="2194560" cy="36576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&gt; 2019?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103120"/>
            <a:ext cx="2194560" cy="36576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743200"/>
            <a:ext cx="1097280" cy="36576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27432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03120" y="2743200"/>
            <a:ext cx="1097280" cy="36576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03120" y="27432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743200"/>
            <a:ext cx="1097280" cy="36576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27432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2743200"/>
            <a:ext cx="1097280" cy="36576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75120" y="27432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828800" y="1783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0" y="1783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properties: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Splits minimize prediction error per group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predictions = average of training examples in that group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captures non-linear relationships + feature interactions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Ensemble Learning: Wisdom of the Crowd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decision trees overfit and produce unstable predictions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Ensembles combine multiple trees for better, more stable results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averaging many models reduces variance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main strategies: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(Random Forest): independent trees, trained in parallel, averaged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Boosting (XGBoost): sequential trees, each correcting previous errors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methods significantly outperform single trees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Jellybean Guess (Results)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Trees and Random Forests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Random Forest: Bagging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trees on random subsets, averaged: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280160" cy="41148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128016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0" y="1371600"/>
            <a:ext cx="1280160" cy="41148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11680" y="13716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128016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011680" y="19202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66160" y="1371600"/>
            <a:ext cx="1280160" cy="41148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66160" y="13716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6160" y="1920240"/>
            <a:ext cx="128016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66160" y="19202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$62K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20640" y="1371600"/>
            <a:ext cx="1280160" cy="41148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20640" y="13716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0640" y="1920240"/>
            <a:ext cx="128016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20640" y="19202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75120" y="1371600"/>
            <a:ext cx="1280160" cy="411480"/>
          </a:xfrm>
          <a:prstGeom prst="rect">
            <a:avLst/>
          </a:prstGeom>
          <a:solidFill>
            <a:srgbClr val="EBF5FB"/>
          </a:solidFill>
          <a:ln w="12700">
            <a:solidFill>
              <a:srgbClr val="00558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0" y="13716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1920240"/>
            <a:ext cx="128016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192024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$61K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468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86000" y="2468880"/>
            <a:ext cx="1371600" cy="36576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286000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$60.2K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30175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tree uses a bootstrap sample (random rows with replacement)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split considers a random feature subset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Randomness decorrelates errors across trees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ensemble: 100–1,000 trees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averaging helps: individual overfit errors cancel out; true signal reinforces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Random Forest: Trade-offs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5494576"/>
              </p:ext>
            </p:extLst>
          </p:nvPr>
        </p:nvGraphicFramePr>
        <p:xfrm>
          <a:off x="457200" y="1051560"/>
          <a:ext cx="8229600" cy="2926077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Advantages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Limitations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Handles non-linearity automatically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Less interpretable than single tree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Robust to outliers and noise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Slow on very large datasets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Minimal feature engineering needed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Memory-intensive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Built-in feature importance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May overfit with very deep trees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Parallelizable — fast training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Cannot extrapolate beyond training range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Works well with default settings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Predictions bounded by training values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Random Forest: Key Hyperparameters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015440"/>
              </p:ext>
            </p:extLst>
          </p:nvPr>
        </p:nvGraphicFramePr>
        <p:xfrm>
          <a:off x="457200" y="1051560"/>
          <a:ext cx="8229600" cy="30175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It Controls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Typical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n_estimators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trees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100–1000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More trees = better (diminishing returns)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Rarely hurts; just slower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max_depth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 depth per tree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None (unlimited)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 10–30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Deeper = more complex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None often works fine for RF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max_features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Features considered per split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√n (classification)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n/3 (regression)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Lower = more diversity between trees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Higher = each tree is stronger but correlated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min_samples_split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 samples to split node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(default)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Higher = more regularization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Prevents overly specific splits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bootstrap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Sample with replacement?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True (default)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True = bagging (standard)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False = each tree sees all data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is "set and forget" — defaults work well. Most important to tune: n_estimators and max_features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Boosting: Sequential Error Correction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trees — each one corrects the previous model's mistakes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differences from Random Forest: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RF: independent trees, trained in parallel on bootstrap samples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Boosting: sequential trees, each focusing on residual errors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reduces variance; boosting reduces both bias and variance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boosting philosophy: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simple, improve iteratively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new tree predicts residual errors, not the target directly</a:t>
            </a:r>
            <a:endParaRPr lang="en-US" sz="15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prediction = weighted sum of all trees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How Trees Are Added: The Math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rule: 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Prediction(new) = Prediction(old) + η × Tree(new)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new tree predicts the residual error (actual - current prediction)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 (learning rate) shrinks each tree's contribution — prevents overshooting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835324"/>
              </p:ext>
            </p:extLst>
          </p:nvPr>
        </p:nvGraphicFramePr>
        <p:xfrm>
          <a:off x="457200" y="2331720"/>
          <a:ext cx="7589520" cy="18288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Step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 Prediction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Actual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Residual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Tree Predicts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η × Tree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New Prediction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Init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$50,000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$62,000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—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—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$50,000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Tree 1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$50,000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$62,000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+$1,200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$51,200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Tree 2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$51,200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$62,000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+$10,800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+$10,800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+$1,080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$52,280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Tree 3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$52,280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$62,000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+$9,720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+$9,720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+$972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$53,252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FFF8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4343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82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η = 0.1, each tree adds only 10% of its prediction — slow but steady convergence toward $62K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Learning Rate: The Key Control Parameter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learning rate (0.01–0.05):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many trees (1000+), better generalization, slower training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learning rate (0.3+):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trees needed, faster training, risk of overfitting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trade-off: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η + more trees = better performance but more compute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practice: η = 0.01–0.1 with early stopping</a:t>
            </a:r>
            <a:endParaRPr lang="en-US" sz="14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stopping: monitor validation error, stop adding trees when it stops improving</a:t>
            </a:r>
            <a:endParaRPr lang="en-US" sz="1400" dirty="0"/>
          </a:p>
          <a:p>
            <a:pPr marL="685800" lvl="1" indent="-342900"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overfitting without needing to guess the right number of trees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Industry Example: Airbnb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XGBoost to predict value of homes on Airbnb platform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medium.com/airbnb-engineering/using-machine-learning-to-predict-value-of-homes-on-airbnb-9272d3d4739d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Industry Example: Uber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Productionized distributed XGBoost at scale for ride pricing and ETA predictions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uber.com/blog/productionizing-distributed-xgboost/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Industry Example: Instacart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ML/XGBoost for delivery optimization and demand forecasting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infoq.com/news/2017/01/ripert-instacart-ml-optimization/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XGBoost: Extreme Gradient Boosting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 gradient boosting implementation — the industry standard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innovations: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Regularization: penalizes model complexity to prevent overfitting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missing data natively without imputation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processing: builds trees faster than standard gradient boosting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loss functions for different business objectives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 17/29 Kaggle competitions in 2015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the go-to for tabular prediction; LightGBM and CatBoost offer similar performance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The XGBoost Objective Function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Obj = Σ(actual - predicted)² + Σ[γT + ½λΣw²]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side: Prediction error (MSE) — how wrong are we?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side: Regularization penalties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γT penalizes the number of leaves — fewer leaves = simpler tree</a:t>
            </a:r>
            <a:endParaRPr lang="en-US" sz="14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λw² penalizes leaf weight magnitudes — prevents extreme predictions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Regularization prevents overfitting by limiting model complexity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XGBoost: Regularization and Overfitting Prevention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gradient boosting can overfit by adding too many trees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 adds three regularization mechanisms: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penalty (Lasso): encourages sparsity in leaf weights</a:t>
            </a:r>
            <a:endParaRPr lang="en-US" sz="1500" dirty="0"/>
          </a:p>
          <a:p>
            <a:pPr marL="685800" lvl="1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penalty (Ridge): prevents any single leaf from dominating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complexity penalty: limits depth and number of leaves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more robust predictions on new, unseen data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Random Forest vs. XGBoost: Overfitting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0116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Random Forest</a:t>
                      </a:r>
                      <a:endParaRPr lang="en-US" sz="13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XGBoost</a:t>
                      </a:r>
                      <a:endParaRPr lang="en-US" sz="13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Training approach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Independent trees in parallel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Sequential — each builds on previous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Error behavior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Errors don't compound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Errors can amplify without regularization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Overfit tendency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8B22"/>
                          </a:solidFill>
                        </a:rPr>
                        <a:t>More resistant — hard to overfit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CC0000"/>
                          </a:solidFill>
                        </a:rPr>
                        <a:t>More prone — requires careful tuning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Tuning effort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"Set and forget"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Needs careful hyperparameter tuning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RF is "set and forget"; XGBoost needs careful tuning but can achieve higher accuracy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Key Hyperparameters in XGBoost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6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Purpose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Typical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max_depth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Controls tree complexity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3–10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Deeper = more complex, more overfit risk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learning_rate (η)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Shrinks each tree's contribution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0.01–0.3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Lower = needs more trees, better generalization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n_estimators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Number of boosting rounds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100–1000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More rounds w/ low η = better; use early stopping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min_child_weight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Min data needed in leaf node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1–10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Higher = more conservative, less overfit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subsample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Fraction of data per tree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0.5–1.0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Lower = more randomness, less overfit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colsample_bytree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Fraction of features per tree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0.5–1.0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Lower = more diversity, like RF's max_features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γ (gamma)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Min loss reduction to split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0–5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Higher = more pruning, simpler trees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λ (reg_lambda)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L2 regularization on weights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0–10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Higher = more regularization</a:t>
                      </a:r>
                      <a:endParaRPr lang="en-US" sz="10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 via grid search or Bayesian optimization — learning_rate and max_depth are most impactful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Hyperparameter Tuning: Numerical Example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search on Carvana pricing data — testing 4 configurations: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18288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Config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max_depth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η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n_estimators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subsample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Train MAE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Test MAE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1.0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$2,800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$3,100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0.05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0.8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$1,500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587"/>
                          </a:solidFill>
                        </a:rPr>
                        <a:t>$2,100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C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0.3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1.0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$800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</a:rPr>
                        <a:t>$3,500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D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0.01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0.7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$1,200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587"/>
                          </a:solidFill>
                        </a:rPr>
                        <a:t>$2,050</a:t>
                      </a:r>
                      <a:endParaRPr lang="en-US" sz="11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C: deep trees + high η = classic overfit (train $800, test $3,500 — huge gap)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D: low η + many trees = best test MAE ($2,050) but slow to train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B: good balance of speed and accuracy ($2,100 test MAE)</a:t>
            </a: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practice: use early stopping with Config D approach for best results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Feature Importance: What Drives Predictions?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 feature importance (Carvana pricing model):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490472"/>
            <a:ext cx="3657600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0" y="1463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20240" y="1810512"/>
            <a:ext cx="2880360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783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Model/Trim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2130552"/>
            <a:ext cx="2350008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61688" y="21031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 Hist.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20240" y="2450592"/>
            <a:ext cx="1563624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75304" y="24231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2743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Size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920240" y="2770632"/>
            <a:ext cx="1042416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054096" y="27432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063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Drivetrain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20240" y="3090672"/>
            <a:ext cx="786384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98064" y="3063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920240" y="3410712"/>
            <a:ext cx="521208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32888" y="33832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920240" y="3730752"/>
            <a:ext cx="265176" cy="219456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276856" y="37033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1371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Insights: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73736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+ Mileage = 50% of pricing signal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Accidents matter more than cosmetics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Color: minimal resale impact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Region: small differences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100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Colab Demo</a:t>
            </a:r>
            <a:endParaRPr lang="en-US" sz="3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100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Assignment 2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1732</Words>
  <Application>Microsoft Macintosh PowerPoint</Application>
  <PresentationFormat>On-screen Show (16:9)</PresentationFormat>
  <Paragraphs>384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2 - Tree Models: Random Forests and XGBoost</dc:title>
  <dc:subject>PptxGenJS Presentation</dc:subject>
  <dc:creator>Auyon Siddiq</dc:creator>
  <cp:lastModifiedBy>Siddiq, Auyon</cp:lastModifiedBy>
  <cp:revision>4</cp:revision>
  <dcterms:created xsi:type="dcterms:W3CDTF">2026-02-02T18:58:14Z</dcterms:created>
  <dcterms:modified xsi:type="dcterms:W3CDTF">2026-02-02T21:36:26Z</dcterms:modified>
</cp:coreProperties>
</file>