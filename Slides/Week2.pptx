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99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5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5763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7BA70-D90F-C061-883B-70A964794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9B4AEE-CECA-9F2A-FADD-4332002E0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43AF6B-5A8F-C745-F16E-D5CD23783A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5EB4F-C343-91CC-018E-9769DC2E17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4301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MGMT298D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11887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 and Strategy of AI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1691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Week 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20574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Tree-Based Models: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Decision Trees, Random Forests, XGBoost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0" y="34747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UCLA Anderson School of Management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3749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Auyon Siddiq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E271B804-675B-CAAC-1161-37A8965F5FF8}"/>
              </a:ext>
            </a:extLst>
          </p:cNvPr>
          <p:cNvSpPr/>
          <p:nvPr/>
        </p:nvSpPr>
        <p:spPr>
          <a:xfrm>
            <a:off x="457200" y="19431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Case Handout</a:t>
            </a:r>
            <a:endParaRPr lang="en-US" sz="3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743D3E8-8E4E-3065-40CF-31DB93A30F54}"/>
              </a:ext>
            </a:extLst>
          </p:cNvPr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Pricing at Carvana and Zillow</a:t>
            </a:r>
            <a:br>
              <a:rPr lang="en-US" sz="3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32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Discussion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8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Limitations of Linear Regression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 of Linearity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Prices don't move in straight lines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may jump based on mileage thresholds (e.g., &gt;100k miles)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Interactions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Luxury trim × high mileage has nonlinear effect on price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models can't capture this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Predictive Power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Typically explains 40–60% of variance in vehicle pricing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44348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need models that handle nonlinear relationships and interactions automatically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Decision Trees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Decision Trees: The Core Idea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 Partitioning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the data into regions using yes/no questions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Is mileage &gt; 80,000 miles?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path from root to leaf is a simple decision rule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can follow the logic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Handling Nonlinearity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interactions through splits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assumptions about functional form</a:t>
            </a:r>
            <a:endParaRPr lang="en-US" sz="1500" dirty="0"/>
          </a:p>
        </p:txBody>
      </p:sp>
      <p:pic>
        <p:nvPicPr>
          <p:cNvPr id="1026" name="Picture 2" descr="Tree Specifications Made Simple: An Essential Guide for Buyers – Arundel  Arboretum">
            <a:extLst>
              <a:ext uri="{FF2B5EF4-FFF2-40B4-BE49-F238E27FC236}">
                <a16:creationId xmlns:a16="http://schemas.microsoft.com/office/drawing/2014/main" id="{88009517-DA58-3968-A9CB-5A9688112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0232" y="3078760"/>
            <a:ext cx="3654717" cy="2064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How a Decision Tree Splits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834640" y="1005840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834640" y="10058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Mileage ≤ 60,000?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74720" y="1508760"/>
            <a:ext cx="0" cy="41148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669280" y="1508760"/>
            <a:ext cx="0" cy="41148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834640" y="16002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60720" y="16002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0" y="1965960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D4ED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645920" y="1965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mileage → avg $45,000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03520" y="196596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2774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≥ 2015?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52160" y="2468880"/>
            <a:ext cx="0" cy="41148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589520" y="2468880"/>
            <a:ext cx="0" cy="41148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12080" y="2560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80960" y="2560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97680" y="292608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FFF3C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97680" y="2926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Recent, high-mi → $35,000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78040" y="292608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8D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78040" y="29260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Old, hi-mi → $18K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leaf = a prediction (average price of the vehicles in that region)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" y="42062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Trees automatically discover interactions — no feature engineering required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Decision Tree: Numerical Example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used Range Rover prices using the tree from the previous slide: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Vehicle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Mileage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Price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Tree Path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 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$48,000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≤60k → Leaf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+$3,000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 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$32,000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&gt;60k, ≥2015 → Leaf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-$3,000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 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&gt;60k, &lt;2015 → Leaf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+$1,000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 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$52,000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≤60k → Leaf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+$7,000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4360" y="338328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captures nonlinear relationship: older + higher mileage = much lower price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RR D and RR A both land in Leaf 1 — the tree can't distinguish them without a deeper split.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Depth &amp; Overfitting in Trees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Shallow Trees (depth = 2–3)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bias, low variance — underfitting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simple to capture price patterns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Trees (depth = 10–15)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bias, high variance — overfitting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Memorizes training data; fails on new data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Sweet Spot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5–7 typically balances accuracy &amp; generalization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44348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8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bias-variance trade-off from Week 1 — here controlled by tree depth instead of λ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Decision Tree Hyperparameters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18897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Controls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Values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Effect / Trade-off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max_depth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Maximum levels in the tree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5–7 (regression)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Deeper = more complex, risk overfitting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min_samples_split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 samples to split a node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2–20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Higher = more conservative splits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min_samples_leaf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 samples in leaf node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Higher = smoother predictions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max_features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Features considered per split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or sqrt(n)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Fewer = more regularization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Split quality metric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mse, mae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MSE is standard; MAE more robust to outliers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important to tune: max_depth and min_samples_leaf — these have the biggest effect on overfitting.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When to Use Decision Trees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interpretable — you can show the tree to a stakeholder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feature scaling needed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nonlinearity and interactions naturally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variance — small data changes produce different trees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Overfits without depth limits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accuracy than ensemble methods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44348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trees are the building block — ensembles (RF, XGBoost) fix their weaknesses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Random Forests</a:t>
            </a:r>
            <a:endParaRPr lang="en-US" sz="3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58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4C966A-1429-494C-83BD-DA345E578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280B965-43F0-2BAE-94D8-3ECBA9BB4034}"/>
              </a:ext>
            </a:extLst>
          </p:cNvPr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Jellybean Game</a:t>
            </a:r>
            <a:endParaRPr lang="en-US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6968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The Single Tree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Variance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to which data they see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sample → completely different tree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Intuition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expert → risky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experts averaged → much more reliable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= ensemble of 100–500 independent trees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Random Forests: The Algorithm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Aggregating (Bagging)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tree i = 1 to 500:</a:t>
            </a:r>
            <a:endParaRPr lang="en-US" sz="1500" dirty="0"/>
          </a:p>
          <a:p>
            <a:pPr marL="1028700" lvl="2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N rows with replacement (bootstrap)</a:t>
            </a:r>
            <a:endParaRPr lang="en-US" sz="1500" dirty="0"/>
          </a:p>
          <a:p>
            <a:pPr marL="1028700" lvl="2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each split, random subset of features</a:t>
            </a:r>
            <a:endParaRPr lang="en-US" sz="1500" dirty="0"/>
          </a:p>
          <a:p>
            <a:pPr marL="1028700" lvl="2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a deep tree on this bootstrap sample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(Regression)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predictions from all 500 trees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= (Tree₁ + Tree₂ + ... + Tree₅₀₀) / 500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411480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randomness decorrelates trees → lower variance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Random Forest: Parallel Tree Building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0" y="1005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Training Data (N rows, P features)</a:t>
            </a:r>
            <a:endParaRPr lang="en-US" sz="1300" dirty="0"/>
          </a:p>
        </p:txBody>
      </p:sp>
      <p:pic>
        <p:nvPicPr>
          <p:cNvPr id="2052" name="Picture 4" descr="rfvsdt">
            <a:extLst>
              <a:ext uri="{FF2B5EF4-FFF2-40B4-BE49-F238E27FC236}">
                <a16:creationId xmlns:a16="http://schemas.microsoft.com/office/drawing/2014/main" id="{08204987-ABA3-7647-5624-FDFA44FF03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147" y="1800889"/>
            <a:ext cx="7843706" cy="2336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Random Forest: Numerical Example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tree gives a slightly different prediction; the average is more stable: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7315200" cy="1422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Vehicle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Tree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Tree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Tree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 Tree 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RF Prediction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 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$46,500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$44,200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$45,100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55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$45,240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$48,000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 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$34,800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$35,200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$35,600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55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$35,100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$32,000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 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$17,900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$18,200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$17,800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55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$18,050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 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$46,000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$44,500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$45,800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55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$45,650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$52,000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4360" y="338328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Averaging reduces noise &amp; outlier influence — more stable than any single tree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Why Random Forests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 Reduction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+ averaging = much lower variance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generalization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Bias-Variance Trade-off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deep tree: high variance, low bias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forest: similar bias, much lower variance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Outliers in one tree get washed out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Interactions captured automatically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Random Forest Hyperparameters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0726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Controls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Values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Effect / Trade-off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n_estimators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Number of trees in forest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100–500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More = lower variance; diminishing after ~200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max_depth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Depth of each tree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10–15 or None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Deeper OK since bagging controls variance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min_samples_split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 samples to split a node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2–10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Less aggressive than single trees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min_samples_leaf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 samples in leaf node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Lower OK since ensemble averages out noise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max_features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Features per split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sqrt(n) or n/3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Lower = more diverse trees, less correlated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important to tune: n_estimators (enough trees) and max_features (diversity of ensemble).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When to Use Random Forests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accuracy with minimal tuning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Resistant to overfitting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feature importance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interpretable — no single path to show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Slower to train (500× more trees)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Trees don't learn from each other's mistakes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44348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each tree could learn from the previous tree's errors? → Boosting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XGBoost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Boosting: Sequential Improvement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840480" cy="411480"/>
          </a:xfrm>
          <a:prstGeom prst="rect">
            <a:avLst/>
          </a:prstGeom>
          <a:solidFill>
            <a:srgbClr val="2774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Forest: Parallel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500 trees independently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average all predictions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trees are peers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3840480" cy="41148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960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Boosting: Sequential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396264"/>
            <a:ext cx="405993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1: Fit to original data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2: Focus on mistakes from Tree 1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3: Focus on mistakes from Trees 1+2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tree corrects the last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023360"/>
            <a:ext cx="8229600" cy="4114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402336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weak learners combine into a strong predictor when each corrects the last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XGBoost: The Algorithm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Initialization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mean price = $35,000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 1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Residuals = actual – $35,000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1 predicts these residuals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Update: Prediction = $35,000 + η × (Tree₁ prediction)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 2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residuals from updated predictions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2 predicts new residuals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44348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8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rate (η) controls how much each tree contributes — typically 0.01–0.3</a:t>
            </a:r>
            <a:endParaRPr lang="en-US" sz="1300" dirty="0"/>
          </a:p>
        </p:txBody>
      </p:sp>
      <p:pic>
        <p:nvPicPr>
          <p:cNvPr id="4098" name="Picture 2" descr="Logo">
            <a:extLst>
              <a:ext uri="{FF2B5EF4-FFF2-40B4-BE49-F238E27FC236}">
                <a16:creationId xmlns:a16="http://schemas.microsoft.com/office/drawing/2014/main" id="{D0CF46EE-FFE6-43F9-1765-158FAEED0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018" y="3189090"/>
            <a:ext cx="3114782" cy="1076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129387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= Base + η·Tree₁ + η·Tree₂ + η·Tree₃ + ...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57200" y="1741932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tree is small (shallow)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η (learning rate) shrinks each tree's contribution to avoid overshooting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η → more trees needed, but more accurate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Residuals shrink each iteration → predictions converge</a:t>
            </a:r>
            <a:endParaRPr lang="en-US" sz="140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73339077-2081-4A01-A63D-49C16B80EAF6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XGBoost: The Algorithm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XGBoost: Numerical Example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boosting with η = 0.1. Each tree fits the previous residuals: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4520000"/>
            <a:ext cx="8229600" cy="32000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4360" y="4520000"/>
            <a:ext cx="795528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Residuals shrink with each tree — predictions converge toward actual prices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850000"/>
            <a:ext cx="8229600" cy="27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just 3 trees, RR C: $35K → $31,590 (toward $19K). With η = 0.1, convergence is slow but stable.</a:t>
            </a:r>
            <a:endParaRPr lang="en-US" sz="1200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280000"/>
          <a:ext cx="8229600" cy="3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00200"/>
                <a:gridCol w="1600200"/>
                <a:gridCol w="1600200"/>
                <a:gridCol w="1600200"/>
              </a:tblGrid>
              <a:tr h="26666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T="18288" marB="18288" marL="36576" marR="36576"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RR A</a:t>
                      </a:r>
                    </a:p>
                  </a:txBody>
                  <a:tcPr marT="18288" marB="18288" marL="36576" marR="36576"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RR B</a:t>
                      </a:r>
                    </a:p>
                  </a:txBody>
                  <a:tcPr marT="18288" marB="18288" marL="36576" marR="36576"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RR C</a:t>
                      </a:r>
                    </a:p>
                  </a:txBody>
                  <a:tcPr marT="18288" marB="18288" marL="36576" marR="36576"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RR D</a:t>
                      </a:r>
                    </a:p>
                  </a:txBody>
                  <a:tcPr marT="18288" marB="18288" marL="36576" marR="36576">
                    <a:solidFill>
                      <a:srgbClr val="005587"/>
                    </a:solidFill>
                  </a:tcPr>
                </a:tc>
              </a:tr>
              <a:tr h="26666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5587"/>
                          </a:solidFill>
                          <a:latin typeface="Arial"/>
                        </a:rPr>
                        <a:t>Actual price</a:t>
                      </a:r>
                    </a:p>
                  </a:txBody>
                  <a:tcPr marT="18288" marB="18288" marL="36576" marR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$48,000</a:t>
                      </a:r>
                    </a:p>
                  </a:txBody>
                  <a:tcPr marT="18288" marB="18288" marL="36576" marR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$32,000</a:t>
                      </a:r>
                    </a:p>
                  </a:txBody>
                  <a:tcPr marT="18288" marB="18288" marL="36576" marR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$19,000</a:t>
                      </a:r>
                    </a:p>
                  </a:txBody>
                  <a:tcPr marT="18288" marB="18288" marL="36576" marR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$52,000</a:t>
                      </a:r>
                    </a:p>
                  </a:txBody>
                  <a:tcPr marT="18288" marB="18288" marL="36576" marR="36576">
                    <a:solidFill>
                      <a:srgbClr val="F8F8F8"/>
                    </a:solidFill>
                  </a:tcPr>
                </a:tc>
              </a:tr>
              <a:tr h="26666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5587"/>
                          </a:solidFill>
                          <a:latin typeface="Arial"/>
                        </a:rPr>
                        <a:t>Base prediction</a:t>
                      </a:r>
                    </a:p>
                  </a:txBody>
                  <a:tcPr marT="18288" marB="18288" marL="36576" marR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$35,000</a:t>
                      </a:r>
                    </a:p>
                  </a:txBody>
                  <a:tcPr marT="18288" marB="18288" marL="36576" marR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$35,000</a:t>
                      </a:r>
                    </a:p>
                  </a:txBody>
                  <a:tcPr marT="18288" marB="18288" marL="36576" marR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$35,000</a:t>
                      </a:r>
                    </a:p>
                  </a:txBody>
                  <a:tcPr marT="18288" marB="18288" marL="36576" marR="36576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$35,000</a:t>
                      </a:r>
                    </a:p>
                  </a:txBody>
                  <a:tcPr marT="18288" marB="18288" marL="36576" marR="36576">
                    <a:solidFill>
                      <a:srgbClr val="F8F8F8"/>
                    </a:solidFill>
                  </a:tcPr>
                </a:tc>
              </a:tr>
              <a:tr h="26666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5587"/>
                          </a:solidFill>
                          <a:latin typeface="Arial"/>
                        </a:rPr>
                        <a:t>Residual 1</a:t>
                      </a:r>
                    </a:p>
                  </a:txBody>
                  <a:tcPr marT="18288" marB="18288" marL="36576" marR="36576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+$13,000</a:t>
                      </a:r>
                    </a:p>
                  </a:txBody>
                  <a:tcPr marT="18288" marB="18288" marL="36576" marR="36576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-$3,000</a:t>
                      </a:r>
                    </a:p>
                  </a:txBody>
                  <a:tcPr marT="18288" marB="18288" marL="36576" marR="36576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-$16,000</a:t>
                      </a:r>
                    </a:p>
                  </a:txBody>
                  <a:tcPr marT="18288" marB="18288" marL="36576" marR="36576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+$17,000</a:t>
                      </a:r>
                    </a:p>
                  </a:txBody>
                  <a:tcPr marT="18288" marB="18288" marL="36576" marR="36576">
                    <a:solidFill>
                      <a:srgbClr val="FFF8E1"/>
                    </a:solidFill>
                  </a:tcPr>
                </a:tc>
              </a:tr>
              <a:tr h="26666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5587"/>
                          </a:solidFill>
                          <a:latin typeface="Arial"/>
                        </a:rPr>
                        <a:t>Tree 1 predicts</a:t>
                      </a:r>
                    </a:p>
                  </a:txBody>
                  <a:tcPr marT="18288" marB="18288" marL="36576" marR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+$10,000</a:t>
                      </a:r>
                    </a:p>
                  </a:txBody>
                  <a:tcPr marT="18288" marB="18288" marL="36576" marR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-$2,500</a:t>
                      </a:r>
                    </a:p>
                  </a:txBody>
                  <a:tcPr marT="18288" marB="18288" marL="36576" marR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-$12,000</a:t>
                      </a:r>
                    </a:p>
                  </a:txBody>
                  <a:tcPr marT="18288" marB="18288" marL="36576" marR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+$13,000</a:t>
                      </a:r>
                    </a:p>
                  </a:txBody>
                  <a:tcPr marT="18288" marB="18288" marL="36576" marR="36576">
                    <a:solidFill>
                      <a:srgbClr val="F0F0F0"/>
                    </a:solidFill>
                  </a:tcPr>
                </a:tc>
              </a:tr>
              <a:tr h="266666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5587"/>
                          </a:solidFill>
                          <a:latin typeface="Arial"/>
                        </a:rPr>
                        <a:t>Prediction after T1</a:t>
                      </a:r>
                    </a:p>
                  </a:txBody>
                  <a:tcPr marT="18288" marB="18288" marL="36576" marR="36576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$36,000</a:t>
                      </a:r>
                    </a:p>
                  </a:txBody>
                  <a:tcPr marT="18288" marB="18288" marL="36576" marR="36576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$34,750</a:t>
                      </a:r>
                    </a:p>
                  </a:txBody>
                  <a:tcPr marT="18288" marB="18288" marL="36576" marR="36576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$33,800</a:t>
                      </a:r>
                    </a:p>
                  </a:txBody>
                  <a:tcPr marT="18288" marB="18288" marL="36576" marR="36576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$36,300</a:t>
                      </a:r>
                    </a:p>
                  </a:txBody>
                  <a:tcPr marT="18288" marB="18288" marL="36576" marR="36576">
                    <a:solidFill>
                      <a:srgbClr val="EBF5FB"/>
                    </a:solidFill>
                  </a:tcPr>
                </a:tc>
              </a:tr>
              <a:tr h="26666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5587"/>
                          </a:solidFill>
                          <a:latin typeface="Arial"/>
                        </a:rPr>
                        <a:t>Residual 2</a:t>
                      </a:r>
                    </a:p>
                  </a:txBody>
                  <a:tcPr marT="18288" marB="18288" marL="36576" marR="36576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+$12,000</a:t>
                      </a:r>
                    </a:p>
                  </a:txBody>
                  <a:tcPr marT="18288" marB="18288" marL="36576" marR="36576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-$2,750</a:t>
                      </a:r>
                    </a:p>
                  </a:txBody>
                  <a:tcPr marT="18288" marB="18288" marL="36576" marR="36576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-$14,800</a:t>
                      </a:r>
                    </a:p>
                  </a:txBody>
                  <a:tcPr marT="18288" marB="18288" marL="36576" marR="36576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+$15,700</a:t>
                      </a:r>
                    </a:p>
                  </a:txBody>
                  <a:tcPr marT="18288" marB="18288" marL="36576" marR="36576">
                    <a:solidFill>
                      <a:srgbClr val="FFF8E1"/>
                    </a:solidFill>
                  </a:tcPr>
                </a:tc>
              </a:tr>
              <a:tr h="26666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5587"/>
                          </a:solidFill>
                          <a:latin typeface="Arial"/>
                        </a:rPr>
                        <a:t>Tree 2 predicts</a:t>
                      </a:r>
                    </a:p>
                  </a:txBody>
                  <a:tcPr marT="18288" marB="18288" marL="36576" marR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+$9,200</a:t>
                      </a:r>
                    </a:p>
                  </a:txBody>
                  <a:tcPr marT="18288" marB="18288" marL="36576" marR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-$2,200</a:t>
                      </a:r>
                    </a:p>
                  </a:txBody>
                  <a:tcPr marT="18288" marB="18288" marL="36576" marR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-$11,500</a:t>
                      </a:r>
                    </a:p>
                  </a:txBody>
                  <a:tcPr marT="18288" marB="18288" marL="36576" marR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+$12,100</a:t>
                      </a:r>
                    </a:p>
                  </a:txBody>
                  <a:tcPr marT="18288" marB="18288" marL="36576" marR="36576">
                    <a:solidFill>
                      <a:srgbClr val="F0F0F0"/>
                    </a:solidFill>
                  </a:tcPr>
                </a:tc>
              </a:tr>
              <a:tr h="266666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5587"/>
                          </a:solidFill>
                          <a:latin typeface="Arial"/>
                        </a:rPr>
                        <a:t>Prediction after T2</a:t>
                      </a:r>
                    </a:p>
                  </a:txBody>
                  <a:tcPr marT="18288" marB="18288" marL="36576" marR="36576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$36,920</a:t>
                      </a:r>
                    </a:p>
                  </a:txBody>
                  <a:tcPr marT="18288" marB="18288" marL="36576" marR="36576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$34,530</a:t>
                      </a:r>
                    </a:p>
                  </a:txBody>
                  <a:tcPr marT="18288" marB="18288" marL="36576" marR="36576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$32,650</a:t>
                      </a:r>
                    </a:p>
                  </a:txBody>
                  <a:tcPr marT="18288" marB="18288" marL="36576" marR="36576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$37,510</a:t>
                      </a:r>
                    </a:p>
                  </a:txBody>
                  <a:tcPr marT="18288" marB="18288" marL="36576" marR="36576">
                    <a:solidFill>
                      <a:srgbClr val="EBF5FB"/>
                    </a:solidFill>
                  </a:tcPr>
                </a:tc>
              </a:tr>
              <a:tr h="26666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5587"/>
                          </a:solidFill>
                          <a:latin typeface="Arial"/>
                        </a:rPr>
                        <a:t>Residual 3</a:t>
                      </a:r>
                    </a:p>
                  </a:txBody>
                  <a:tcPr marT="18288" marB="18288" marL="36576" marR="36576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+$11,080</a:t>
                      </a:r>
                    </a:p>
                  </a:txBody>
                  <a:tcPr marT="18288" marB="18288" marL="36576" marR="36576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-$2,530</a:t>
                      </a:r>
                    </a:p>
                  </a:txBody>
                  <a:tcPr marT="18288" marB="18288" marL="36576" marR="36576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-$13,650</a:t>
                      </a:r>
                    </a:p>
                  </a:txBody>
                  <a:tcPr marT="18288" marB="18288" marL="36576" marR="36576"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+$14,490</a:t>
                      </a:r>
                    </a:p>
                  </a:txBody>
                  <a:tcPr marT="18288" marB="18288" marL="36576" marR="36576">
                    <a:solidFill>
                      <a:srgbClr val="FFF8E1"/>
                    </a:solidFill>
                  </a:tcPr>
                </a:tc>
              </a:tr>
              <a:tr h="26666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5587"/>
                          </a:solidFill>
                          <a:latin typeface="Arial"/>
                        </a:rPr>
                        <a:t>Tree 3 predicts</a:t>
                      </a:r>
                    </a:p>
                  </a:txBody>
                  <a:tcPr marT="18288" marB="18288" marL="36576" marR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+$8,500</a:t>
                      </a:r>
                    </a:p>
                  </a:txBody>
                  <a:tcPr marT="18288" marB="18288" marL="36576" marR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-$2,000</a:t>
                      </a:r>
                    </a:p>
                  </a:txBody>
                  <a:tcPr marT="18288" marB="18288" marL="36576" marR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-$10,600</a:t>
                      </a:r>
                    </a:p>
                  </a:txBody>
                  <a:tcPr marT="18288" marB="18288" marL="36576" marR="36576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+$11,200</a:t>
                      </a:r>
                    </a:p>
                  </a:txBody>
                  <a:tcPr marT="18288" marB="18288" marL="36576" marR="36576">
                    <a:solidFill>
                      <a:srgbClr val="F0F0F0"/>
                    </a:solidFill>
                  </a:tcPr>
                </a:tc>
              </a:tr>
              <a:tr h="26667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5587"/>
                          </a:solidFill>
                          <a:latin typeface="Arial"/>
                        </a:rPr>
                        <a:t>Prediction after T3</a:t>
                      </a:r>
                    </a:p>
                  </a:txBody>
                  <a:tcPr marT="18288" marB="18288" marL="36576" marR="36576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$37,770</a:t>
                      </a:r>
                    </a:p>
                  </a:txBody>
                  <a:tcPr marT="18288" marB="18288" marL="36576" marR="36576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$34,330</a:t>
                      </a:r>
                    </a:p>
                  </a:txBody>
                  <a:tcPr marT="18288" marB="18288" marL="36576" marR="36576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$31,590</a:t>
                      </a:r>
                    </a:p>
                  </a:txBody>
                  <a:tcPr marT="18288" marB="18288" marL="36576" marR="36576"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$38,630</a:t>
                      </a:r>
                    </a:p>
                  </a:txBody>
                  <a:tcPr marT="18288" marB="18288" marL="36576" marR="36576"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XGBoost Hyperparameters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0886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Controls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Values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Effect / Trade-off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learning_rate (η)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Shrinkage per tree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0.01–0.3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Lower = slower learning, needs more trees, but more accurate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n_estimators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Number of boosting rounds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100–1000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More trees with low η; fewer with high η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max_depth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Depth of each tree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3–6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Shallower than RF — boosting is prone to overfitting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subsample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Fraction of rows per tree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0.7–1.0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1.0 adds randomness, reduces overfitting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colsample_bytree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Fraction of features per tree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0.5–1.0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Similar to RF's max_features — adds diversity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reg_alpha / reg_lambda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L1 / L2 regularization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0–10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Penalizes complex trees — just like LASSO/Ridge from Week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important to tune: learning_rate, n_estimators, and max_depth — these dominate model performance.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Trees vs. Forests vs. Boosting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19913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 Tree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XGBoost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Interpretability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Excellent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Predictive Accuracy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55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High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Prone to Overfitting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(if poorly tuned)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 (prediction)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Fast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Requires Tuning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4360" y="393192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8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wins on accuracy but requires careful hyperparameter tuning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i="1" dirty="0">
                <a:solidFill>
                  <a:srgbClr val="FFD100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Hyperparameter Tuning</a:t>
            </a:r>
            <a:endParaRPr lang="en-US" sz="3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Why Tuning Matters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≠ Optimal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defaults aren't tailored to your data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Rovers need different tuning than houses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Variance-Bias Trade-off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simple → high bias, underfits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complex → high variance, overfits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 finds the sweet spot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accuracy improvement ≈ $1,000+ per vehicle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5,000 annual sales = $5M+ improvement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learning_rate (η): Deep Dive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how much each tree contributes to the prediction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= Base + η×Tree₁ + η×Tree₂ + ...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651760" cy="36576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η = 0.3 (High)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2651760" cy="100584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3317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tree contributes 30%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learning, but risky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overfit quickly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1920240"/>
            <a:ext cx="2651760" cy="36576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37560" y="1920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η = 0.1 (Medium)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37560" y="2286000"/>
            <a:ext cx="2651760" cy="100584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0" y="23317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tree contributes 10%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approach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default starting point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920240"/>
            <a:ext cx="2651760" cy="36576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0" y="1920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η = 0.01 (Low)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2286000"/>
            <a:ext cx="2651760" cy="100584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55080" y="23317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tree contributes 1%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but stable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many more trees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365760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8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thumb: lower η + more trees = better accuracy but slower training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learning_rate: Numerical Example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RR A (actual = $48,000) across different learning rates:</a:t>
            </a:r>
            <a:endParaRPr lang="en-US" sz="14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η = 0.3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η = 0.1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η = 0.01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Initial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$48,000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 Tree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$38,900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$36,300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$35,130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$48,000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 Tree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$41,230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$36,700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$35,240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$48,000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 Tree 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$45,100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$37,900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$35,620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$48,000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 Tree 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$47,600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$42,300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$40,100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$48,000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 Tree 100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OVERFIT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55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$47,800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$47,300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$48,000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4360" y="393192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η=0.3 overshoots &amp; overfits; η=0.01 is slower but converges accurately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n_estimators: Deep Dive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trees in Random Forest or boosting rounds in XGBoost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Typical Range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100–500 trees; diminishing returns after ~200–300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Typical Range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100–1000 trees (depends on learning rate)</a:t>
            </a:r>
            <a:endParaRPr lang="en-US" sz="1500" dirty="0"/>
          </a:p>
          <a:p>
            <a:pPr marL="1028700" lvl="2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η → fewer trees (100–300)</a:t>
            </a:r>
            <a:endParaRPr lang="en-US" sz="1500" dirty="0"/>
          </a:p>
          <a:p>
            <a:pPr marL="1028700" lvl="2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η → more trees (500–1000)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 Trade-off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trees = slower training but better accuracy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n_estimators: Impact on Accuracy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 Trees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RF Train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RF Test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XGB Train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XGB Test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$5,400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$2,900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$6,100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$2,100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$3,800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$1,800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$3,100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$2,800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$1,700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$3,050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55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$2,750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$1,650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$3,020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$2,850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$1,600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$3,050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4360" y="393192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8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RMSE plateaus; XGB overfits at 1,000 trees — watch for train-test divergence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trees after ~200 gives little benefit for RF. For XGB, too many trees can hurt.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max_depth: Deep Dive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how deep each tree grows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Tree Perspective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Shallow (2–3): High bias, low variance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(15+): Low bias, high variance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 spot: 5–7 for single tree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Ensembles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Forest: Deeper OK (10–15) — bagging controls variance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XGBoost: Keep shallow (3–6) — boosting overfits easily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44348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trees are deep and independent; XGBoost trees are shallow and sequential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Grid Search: Systematic Tuning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Grid Search?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every combination of hyperparameters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combination with lowest validation error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XGBoost Tuning Grid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learning_rate: [0.01, 0.05, 0.1, 0.2]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n_estimators: [100, 300, 500, 1000]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max_depth: [3, 5, 7]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4 × 4 × 3 = 48 models to train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411480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8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search takes hours for large datasets — but essential for optimal performance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Grid Search Results: learning_rate vs n_estimators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RMSE for max_depth = 5:</a:t>
            </a:r>
            <a:endParaRPr lang="en-US" sz="14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η \ Trees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$2,850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$2,680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$2,620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$2,900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$2,620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$2,480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$2,550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$2,750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$2,550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$2,520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$2,680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$2,850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$2,680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$2,750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$3,100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200400"/>
            <a:ext cx="8229600" cy="4114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4360" y="320040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Optimal: η=0.05, n_estimators=500 (RMSE=$2,480) — sweet spot of learning rate &amp; complexity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η=0.2 with 1000 trees overfits ($3,100). Higher learning rates need fewer trees.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Tuning in Action: Comparing Configurations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Rover pricing — comparing 4 XGBoost configurations:</a:t>
            </a:r>
            <a:endParaRPr lang="en-US" sz="14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η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 RMSE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RMSE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(default)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$3,400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$2,600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(lower η)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$2,750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$1,550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(tuned)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$2,480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 (overfit)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$2,900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$2,700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200400"/>
            <a:ext cx="8229600" cy="4114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4360" y="320040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C: Best test performance. Watch the train-test gap — large gap = overfitting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D has near-zero training error but worse test error — classic overfitting pattern.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Hyperparameter Tuning: Best Practices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Start with Defaults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baseline performance before tuning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Tune High-Impact Parameters First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learning_rate &amp; n_estimators &gt; max_depth &gt; min_samples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Use Proper Validation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/ Validation / Test split (60/20/20)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Coarse → Fine Search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wide grid, then zoom into promising region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Monitor for Overfitting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train vs. test error — divergence = overfitting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Feature Importance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Tree-based models tell you which features drive predictions the most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Mileage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80" y="1463040"/>
            <a:ext cx="4572000" cy="228600"/>
          </a:xfrm>
          <a:prstGeom prst="rect">
            <a:avLst/>
          </a:prstGeom>
          <a:solidFill>
            <a:srgbClr val="2774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75120" y="14173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11680" y="1874520"/>
            <a:ext cx="3657600" cy="228600"/>
          </a:xfrm>
          <a:prstGeom prst="rect">
            <a:avLst/>
          </a:prstGeom>
          <a:solidFill>
            <a:srgbClr val="2774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60720" y="1828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240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 Level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11680" y="2286000"/>
            <a:ext cx="2350008" cy="228600"/>
          </a:xfrm>
          <a:prstGeom prst="rect">
            <a:avLst/>
          </a:prstGeom>
          <a:solidFill>
            <a:srgbClr val="2774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453128" y="22402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651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011680" y="2697480"/>
            <a:ext cx="1307592" cy="228600"/>
          </a:xfrm>
          <a:prstGeom prst="rect">
            <a:avLst/>
          </a:prstGeom>
          <a:solidFill>
            <a:srgbClr val="2774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10712" y="26517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063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011680" y="3108960"/>
            <a:ext cx="649224" cy="228600"/>
          </a:xfrm>
          <a:prstGeom prst="rect">
            <a:avLst/>
          </a:prstGeom>
          <a:solidFill>
            <a:srgbClr val="2774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52344" y="30632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474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011680" y="3520440"/>
            <a:ext cx="521208" cy="228600"/>
          </a:xfrm>
          <a:prstGeom prst="rect">
            <a:avLst/>
          </a:prstGeom>
          <a:solidFill>
            <a:srgbClr val="2774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624328" y="34747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69080"/>
            <a:ext cx="8229600" cy="4114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" y="406908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Mileage and year dominate — same features a dealer would focus on intuitively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 is measured by how much each feature reduces error across all trees in the ensemble.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Which Model Should You Use?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interpretability for stakeholders?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Use Decision Tree (can show the tree to a dealer or executive)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 strong performance with minimal tuning?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Use Random Forest (robust out-of-the-box)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maximum accuracy and have time to tune?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Use XGBoost (state-of-the-art on structured/tabular data)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Unsure?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Start with Random Forest as baseline, then try XGBoost if accuracy matters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44348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is the go-to algorithm for structured data in industry and Kaggle competitions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i="1" dirty="0">
                <a:solidFill>
                  <a:srgbClr val="FFD100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Live Demo</a:t>
            </a:r>
            <a:endParaRPr lang="en-US" sz="3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&amp; Tuning Models in Google Colab</a:t>
            </a:r>
            <a:endParaRPr lang="en-US" sz="3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i="1" dirty="0">
                <a:solidFill>
                  <a:srgbClr val="FFD100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Assignment 2</a:t>
            </a:r>
            <a:endParaRPr lang="en-US" sz="3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Assignment 2: Model Comparison &amp; Tuning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Task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Decision Tree, Random Forest, and XGBoost models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grid search to tune XGBoost hyperparameters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performance across models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notebook with code &amp; output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Table: model accuracy, train/test RMSE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Plot: feature importance (Random Forest &amp; XGBoost)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1-page summary: which model &amp; why?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</a:t>
            </a:r>
            <a:endParaRPr lang="en-US" sz="15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Week 2 (Friday 11:59 PM)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2891</Words>
  <Application>Microsoft Macintosh PowerPoint</Application>
  <PresentationFormat>On-screen Show (16:9)</PresentationFormat>
  <Paragraphs>669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Whitney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MGMT298D Week 2 - Tree-Based Models</dc:title>
  <dc:subject>PptxGenJS Presentation</dc:subject>
  <dc:creator>Auyon Siddiq</dc:creator>
  <cp:lastModifiedBy>Siddiq, Auyon</cp:lastModifiedBy>
  <cp:revision>12</cp:revision>
  <dcterms:created xsi:type="dcterms:W3CDTF">2026-02-05T14:46:20Z</dcterms:created>
  <dcterms:modified xsi:type="dcterms:W3CDTF">2026-02-05T17:58:27Z</dcterms:modified>
</cp:coreProperties>
</file>