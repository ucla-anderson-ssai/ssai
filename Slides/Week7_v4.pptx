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MGMT298D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and Strategy of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Week 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Word Embeddings and Transformers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UCLA Anderson School of Management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Auyon Siddiq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From Images to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256032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We've Learned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 fundamentals: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Convolutional Neural Networks,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extraction, transfer learning,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practical applications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are naturally numeric: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pixels have inherent 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6240" y="2011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840480" cy="25603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Challenge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4630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Processing: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we teach machines 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and generate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language?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4688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is symbolic: words are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arbitrary and context-dependent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FFD100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3886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Question: How do we convert words into numbers that preserve meaning?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Part 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Embeddings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Word Representation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Challenge: How do computers represent words?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Encoding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= [1, 0, 0, 0, 0, ...]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 = [0, 1, 0, 0, 0, ...]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king = [0, 0, 1, 0, 0, ...]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queen = [0, 0, 0, 1, 0, ...]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931920" cy="210312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Limitations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semantic similarity: cat and dog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equally distant from automobile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Massive dimensionality: vocabulary of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 words = 100K-dimensional vectors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generalization: similar words get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computational benefit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3794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representations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fundamental insight behind word embeddings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Embedding Intuition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Idea: Represent words as dense vectors in a continuous space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sparse 100K dimensions → Dense 100-300 dimensions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931920" cy="1371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Word Vectors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= [0.2, -0.4, 0.7, ...]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dog = [0.3, -0.3, 0.6, ...]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 = [-0.5, 0.8, -0.1, ...]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737360"/>
            <a:ext cx="3931920" cy="13716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1828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Similarity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21488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similarity(cat, dog) = 0.85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similarity(cat, car) = 0.12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concepts are close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vector space.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Business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Semantic search: Find products even when customer uses different words than your catalog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Recommendation systems: Suggest related content based on meaning, not just keyword matches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service: Route tickets to right team by understanding intent, not just keywords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Learning Embeddings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Distributional Hypothesis: Words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"You shall know a word by the company it keeps" - J.R. Firth (1957)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Skip-gram Objective: Given a target word, predict the surrounding context words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Self-Supervised Learning: No manual labeling required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Meaning emerges from usage patterns across millions of examples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Word2Vec and GloVe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2743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05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Word2Vec (2013)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Research - Mikolov et al.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Prediction-based approach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Skip-gram: predict context from word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CBOW: predict word from context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Trained on sliding windows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 training, online learning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Handles local context well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3840480" cy="27432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0" y="1005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GloVe (2014)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325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Stanford NLP - Pennington et al.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164592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Count-based + prediction hybrid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Global word co-occurrence matrix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Factorizes co-occurrence statistics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Captures global corpus patterns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Often better on analogy tasks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Efficient training on sparse matrix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Note: Pre-trained embeddings from both are freely available. Today's transformers have largely superseded these, but understanding them builds intuition.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Visualizing Word Embeddings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Dimensionality Reduction: 300D vectors → 2D visualization (t-SNE, PCA)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029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1554480"/>
            <a:ext cx="1828800" cy="1097280"/>
          </a:xfrm>
          <a:prstGeom prst="oval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dash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691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23317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017520" y="1554480"/>
            <a:ext cx="2011680" cy="1097280"/>
          </a:xfrm>
          <a:prstGeom prst="oval">
            <a:avLst/>
          </a:prstGeom>
          <a:solidFill>
            <a:srgbClr val="FFF8E1"/>
          </a:solidFill>
          <a:ln w="12700">
            <a:solidFill>
              <a:srgbClr val="FFD100"/>
            </a:solidFill>
            <a:prstDash val="dash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200400" y="16916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0" y="1828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queen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21488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0" y="23317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Royalty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371600" y="2743200"/>
            <a:ext cx="2286000" cy="1097280"/>
          </a:xfrm>
          <a:prstGeom prst="oval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dash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554480" y="28803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94560" y="3063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37360" y="33375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51760" y="3200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Berlin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0" y="35204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760720" y="1371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60720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Semantically similar words cluster together automatically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Distance in space reflects semantic distance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60720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Directions encode relationships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human labeling - structure emerges from data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Insight: Use embedding visualization to discover hidden patterns in customer feedback, reviews, or support tickets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Word Analogies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Surprising Power of Vector Arithmetic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1280160"/>
            <a:ext cx="6400800" cy="73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554480" y="14173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king - man + woman ≈ queen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Interpretation: The "gender" direction in embedding space can be applied to transform words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Examples of Learned Relationships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Paris - France + Italy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29718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7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Rome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0" y="29718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cities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644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walked - walk + swim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32644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7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swam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20640" y="32644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 tenses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5570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bigger - big + small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35570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7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smaller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35570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8496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 - iPhone + Microsoft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0" y="384962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7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Windows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38496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relationships were never explicitly programmed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Sentiment Classification with Embeddings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Application: Classifying customer reviews, social media sentiment, feedback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Traditional Problem: How do you numerically represent a sentence?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Why Embeddings Help: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"fantastic" and "excellent" have similar vectors even if only one was in training 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Business Applications at Scale: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5120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Limitations of Simple Embeddings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Word2Vec/GloVe Cannot 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840480" cy="137160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Representations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word has ONE fixed vector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regardless of context.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went to the bank to fish"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deposited money at the bank"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vector for both.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1325880"/>
            <a:ext cx="3840480" cy="137160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Bag-of-Words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order is ignored when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averaging embeddings.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"Dog bites man" 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"Man bites dog"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identical representations.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8229600" cy="155448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9718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Transformers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Contextual embeddings: Each word gets a different vector based on surrounding words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Position-aware: Word order is explicitly encoded into the representation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886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Attention mechanism: Model learns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This is the architecture powering GPT, BERT, Claude, and all modern LLMs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Part B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Transformer Revolution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"Attention Is All You Need"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Vaswani et al., Google Brain, 2017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cited AI paper of all time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Innovations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Self-Attention: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2468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can directly attend to any other word in the sequence, regardless of distance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Parallel Processing: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94560" y="2880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RNNs, all positions can be processed simultaneously - massive speedups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94560" y="3291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scales effectively with more data and compute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FFD10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Transformers now power search engines, translation, coding assistants, chatbots,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generation, drug discovery, and virtually every AI advance since 2017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Attention Mechanism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Core Idea: When processing each word, let the model decide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Why Attention Matters: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"The animal didn't cross the street because it was too tired"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"The animal didn't cross the street because it was too wide"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It Works: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Result: Dynamic, context-dependent representations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Self-Attention Intuition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Query, Key, Value: The Three Roles Every Word Plays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560320" cy="128016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17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(Q)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am I looking for?"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word asks 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about context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325880"/>
            <a:ext cx="2560320" cy="12801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383280" y="1417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(K)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do I contain?"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word advertises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content for matching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325880"/>
            <a:ext cx="2560320" cy="128016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10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417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(V)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17373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do I provide?"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word offers its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information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Self-Attention Process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063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Compute similarity: score = Query · Key (dot product)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3192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Normalize scores: Convert to probabilities with softmax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5753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Weighted sum: Output = ∑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55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Attention(Q, K, V) = softmax(QKᵀ / √d) × V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Multi-Head Attention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One Attention Pattern Isn't Enough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38988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cat sat on the mat because it was soft"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Attention Heads Learn Different Relationships: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286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1: Syntactic: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22860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subject-verb agreement ("cat" → "sat")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697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2: Semantic: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26974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Resolves pronouns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3108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3: Positional: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31089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nearby words for local context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3520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4: Long-range: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35204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beginning and end of sentences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solidFill>
            <a:srgbClr val="FFD100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4069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uses 96 attention heads across 120 layers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Positional Encoding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Problem: Attention treats input as a set - word order is lost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"Dog bites man" and "Man bites dog" would be identical without position info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Solution: Add position information to each word embedding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Why This Matters: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Context Windows: Maximum sequence length is partly determined by position encoding design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Transformer Block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Building Block of Modern AI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114800" cy="3108960"/>
          </a:xfrm>
          <a:prstGeom prst="rect">
            <a:avLst/>
          </a:prstGeom>
          <a:solidFill>
            <a:srgbClr val="F5F5F5"/>
          </a:solidFill>
          <a:ln w="12700">
            <a:solidFill>
              <a:srgbClr val="00558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417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Block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" y="1783080"/>
            <a:ext cx="2560320" cy="32004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88720" y="18288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Embeddings + Position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94560" y="21031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2331720"/>
            <a:ext cx="2560320" cy="36576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88720" y="23957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Self-Attention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97280" y="2743200"/>
            <a:ext cx="2560320" cy="2743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88720" y="278892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Layer Norm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097280" y="3063240"/>
            <a:ext cx="2560320" cy="36576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10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88720" y="312724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Feed-Forward Network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7280" y="3474720"/>
            <a:ext cx="2560320" cy="2743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88720" y="35204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Layer Norm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097280" y="3794760"/>
            <a:ext cx="2560320" cy="32004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88720" y="38404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846320" y="1325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16459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Self-Attention: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relationships between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words in the sequence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331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Feed-Forward Network: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2560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 each position independently,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non-linear transformations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0175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246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connections help gradients flow,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training of very deep models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703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N Times: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931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GPT-4: ~120 blocks, Claude: ~80 blocks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layers = more capacity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Text Classification with Transformers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Example: Reuters News Classification (46 categories)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Pre-Transformer Approach: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Accuracy plateau around 75-80%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Transformer Approach: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Result: Same approach works for customer intent classification,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Transformer Family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Architectures, Different Strengths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25880"/>
            <a:ext cx="2743200" cy="219456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Encoder-Only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BERT, RoBERTa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965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Bi-directional attention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Sees full context both ways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Best for understanding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26974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Classification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NER, Q&amp;A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Semantic search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743200" cy="21945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29184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Decoder-Only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6916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GPT, Claude, LLaMA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37560" y="1965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Causal (left-to-right) attention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Only sees past tokens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Best for generation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37560" y="26974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Text generation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Chatbots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 completion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2743200" cy="219456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10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1792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6916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T5, BART, mT5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63640" y="19659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input understanding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Then generates output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Best for transformation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63640" y="26974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Translation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Summarization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Format conversion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657600"/>
            <a:ext cx="8595360" cy="822960"/>
          </a:xfrm>
          <a:prstGeom prst="rect">
            <a:avLst/>
          </a:prstGeom>
          <a:solidFill>
            <a:srgbClr val="FFD100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of the Art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Decoder-only models have become dominant for general-purpose AI.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simplicity scales better, and they can perform all tasks through prompting.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Part C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LLMs Work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Where Does the Knowledge Come From?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Pre-Training: Learning from the Internet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 Sources: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29260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6184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Common Crawl: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77440" y="1618488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Petabytes of web pages, filtered for quality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92808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9110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Books: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1911096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of digitized books across all domains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185416"/>
            <a:ext cx="8229600" cy="29260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22037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Wikipedia: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77440" y="2203704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Encyclopedic knowledge in 300+ languages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78024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24963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249631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repositories, documentation, Stack Overflow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770632"/>
            <a:ext cx="8229600" cy="292608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2788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Academic Papers: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77440" y="278892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arXiv, PubMed, research publications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82296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48640" y="30815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Curated Data: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77440" y="3081528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High-quality datasets, licensed content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Scale of Pre-Training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374904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/ Claude Opus-class models are trained 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Trillions of tokens (~10 trillion+)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Equivalent to millions of books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Months of training on thousands of GPUs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Estimated cost: $50-100+ million per training run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Next-Token Prediction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Simple Training Objective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64008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all previous tokens, predict the next token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"The capital of France is"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"Paris"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Simple Objective Creates Intelligence: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 predict well, the model must understand grammar, facts, reasoning, style, tone...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Predicting "Paris" requires knowing geography, language patterns, and common knowledge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Predicting code requires understanding syntax, logic, and programming concepts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task is simple, but the patterns learned are very rich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Hallucinations: The Core Limitation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confidently generate false, fabricated, or nonsensical information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Hallucinations: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651760" cy="10058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2103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Factual Errors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dates, names,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numbers, citations that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exist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651760" cy="10058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37560" y="2103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Errors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2331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Flawed reasoning,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contradictions,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mistakes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2011680"/>
            <a:ext cx="2651760" cy="10058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126480" y="2103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Confabulation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2331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Inventing plausible-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sounding but false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 to fill gaps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Legal risk: False statements in customer communications or contracts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30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Reputation risk: Publishing AI-generated content without verification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98678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Operational risk: Automated decisions based on hallucinated "facts"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solidFill>
            <a:srgbClr val="FFD100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4315968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Critical: Human verification remains essential for high-stakes applications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Why Hallucinations Are Hard to Fix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Fundamental Architecture Issue: LLMs are trained to produce fluent text, not true text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Ground Truth During Generation: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Training Data Issues: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Mitigation Strategies (not solutions):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852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6217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Generation Parameters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Controlling How LLMs Generate Text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137160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randomness in token selection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(0.0-0.3): Deterministic, focused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(0.5-0.7): Balanced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(0.8-1.0+): Creative, diverse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1371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 Sampling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6459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consider the K most likely tokens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K=1: Always pick the top token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K=40: Choose from top 40 options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K=100: More diversity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931920" cy="13716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10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834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Top-P (Nucleus Sampling)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tokens until cumulative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reaches 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P=0.1: Very focused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P=0.9: Most common setting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P=1.0: Consider all tokens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393192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937760" y="2834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Guidance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1089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Factual Q&amp;A: Low temp (0.1-0.3)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 Low-medium (0.2-0.5)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writing: Higher (0.7-1.0)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Brainstorming: Highest (0.9-1.2)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Typically adjust temp OR top-p, not both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These parameters trade off between consistency/accuracy and creativity/diversity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embeddings transform symbolic text into meaningful numeric vectors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Transformer architecture, through self-attention mechanisms, improved NLP by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LLMs learn from trillions of tokens through next-token prediction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Hallucinations are a fundamental limitation of LLMs: they generate fluent, confident text without reliable grounding in truth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parameters provide control over the creativity vs. consistency tradeoff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7: Word Embeddings and Transformers</dc:title>
  <dc:subject>MGMT298D: Science and Strategy of AI</dc:subject>
  <dc:creator>UCLA Anderson</dc:creator>
  <cp:lastModifiedBy>UCLA Anderson</cp:lastModifiedBy>
  <cp:revision>1</cp:revision>
  <dcterms:created xsi:type="dcterms:W3CDTF">2026-01-16T03:16:19Z</dcterms:created>
  <dcterms:modified xsi:type="dcterms:W3CDTF">2026-01-16T03:16:19Z</dcterms:modified>
</cp:coreProperties>
</file>