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453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Reinforcement Learning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EAB37-F0B7-1ECC-DA46-71ECC42416CB}"/>
              </a:ext>
            </a:extLst>
          </p:cNvPr>
          <p:cNvSpPr txBox="1"/>
          <p:nvPr/>
        </p:nvSpPr>
        <p:spPr>
          <a:xfrm>
            <a:off x="813661" y="326567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800" u="none" strike="noStrike" dirty="0">
                <a:effectLst/>
              </a:rPr>
              <a:t>https://</a:t>
            </a:r>
            <a:r>
              <a:rPr lang="en-US" sz="1800" u="none" strike="noStrike" dirty="0" err="1">
                <a:effectLst/>
              </a:rPr>
              <a:t>www.mckinsey.com</a:t>
            </a:r>
            <a:r>
              <a:rPr lang="en-US" sz="1800" u="none" strike="noStrike" dirty="0">
                <a:effectLst/>
              </a:rPr>
              <a:t>/capabilities/</a:t>
            </a:r>
            <a:r>
              <a:rPr lang="en-US" sz="1800" u="none" strike="noStrike" dirty="0" err="1">
                <a:effectLst/>
              </a:rPr>
              <a:t>quantumblack</a:t>
            </a:r>
            <a:r>
              <a:rPr lang="en-US" sz="1800" u="none" strike="noStrike" dirty="0">
                <a:effectLst/>
              </a:rPr>
              <a:t>/our-insights/its-time-for-businesses-to-chart-a-course-for-reinforcement-learning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00CAE-52D5-7263-A8F8-856EF52A2983}"/>
              </a:ext>
            </a:extLst>
          </p:cNvPr>
          <p:cNvSpPr txBox="1"/>
          <p:nvPr/>
        </p:nvSpPr>
        <p:spPr>
          <a:xfrm>
            <a:off x="1078704" y="215847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engineering.atspotify.com</a:t>
            </a:r>
            <a:r>
              <a:rPr lang="en-US" dirty="0"/>
              <a:t>/2020/1/for-your-ears-only-personalizing-spotify-home-with-machine-learning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A2F71-D793-4A24-7DA3-229948F8C0AC}"/>
              </a:ext>
            </a:extLst>
          </p:cNvPr>
          <p:cNvSpPr txBox="1"/>
          <p:nvPr/>
        </p:nvSpPr>
        <p:spPr>
          <a:xfrm>
            <a:off x="906426" y="1058543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800" u="none" strike="noStrike" dirty="0">
                <a:effectLst/>
              </a:rPr>
              <a:t>https://</a:t>
            </a:r>
            <a:r>
              <a:rPr lang="en-US" sz="1800" u="none" strike="noStrike" dirty="0" err="1">
                <a:effectLst/>
              </a:rPr>
              <a:t>careersatdoordash.com</a:t>
            </a:r>
            <a:r>
              <a:rPr lang="en-US" sz="1800" u="none" strike="noStrike" dirty="0">
                <a:effectLst/>
              </a:rPr>
              <a:t>/blog/using-a-multi-armed-bandit-with-thompson-sampling-to-identify-responsive-dashers/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9854D-1589-7494-7993-E6E36AC0BF73}"/>
              </a:ext>
            </a:extLst>
          </p:cNvPr>
          <p:cNvSpPr txBox="1"/>
          <p:nvPr/>
        </p:nvSpPr>
        <p:spPr>
          <a:xfrm>
            <a:off x="813661" y="26939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netflixtechblog.com</a:t>
            </a:r>
            <a:r>
              <a:rPr lang="en-US" dirty="0"/>
              <a:t>/artwork-personalization-c589f074ad76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5A2F5-AD43-F676-9CBD-A0D07621C9D2}"/>
              </a:ext>
            </a:extLst>
          </p:cNvPr>
          <p:cNvSpPr txBox="1"/>
          <p:nvPr/>
        </p:nvSpPr>
        <p:spPr>
          <a:xfrm>
            <a:off x="813661" y="4365607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www.uber.com</a:t>
            </a:r>
            <a:r>
              <a:rPr lang="en-US" dirty="0"/>
              <a:t>/blog/reinforcement-learning-for-modeling-marketplace-balance/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62636-6FB4-6695-37D8-9DEFA0EDD4D9}"/>
              </a:ext>
            </a:extLst>
          </p:cNvPr>
          <p:cNvSpPr txBox="1"/>
          <p:nvPr/>
        </p:nvSpPr>
        <p:spPr>
          <a:xfrm>
            <a:off x="3419061" y="5634551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Dynamic pricing in e-commerce https://</a:t>
            </a:r>
            <a:r>
              <a:rPr lang="en-US" dirty="0" err="1"/>
              <a:t>arxiv.org</a:t>
            </a:r>
            <a:r>
              <a:rPr lang="en-US" dirty="0"/>
              <a:t>/pdf/1912.02572</a:t>
            </a:r>
          </a:p>
        </p:txBody>
      </p:sp>
    </p:spTree>
    <p:extLst>
      <p:ext uri="{BB962C8B-B14F-4D97-AF65-F5344CB8AC3E}">
        <p14:creationId xmlns:p14="http://schemas.microsoft.com/office/powerpoint/2010/main" val="291079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Limits of A/B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testing: causal inference, but has limitations for large datasets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Traditional A/B Testing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 allocation: 50% to control, 50% to treatment throughout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Wait until statistical significance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Binary outcome: pick winner at the 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Scales poorly: testing N variants requires O(N) traffic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Opportunity Cost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During the test, half of users receive an inferior experience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high-stakes scenarios, prolonged exposure to worse options is costly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Fast-changing environments: when test ends, optimal may have changed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if different variants are optimal for different user segments? A/B gives one global 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Can we learn and improve simultaneously?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algorithms adaptively allocate traffic to maximize cumulative reward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Exploration-Exploitation Trade-off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Exploitation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Maximize immediate expected reward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May miss better alternatives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Exploration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uncertain options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Gather information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Risk: May waste resources on suboptimal options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Real-World Examples of This Trade-off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Restaurant choice: Go to your favorite (exploit) or try somewhere new (explore)?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search: Accept a solid offer (exploit) or keep interviewing for potentially better options (explore)?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 placement: Show the best-performing ad (exploit) or test new creatives (explore)?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Pricing: Use proven price point (exploit) or test elasticity with different prices (explore)?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Multi-Armed Bandits: The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after slot machines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 arms, each with unknown reward probability - you don't know which is best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each time step t, you choose one arm to pull and observe a stochastic reward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Maximize cumulative reward over T rounds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Regret = reward from always playing optimal arm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Business Applications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Website optimization: Arms = different headlines, layouts, or CTAs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 selection: Arms = different ad creatives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Pricing: Arms = different price points; Reward =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Recommendations: Arms = content to show; Reward = engagement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Bandits learn and improve simultaneously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A/B tests, traffic shifts toward winners as evidence accumulates - minimizing regret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Multi-Armed Bandits in Industry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Streaming: Personalized thumbnail selection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Delivery: Optimal courier targeting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Music: Personalized playlist curation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Advertising: Ad auction and placement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Stitch Fix: Clothing recommendations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Study: Streaming Artwork Personalization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Challenge: One Size Doesn't Fit All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users respond to different images for the same title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Arms = different artwork images for the same title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= user viewing history, time of day, device type, and recent genre preferences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Reward = user clicks and plays the title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Uses contextual bandits to learn user-segment x artwork interactions for large datasets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14% increase in plays vs. default artwork selection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Discovered non-obvious patterns: Stranger Things fans respond to sci-fi imagery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personalization scales to 200M+ users and 15K+ titles without manual curation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Rapid convergence: learns effective artwork within hours, not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row on Streaming is a personalized bandit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 Study: Delivery Driver Targeting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Problem: Which available driver should receive each incoming delivery request?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Multi-Armed Bandit Formulation: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Challenges Solved by Bandits: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15% reduction in late deliveries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E-commerce Pricing: Our Running Example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pricing a new product. Which price point maximizes revenue?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 = 4 price points (arms): $19, $29, $39, $49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customer sees one price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Reward = price * conversion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Maximize total revenue over 10,000 customers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True (Unknown) Conversion Rates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28800"/>
          <a:ext cx="3931920" cy="1295400"/>
        </p:xfrm>
        <a:graphic>
          <a:graphicData uri="http://schemas.openxmlformats.org/drawingml/2006/table">
            <a:tbl>
              <a:tblPr/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Conv.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Exp. 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$13.65 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754880" y="3200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$39 is optimal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Regret Calculation: If optimal revenue = $13.65/customer, and you achieve $12.00/customer,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per-customer regret = $1.65. Over 10,000 customers, total regret = $16,500 in lost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1: Random Selection (Baseline)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Algorithm: At each time step, randomly select one of the K arms with equal probability (1/K each)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start here? Random selection provides a baseline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Expected Behavior in Our Pricing Example: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Limitation: Pure exploration, zero exploitation - never learns from feedback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is random actually used? Sometimes as initial exploration phase before smarter algorithms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Performance: Linear regret O(T)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2: Epsilon-Greedy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(1-epsilon)% of the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Algorithm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Maintain running average reward for each arm based on observed outcomes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With probability epsilon, pick a random arm (explore)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With probability 1-epsilon (90%), pick the arm with highest average reward (exploit)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Observe reward, update running averages, repeat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Trade-offs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to implement and understand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Epsilon is a hyperparameter: too high = over-explore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 epsilon means you explore forever, even after you've confidently identified the best arm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063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Variant: Decaying epsilon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pricing example with epsilon=0.1: After ~1000 samples, likely converges to $39 arm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still wastes 10% of traffic on random exploration forever - suboptimal in the long run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3: Upper Confidence Bound (UCB)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Idea: 'Optimism in the face of uncertainty'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Formula: Select arm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Intuition: An arm's UCB is its 'optimistic estimate' of true reward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Theoretical Guarantee: UCB achieves O(log T) regret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UCB explores because it might be missing something, not randomly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Strategy 4: Thompson Sampling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Bayesian approach: Sample from posterior distributions and pick the arm that looks best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Algorithm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a prior belief about each arm's reward probability = uniform)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 each round, sample a reward value from each arm's posterior distribution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Pull the arm with the highest sampled value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Observe actual reward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Uncertain arms have wide posteriors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Confident winners have tight posteriors around high values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Exploration probability naturally decays as you learn - no annealing schedule needed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Empirically matches or beats UCB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Sampling is probability matching: the probability of selecting an arm equals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probability that it is the best arm, given current evidence. Elegant and effective.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Comparing Bandit Strategies: Results on Pricing Example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Optimal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$119,800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$16,700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 (by design)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Epsilon-Greedy (0.1)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UCB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$134,100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Thompson Sampling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(always optimal)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$136,500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Thompson Sampling achieves 97% of optimal revenue, leaving only $1,300 on the table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UCB and Thompson significantly outperform epsilon-greedy because they reduce exploration as they learn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Epsilon-greedy wastes 10% of traffic on random exploration forever, even after convergence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practice, Thompson Sampling is often preferred: simple to implement, reliable, and interpretable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Q-Learning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State Matters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Beyond Bandits: When State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Multi-Armed Bandits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situation every round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 doesn't affect future state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decision is independent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Find the single best action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8404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 changes based on 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Actions transition you to new states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Decisions have consequences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Goal: Learn a policy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Examples Where State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pricing with inventory: Price depends on remaining inventory and time until deadline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Game playing: Board position changes after each move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Robotics: Robot position and orientation change with each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lifecycle: Engagement today affects customer state tomorrow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Reinforcement Learning in Industry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Ride-hailing &amp; Lyft: Dynamic surge pricing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E-commerce Robotics: Warehouse navigation for Kiva robots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DeepMind / Advertising: Data center cooling optimization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Alibaba: Real-time bidding in advertising auctions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Tesla: Autopilot decision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Reinforcement Learning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1371600" cy="457200"/>
          </a:xfrm>
          <a:prstGeom prst="rect">
            <a:avLst/>
          </a:prstGeom>
          <a:solidFill>
            <a:srgbClr val="2774A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Agent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0"/>
            <a:ext cx="1645920" cy="457200"/>
          </a:xfrm>
          <a:prstGeom prst="rect">
            <a:avLst/>
          </a:prstGeom>
          <a:solidFill>
            <a:srgbClr val="00558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914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234440"/>
            <a:ext cx="3657600" cy="457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0175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(s), Reward (r)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3657600" cy="4572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Core Components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2651760" cy="100584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(s)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situation the agent finds itself in. Contains all relevant information for decision-making.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468880"/>
            <a:ext cx="2651760" cy="10058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3756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(a)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the agent makes. Causes a transition to a new state and generates a reward.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651760" cy="100584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126480" y="2514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(r)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27889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 signal. Agent's goal is to maximize cumulative reward over time.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402336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(pi)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75488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Function (V or Q)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future reward from a state. Guides the agent toward states with high long-term payoff.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Case: Dynamic Pricing with Inventory Constraints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Scenario: An airline must price 100 seats over 30 days before departure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 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Remaining inventory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Time remaining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Demand 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Actions: Three price tiers available each 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bandits fail here: Optimal price depends on state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Q-Learning: Learning the Value of 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 a) = Expected cumulative reward from taking action a in state s, then following optimal policy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Q-Learning Update Rule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Q(s,a) &lt;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= learning rate: How much new information overrides old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immediate reward: What you got from this 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gamma = discount factor: How much you value future vs present (0.9-0.99)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Q(s',a') = best value achievable from next 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Algorithm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Initialize Q(s,a) = 0 for all state-action pairs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Observe current state 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Take action a, observe reward r and new state s'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Q(s,a) using the update rule above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Q-Table: A Lookup Table for Optimal Actions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Q-Table for Dynamic Pricing (Simplified)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219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(Inventory, 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Q(s, Low)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Q(s, Med)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Q(s, High)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(90 seats, 2 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(50 seats, 15 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 seats, 25 days)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(5 seats, 1 day)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Reading the Q-Table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row is a state the airline might be 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Q-value represents expected total revenue from taking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Policy: For each state, choose the action with highest Q-value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Notice: The optimal action changes depending on the state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Hyperparameters in Q-Learning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 Rate (alpha): How quickly to update Q-values based on new experience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Discount Factor (gamma): How much to value future rewards vs immediate rewards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Exploration Rate (epsilon): How often to explore vs exploit (epsilon-greedy)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Tuning Strategy: Start with common defaults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These hyperparameters encode your beliefs about the problem structure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is statistically rigorous but slow and costly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Multi-armed bandits balance exploration (learning) and exploitation (earning) to minimize regret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Epsilon-greedy is simple but wastes exploration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Thompson Sampling uses Bayesian uncertainty to guide exploration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actions affect future states, use full RL (Q-learning) instead of bandits to learn policies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Q-learning learns the value of state-action pairs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encode beliefs about learning speed, planning horizon, and exploration needs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2170</Words>
  <Application>Microsoft Macintosh PowerPoint</Application>
  <PresentationFormat>On-screen Show (16:9)</PresentationFormat>
  <Paragraphs>312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 Narrow</vt:lpstr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4: Reinforcement Learning</dc:title>
  <dc:subject>MGMT298D: Science and Strategy of AI</dc:subject>
  <dc:creator>UCLA Anderson</dc:creator>
  <cp:lastModifiedBy>Siddiq, Auyon</cp:lastModifiedBy>
  <cp:revision>2</cp:revision>
  <dcterms:created xsi:type="dcterms:W3CDTF">2026-01-16T03:12:00Z</dcterms:created>
  <dcterms:modified xsi:type="dcterms:W3CDTF">2026-01-24T16:09:56Z</dcterms:modified>
</cp:coreProperties>
</file>