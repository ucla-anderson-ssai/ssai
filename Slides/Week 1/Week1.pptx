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345" r:id="rId4"/>
    <p:sldId id="258" r:id="rId5"/>
    <p:sldId id="259" r:id="rId6"/>
    <p:sldId id="310" r:id="rId7"/>
    <p:sldId id="314" r:id="rId8"/>
    <p:sldId id="311" r:id="rId9"/>
    <p:sldId id="312" r:id="rId10"/>
    <p:sldId id="315" r:id="rId11"/>
    <p:sldId id="313" r:id="rId12"/>
    <p:sldId id="316" r:id="rId13"/>
    <p:sldId id="260" r:id="rId14"/>
    <p:sldId id="261" r:id="rId15"/>
    <p:sldId id="262" r:id="rId16"/>
    <p:sldId id="263" r:id="rId17"/>
    <p:sldId id="264" r:id="rId18"/>
    <p:sldId id="317" r:id="rId19"/>
    <p:sldId id="318" r:id="rId20"/>
    <p:sldId id="343" r:id="rId21"/>
    <p:sldId id="331" r:id="rId22"/>
    <p:sldId id="332" r:id="rId23"/>
    <p:sldId id="333" r:id="rId24"/>
    <p:sldId id="344" r:id="rId25"/>
    <p:sldId id="336" r:id="rId26"/>
    <p:sldId id="340" r:id="rId27"/>
    <p:sldId id="341" r:id="rId28"/>
    <p:sldId id="347" r:id="rId29"/>
    <p:sldId id="342" r:id="rId30"/>
    <p:sldId id="335" r:id="rId31"/>
    <p:sldId id="307" r:id="rId32"/>
    <p:sldId id="309" r:id="rId33"/>
    <p:sldId id="270" r:id="rId34"/>
    <p:sldId id="272" r:id="rId35"/>
    <p:sldId id="319" r:id="rId36"/>
    <p:sldId id="320" r:id="rId37"/>
    <p:sldId id="277" r:id="rId38"/>
    <p:sldId id="299" r:id="rId39"/>
    <p:sldId id="322" r:id="rId40"/>
    <p:sldId id="280" r:id="rId41"/>
    <p:sldId id="337" r:id="rId42"/>
    <p:sldId id="323" r:id="rId43"/>
    <p:sldId id="324" r:id="rId44"/>
    <p:sldId id="325" r:id="rId45"/>
    <p:sldId id="286" r:id="rId46"/>
    <p:sldId id="308" r:id="rId47"/>
    <p:sldId id="287" r:id="rId48"/>
    <p:sldId id="326" r:id="rId49"/>
    <p:sldId id="290" r:id="rId50"/>
    <p:sldId id="291" r:id="rId51"/>
    <p:sldId id="327" r:id="rId52"/>
    <p:sldId id="339" r:id="rId53"/>
    <p:sldId id="293" r:id="rId54"/>
    <p:sldId id="279" r:id="rId55"/>
    <p:sldId id="294" r:id="rId56"/>
    <p:sldId id="302" r:id="rId57"/>
    <p:sldId id="303" r:id="rId58"/>
    <p:sldId id="305" r:id="rId59"/>
    <p:sldId id="338" r:id="rId60"/>
    <p:sldId id="297" r:id="rId61"/>
    <p:sldId id="346" r:id="rId62"/>
    <p:sldId id="298" r:id="rId63"/>
    <p:sldId id="329" r:id="rId64"/>
    <p:sldId id="330" r:id="rId6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6957"/>
  </p:normalViewPr>
  <p:slideViewPr>
    <p:cSldViewPr snapToGrid="0" snapToObjects="1">
      <p:cViewPr varScale="1">
        <p:scale>
          <a:sx n="112" d="100"/>
          <a:sy n="112" d="100"/>
        </p:scale>
        <p:origin x="7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038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John McCarthy</a:t>
            </a:r>
            <a:r>
              <a:rPr lang="en-US" dirty="0"/>
              <a:t> — back row, far right. He was a young mathematics professor at Dartmouth College at the time, and was the primary organizer of the workshop. He later moved to MIT and then Stanford.</a:t>
            </a:r>
          </a:p>
          <a:p>
            <a:r>
              <a:rPr lang="en-US" b="1" dirty="0"/>
              <a:t>Claude Shannon</a:t>
            </a:r>
            <a:r>
              <a:rPr lang="en-US" dirty="0"/>
              <a:t> — front row, far right. He was at Bell Labs (Bell Telephone Laboratories), where he had done his groundbreaking work on information theory. He also held a position at MIT.</a:t>
            </a:r>
          </a:p>
          <a:p>
            <a:r>
              <a:rPr lang="en-US" b="1" dirty="0"/>
              <a:t>Marvin Minsky</a:t>
            </a:r>
            <a:r>
              <a:rPr lang="en-US" dirty="0"/>
              <a:t> — back row, second from right (next to McCarthy). He was a junior fellow at Harvard at the time, having recently completed his PhD at Princeton. He soon after joined MIT, where he co-founded the AI Lab in 1959.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DC488-DAD9-9D01-314B-02523285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166C5-D0C8-B168-A9B1-477742B70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F6D14-0327-8279-C842-4309AB2DF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73C5D-49D2-8211-0718-9B7928396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77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7D0C-C03B-C6CB-D101-FB9E158E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62CE7-3AF6-61B7-1379-E96EC4081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E4524-E451-A8DE-DAB9-CC9AB1835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5C482-787F-E50C-9FC9-B076A1D58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05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0CEC9-2AB3-C1B3-1F56-0F0F2FBA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7373F-EE28-4D41-7A7A-0CEB6111A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33F28-7349-4C12-0A07-F5C5631E0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Traditional: If then – limited because of time/resources, new scenarios</a:t>
            </a:r>
          </a:p>
          <a:p>
            <a:r>
              <a:rPr lang="en-US" dirty="0"/>
              <a:t>“We know more than we can tell” – Polanyi’s paradox (we cannot explain our knowledge)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D2459-6A7B-90A0-0194-8E03AD88B2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11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A2F6-8185-FB01-6FBD-DBAEBAD3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62145-E1A2-597C-8AD7-ACA6CF5B6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8DDBD-983B-9C47-4EA7-B0961A2BD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58465-66CD-FCB2-B257-CC3304C67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10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1E006-8CC2-587A-F953-94933E41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36D78-C538-D500-3A8E-852DAC01B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791C7-A9AD-2E39-3BDE-B7072E4FE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1249C-4437-042D-6ED5-0992B0C26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30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6AEC-C92A-C2B2-1AF9-08B144217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FBF9D-CD45-9B1E-D06B-853C6E014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85AC8-884A-581F-4114-0F98EE702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Deep learning is all about representations!!!! Manual representations limit the reach of traditional ML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Deep learning unleashed by 1) new algorithms 2) massive data 3) massive compute (from GPUs)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8B22-A197-5BAC-6E15-A281DE9E6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31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00FF6-3918-FA99-D1ED-E2CE5777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7EB29-5AD3-1B6D-075E-94E3377B0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24AEC-AE82-202F-4EB0-885C2CB1B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Generative AI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94E8E-9408-C87B-8A2B-8EC88654A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645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FF58-9CE4-6C07-2212-D741AEDB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CB8AE-02A5-5223-DC07-071DB103F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487A8-2E25-6D89-6A3E-6A410DB36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Generative AI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03B64-841D-9513-5935-DDE3F919D5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30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A9073-73FF-EF9C-1C28-0E8489CB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5332C-DAD5-EA28-C976-1F4A23F42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20823-4162-751C-E96A-3C590537C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Traditional: If then – limited because of time/resources, new scenarios</a:t>
            </a:r>
          </a:p>
          <a:p>
            <a:r>
              <a:rPr lang="en-US" dirty="0"/>
              <a:t>“We know more than we can tell” – Polanyi’s paradox (we cannot explain our knowledge)</a:t>
            </a:r>
          </a:p>
          <a:p>
            <a:endParaRPr lang="en-US" dirty="0"/>
          </a:p>
          <a:p>
            <a:r>
              <a:rPr lang="en-US" dirty="0"/>
              <a:t>Deep learning is all about representations!!!! Manual representations limit the reach of traditional ML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Deep learning unleashed by 1) new algorithms 2) massive data 3) massive compute (from GPUs)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Generative AI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AD156-AB4F-3B56-E563-091C3B71A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28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4CD8-025B-95B0-B53C-45F18B71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F39C5-C500-1000-4851-C5663C743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38891-B9B6-D855-2494-A501E363F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FADDD-F30F-3F71-BF0C-1389F7796A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27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61C6-38CE-90A7-E508-DAB42A1A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11FEB-EE8A-81FA-7D70-397269CD3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0FE1E-7228-24F9-B12D-D067D977F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9031-8B8F-0243-E072-6C0A367BB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25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63E0-1F03-95CC-1C93-9838C78C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B019E-6DFA-4E39-F049-993AB2F35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93982-A0A5-6844-6AA8-DBB3946C7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78FFE-A0F8-FE76-7CC6-F952A43D2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06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7341-A8EE-07DF-D1A8-9BC14298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4033D-4D37-48F7-DDB3-721C69DBF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B5ABE-0ACE-E548-6F25-A7A48AA63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19699-19C4-1DBC-1F5D-831B992E0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91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2BC63-6366-0269-6E1B-A3557C23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9A895-E910-97A2-EFD3-390CBA0ED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4A5E3-A729-D1A5-CF43-6D523C4D7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B67DC-B72F-5E59-30E2-E48556FC9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12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2320D-4B9B-B6DA-F42C-2902FE59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2584F-60D0-D9D4-431D-55639BDCA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CE47A-5FDD-A345-CDD8-426A04281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71615-A457-E08F-3A1C-F51E1389C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517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2D72B-4D79-231F-FCD3-B6690AB95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990F0-B0CF-5376-66FD-A102DB462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05CCC-96E6-0765-C932-41551EE59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45E5F-3D35-9186-DE80-6008797BC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01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7823D-D977-E8C8-DB87-73B56AD0D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A1BDC-B680-344E-18B9-01A980546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790E8-9FA0-31A3-1782-560E29B98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49566-EA7A-9A9A-2BEB-460F23EC6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6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16AC-8268-1D3B-3954-77E2D365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1D1DF-44BE-C2D2-DDC4-5E1D4E84B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181DD-A1BA-1C1A-F5E8-9293C604E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B3366-D24C-0E9B-74EB-A99389B708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165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1178-553A-98C1-8D36-ECA17C563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7ED90-70CA-86F7-48AE-A8D4D7019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06790-6C17-375E-9B3E-9D2B32F68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74D99-2631-68FA-37BA-2D850FC30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529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1DD37-C603-99F9-5FE6-6D62823B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2C1E2-F864-2078-6607-313B2A09D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FB598-D9FC-DD8D-BEA4-5A864F2D1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7CB0B-4695-C1FC-9B80-718550EBA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617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CE5D-2DCE-DE40-6CF3-A5DA659C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A1AA1-C2FD-D112-60B7-03F87CF4C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07B41-2C5B-6C5D-6007-340642964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DDB96-7007-2C42-73A5-A9FC64213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71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6630-3104-3BC8-D987-BA1122BB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A9D03-F7E5-B6B0-3774-D343578EE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9CDB5-7A67-66ED-825A-CD1DCE2D4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E1247-D54F-AFDF-A2C7-A262F7B61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98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CB72-C4F2-11E0-7D7F-1B6FEEA8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0622B-988D-277D-0D20-EE18A0F82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9FAF0-2C45-9022-51E7-475F2F0A1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8B19F-8324-108C-3010-522361D45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72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19AA9-9F4D-8A76-AA62-FDD22962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9F956-20C8-FB32-CF59-EA50E8B84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2CAC2-F990-BE98-F458-C05BE8ADF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5F9E4-F2DD-6624-722C-6B0576169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40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CB2A-7441-BACE-7C99-0B3EF3AE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AD7D3-8B76-6439-FD4F-988B365D4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17750-A9D7-616A-0CDC-0FA5A77D1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ED8C5-0B5F-4B63-A685-D1AD34980F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219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2A36D-ADB2-36C4-761F-A58CD4B92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51F75-C6C8-6E79-9F9F-5981067FC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003CB-04BD-B095-5518-38E970421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329C7-FFAB-3508-6F46-5500D62CF3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340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2939-56A8-E0D9-4824-50937E1E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66F60-42F0-35BE-7494-9D79C5279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1C027-0ABD-C505-7F9C-323255700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3A49B-468C-1CDB-072F-C9D78F437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974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0B780-3D3F-DCE2-CFE5-77DD5049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3095F-F8B3-037D-002A-2497A628A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985EF-A224-A405-FA1F-9CF5ADBBB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84BD8-AD2E-BFED-B8F9-1B19F656F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77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1FFAE-76B7-1FE3-F4E6-9FC2D7D5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D1799-DD17-D1E0-50F9-43C8151D0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40F18-C3A8-6B14-BF2E-C0330563C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C7CBF-35E8-019E-67CB-1E01D92F3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6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LASSO arbitrarily picks one out of many correlated features, but may be unstable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Ridge regression keeps all of the correlated features but shrinking the weights, sort of an averaging effect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0073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B040-B8DC-617D-2BBC-EC2BBD32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8B93E-0E01-AD2C-4E67-60FDB7365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5561E-B934-5CDE-7D12-D6788F09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13B7-EBD9-7632-C22B-6F8F74B57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156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ucla-anderson-SSAI/SSAI/blob/main/Notebooks/Week1.ipynb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ucla-ssai-week1.up.railway.app/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4343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99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MGMT298D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Science and Strategy of AI</a:t>
            </a:r>
            <a:b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00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2000" dirty="0">
              <a:solidFill>
                <a:srgbClr val="FFD1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Course Introduction;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Whitney Bold" pitchFamily="34" charset="0"/>
                <a:cs typeface="Arial" pitchFamily="34" charset="-120"/>
              </a:rPr>
              <a:t>Foundations of Machine Learning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b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UCLA Anderson School of Management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A37CE-46F2-4D84-8CCD-D39A59B6FC3B}"/>
              </a:ext>
            </a:extLst>
          </p:cNvPr>
          <p:cNvSpPr txBox="1"/>
          <p:nvPr/>
        </p:nvSpPr>
        <p:spPr>
          <a:xfrm flipH="1">
            <a:off x="2543174" y="4446270"/>
            <a:ext cx="405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D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(Phones and laptops away please!)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When Did "Artificial Intelligence" Begin?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1956: Dartmouth Conference — John McCarthy proposes a conference and coins the term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Picture 2" descr="Close up of a black and white photo of seven smiling men, sitting on a lawn.">
            <a:extLst>
              <a:ext uri="{FF2B5EF4-FFF2-40B4-BE49-F238E27FC236}">
                <a16:creationId xmlns:a16="http://schemas.microsoft.com/office/drawing/2014/main" id="{13F1F3D3-874E-4CD4-0F22-72E9DD15E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14906"/>
            <a:ext cx="3777288" cy="283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9BF175-8179-F9B8-7916-DB0D4261B4C9}"/>
              </a:ext>
            </a:extLst>
          </p:cNvPr>
          <p:cNvSpPr txBox="1"/>
          <p:nvPr/>
        </p:nvSpPr>
        <p:spPr>
          <a:xfrm>
            <a:off x="5952744" y="4859958"/>
            <a:ext cx="3282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1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spectrum.ieee.org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1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dartmouth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-ai-workshop</a:t>
            </a:r>
            <a:endParaRPr lang="en-US" dirty="0"/>
          </a:p>
        </p:txBody>
      </p:sp>
      <p:pic>
        <p:nvPicPr>
          <p:cNvPr id="1026" name="Picture 2" descr="Dartmouth College | Private Ivy League, Ivy League, Education | Britannica">
            <a:extLst>
              <a:ext uri="{FF2B5EF4-FFF2-40B4-BE49-F238E27FC236}">
                <a16:creationId xmlns:a16="http://schemas.microsoft.com/office/drawing/2014/main" id="{AF045EE2-0FD6-2446-DEF8-2DFAA90C2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535" y="1824050"/>
            <a:ext cx="4406187" cy="281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24AFA5-68B6-10C3-0AC1-52A520B98659}"/>
              </a:ext>
            </a:extLst>
          </p:cNvPr>
          <p:cNvSpPr txBox="1"/>
          <p:nvPr/>
        </p:nvSpPr>
        <p:spPr>
          <a:xfrm>
            <a:off x="2898729" y="1975935"/>
            <a:ext cx="8397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John McCarthy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0AF1C-3EC3-BD95-782E-DD3CA2091302}"/>
              </a:ext>
            </a:extLst>
          </p:cNvPr>
          <p:cNvSpPr txBox="1"/>
          <p:nvPr/>
        </p:nvSpPr>
        <p:spPr>
          <a:xfrm>
            <a:off x="3468678" y="2363723"/>
            <a:ext cx="8397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Shannon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49402A-E7BA-64A5-1B4C-5EBDFCA69E4C}"/>
              </a:ext>
            </a:extLst>
          </p:cNvPr>
          <p:cNvSpPr txBox="1"/>
          <p:nvPr/>
        </p:nvSpPr>
        <p:spPr>
          <a:xfrm>
            <a:off x="2128472" y="2109254"/>
            <a:ext cx="8397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Marvin Minsky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7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97AB-331A-8DF5-BA09-AAEC8492E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C0F564-9AE7-5576-5DF1-16385512DD0F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474AD3-D694-D182-C28E-0F52602771DC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When Did "Artificial Intelligence" Begin?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33FDE3-48D4-5576-DDBA-8DF207F6F46A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76643E-957B-EEC7-7E0A-5FF5920032A2}"/>
              </a:ext>
            </a:extLst>
          </p:cNvPr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10" name="Picture 9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D6AE41D8-0355-4B8F-6420-349101B5E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44" y="2021995"/>
            <a:ext cx="8323856" cy="19248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C50315-E6B8-8CBE-16BD-9D9AC2EB30D8}"/>
              </a:ext>
            </a:extLst>
          </p:cNvPr>
          <p:cNvSpPr txBox="1"/>
          <p:nvPr/>
        </p:nvSpPr>
        <p:spPr>
          <a:xfrm>
            <a:off x="457200" y="1246956"/>
            <a:ext cx="328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McCarthy’s research proposal: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EAC14A-ABCC-429D-6D29-65F9781A1FC1}"/>
              </a:ext>
            </a:extLst>
          </p:cNvPr>
          <p:cNvSpPr txBox="1"/>
          <p:nvPr/>
        </p:nvSpPr>
        <p:spPr>
          <a:xfrm>
            <a:off x="5458690" y="484470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http://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jmc.stanford.edu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/articles/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dartmouth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dartmouth.pdf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2D702F-8757-D025-1E8B-7C4B73662FE1}"/>
              </a:ext>
            </a:extLst>
          </p:cNvPr>
          <p:cNvCxnSpPr/>
          <p:nvPr/>
        </p:nvCxnSpPr>
        <p:spPr>
          <a:xfrm>
            <a:off x="5583380" y="3477490"/>
            <a:ext cx="28956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2F32FB-F927-A850-C8F2-6CDBA7ACE3DB}"/>
              </a:ext>
            </a:extLst>
          </p:cNvPr>
          <p:cNvCxnSpPr>
            <a:cxnSpLocks/>
          </p:cNvCxnSpPr>
          <p:nvPr/>
        </p:nvCxnSpPr>
        <p:spPr>
          <a:xfrm>
            <a:off x="512614" y="3726874"/>
            <a:ext cx="796636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68EE83-4337-7A8E-CB47-99B35FD453AA}"/>
              </a:ext>
            </a:extLst>
          </p:cNvPr>
          <p:cNvCxnSpPr>
            <a:cxnSpLocks/>
          </p:cNvCxnSpPr>
          <p:nvPr/>
        </p:nvCxnSpPr>
        <p:spPr>
          <a:xfrm>
            <a:off x="519543" y="3946807"/>
            <a:ext cx="189114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0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AD5A-0063-94BE-29D6-13C9B49A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FBADA8-BDF4-685A-5C6D-5F52E5F681CD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6EFA063-7EC8-CE12-FF88-DA19C847C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27" y="0"/>
            <a:ext cx="494945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59ECDF39-D49C-7DFD-9C56-8E5F2F055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989" y="1263535"/>
            <a:ext cx="1901109" cy="298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44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Confident Predictions!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"Machines will be capable of doing any work a man can do."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Herbert Simon, 1965</a:t>
            </a:r>
          </a:p>
          <a:p>
            <a:pPr marL="0" indent="0">
              <a:spcAft>
                <a:spcPts val="800"/>
              </a:spcAft>
              <a:buNone/>
            </a:pP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"Within a generation... the problem of creating 'artificial intelligence' will substantially be solved."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Marvin Minsky, 1967</a:t>
            </a:r>
          </a:p>
          <a:p>
            <a:pPr marL="0" indent="0">
              <a:spcAft>
                <a:spcPts val="800"/>
              </a:spcAft>
              <a:buNone/>
            </a:pP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3 to 8 years we will have a machine with the general intelligence of an average human being."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Marvin Minsky, 1970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88DE8-4D5F-1319-1D13-470D8C160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D56978-A6B2-EACF-8E6F-E4969A54BADE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1A7663-898B-00DA-3829-757C34B77B21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Three Major Waves of AI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BAFB65-AF2A-6455-0D00-2073CD553D0B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F83DC9-3482-36CB-BD4F-CFEA9F7DEF7B}"/>
              </a:ext>
            </a:extLst>
          </p:cNvPr>
          <p:cNvSpPr/>
          <p:nvPr/>
        </p:nvSpPr>
        <p:spPr>
          <a:xfrm>
            <a:off x="1344666" y="2671654"/>
            <a:ext cx="2084334" cy="4191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(1960s - 90s)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Logic-based AI</a:t>
            </a: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0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2000" b="1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6F4F38-96A3-AC45-59FC-77CD717CFF36}"/>
              </a:ext>
            </a:extLst>
          </p:cNvPr>
          <p:cNvSpPr/>
          <p:nvPr/>
        </p:nvSpPr>
        <p:spPr>
          <a:xfrm>
            <a:off x="4267200" y="1366345"/>
            <a:ext cx="3394841" cy="339484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5EFCD4-D3AE-9374-EBBC-D82307C7E7E3}"/>
              </a:ext>
            </a:extLst>
          </p:cNvPr>
          <p:cNvSpPr txBox="1"/>
          <p:nvPr/>
        </p:nvSpPr>
        <p:spPr>
          <a:xfrm>
            <a:off x="5070926" y="1668115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8E29BA-1BFE-03AE-B89C-B8B80276EEF0}"/>
              </a:ext>
            </a:extLst>
          </p:cNvPr>
          <p:cNvSpPr txBox="1"/>
          <p:nvPr/>
        </p:nvSpPr>
        <p:spPr>
          <a:xfrm>
            <a:off x="5081120" y="2705944"/>
            <a:ext cx="183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“If then”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4578D-6097-90C4-0C2F-47446F87531F}"/>
              </a:ext>
            </a:extLst>
          </p:cNvPr>
          <p:cNvSpPr txBox="1"/>
          <p:nvPr/>
        </p:nvSpPr>
        <p:spPr>
          <a:xfrm>
            <a:off x="872359" y="4114855"/>
            <a:ext cx="3394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IF</a:t>
            </a:r>
            <a:r>
              <a:rPr lang="en-US" i="1" dirty="0"/>
              <a:t> TIME &gt; 3pm </a:t>
            </a:r>
            <a:r>
              <a:rPr lang="en-US" b="1" i="1" dirty="0"/>
              <a:t>AND </a:t>
            </a:r>
            <a:r>
              <a:rPr lang="en-US" i="1" dirty="0"/>
              <a:t>TIME &lt; 7pm </a:t>
            </a:r>
            <a:r>
              <a:rPr lang="en-US" b="1" i="1" dirty="0"/>
              <a:t>THEN</a:t>
            </a:r>
            <a:r>
              <a:rPr lang="en-US" i="1" dirty="0"/>
              <a:t> TRAVEL_TIME = 60 minutes</a:t>
            </a:r>
          </a:p>
        </p:txBody>
      </p:sp>
    </p:spTree>
    <p:extLst>
      <p:ext uri="{BB962C8B-B14F-4D97-AF65-F5344CB8AC3E}">
        <p14:creationId xmlns:p14="http://schemas.microsoft.com/office/powerpoint/2010/main" val="295449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A9BA7-E95F-51B6-37D5-1C684DF4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EE68B1-5346-3776-379F-AA96FD4270EF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116549-7D59-DDED-2260-AF5FC8D591AD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Three Major Waves of AI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D0049E-98E3-BA00-D8E7-0724C7A5A7AF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655972-2C09-2ECD-FA09-F2800527A44A}"/>
              </a:ext>
            </a:extLst>
          </p:cNvPr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Machine Learning</a:t>
            </a: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sz="20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4F6E32-9A72-0B0E-70E8-51E24B04D156}"/>
              </a:ext>
            </a:extLst>
          </p:cNvPr>
          <p:cNvSpPr/>
          <p:nvPr/>
        </p:nvSpPr>
        <p:spPr>
          <a:xfrm>
            <a:off x="3321431" y="2332197"/>
            <a:ext cx="1555531" cy="10089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CA95AB-D38C-DC1C-F9B3-64D316C6C1B1}"/>
              </a:ext>
            </a:extLst>
          </p:cNvPr>
          <p:cNvSpPr txBox="1"/>
          <p:nvPr/>
        </p:nvSpPr>
        <p:spPr>
          <a:xfrm>
            <a:off x="3484340" y="2619129"/>
            <a:ext cx="127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ML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16818A-AA6D-0CAC-A87B-116DF1FC6645}"/>
              </a:ext>
            </a:extLst>
          </p:cNvPr>
          <p:cNvSpPr txBox="1"/>
          <p:nvPr/>
        </p:nvSpPr>
        <p:spPr>
          <a:xfrm>
            <a:off x="935420" y="1432979"/>
            <a:ext cx="230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Training examples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97A6CC-B55A-3619-4DC9-79C01F64984C}"/>
              </a:ext>
            </a:extLst>
          </p:cNvPr>
          <p:cNvSpPr txBox="1"/>
          <p:nvPr/>
        </p:nvSpPr>
        <p:spPr>
          <a:xfrm>
            <a:off x="457200" y="2647605"/>
            <a:ext cx="1353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Structured (tabular)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35E4B7-2A45-5F61-1A43-4EFBC1894194}"/>
              </a:ext>
            </a:extLst>
          </p:cNvPr>
          <p:cNvSpPr txBox="1"/>
          <p:nvPr/>
        </p:nvSpPr>
        <p:spPr>
          <a:xfrm>
            <a:off x="6613715" y="2647605"/>
            <a:ext cx="1931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Class (e.g., 0 or 1)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3B3E5B-33A7-DD66-6DF8-6494C2A4AB43}"/>
              </a:ext>
            </a:extLst>
          </p:cNvPr>
          <p:cNvCxnSpPr/>
          <p:nvPr/>
        </p:nvCxnSpPr>
        <p:spPr>
          <a:xfrm>
            <a:off x="1663262" y="2862083"/>
            <a:ext cx="1408386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212D03-DD2C-C4DC-95FD-5164F00047B3}"/>
              </a:ext>
            </a:extLst>
          </p:cNvPr>
          <p:cNvCxnSpPr/>
          <p:nvPr/>
        </p:nvCxnSpPr>
        <p:spPr>
          <a:xfrm>
            <a:off x="5052849" y="2909215"/>
            <a:ext cx="1408386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021DC0-6F29-9F84-2CC8-580D04BDDEBE}"/>
              </a:ext>
            </a:extLst>
          </p:cNvPr>
          <p:cNvSpPr txBox="1"/>
          <p:nvPr/>
        </p:nvSpPr>
        <p:spPr>
          <a:xfrm>
            <a:off x="457200" y="3477510"/>
            <a:ext cx="16830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Time of day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Origin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Destination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IsRaining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3A061-FC18-AEDC-96B2-93971D05706C}"/>
              </a:ext>
            </a:extLst>
          </p:cNvPr>
          <p:cNvSpPr txBox="1"/>
          <p:nvPr/>
        </p:nvSpPr>
        <p:spPr>
          <a:xfrm>
            <a:off x="6595322" y="3477510"/>
            <a:ext cx="1683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Travel Time</a:t>
            </a:r>
          </a:p>
        </p:txBody>
      </p:sp>
    </p:spTree>
    <p:extLst>
      <p:ext uri="{BB962C8B-B14F-4D97-AF65-F5344CB8AC3E}">
        <p14:creationId xmlns:p14="http://schemas.microsoft.com/office/powerpoint/2010/main" val="60596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E3698-2D52-8F24-A829-AE8E05E61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353018-596C-1299-7909-C099598C2E79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CF707E-A814-68BE-5B48-D855078DA063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Three Major Waves of AI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45D2E0-AD90-D098-0316-0F076402CA82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BBD76E-CFE6-4548-499E-44BA713850C2}"/>
              </a:ext>
            </a:extLst>
          </p:cNvPr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</a:p>
          <a:p>
            <a:pPr marL="0" indent="0">
              <a:spcAft>
                <a:spcPts val="200"/>
              </a:spcAft>
              <a:buNone/>
            </a:pPr>
            <a:endParaRPr lang="en-US" sz="2000" b="1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Machine Learning</a:t>
            </a: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sz="20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E3CDBE-51DF-B078-74A3-2526B6A56DDA}"/>
              </a:ext>
            </a:extLst>
          </p:cNvPr>
          <p:cNvSpPr/>
          <p:nvPr/>
        </p:nvSpPr>
        <p:spPr>
          <a:xfrm>
            <a:off x="4267200" y="1366345"/>
            <a:ext cx="3394841" cy="339484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60E959-BC05-69AB-CEEB-771D875C3546}"/>
              </a:ext>
            </a:extLst>
          </p:cNvPr>
          <p:cNvSpPr/>
          <p:nvPr/>
        </p:nvSpPr>
        <p:spPr>
          <a:xfrm>
            <a:off x="4650512" y="2081048"/>
            <a:ext cx="2680138" cy="26801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733B06-0BA2-3FA3-EE97-88C37E20D8F2}"/>
              </a:ext>
            </a:extLst>
          </p:cNvPr>
          <p:cNvSpPr txBox="1"/>
          <p:nvPr/>
        </p:nvSpPr>
        <p:spPr>
          <a:xfrm>
            <a:off x="5070926" y="1668115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93AFFE-6137-5612-23AD-1380896FC151}"/>
              </a:ext>
            </a:extLst>
          </p:cNvPr>
          <p:cNvSpPr txBox="1"/>
          <p:nvPr/>
        </p:nvSpPr>
        <p:spPr>
          <a:xfrm>
            <a:off x="5084066" y="2536706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618371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9BC5-60DF-BA3C-5310-816A48C7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2D2A1F-FB16-8A59-8AF1-5BFDA93AC974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D93568-EE5C-7976-3E75-BFDE8FB68341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Three Major Waves of AI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DB39F5-F991-6AA7-E9D0-3D5B6B351355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2EA4F2-2E30-AE95-A531-C4B6BF1A475E}"/>
              </a:ext>
            </a:extLst>
          </p:cNvPr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Deep Learning</a:t>
            </a:r>
          </a:p>
          <a:p>
            <a:pPr marL="0" indent="0">
              <a:spcAft>
                <a:spcPts val="200"/>
              </a:spcAft>
              <a:buNone/>
            </a:pP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7664BC-6029-5CBA-40EB-6A29A80F0CFB}"/>
              </a:ext>
            </a:extLst>
          </p:cNvPr>
          <p:cNvSpPr txBox="1"/>
          <p:nvPr/>
        </p:nvSpPr>
        <p:spPr>
          <a:xfrm>
            <a:off x="911690" y="1485743"/>
            <a:ext cx="230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762C7E-DA22-0C38-BA97-3D82B31B71EA}"/>
              </a:ext>
            </a:extLst>
          </p:cNvPr>
          <p:cNvSpPr/>
          <p:nvPr/>
        </p:nvSpPr>
        <p:spPr>
          <a:xfrm>
            <a:off x="3296186" y="2289258"/>
            <a:ext cx="1555531" cy="10089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904427-038A-B005-DDE4-341B023C528E}"/>
              </a:ext>
            </a:extLst>
          </p:cNvPr>
          <p:cNvSpPr txBox="1"/>
          <p:nvPr/>
        </p:nvSpPr>
        <p:spPr>
          <a:xfrm>
            <a:off x="3459095" y="2576190"/>
            <a:ext cx="127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DL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2BD1B1-D9B1-8053-33C4-6BC01F4BB8E8}"/>
              </a:ext>
            </a:extLst>
          </p:cNvPr>
          <p:cNvSpPr txBox="1"/>
          <p:nvPr/>
        </p:nvSpPr>
        <p:spPr>
          <a:xfrm>
            <a:off x="429491" y="2673587"/>
            <a:ext cx="1957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Unstructured data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(text, images)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6576C3-EFAB-6810-AB2F-64A64721B112}"/>
              </a:ext>
            </a:extLst>
          </p:cNvPr>
          <p:cNvSpPr txBox="1"/>
          <p:nvPr/>
        </p:nvSpPr>
        <p:spPr>
          <a:xfrm>
            <a:off x="6611877" y="2513603"/>
            <a:ext cx="19312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Class (e.g., 0 or 1)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B83708-B0F2-D240-58AF-045E528BC425}"/>
              </a:ext>
            </a:extLst>
          </p:cNvPr>
          <p:cNvCxnSpPr>
            <a:cxnSpLocks/>
          </p:cNvCxnSpPr>
          <p:nvPr/>
        </p:nvCxnSpPr>
        <p:spPr>
          <a:xfrm>
            <a:off x="2166244" y="2819144"/>
            <a:ext cx="880159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393F3E-C8B0-57EC-6D2A-BD18F02EBCCF}"/>
              </a:ext>
            </a:extLst>
          </p:cNvPr>
          <p:cNvCxnSpPr/>
          <p:nvPr/>
        </p:nvCxnSpPr>
        <p:spPr>
          <a:xfrm>
            <a:off x="5027604" y="2866276"/>
            <a:ext cx="1408386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74AB0A-1AD0-A3D0-FD8D-ED33354B604C}"/>
              </a:ext>
            </a:extLst>
          </p:cNvPr>
          <p:cNvSpPr txBox="1"/>
          <p:nvPr/>
        </p:nvSpPr>
        <p:spPr>
          <a:xfrm>
            <a:off x="457200" y="3477510"/>
            <a:ext cx="2231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Traffic camera images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Live accident reports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A1AB8-C1AD-CEE2-541E-C48211F36BEF}"/>
              </a:ext>
            </a:extLst>
          </p:cNvPr>
          <p:cNvSpPr txBox="1"/>
          <p:nvPr/>
        </p:nvSpPr>
        <p:spPr>
          <a:xfrm>
            <a:off x="6595322" y="3477510"/>
            <a:ext cx="1683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Travel Time</a:t>
            </a:r>
          </a:p>
        </p:txBody>
      </p:sp>
    </p:spTree>
    <p:extLst>
      <p:ext uri="{BB962C8B-B14F-4D97-AF65-F5344CB8AC3E}">
        <p14:creationId xmlns:p14="http://schemas.microsoft.com/office/powerpoint/2010/main" val="317926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A791-C93A-4467-9348-E1E4BB3A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AD87A8-704A-3BCD-C417-7D05DDA801E7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94D43B-F3EB-630A-A428-20C29495E7A4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Three Major Waves of AI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DD64D2-2A89-4FF0-DB87-2B82D5CD55F4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3F2AD7-2D42-38EA-8162-2FAB17621C4A}"/>
              </a:ext>
            </a:extLst>
          </p:cNvPr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</a:p>
          <a:p>
            <a:pPr marL="0" indent="0">
              <a:spcAft>
                <a:spcPts val="200"/>
              </a:spcAft>
              <a:buNone/>
            </a:pPr>
            <a:endParaRPr lang="en-US" sz="2000" b="1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Machine Learning</a:t>
            </a: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Deep Learning</a:t>
            </a:r>
          </a:p>
          <a:p>
            <a:pPr marL="0" indent="0">
              <a:spcAft>
                <a:spcPts val="200"/>
              </a:spcAft>
              <a:buNone/>
            </a:pP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sz="2000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BC18AB-0568-91BB-8977-0EEEB78B405F}"/>
              </a:ext>
            </a:extLst>
          </p:cNvPr>
          <p:cNvSpPr/>
          <p:nvPr/>
        </p:nvSpPr>
        <p:spPr>
          <a:xfrm>
            <a:off x="4267200" y="1366345"/>
            <a:ext cx="3394841" cy="339484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C46538-6090-605F-80B3-55B49FF9A5BF}"/>
              </a:ext>
            </a:extLst>
          </p:cNvPr>
          <p:cNvSpPr/>
          <p:nvPr/>
        </p:nvSpPr>
        <p:spPr>
          <a:xfrm>
            <a:off x="4650512" y="2081048"/>
            <a:ext cx="2680138" cy="26801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D69D4F-83AD-4817-F816-FA110B3B5DF1}"/>
              </a:ext>
            </a:extLst>
          </p:cNvPr>
          <p:cNvSpPr/>
          <p:nvPr/>
        </p:nvSpPr>
        <p:spPr>
          <a:xfrm>
            <a:off x="5156191" y="3069021"/>
            <a:ext cx="1692165" cy="1692165"/>
          </a:xfrm>
          <a:prstGeom prst="ellipse">
            <a:avLst/>
          </a:prstGeom>
          <a:solidFill>
            <a:schemeClr val="accent1">
              <a:lumMod val="75000"/>
              <a:alpha val="2010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2CCFB8-6C2B-5A57-4354-E69254474AE3}"/>
              </a:ext>
            </a:extLst>
          </p:cNvPr>
          <p:cNvSpPr txBox="1"/>
          <p:nvPr/>
        </p:nvSpPr>
        <p:spPr>
          <a:xfrm>
            <a:off x="5070926" y="1668115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0E5002-9D90-C10C-AB1A-F6AC0DF650DB}"/>
              </a:ext>
            </a:extLst>
          </p:cNvPr>
          <p:cNvSpPr txBox="1"/>
          <p:nvPr/>
        </p:nvSpPr>
        <p:spPr>
          <a:xfrm>
            <a:off x="5156191" y="2547901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88930-2803-8D48-039B-62C46DA833CD}"/>
              </a:ext>
            </a:extLst>
          </p:cNvPr>
          <p:cNvSpPr txBox="1"/>
          <p:nvPr/>
        </p:nvSpPr>
        <p:spPr>
          <a:xfrm>
            <a:off x="5329299" y="3373765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012217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8BC3-26E3-6329-DF02-8F013CA0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6B6948-B7A7-9AA5-EB32-8539AEEB5444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71F1B7-9BAB-29F6-2073-4D8EEB81BC46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Three Major Waves of AI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B32100-5A04-A842-F1AA-FA812E207749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A304E7-38BB-55F8-4B28-3B5EA116F7AD}"/>
              </a:ext>
            </a:extLst>
          </p:cNvPr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Generative AI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8A6D7-AFF2-5724-C219-ED1B7F4335D7}"/>
              </a:ext>
            </a:extLst>
          </p:cNvPr>
          <p:cNvSpPr txBox="1"/>
          <p:nvPr/>
        </p:nvSpPr>
        <p:spPr>
          <a:xfrm>
            <a:off x="911689" y="1485743"/>
            <a:ext cx="3071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 unstructured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7E464-A318-11AB-3A64-2BBF30223CAD}"/>
              </a:ext>
            </a:extLst>
          </p:cNvPr>
          <p:cNvSpPr/>
          <p:nvPr/>
        </p:nvSpPr>
        <p:spPr>
          <a:xfrm>
            <a:off x="3459044" y="2279433"/>
            <a:ext cx="1555531" cy="100899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B65397-9B40-69B9-981D-204E721E25E4}"/>
              </a:ext>
            </a:extLst>
          </p:cNvPr>
          <p:cNvSpPr txBox="1"/>
          <p:nvPr/>
        </p:nvSpPr>
        <p:spPr>
          <a:xfrm>
            <a:off x="3767462" y="2460763"/>
            <a:ext cx="1271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 AI 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79FB4-AA47-9732-BE96-C82762BBB82B}"/>
              </a:ext>
            </a:extLst>
          </p:cNvPr>
          <p:cNvSpPr txBox="1"/>
          <p:nvPr/>
        </p:nvSpPr>
        <p:spPr>
          <a:xfrm>
            <a:off x="612793" y="2547709"/>
            <a:ext cx="1957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Unstructured data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(text, images)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CDEF8C-4B9E-0461-5104-CB2568445270}"/>
              </a:ext>
            </a:extLst>
          </p:cNvPr>
          <p:cNvSpPr txBox="1"/>
          <p:nvPr/>
        </p:nvSpPr>
        <p:spPr>
          <a:xfrm>
            <a:off x="6755523" y="2592968"/>
            <a:ext cx="1931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Unstructured data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(text, images)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5C5E9F-0A5C-9770-AFCA-1885F0A59C8F}"/>
              </a:ext>
            </a:extLst>
          </p:cNvPr>
          <p:cNvCxnSpPr>
            <a:cxnSpLocks/>
          </p:cNvCxnSpPr>
          <p:nvPr/>
        </p:nvCxnSpPr>
        <p:spPr>
          <a:xfrm>
            <a:off x="2329102" y="2809319"/>
            <a:ext cx="880159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D26632-6525-03A8-250F-514DC3114378}"/>
              </a:ext>
            </a:extLst>
          </p:cNvPr>
          <p:cNvCxnSpPr/>
          <p:nvPr/>
        </p:nvCxnSpPr>
        <p:spPr>
          <a:xfrm>
            <a:off x="5190462" y="2856451"/>
            <a:ext cx="1408386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7BC867-531F-4743-282A-81FE42D754AE}"/>
              </a:ext>
            </a:extLst>
          </p:cNvPr>
          <p:cNvSpPr txBox="1"/>
          <p:nvPr/>
        </p:nvSpPr>
        <p:spPr>
          <a:xfrm>
            <a:off x="457200" y="3366671"/>
            <a:ext cx="22311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Traffic camera images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Live accident reports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Time of day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Origin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Destination</a:t>
            </a:r>
            <a:b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IsRaining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FC4888-2818-3D63-1858-B4B7E00670AF}"/>
              </a:ext>
            </a:extLst>
          </p:cNvPr>
          <p:cNvSpPr txBox="1"/>
          <p:nvPr/>
        </p:nvSpPr>
        <p:spPr>
          <a:xfrm>
            <a:off x="6595322" y="3366671"/>
            <a:ext cx="1683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Voice navigation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D4EE1F-E562-C3CD-EF65-0E7C7A18C684}"/>
              </a:ext>
            </a:extLst>
          </p:cNvPr>
          <p:cNvSpPr txBox="1"/>
          <p:nvPr/>
        </p:nvSpPr>
        <p:spPr>
          <a:xfrm>
            <a:off x="6333657" y="3840369"/>
            <a:ext cx="2353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“There's a 20-minute delay on I-10 due to an accident near exit 4A.” </a:t>
            </a:r>
          </a:p>
        </p:txBody>
      </p:sp>
    </p:spTree>
    <p:extLst>
      <p:ext uri="{BB962C8B-B14F-4D97-AF65-F5344CB8AC3E}">
        <p14:creationId xmlns:p14="http://schemas.microsoft.com/office/powerpoint/2010/main" val="307418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54D8-EF67-70C0-78B8-41DB1523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05F062-B202-4943-0921-9BFCCF0F4748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A0549A-F95E-7195-94CF-ED664517AA4C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Three Major Waves of AI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F1A089-D26A-1386-C2E5-451F94F76725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BE8A62-1938-F435-AF9C-1BF40128D545}"/>
              </a:ext>
            </a:extLst>
          </p:cNvPr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</a:p>
          <a:p>
            <a:pPr marL="0" indent="0">
              <a:spcAft>
                <a:spcPts val="200"/>
              </a:spcAft>
              <a:buNone/>
            </a:pPr>
            <a:endParaRPr lang="en-US" sz="2000" b="1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Machine Learning</a:t>
            </a: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Deep Learning</a:t>
            </a:r>
          </a:p>
          <a:p>
            <a:pPr marL="0" indent="0">
              <a:spcAft>
                <a:spcPts val="200"/>
              </a:spcAft>
              <a:buNone/>
            </a:pPr>
            <a:b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Generative AI</a:t>
            </a:r>
            <a:endParaRPr lang="en-US" sz="20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35AA11-183A-D92A-5D09-0347F4E62A64}"/>
              </a:ext>
            </a:extLst>
          </p:cNvPr>
          <p:cNvSpPr/>
          <p:nvPr/>
        </p:nvSpPr>
        <p:spPr>
          <a:xfrm>
            <a:off x="4267200" y="1366345"/>
            <a:ext cx="3394841" cy="339484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956F99-DC2B-67D0-010D-2A2CD56C6AB9}"/>
              </a:ext>
            </a:extLst>
          </p:cNvPr>
          <p:cNvSpPr/>
          <p:nvPr/>
        </p:nvSpPr>
        <p:spPr>
          <a:xfrm>
            <a:off x="4650512" y="2081048"/>
            <a:ext cx="2680138" cy="26801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F125B5-2BD7-121C-CF5B-3F7768DDB868}"/>
              </a:ext>
            </a:extLst>
          </p:cNvPr>
          <p:cNvSpPr/>
          <p:nvPr/>
        </p:nvSpPr>
        <p:spPr>
          <a:xfrm>
            <a:off x="5156191" y="3069021"/>
            <a:ext cx="1692165" cy="1692165"/>
          </a:xfrm>
          <a:prstGeom prst="ellipse">
            <a:avLst/>
          </a:prstGeom>
          <a:solidFill>
            <a:schemeClr val="accent1">
              <a:lumMod val="75000"/>
              <a:alpha val="2010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0E7A9A-7D44-A5C7-1B41-2F99EE5A9664}"/>
              </a:ext>
            </a:extLst>
          </p:cNvPr>
          <p:cNvSpPr/>
          <p:nvPr/>
        </p:nvSpPr>
        <p:spPr>
          <a:xfrm>
            <a:off x="5487266" y="3731172"/>
            <a:ext cx="1030014" cy="103001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EA8EE-A83B-22FA-CE86-2AC906BB8ADA}"/>
              </a:ext>
            </a:extLst>
          </p:cNvPr>
          <p:cNvSpPr txBox="1"/>
          <p:nvPr/>
        </p:nvSpPr>
        <p:spPr>
          <a:xfrm>
            <a:off x="5070926" y="1668115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5ABCC0-F1F8-DC50-BB0E-D1B5F3666D7E}"/>
              </a:ext>
            </a:extLst>
          </p:cNvPr>
          <p:cNvSpPr txBox="1"/>
          <p:nvPr/>
        </p:nvSpPr>
        <p:spPr>
          <a:xfrm>
            <a:off x="5084066" y="2536706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5FC0E-FBC7-36B0-5AD6-DD807B7BAB8B}"/>
              </a:ext>
            </a:extLst>
          </p:cNvPr>
          <p:cNvSpPr txBox="1"/>
          <p:nvPr/>
        </p:nvSpPr>
        <p:spPr>
          <a:xfrm>
            <a:off x="5329299" y="3373765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Deep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540094-EA49-B290-6A61-FFCC80E6FFFC}"/>
              </a:ext>
            </a:extLst>
          </p:cNvPr>
          <p:cNvSpPr txBox="1"/>
          <p:nvPr/>
        </p:nvSpPr>
        <p:spPr>
          <a:xfrm>
            <a:off x="5629155" y="4086178"/>
            <a:ext cx="1839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Gen AI</a:t>
            </a:r>
          </a:p>
        </p:txBody>
      </p:sp>
    </p:spTree>
    <p:extLst>
      <p:ext uri="{BB962C8B-B14F-4D97-AF65-F5344CB8AC3E}">
        <p14:creationId xmlns:p14="http://schemas.microsoft.com/office/powerpoint/2010/main" val="424766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2D6D6-E879-1AD4-613C-97E24146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7167D0-4C2F-F598-17BD-7CC952B0B98C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Deep Blue (1997)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6E004A-4CE4-430D-2959-352701793D68}"/>
              </a:ext>
            </a:extLst>
          </p:cNvPr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09E6AB-41F0-D5C0-E27E-267F8D7DA889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7CE08F-BC86-6363-BD26-0F03FEF46EE2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9698FA-6A2E-9861-F405-E36B12379766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295095-59A4-24B0-38C0-19E1EFAA2054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11" name="Picture 2" descr="What Is Intelligence? 20 Years After Deep Blue, AI Still Can't Think Like  Humans | Live Science">
            <a:extLst>
              <a:ext uri="{FF2B5EF4-FFF2-40B4-BE49-F238E27FC236}">
                <a16:creationId xmlns:a16="http://schemas.microsoft.com/office/drawing/2014/main" id="{61AB6AB4-3D82-D6E3-C805-48454BEFD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963" y="1013915"/>
            <a:ext cx="5427626" cy="4052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FCD8890-867D-AFBA-A41F-AD77824445E7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775A21B-1800-3775-28B9-717CB74B848B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88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28436-A18F-D2BC-0430-7F24DBF6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A4FA8D-96CB-B6D1-08ED-606AF32A7EC7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IBM Watson (2011)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13A8A3-B85E-E606-F9A9-2E10487603A5}"/>
              </a:ext>
            </a:extLst>
          </p:cNvPr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BB85C0-4DF0-ABD8-520B-323AABEEDFA7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18F542-18F6-339B-6DC4-BC588C625F56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89F4D4-5B99-1037-9F23-34A66F487F7C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D2CF5D9-267C-BDAF-5CC5-1F68639D4912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7172" name="Picture 4" descr="Watch Jeopardy! Season 27, Episode 111: The IBM Challenge 1 | Peacock">
            <a:extLst>
              <a:ext uri="{FF2B5EF4-FFF2-40B4-BE49-F238E27FC236}">
                <a16:creationId xmlns:a16="http://schemas.microsoft.com/office/drawing/2014/main" id="{AF6FAD01-629A-A793-163B-D943348AE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920" y="1005840"/>
            <a:ext cx="6868160" cy="3863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6DC83C0-D076-A06C-B240-8FC97FFF8D16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E6767CF-B781-554E-ACC1-D40FA9F00A38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27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DE64-93A7-E242-9C40-64652BD4C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004BC5-6018-4CF8-92F9-89C9709BA39F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AlexNet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 (2012)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DC6AB1-1338-8FAD-4F7A-239FB6AD3B0B}"/>
              </a:ext>
            </a:extLst>
          </p:cNvPr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609094-3631-7C4A-B556-DAC54D26BFA6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3F1BE4-5F88-57EA-055E-28A7D753EEBD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828C39-56FC-5E95-271B-7F92AF5D723D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1E79CA6-17D9-8D9A-F086-B5750817001C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5122" name="Picture 2" descr="AlexNet: Revolutionizing Deep Learning in Image Classification">
            <a:extLst>
              <a:ext uri="{FF2B5EF4-FFF2-40B4-BE49-F238E27FC236}">
                <a16:creationId xmlns:a16="http://schemas.microsoft.com/office/drawing/2014/main" id="{8DF36407-8F65-A1DE-95D9-538671E66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81" y="1205215"/>
            <a:ext cx="4164259" cy="175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At Last, a Self-Driving Car That Can Explain Itself">
            <a:extLst>
              <a:ext uri="{FF2B5EF4-FFF2-40B4-BE49-F238E27FC236}">
                <a16:creationId xmlns:a16="http://schemas.microsoft.com/office/drawing/2014/main" id="{EFF5C628-7526-4232-4170-E844B0327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000" y="1200000"/>
            <a:ext cx="3800000" cy="235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aymo's driverless cars are coming to Denver, but you can't ride one yet">
            <a:extLst>
              <a:ext uri="{FF2B5EF4-FFF2-40B4-BE49-F238E27FC236}">
                <a16:creationId xmlns:a16="http://schemas.microsoft.com/office/drawing/2014/main" id="{CF77E97E-3541-471B-2831-AACAEA1E2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3" t="16905" r="21468" b="22507"/>
          <a:stretch>
            <a:fillRect/>
          </a:stretch>
        </p:blipFill>
        <p:spPr bwMode="auto">
          <a:xfrm>
            <a:off x="583181" y="3031173"/>
            <a:ext cx="3790023" cy="19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9508055-FD0D-1F2F-97AA-445F17DBC467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F9BC501-A1CB-AD2F-9B65-CB62EB77D357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9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A3850-3C7C-1B06-D918-6B1280D6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30B11B-9569-71D0-2812-3E848FA12F6D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Transformers (2017)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88F964-5905-C910-84B3-069B3770EC93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82ECA9-D3FF-2A80-405D-903C45316365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7E210A-EC56-1BBD-BEB2-6ED558DDE337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18A1667-17D4-A832-51D8-5B1DF36E202C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4098" name="Picture 2" descr="Amazon.com: Transformers Toys Heroic Optimus Prime Action Figure - Timeless  Large-Scale Figure, Changes into Toy Truck - Toys for Kids 6 and Up,  11-inch (Amazon Exclusive) : Toys &amp; Games">
            <a:extLst>
              <a:ext uri="{FF2B5EF4-FFF2-40B4-BE49-F238E27FC236}">
                <a16:creationId xmlns:a16="http://schemas.microsoft.com/office/drawing/2014/main" id="{15F04CEA-63E4-029A-A8B1-D5D329A1C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91" y="1262344"/>
            <a:ext cx="2546324" cy="3556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 Transformer Model - MachineLearningMastery.com">
            <a:extLst>
              <a:ext uri="{FF2B5EF4-FFF2-40B4-BE49-F238E27FC236}">
                <a16:creationId xmlns:a16="http://schemas.microsoft.com/office/drawing/2014/main" id="{9C8BCB55-04F6-F6ED-DD02-D40EA86EE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85" y="912552"/>
            <a:ext cx="2857470" cy="402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document with text and images  AI-generated content may be incorrect.">
            <a:extLst>
              <a:ext uri="{FF2B5EF4-FFF2-40B4-BE49-F238E27FC236}">
                <a16:creationId xmlns:a16="http://schemas.microsoft.com/office/drawing/2014/main" id="{B33553D4-C446-F705-7C26-27F7A64AA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708" y="1132513"/>
            <a:ext cx="3769546" cy="340697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5C907EF-054F-3B71-CDFF-04D56E2EF6BA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32D777-B088-FC71-9200-A4D2C251A6E8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5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AD10-F476-F574-61C9-FE8233B4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247657-B1CA-45DF-3D66-1BAD9E05BF08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ChatGPT (2022)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CCCB9E-F369-2997-7331-B77F432B25A4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E7F497-66C2-89C7-5ED7-8171F2A78E90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113F0DF-873C-FD7A-4804-4E444A719F58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C4FD98-74DD-9E3D-F890-EF7D1C7B4C75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6146" name="Picture 2" descr="ChatGPT: Everything you need to know about the AI chatbot">
            <a:extLst>
              <a:ext uri="{FF2B5EF4-FFF2-40B4-BE49-F238E27FC236}">
                <a16:creationId xmlns:a16="http://schemas.microsoft.com/office/drawing/2014/main" id="{14B3D604-9E33-84BB-E2D6-3CDBBBE1C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8" y="1029644"/>
            <a:ext cx="5686967" cy="379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93A0D8D-F928-CFE0-3969-9BEC489AE66E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1172B4-50F2-9878-CC10-AED33E864163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70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So what is this course about?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lens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survey core machine learning and AI models</a:t>
            </a:r>
            <a:b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Tech-forward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understand how the technology 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leverages data; explore some implementations in Python and in simulations</a:t>
            </a:r>
            <a:b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 on math, heavy on intuition</a:t>
            </a:r>
            <a:b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get technical to build deep understanding – goal is to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massively expand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vocabulary around ML and AI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Who is this course for?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59"/>
            <a:ext cx="8321040" cy="5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leaders (consultants, PMs, analysts) who are curious about how ML/AI models work to extract value from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345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I need to invest in technical knowledge?”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00300"/>
            <a:ext cx="8321040" cy="256032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understanding is important for building true confidence in AI topics: When to deploy, what it can/can't do,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</a:t>
            </a:r>
            <a:endParaRPr lang="en-US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with technical staff, facilitates leading and collaboration</a:t>
            </a:r>
            <a:endParaRPr lang="en-US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in the job market</a:t>
            </a:r>
            <a:endParaRPr lang="en-US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to other Anderson courses</a:t>
            </a:r>
            <a:endParaRPr lang="en-US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fun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13D21-3032-CBDD-ACA9-241E0AFF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55F65969-1969-7CB0-4E6F-93400AF1666D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BA588F7-A1C8-B553-44CF-5668EFCD85E9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Course Roadmap</a:t>
            </a:r>
            <a:endParaRPr lang="en-US" sz="2800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EB06D79C-E20B-AD48-59E8-1EE563B594A8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ile1">
            <a:extLst>
              <a:ext uri="{FF2B5EF4-FFF2-40B4-BE49-F238E27FC236}">
                <a16:creationId xmlns:a16="http://schemas.microsoft.com/office/drawing/2014/main" id="{527841E5-7261-1535-6EE8-4F8C424542CB}"/>
              </a:ext>
            </a:extLst>
          </p:cNvPr>
          <p:cNvSpPr/>
          <p:nvPr/>
        </p:nvSpPr>
        <p:spPr>
          <a:xfrm>
            <a:off x="457200" y="11353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003B5C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8FBFDF"/>
                </a:solidFill>
                <a:latin typeface="Whitney Bold" pitchFamily="34" charset="0"/>
              </a:rPr>
              <a:t>WEEKS 1–3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Machine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Learning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400" i="1" dirty="0">
                <a:solidFill>
                  <a:srgbClr val="A0C4E0"/>
                </a:solidFill>
                <a:latin typeface="Whitney Bold" pitchFamily="34" charset="0"/>
              </a:rPr>
              <a:t> Understand how to deploy ML models to make predictions/decisions based on rich data</a:t>
            </a:r>
          </a:p>
        </p:txBody>
      </p:sp>
      <p:sp>
        <p:nvSpPr>
          <p:cNvPr id="11" name="Tile2">
            <a:extLst>
              <a:ext uri="{FF2B5EF4-FFF2-40B4-BE49-F238E27FC236}">
                <a16:creationId xmlns:a16="http://schemas.microsoft.com/office/drawing/2014/main" id="{6B035AAC-B1DC-B908-C7DA-22BB3F954992}"/>
              </a:ext>
            </a:extLst>
          </p:cNvPr>
          <p:cNvSpPr/>
          <p:nvPr/>
        </p:nvSpPr>
        <p:spPr>
          <a:xfrm>
            <a:off x="3200400" y="11353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005587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8FBFDF"/>
                </a:solidFill>
                <a:latin typeface="Whitney Bold" pitchFamily="34" charset="0"/>
              </a:rPr>
              <a:t>WEEKS 4–7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Deep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Learning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400" i="1" dirty="0">
                <a:solidFill>
                  <a:srgbClr val="A0C4E0"/>
                </a:solidFill>
                <a:latin typeface="Whitney Bold" pitchFamily="34" charset="0"/>
              </a:rPr>
              <a:t> Build intuition on how complex AI models extract “meaning” from numeric, text, and image data</a:t>
            </a:r>
          </a:p>
        </p:txBody>
      </p:sp>
      <p:sp>
        <p:nvSpPr>
          <p:cNvPr id="12" name="Tile3">
            <a:extLst>
              <a:ext uri="{FF2B5EF4-FFF2-40B4-BE49-F238E27FC236}">
                <a16:creationId xmlns:a16="http://schemas.microsoft.com/office/drawing/2014/main" id="{C3E3162A-D762-2403-0829-399689E00DCD}"/>
              </a:ext>
            </a:extLst>
          </p:cNvPr>
          <p:cNvSpPr/>
          <p:nvPr/>
        </p:nvSpPr>
        <p:spPr>
          <a:xfrm>
            <a:off x="5943600" y="11353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2E8BC0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B0D8F0"/>
                </a:solidFill>
                <a:latin typeface="Whitney Bold" pitchFamily="34" charset="0"/>
              </a:rPr>
              <a:t>WEEKS 8–10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Product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Sprint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400" i="1" dirty="0">
                <a:solidFill>
                  <a:srgbClr val="B0D8F0"/>
                </a:solidFill>
                <a:latin typeface="Whitney Bold" pitchFamily="34" charset="0"/>
              </a:rPr>
              <a:t> Prototype, publish, and pitch an AI-powered web app</a:t>
            </a:r>
          </a:p>
        </p:txBody>
      </p:sp>
    </p:spTree>
    <p:extLst>
      <p:ext uri="{BB962C8B-B14F-4D97-AF65-F5344CB8AC3E}">
        <p14:creationId xmlns:p14="http://schemas.microsoft.com/office/powerpoint/2010/main" val="275882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26E95-C2B8-FC76-413C-D4379B32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BB66B392-C93A-DA67-C5C0-32E3129FAFB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759AB24-E643-1A18-7583-163A1E6C1532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Course Roadmap</a:t>
            </a:r>
            <a:endParaRPr lang="en-US" sz="2800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73A23B53-EB72-81EC-FAC5-C756F906752F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5ACF41D5-1975-D4EB-E8EA-3CC7C7614B49}"/>
              </a:ext>
            </a:extLst>
          </p:cNvPr>
          <p:cNvSpPr/>
          <p:nvPr/>
        </p:nvSpPr>
        <p:spPr>
          <a:xfrm>
            <a:off x="3419856" y="1127760"/>
            <a:ext cx="4994910" cy="256032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the ML “pipeline” – from data to predictions</a:t>
            </a:r>
          </a:p>
          <a:p>
            <a:pPr>
              <a:spcAft>
                <a:spcPts val="600"/>
              </a:spcAft>
            </a:pP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State-of-the-art prediction models used in industry and best practices for deployment</a:t>
            </a: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Algorithms for data-driven decision making in dynamic environments</a:t>
            </a: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6" name="Tile1">
            <a:extLst>
              <a:ext uri="{FF2B5EF4-FFF2-40B4-BE49-F238E27FC236}">
                <a16:creationId xmlns:a16="http://schemas.microsoft.com/office/drawing/2014/main" id="{26897974-DF12-7917-F222-8FDA8BF33A0F}"/>
              </a:ext>
            </a:extLst>
          </p:cNvPr>
          <p:cNvSpPr/>
          <p:nvPr/>
        </p:nvSpPr>
        <p:spPr>
          <a:xfrm>
            <a:off x="457200" y="11353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003B5C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8FBFDF"/>
                </a:solidFill>
                <a:latin typeface="Whitney Bold" pitchFamily="34" charset="0"/>
              </a:rPr>
              <a:t>WEEKS 1–3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Machine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Learning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400" i="1" dirty="0">
                <a:solidFill>
                  <a:srgbClr val="A0C4E0"/>
                </a:solidFill>
                <a:latin typeface="Whitney Bold" pitchFamily="34" charset="0"/>
              </a:rPr>
              <a:t> Understand how to deploy ML models to make predictions/decisions based on rich data</a:t>
            </a:r>
          </a:p>
        </p:txBody>
      </p:sp>
    </p:spTree>
    <p:extLst>
      <p:ext uri="{BB962C8B-B14F-4D97-AF65-F5344CB8AC3E}">
        <p14:creationId xmlns:p14="http://schemas.microsoft.com/office/powerpoint/2010/main" val="1499137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89DE-DDF1-1897-0DC3-5CF5BD49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56587C8F-A9C5-CD6A-851E-CB9A11C2469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1A454A6-D4BD-854D-6306-2E2C389E9894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Course Roadmap</a:t>
            </a:r>
            <a:endParaRPr lang="en-US" sz="2800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E1C6303B-2794-9DCF-B57A-81C226DFC6D7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43ECE57-C22E-1174-9F4A-36820C8A5182}"/>
              </a:ext>
            </a:extLst>
          </p:cNvPr>
          <p:cNvSpPr/>
          <p:nvPr/>
        </p:nvSpPr>
        <p:spPr>
          <a:xfrm>
            <a:off x="3419856" y="1135380"/>
            <a:ext cx="4994910" cy="3657589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and training algorithms </a:t>
            </a:r>
            <a:b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How massive networks transform language and image data to extract meaning</a:t>
            </a: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Best practices for AI deployment</a:t>
            </a: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Economics of building and using AI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6" name="Tile2">
            <a:extLst>
              <a:ext uri="{FF2B5EF4-FFF2-40B4-BE49-F238E27FC236}">
                <a16:creationId xmlns:a16="http://schemas.microsoft.com/office/drawing/2014/main" id="{EDFB4912-B54D-D4C8-6F5D-A256ED3A7CAD}"/>
              </a:ext>
            </a:extLst>
          </p:cNvPr>
          <p:cNvSpPr/>
          <p:nvPr/>
        </p:nvSpPr>
        <p:spPr>
          <a:xfrm>
            <a:off x="457200" y="11353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005587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8FBFDF"/>
                </a:solidFill>
                <a:latin typeface="Whitney Bold" pitchFamily="34" charset="0"/>
              </a:rPr>
              <a:t>WEEKS 4–7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Deep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Learning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400" i="1" dirty="0">
                <a:solidFill>
                  <a:srgbClr val="A0C4E0"/>
                </a:solidFill>
                <a:latin typeface="Whitney Bold" pitchFamily="34" charset="0"/>
              </a:rPr>
              <a:t> Build intuition on how complex AI models extract “meaning” from numeric, text, and image data</a:t>
            </a:r>
          </a:p>
        </p:txBody>
      </p:sp>
    </p:spTree>
    <p:extLst>
      <p:ext uri="{BB962C8B-B14F-4D97-AF65-F5344CB8AC3E}">
        <p14:creationId xmlns:p14="http://schemas.microsoft.com/office/powerpoint/2010/main" val="9841255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4553B-DE65-175B-153A-B065004ED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FD058F55-8411-4DFD-07E6-2B9270929B36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D63E46F-54B2-98DE-7261-B756464C832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Course Roadmap</a:t>
            </a:r>
            <a:endParaRPr lang="en-US" sz="2800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3448317A-0D91-04F6-3A4B-B72394C521C4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D6B4D38-8C38-0A8C-4F78-4A324596D635}"/>
              </a:ext>
            </a:extLst>
          </p:cNvPr>
          <p:cNvSpPr/>
          <p:nvPr/>
        </p:nvSpPr>
        <p:spPr>
          <a:xfrm>
            <a:off x="3419856" y="1127759"/>
            <a:ext cx="5358384" cy="3657589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Work in teams to prototype a simple AI-powered app and publish it online</a:t>
            </a: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Use AI as software developer – you focus on the idea and design</a:t>
            </a: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Top teams will pitch in Week 10</a:t>
            </a:r>
            <a:b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Showcase your skills and keep a souvenir from the course 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6" name="Tile3">
            <a:extLst>
              <a:ext uri="{FF2B5EF4-FFF2-40B4-BE49-F238E27FC236}">
                <a16:creationId xmlns:a16="http://schemas.microsoft.com/office/drawing/2014/main" id="{B42856A3-1EB1-8932-5ACA-AAD4B14C17BC}"/>
              </a:ext>
            </a:extLst>
          </p:cNvPr>
          <p:cNvSpPr/>
          <p:nvPr/>
        </p:nvSpPr>
        <p:spPr>
          <a:xfrm>
            <a:off x="457200" y="1127748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2E8BC0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B0D8F0"/>
                </a:solidFill>
                <a:latin typeface="Whitney Bold" pitchFamily="34" charset="0"/>
              </a:rPr>
              <a:t>WEEKS 8–10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Product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Sprint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400" i="1" dirty="0">
                <a:solidFill>
                  <a:srgbClr val="B0D8F0"/>
                </a:solidFill>
                <a:latin typeface="Whitney Bold" pitchFamily="34" charset="0"/>
              </a:rPr>
              <a:t> Prototype, publish, and pitch an AI-powered web app</a:t>
            </a:r>
          </a:p>
        </p:txBody>
      </p:sp>
    </p:spTree>
    <p:extLst>
      <p:ext uri="{BB962C8B-B14F-4D97-AF65-F5344CB8AC3E}">
        <p14:creationId xmlns:p14="http://schemas.microsoft.com/office/powerpoint/2010/main" val="1475083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E7FCC-1BB6-692C-C1BF-9B26DEE7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5BCD61-4A04-8AAA-9DDA-FFA4CFCA6CAB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43457B-89E7-9F6C-AD86-64B51A2DB969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Important AI topics we won’t cover as much 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DBAF18E-A941-E26D-EA31-B41DC301CC2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524A28-0A58-F153-327E-C6F5600385BE}"/>
              </a:ext>
            </a:extLst>
          </p:cNvPr>
          <p:cNvSpPr/>
          <p:nvPr/>
        </p:nvSpPr>
        <p:spPr>
          <a:xfrm>
            <a:off x="457200" y="1051559"/>
            <a:ext cx="8321040" cy="390904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best use LLMs and agents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Covered in AI Agents for Managers (Schubert) 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- But we will still use LLMs during product sprint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Industry-by-industry survey of AI adoption and strategy / leadership and management of AI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Easton courses (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Khormae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Null, Holloway)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- We will still touch on deployment</a:t>
            </a:r>
          </a:p>
          <a:p>
            <a:pPr>
              <a:spcAft>
                <a:spcPts val="600"/>
              </a:spcAft>
            </a:pPr>
            <a:endParaRPr lang="en-US" sz="16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is to understand the science better so we can make strategic decisions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9817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024D-297D-AF93-E61F-959C6A0C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2AF236-BEAE-F534-0F06-482432E44BA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AF1461-2237-BFC1-06CB-500716E52DE2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Assessments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1AA663-AB47-4135-AC10-41DEE479D483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31DD3D3-9310-988D-160D-3E502E07C471}"/>
              </a:ext>
            </a:extLst>
          </p:cNvPr>
          <p:cNvSpPr/>
          <p:nvPr/>
        </p:nvSpPr>
        <p:spPr>
          <a:xfrm>
            <a:off x="457200" y="1051559"/>
            <a:ext cx="8321040" cy="337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Seven assignments (Individual)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Usually last ~1 hour of each class to work on these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Completely non-code based – we’ll use custom dashboards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Explore models and answer 3-5 questions in a document and submit on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BruinLearn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by the end of the day (5pm)</a:t>
            </a:r>
            <a:br>
              <a:rPr lang="en-US" sz="2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sz="24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AI product prototype (In groups of 1, 2 or 3)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Based in Python and HTML but vibe-coded with AI, details to come in Week 8</a:t>
            </a:r>
            <a:br>
              <a:rPr lang="en-US" sz="2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2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89272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77B6-6ABC-BF49-C998-26D57D2A1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4EA612-5300-B58A-7E55-6416E59703F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281929-7666-9289-A7A7-BFC27B150F65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Google 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Colaboratory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34AA42-14F6-BAE7-B22A-ECB6C9B692CF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8512AE-9557-DCD1-9A95-6AD3C2FD3EEB}"/>
              </a:ext>
            </a:extLst>
          </p:cNvPr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We will often look at Python code together to see how ML/AI models are actually implemented</a:t>
            </a:r>
            <a:b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goal is not to fixate on coding but to understand the general AI pipeline</a:t>
            </a:r>
          </a:p>
          <a:p>
            <a:pPr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Google’s </a:t>
            </a:r>
            <a:r>
              <a:rPr lang="en-US" b="1" dirty="0" err="1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Colaboratory</a:t>
            </a:r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is an amazing free resource for implementing AI models in Python </a:t>
            </a: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  <a:sym typeface="Wingdings" pitchFamily="2" charset="2"/>
              </a:rPr>
              <a:t> entirely browser-based and no need for local installations on your laptop</a:t>
            </a:r>
          </a:p>
          <a:p>
            <a:pPr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  <a:sym typeface="Wingdings" pitchFamily="2" charset="2"/>
              </a:rPr>
              <a:t>You will need any Google/Gmail account to access</a:t>
            </a:r>
            <a:endParaRPr lang="en-US" dirty="0"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</p:txBody>
      </p:sp>
      <p:pic>
        <p:nvPicPr>
          <p:cNvPr id="2050" name="Picture 2" descr="Colab: An easy way to learn and use TensorFlow | by TensorFlow | TensorFlow  | Medium">
            <a:extLst>
              <a:ext uri="{FF2B5EF4-FFF2-40B4-BE49-F238E27FC236}">
                <a16:creationId xmlns:a16="http://schemas.microsoft.com/office/drawing/2014/main" id="{40B017E3-5357-A4AB-DC64-4598A16D3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652" y="3766189"/>
            <a:ext cx="2976348" cy="131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876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598E-4F5E-4738-CAD3-6F5BCA4D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53E7E6-639C-989D-1A2C-3B0C903C564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859A05-26C6-403F-85FF-5BF0AE472BE5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Tech policy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A4E79C-6D20-2F1E-3319-9DBAAD4BBF06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F5E7DBC-52BF-A388-DE44-8F35F43B71B0}"/>
              </a:ext>
            </a:extLst>
          </p:cNvPr>
          <p:cNvSpPr/>
          <p:nvPr/>
        </p:nvSpPr>
        <p:spPr>
          <a:xfrm>
            <a:off x="457200" y="738661"/>
            <a:ext cx="8321040" cy="337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br>
              <a:rPr lang="en-US" dirty="0">
                <a:latin typeface="Arial" pitchFamily="34" charset="0"/>
                <a:cs typeface="Arial" pitchFamily="34" charset="-120"/>
              </a:rPr>
            </a:br>
            <a:r>
              <a:rPr lang="en-US" dirty="0">
                <a:latin typeface="Arial" pitchFamily="34" charset="0"/>
                <a:cs typeface="Arial" pitchFamily="34" charset="-120"/>
              </a:rPr>
              <a:t>Laptops in </a:t>
            </a:r>
            <a:r>
              <a:rPr lang="en-US" i="1" dirty="0">
                <a:latin typeface="Arial" pitchFamily="34" charset="0"/>
                <a:cs typeface="Arial" pitchFamily="34" charset="-120"/>
              </a:rPr>
              <a:t>back row only</a:t>
            </a:r>
            <a:r>
              <a:rPr lang="en-US" dirty="0">
                <a:latin typeface="Arial" pitchFamily="34" charset="0"/>
                <a:cs typeface="Arial" pitchFamily="34" charset="-120"/>
              </a:rPr>
              <a:t>, except for during </a:t>
            </a:r>
            <a:r>
              <a:rPr lang="en-US" dirty="0" err="1">
                <a:latin typeface="Arial" pitchFamily="34" charset="0"/>
                <a:cs typeface="Arial" pitchFamily="34" charset="-120"/>
              </a:rPr>
              <a:t>Colab</a:t>
            </a:r>
            <a:r>
              <a:rPr lang="en-US" dirty="0">
                <a:latin typeface="Arial" pitchFamily="34" charset="0"/>
                <a:cs typeface="Arial" pitchFamily="34" charset="-120"/>
              </a:rPr>
              <a:t> or in-class assignment components</a:t>
            </a:r>
            <a:br>
              <a:rPr lang="en-US" dirty="0">
                <a:latin typeface="Arial" pitchFamily="34" charset="0"/>
                <a:cs typeface="Arial" pitchFamily="34" charset="-120"/>
              </a:rPr>
            </a:br>
            <a:endParaRPr lang="en-US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>
                <a:latin typeface="Arial" pitchFamily="34" charset="0"/>
                <a:cs typeface="Arial" pitchFamily="34" charset="-120"/>
              </a:rPr>
              <a:t>No phones</a:t>
            </a:r>
            <a:br>
              <a:rPr lang="en-US" dirty="0">
                <a:latin typeface="Arial" pitchFamily="34" charset="0"/>
                <a:cs typeface="Arial" pitchFamily="34" charset="-120"/>
              </a:rPr>
            </a:br>
            <a:br>
              <a:rPr lang="en-US" dirty="0">
                <a:latin typeface="Arial" pitchFamily="34" charset="0"/>
                <a:cs typeface="Arial" pitchFamily="34" charset="-120"/>
              </a:rPr>
            </a:br>
            <a:br>
              <a:rPr lang="en-US" dirty="0">
                <a:latin typeface="Arial" pitchFamily="34" charset="0"/>
                <a:cs typeface="Arial" pitchFamily="34" charset="-120"/>
              </a:rPr>
            </a:br>
            <a:br>
              <a:rPr lang="en-US" dirty="0">
                <a:latin typeface="Arial" pitchFamily="34" charset="0"/>
                <a:cs typeface="Arial" pitchFamily="34" charset="-120"/>
              </a:rPr>
            </a:br>
            <a:endParaRPr lang="en-US" dirty="0"/>
          </a:p>
        </p:txBody>
      </p:sp>
      <p:pic>
        <p:nvPicPr>
          <p:cNvPr id="8" name="Picture 7" descr="A screenshot of a web page&#10;&#10;AI-generated content may be incorrect.">
            <a:extLst>
              <a:ext uri="{FF2B5EF4-FFF2-40B4-BE49-F238E27FC236}">
                <a16:creationId xmlns:a16="http://schemas.microsoft.com/office/drawing/2014/main" id="{4AF5719C-7053-4C9F-7ED2-720822BD6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666" y="2903228"/>
            <a:ext cx="5166286" cy="2218096"/>
          </a:xfrm>
          <a:prstGeom prst="rect">
            <a:avLst/>
          </a:prstGeom>
        </p:spPr>
      </p:pic>
      <p:pic>
        <p:nvPicPr>
          <p:cNvPr id="10" name="Picture 9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2CD43BA0-42DE-3B0F-9315-D970A89F5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08" y="2903228"/>
            <a:ext cx="3398401" cy="2218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A72D2E-9F53-B833-2978-450F5EEA02FC}"/>
              </a:ext>
            </a:extLst>
          </p:cNvPr>
          <p:cNvSpPr txBox="1"/>
          <p:nvPr/>
        </p:nvSpPr>
        <p:spPr>
          <a:xfrm>
            <a:off x="4114800" y="1828800"/>
            <a:ext cx="2344009" cy="445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1EE89-FA37-91ED-1741-C7BC94879FC1}"/>
              </a:ext>
            </a:extLst>
          </p:cNvPr>
          <p:cNvSpPr txBox="1"/>
          <p:nvPr/>
        </p:nvSpPr>
        <p:spPr>
          <a:xfrm>
            <a:off x="569290" y="2424584"/>
            <a:ext cx="3316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Mueller and Oppenheimer (2014) 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handwriting notes improves retention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7AD2AA-9E31-644B-4D11-D803A9CA02FF}"/>
              </a:ext>
            </a:extLst>
          </p:cNvPr>
          <p:cNvSpPr txBox="1"/>
          <p:nvPr/>
        </p:nvSpPr>
        <p:spPr>
          <a:xfrm>
            <a:off x="5258293" y="2424584"/>
            <a:ext cx="3316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Sana et al (2012) 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“second-hand distraction”</a:t>
            </a:r>
          </a:p>
        </p:txBody>
      </p:sp>
    </p:spTree>
    <p:extLst>
      <p:ext uri="{BB962C8B-B14F-4D97-AF65-F5344CB8AC3E}">
        <p14:creationId xmlns:p14="http://schemas.microsoft.com/office/powerpoint/2010/main" val="236160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5DE05A-CE30-CAFD-D7EE-48491AC1D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382905"/>
            <a:ext cx="5410200" cy="40576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3143F1-9293-FF69-BEED-66AD1C2DA4E3}"/>
              </a:ext>
            </a:extLst>
          </p:cNvPr>
          <p:cNvSpPr txBox="1"/>
          <p:nvPr/>
        </p:nvSpPr>
        <p:spPr>
          <a:xfrm>
            <a:off x="6126480" y="2248584"/>
            <a:ext cx="288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(My 3-week old enjoying some crayons)</a:t>
            </a:r>
          </a:p>
        </p:txBody>
      </p:sp>
    </p:spTree>
    <p:extLst>
      <p:ext uri="{BB962C8B-B14F-4D97-AF65-F5344CB8AC3E}">
        <p14:creationId xmlns:p14="http://schemas.microsoft.com/office/powerpoint/2010/main" val="2158538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012EA-93A3-BA1D-7FC5-F74A6E4FB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B2DA0182-CF44-023C-0057-B2C8B9020D2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B286370-7026-3DF9-AD03-2F07439B21F5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Course Roadmap</a:t>
            </a:r>
            <a:endParaRPr lang="en-US" sz="2800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2B1C009F-4CDC-2D83-85CD-E2728362327F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ile1">
            <a:extLst>
              <a:ext uri="{FF2B5EF4-FFF2-40B4-BE49-F238E27FC236}">
                <a16:creationId xmlns:a16="http://schemas.microsoft.com/office/drawing/2014/main" id="{323A009E-D85A-81B8-F191-4A24F55A8A9C}"/>
              </a:ext>
            </a:extLst>
          </p:cNvPr>
          <p:cNvSpPr/>
          <p:nvPr/>
        </p:nvSpPr>
        <p:spPr>
          <a:xfrm>
            <a:off x="457200" y="11353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003B5C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8FBFDF"/>
                </a:solidFill>
                <a:latin typeface="Whitney Bold" pitchFamily="34" charset="0"/>
              </a:rPr>
              <a:t>WEEKS 1–3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Machine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Learning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400" i="1" dirty="0">
                <a:solidFill>
                  <a:srgbClr val="A0C4E0"/>
                </a:solidFill>
                <a:latin typeface="Whitney Bold" pitchFamily="34" charset="0"/>
              </a:rPr>
              <a:t> Understand how to deploy ML models to make predictions/decisions based on rich data</a:t>
            </a:r>
          </a:p>
        </p:txBody>
      </p:sp>
      <p:sp>
        <p:nvSpPr>
          <p:cNvPr id="11" name="Tile2">
            <a:extLst>
              <a:ext uri="{FF2B5EF4-FFF2-40B4-BE49-F238E27FC236}">
                <a16:creationId xmlns:a16="http://schemas.microsoft.com/office/drawing/2014/main" id="{7BBFA96D-9E9D-45E8-8A79-B820CC6B9560}"/>
              </a:ext>
            </a:extLst>
          </p:cNvPr>
          <p:cNvSpPr/>
          <p:nvPr/>
        </p:nvSpPr>
        <p:spPr>
          <a:xfrm>
            <a:off x="3200400" y="11353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005587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8FBFDF"/>
                </a:solidFill>
                <a:latin typeface="Whitney Bold" pitchFamily="34" charset="0"/>
              </a:rPr>
              <a:t>WEEKS 4–7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Deep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Learning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400" i="1" dirty="0">
                <a:solidFill>
                  <a:srgbClr val="A0C4E0"/>
                </a:solidFill>
                <a:latin typeface="Whitney Bold" pitchFamily="34" charset="0"/>
              </a:rPr>
              <a:t> Build intuition on how complex AI models extract “meaning” from numeric, text, and image data</a:t>
            </a:r>
          </a:p>
        </p:txBody>
      </p:sp>
      <p:sp>
        <p:nvSpPr>
          <p:cNvPr id="12" name="Tile3">
            <a:extLst>
              <a:ext uri="{FF2B5EF4-FFF2-40B4-BE49-F238E27FC236}">
                <a16:creationId xmlns:a16="http://schemas.microsoft.com/office/drawing/2014/main" id="{1CAE4138-4F86-AC7E-4A56-2BA004935D29}"/>
              </a:ext>
            </a:extLst>
          </p:cNvPr>
          <p:cNvSpPr/>
          <p:nvPr/>
        </p:nvSpPr>
        <p:spPr>
          <a:xfrm>
            <a:off x="5943600" y="11353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2E8BC0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B0D8F0"/>
                </a:solidFill>
                <a:latin typeface="Whitney Bold" pitchFamily="34" charset="0"/>
              </a:rPr>
              <a:t>WEEKS 8–10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Product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Sprint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400" i="1" dirty="0">
                <a:solidFill>
                  <a:srgbClr val="B0D8F0"/>
                </a:solidFill>
                <a:latin typeface="Whitney Bold" pitchFamily="34" charset="0"/>
              </a:rPr>
              <a:t> Prototype, publish, and pitch an AI-powered web app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FC062-E7A1-570C-C3D4-03E04D79EFA2}"/>
              </a:ext>
            </a:extLst>
          </p:cNvPr>
          <p:cNvSpPr/>
          <p:nvPr/>
        </p:nvSpPr>
        <p:spPr>
          <a:xfrm>
            <a:off x="438912" y="1135380"/>
            <a:ext cx="2560320" cy="36576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19ACE-3E8E-1287-601E-F17027F02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0A2CFA86-DBC5-5582-4500-EC24E7366F08}"/>
              </a:ext>
            </a:extLst>
          </p:cNvPr>
          <p:cNvSpPr/>
          <p:nvPr/>
        </p:nvSpPr>
        <p:spPr>
          <a:xfrm>
            <a:off x="457200" y="19431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Demand Forecasting at H&amp;M</a:t>
            </a:r>
            <a:endParaRPr lang="en-US" sz="3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107FCBC-4B1B-1608-1CD8-1461E7AE4C23}"/>
              </a:ext>
            </a:extLst>
          </p:cNvPr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Handout</a:t>
            </a:r>
            <a:b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299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31399-A918-CB5A-64F5-76FEF088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154DFF-2485-C36E-5FBE-76295AEEBF7C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 descr="A close-up of a text  AI-generated content may be incorrect.">
            <a:extLst>
              <a:ext uri="{FF2B5EF4-FFF2-40B4-BE49-F238E27FC236}">
                <a16:creationId xmlns:a16="http://schemas.microsoft.com/office/drawing/2014/main" id="{6276A4AA-DCBE-8224-E32C-5B4E520C6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639" y="1985243"/>
            <a:ext cx="3942847" cy="1728544"/>
          </a:xfrm>
          <a:prstGeom prst="rect">
            <a:avLst/>
          </a:prstGeom>
        </p:spPr>
      </p:pic>
      <p:pic>
        <p:nvPicPr>
          <p:cNvPr id="10" name="Picture 9" descr="A black text on a white background  AI-generated content may be incorrect.">
            <a:extLst>
              <a:ext uri="{FF2B5EF4-FFF2-40B4-BE49-F238E27FC236}">
                <a16:creationId xmlns:a16="http://schemas.microsoft.com/office/drawing/2014/main" id="{F1D7A368-6204-C13E-0E91-588EAC3F4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80854"/>
            <a:ext cx="4475781" cy="1248860"/>
          </a:xfrm>
          <a:prstGeom prst="rect">
            <a:avLst/>
          </a:prstGeom>
        </p:spPr>
      </p:pic>
      <p:pic>
        <p:nvPicPr>
          <p:cNvPr id="12" name="Picture 11" descr="A group of people walking on a street  AI-generated content may be incorrect.">
            <a:extLst>
              <a:ext uri="{FF2B5EF4-FFF2-40B4-BE49-F238E27FC236}">
                <a16:creationId xmlns:a16="http://schemas.microsoft.com/office/drawing/2014/main" id="{70960105-43C9-092A-D822-FC67FB085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9714"/>
            <a:ext cx="4317440" cy="371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41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DA039-1651-46BA-90D4-AC5EEF690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A367B6-7385-FFDA-61C9-2415E6BEBE4E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Picture 3" descr="A screenshot of a social media post  AI-generated content may be incorrect.">
            <a:extLst>
              <a:ext uri="{FF2B5EF4-FFF2-40B4-BE49-F238E27FC236}">
                <a16:creationId xmlns:a16="http://schemas.microsoft.com/office/drawing/2014/main" id="{01D83D5B-C401-F0CB-9E0B-EED5A68D7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684" y="296149"/>
            <a:ext cx="6052631" cy="2384089"/>
          </a:xfrm>
          <a:prstGeom prst="rect">
            <a:avLst/>
          </a:prstGeom>
        </p:spPr>
      </p:pic>
      <p:pic>
        <p:nvPicPr>
          <p:cNvPr id="7" name="Picture 6" descr="A white text with black text  AI-generated content may be incorrect.">
            <a:extLst>
              <a:ext uri="{FF2B5EF4-FFF2-40B4-BE49-F238E27FC236}">
                <a16:creationId xmlns:a16="http://schemas.microsoft.com/office/drawing/2014/main" id="{151E0351-A1BF-4E92-186B-090E322BF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529" y="3018551"/>
            <a:ext cx="39243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51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32200" y="2320290"/>
            <a:ext cx="187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/sessions/gifted-affectionate-thompson/build/w1images/image1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3506724"/>
            <a:ext cx="1613915" cy="161391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What is Machine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59"/>
            <a:ext cx="8321040" cy="356615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Branch of artificial intelligence focused on prediction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Mostly uses structured, tabular data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Extension of statistics, but we care much less about parameter estimates, confidence intervals, p-values – just want to make good predictions!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What is a Model?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8303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Most standard setup: Develop using </a:t>
            </a:r>
            <a:r>
              <a:rPr lang="en-US" sz="20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training examples 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(input and output data pairs), and produce a prediction</a:t>
            </a:r>
            <a:b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Two types: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71650" y="1855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186994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Predict a number </a:t>
            </a:r>
            <a:r>
              <a:rPr lang="en-US" sz="1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“Sales next month?”</a:t>
            </a:r>
            <a:endParaRPr lang="en-US" sz="2000" i="1" dirty="0"/>
          </a:p>
        </p:txBody>
      </p:sp>
      <p:sp>
        <p:nvSpPr>
          <p:cNvPr id="11" name="Text 9"/>
          <p:cNvSpPr/>
          <p:nvPr/>
        </p:nvSpPr>
        <p:spPr>
          <a:xfrm>
            <a:off x="1771650" y="2205417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205417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Predict a category </a:t>
            </a:r>
            <a:r>
              <a:rPr lang="en-US" sz="1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“Will this shopper make a purchase?”</a:t>
            </a:r>
            <a:endParaRPr lang="en-US" sz="20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1F6D9A-4D3B-B502-511A-6188C6A8FB65}"/>
              </a:ext>
            </a:extLst>
          </p:cNvPr>
          <p:cNvSpPr txBox="1"/>
          <p:nvPr/>
        </p:nvSpPr>
        <p:spPr>
          <a:xfrm>
            <a:off x="3406140" y="3298426"/>
            <a:ext cx="22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Some complicated relationship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591AEA-9EBE-0BEB-E708-9A8AD2F16BE2}"/>
              </a:ext>
            </a:extLst>
          </p:cNvPr>
          <p:cNvSpPr txBox="1"/>
          <p:nvPr/>
        </p:nvSpPr>
        <p:spPr>
          <a:xfrm>
            <a:off x="920115" y="3261275"/>
            <a:ext cx="2299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Color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Month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Product category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0F8512-CFB3-B901-0AEA-31FD4C50709C}"/>
              </a:ext>
            </a:extLst>
          </p:cNvPr>
          <p:cNvSpPr txBox="1"/>
          <p:nvPr/>
        </p:nvSpPr>
        <p:spPr>
          <a:xfrm>
            <a:off x="6890004" y="3416230"/>
            <a:ext cx="83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5E83D8E9-E170-30D3-9075-D3EFBC8663FE}"/>
              </a:ext>
            </a:extLst>
          </p:cNvPr>
          <p:cNvSpPr/>
          <p:nvPr/>
        </p:nvSpPr>
        <p:spPr>
          <a:xfrm>
            <a:off x="2417445" y="3563030"/>
            <a:ext cx="914400" cy="171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A6862EA-1363-C393-C69C-72CE916CA23C}"/>
              </a:ext>
            </a:extLst>
          </p:cNvPr>
          <p:cNvSpPr/>
          <p:nvPr/>
        </p:nvSpPr>
        <p:spPr>
          <a:xfrm>
            <a:off x="5840730" y="3515171"/>
            <a:ext cx="914400" cy="171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202D51-8D28-FAA1-5FAC-783F1861DC2B}"/>
              </a:ext>
            </a:extLst>
          </p:cNvPr>
          <p:cNvSpPr txBox="1"/>
          <p:nvPr/>
        </p:nvSpPr>
        <p:spPr>
          <a:xfrm>
            <a:off x="920115" y="2928157"/>
            <a:ext cx="148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9B85BB-C8E5-A3C0-C6F4-1998E61FCA22}"/>
              </a:ext>
            </a:extLst>
          </p:cNvPr>
          <p:cNvSpPr txBox="1"/>
          <p:nvPr/>
        </p:nvSpPr>
        <p:spPr>
          <a:xfrm>
            <a:off x="6455664" y="2928157"/>
            <a:ext cx="148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6E34-2226-EC59-CFC5-13938C34BAEE}"/>
              </a:ext>
            </a:extLst>
          </p:cNvPr>
          <p:cNvSpPr txBox="1"/>
          <p:nvPr/>
        </p:nvSpPr>
        <p:spPr>
          <a:xfrm>
            <a:off x="1322165" y="4634893"/>
            <a:ext cx="379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models try to approximate this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71D24C57-423C-23D3-5CDD-2B1DC411F939}"/>
              </a:ext>
            </a:extLst>
          </p:cNvPr>
          <p:cNvSpPr/>
          <p:nvPr/>
        </p:nvSpPr>
        <p:spPr>
          <a:xfrm>
            <a:off x="4640581" y="3981365"/>
            <a:ext cx="307088" cy="646330"/>
          </a:xfrm>
          <a:custGeom>
            <a:avLst/>
            <a:gdLst>
              <a:gd name="csX0" fmla="*/ 0 w 299595"/>
              <a:gd name="csY0" fmla="*/ 571500 h 571500"/>
              <a:gd name="csX1" fmla="*/ 285750 w 299595"/>
              <a:gd name="csY1" fmla="*/ 354330 h 571500"/>
              <a:gd name="csX2" fmla="*/ 228600 w 299595"/>
              <a:gd name="csY2" fmla="*/ 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9595" h="571500">
                <a:moveTo>
                  <a:pt x="0" y="571500"/>
                </a:moveTo>
                <a:cubicBezTo>
                  <a:pt x="123825" y="510540"/>
                  <a:pt x="247650" y="449580"/>
                  <a:pt x="285750" y="354330"/>
                </a:cubicBezTo>
                <a:cubicBezTo>
                  <a:pt x="323850" y="259080"/>
                  <a:pt x="276225" y="129540"/>
                  <a:pt x="228600" y="0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H&amp;M sales data: Each row = one product-month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755094"/>
              </p:ext>
            </p:extLst>
          </p:nvPr>
        </p:nvGraphicFramePr>
        <p:xfrm>
          <a:off x="548640" y="1353312"/>
          <a:ext cx="6291070" cy="1737360"/>
        </p:xfrm>
        <a:graphic>
          <a:graphicData uri="http://schemas.openxmlformats.org/drawingml/2006/table">
            <a:tbl>
              <a:tblPr/>
              <a:tblGrid>
                <a:gridCol w="1258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8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214">
                  <a:extLst>
                    <a:ext uri="{9D8B030D-6E8A-4147-A177-3AD203B41FA5}">
                      <a16:colId xmlns:a16="http://schemas.microsoft.com/office/drawing/2014/main" val="356044164"/>
                    </a:ext>
                  </a:extLst>
                </a:gridCol>
                <a:gridCol w="1258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$42.50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T-Shirt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$38.00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February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T-Shirt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$55.00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T-Shirt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$55.00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February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T-Shirt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Left Brace 6">
            <a:extLst>
              <a:ext uri="{FF2B5EF4-FFF2-40B4-BE49-F238E27FC236}">
                <a16:creationId xmlns:a16="http://schemas.microsoft.com/office/drawing/2014/main" id="{9B98327F-AE16-504C-BBDE-B45E5E52C08C}"/>
              </a:ext>
            </a:extLst>
          </p:cNvPr>
          <p:cNvSpPr/>
          <p:nvPr/>
        </p:nvSpPr>
        <p:spPr>
          <a:xfrm rot="16200000">
            <a:off x="3564445" y="1479613"/>
            <a:ext cx="274321" cy="373418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D55472-0E61-CB48-2195-DCE2F5FCCAD5}"/>
              </a:ext>
            </a:extLst>
          </p:cNvPr>
          <p:cNvSpPr txBox="1"/>
          <p:nvPr/>
        </p:nvSpPr>
        <p:spPr>
          <a:xfrm>
            <a:off x="3164395" y="3602734"/>
            <a:ext cx="107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C2725-316E-FC88-05A2-D91318AD4700}"/>
              </a:ext>
            </a:extLst>
          </p:cNvPr>
          <p:cNvSpPr txBox="1"/>
          <p:nvPr/>
        </p:nvSpPr>
        <p:spPr>
          <a:xfrm>
            <a:off x="5877875" y="3602734"/>
            <a:ext cx="71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9143E6-D3AD-8E8B-B5B0-E9E46DCDF6D7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237635" y="3209542"/>
            <a:ext cx="1" cy="3931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7A872F-D270-D316-CA68-52FDBD55AE83}"/>
              </a:ext>
            </a:extLst>
          </p:cNvPr>
          <p:cNvSpPr txBox="1"/>
          <p:nvPr/>
        </p:nvSpPr>
        <p:spPr>
          <a:xfrm>
            <a:off x="1411605" y="4365258"/>
            <a:ext cx="6320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First ML model? Linear regression!</a:t>
            </a:r>
          </a:p>
        </p:txBody>
      </p:sp>
    </p:spTree>
    <p:extLst>
      <p:ext uri="{BB962C8B-B14F-4D97-AF65-F5344CB8AC3E}">
        <p14:creationId xmlns:p14="http://schemas.microsoft.com/office/powerpoint/2010/main" val="408884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A4D0A-AB92-DBD1-7335-85997479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1FE64C-05B2-CC77-1473-012596E47703}"/>
              </a:ext>
            </a:extLst>
          </p:cNvPr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953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Linear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972B6F5-3B3F-69D7-8FF7-C45B18330467}"/>
              </a:ext>
            </a:extLst>
          </p:cNvPr>
          <p:cNvSpPr/>
          <p:nvPr/>
        </p:nvSpPr>
        <p:spPr>
          <a:xfrm>
            <a:off x="457200" y="1348740"/>
            <a:ext cx="832104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353EA1B-77C5-C26A-5667-24D3C23575DF}"/>
              </a:ext>
            </a:extLst>
          </p:cNvPr>
          <p:cNvSpPr/>
          <p:nvPr/>
        </p:nvSpPr>
        <p:spPr>
          <a:xfrm>
            <a:off x="640080" y="13487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atin typeface="Arial" pitchFamily="34" charset="0"/>
                <a:ea typeface="Arial" pitchFamily="34" charset="-122"/>
                <a:cs typeface="Arial" pitchFamily="34" charset="-120"/>
              </a:rPr>
              <a:t>ŷ = β₀ + β₁x₁ + β₂x₂ + ... + β</a:t>
            </a:r>
            <a:r>
              <a:rPr lang="en-US" sz="2200" baseline="-25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2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2200" baseline="-25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baseline="-250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71E57C4E-5F0A-6CAF-152B-C8AAC1143D0B}"/>
              </a:ext>
            </a:extLst>
          </p:cNvPr>
          <p:cNvSpPr/>
          <p:nvPr/>
        </p:nvSpPr>
        <p:spPr>
          <a:xfrm>
            <a:off x="457200" y="2571750"/>
            <a:ext cx="832104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14E7109-0800-B31D-8907-91FB0EEE90E1}"/>
              </a:ext>
            </a:extLst>
          </p:cNvPr>
          <p:cNvSpPr/>
          <p:nvPr/>
        </p:nvSpPr>
        <p:spPr>
          <a:xfrm>
            <a:off x="640080" y="257175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sales = β₀ + β₁ *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price 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+ β₂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*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onSale</a:t>
            </a:r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6E5501-4340-2EC6-176B-B54A23EFA8E5}"/>
              </a:ext>
            </a:extLst>
          </p:cNvPr>
          <p:cNvSpPr txBox="1"/>
          <p:nvPr/>
        </p:nvSpPr>
        <p:spPr>
          <a:xfrm>
            <a:off x="331470" y="3961852"/>
            <a:ext cx="3934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x: features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y: label</a:t>
            </a:r>
          </a:p>
          <a:p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β: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 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model “weights”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B21C39-2245-3318-210B-9079CC3AE99D}"/>
              </a:ext>
            </a:extLst>
          </p:cNvPr>
          <p:cNvSpPr txBox="1"/>
          <p:nvPr/>
        </p:nvSpPr>
        <p:spPr>
          <a:xfrm>
            <a:off x="6046470" y="1040963"/>
            <a:ext cx="285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(General linear regression model)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9B2BAA-2E14-58B8-509B-4A8EE179AA7A}"/>
              </a:ext>
            </a:extLst>
          </p:cNvPr>
          <p:cNvSpPr txBox="1"/>
          <p:nvPr/>
        </p:nvSpPr>
        <p:spPr>
          <a:xfrm>
            <a:off x="7095744" y="2263973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(An example model)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D15D4-2BAF-F076-DEBF-71CF13C788B2}"/>
              </a:ext>
            </a:extLst>
          </p:cNvPr>
          <p:cNvSpPr txBox="1"/>
          <p:nvPr/>
        </p:nvSpPr>
        <p:spPr>
          <a:xfrm>
            <a:off x="3800475" y="4498955"/>
            <a:ext cx="4977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do we find the best weights?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2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Model Training: Finding “Best” Weights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β values that minimize a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function:</a:t>
            </a:r>
            <a:endParaRPr lang="en-US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3F85980-317B-F76E-A244-2207CDE3FE5B}"/>
              </a:ext>
            </a:extLst>
          </p:cNvPr>
          <p:cNvSpPr/>
          <p:nvPr/>
        </p:nvSpPr>
        <p:spPr>
          <a:xfrm>
            <a:off x="457200" y="2286000"/>
            <a:ext cx="8229600" cy="2171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Measures the mismatch between model predictions under 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the true labels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Finding the best 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β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is an optimization problem</a:t>
            </a:r>
          </a:p>
          <a:p>
            <a:endParaRPr lang="en-US" dirty="0">
              <a:latin typeface="Arial" pitchFamily="34" charset="0"/>
              <a:cs typeface="Arial" pitchFamily="34" charset="-120"/>
            </a:endParaRPr>
          </a:p>
          <a:p>
            <a:r>
              <a:rPr lang="en-US" dirty="0">
                <a:latin typeface="Arial" pitchFamily="34" charset="0"/>
                <a:cs typeface="Arial" pitchFamily="34" charset="-120"/>
              </a:rPr>
              <a:t>Whenever you hear “model training” think “finding optimal or good enough weights”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86219F-8D7A-FA74-9258-5D352FEF7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1406419"/>
            <a:ext cx="7772400" cy="9727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88614A-8BEA-00FD-3584-BD9A5ED07B1E}"/>
              </a:ext>
            </a:extLst>
          </p:cNvPr>
          <p:cNvSpPr txBox="1"/>
          <p:nvPr/>
        </p:nvSpPr>
        <p:spPr>
          <a:xfrm>
            <a:off x="2724277" y="2225307"/>
            <a:ext cx="1497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 sales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D4820-0947-D7FD-8130-E345235B1133}"/>
              </a:ext>
            </a:extLst>
          </p:cNvPr>
          <p:cNvSpPr txBox="1"/>
          <p:nvPr/>
        </p:nvSpPr>
        <p:spPr>
          <a:xfrm>
            <a:off x="5215890" y="2225308"/>
            <a:ext cx="1497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predicted sales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11B6C6-57A0-2397-1E20-7A3B344ABBE0}"/>
              </a:ext>
            </a:extLst>
          </p:cNvPr>
          <p:cNvCxnSpPr/>
          <p:nvPr/>
        </p:nvCxnSpPr>
        <p:spPr>
          <a:xfrm flipH="1" flipV="1">
            <a:off x="3086100" y="2057400"/>
            <a:ext cx="102870" cy="167907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>
            <a:extLst>
              <a:ext uri="{FF2B5EF4-FFF2-40B4-BE49-F238E27FC236}">
                <a16:creationId xmlns:a16="http://schemas.microsoft.com/office/drawing/2014/main" id="{7B115ACE-CADA-3CE4-BEE1-EF269CF987CF}"/>
              </a:ext>
            </a:extLst>
          </p:cNvPr>
          <p:cNvSpPr/>
          <p:nvPr/>
        </p:nvSpPr>
        <p:spPr>
          <a:xfrm rot="5400000">
            <a:off x="5712017" y="97027"/>
            <a:ext cx="157162" cy="422078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2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8D591-11EA-A5B0-DEF6-1D5262A0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28495E-2736-4654-D102-97997B874FE2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A48F4E-9145-F3AE-189A-D628A94746E8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Loss Surface</a:t>
            </a:r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66CCB48-6F30-4283-7139-B75B0DAB73E7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EBC4AD80-A462-ABB3-31CC-41D491801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7" t="11734" b="7645"/>
          <a:stretch>
            <a:fillRect/>
          </a:stretch>
        </p:blipFill>
        <p:spPr>
          <a:xfrm>
            <a:off x="178308" y="1070703"/>
            <a:ext cx="5559095" cy="3798477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A63BA5A8-F4F5-34BB-38F7-3F6E32625B30}"/>
              </a:ext>
            </a:extLst>
          </p:cNvPr>
          <p:cNvSpPr/>
          <p:nvPr/>
        </p:nvSpPr>
        <p:spPr>
          <a:xfrm>
            <a:off x="5634990" y="1070702"/>
            <a:ext cx="3051810" cy="2918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Optimal weights 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β*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found by minimizing the loss function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Lots of Python packages etc. to handle this -- we will skip details for now</a:t>
            </a:r>
          </a:p>
        </p:txBody>
      </p:sp>
    </p:spTree>
    <p:extLst>
      <p:ext uri="{BB962C8B-B14F-4D97-AF65-F5344CB8AC3E}">
        <p14:creationId xmlns:p14="http://schemas.microsoft.com/office/powerpoint/2010/main" val="12958755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Making Predictions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trained coefficients, prediction is simple arithmetic: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32104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sales = 850 - 15 * Price + 50 *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onSale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Calculation: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Given: price = $38, </a:t>
            </a: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onSale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= 850 + (-15)(38) + (50)(1)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850 - 570 + 50</a:t>
            </a:r>
            <a:br>
              <a:rPr lang="en-US" sz="2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2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330 units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Evaluating Prediction Error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2880360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“Mean Absolute Error”: average of |actual - predicted| across all observations. Easier to interpret: "on average, we're off by X units"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30552" y="20650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" y="1379220"/>
            <a:ext cx="8156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RMSE: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“Root Mean Squared Error”: average (actual - predicted)², then square-root it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30552" y="10845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Best Practices: Train/Test Split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Test set represents future, unseen data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Detects </a:t>
            </a:r>
            <a:r>
              <a:rPr lang="en-US" sz="2400" i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overfitting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(memorization vs learning)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Test set is locked until final evaluation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6217920" cy="4572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(80%)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2926080"/>
            <a:ext cx="2103120" cy="4572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(20%)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↓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Find β weights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5120" y="3680460"/>
            <a:ext cx="210312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Evaluate prediction errors once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4CC6D90-9B63-B3C7-8700-847BF8957625}"/>
              </a:ext>
            </a:extLst>
          </p:cNvPr>
          <p:cNvSpPr/>
          <p:nvPr/>
        </p:nvSpPr>
        <p:spPr>
          <a:xfrm rot="20158012">
            <a:off x="325465" y="1503335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8BB8E8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15-min Break</a:t>
            </a:r>
            <a:endParaRPr lang="en-US" sz="6000" dirty="0">
              <a:solidFill>
                <a:srgbClr val="8BB8E8"/>
              </a:solidFill>
            </a:endParaRPr>
          </a:p>
        </p:txBody>
      </p:sp>
      <p:pic>
        <p:nvPicPr>
          <p:cNvPr id="4" name="Picture 8" descr="Sleepy Robot 3D Icons - Free Download in PNG, glTF">
            <a:extLst>
              <a:ext uri="{FF2B5EF4-FFF2-40B4-BE49-F238E27FC236}">
                <a16:creationId xmlns:a16="http://schemas.microsoft.com/office/drawing/2014/main" id="{D622A21D-DF8E-B19D-D6F1-7A992E21A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204" y="3303270"/>
            <a:ext cx="1658124" cy="165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ABC84-A12B-B027-5057-7CEE9755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EA4EE2-4404-6C3F-E929-700E63719058}"/>
              </a:ext>
            </a:extLst>
          </p:cNvPr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2277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What to do when features are limited?</a:t>
            </a:r>
            <a:b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: Use existing features to create new features!</a:t>
            </a:r>
          </a:p>
          <a:p>
            <a:pPr>
              <a:spcAft>
                <a:spcPts val="600"/>
              </a:spcAft>
              <a:buSzPct val="100000"/>
            </a:pP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Example: We observe prices for each product-month. We can create new variable</a:t>
            </a:r>
            <a:b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</a:t>
            </a:r>
            <a:r>
              <a:rPr lang="en-US" sz="20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r>
              <a:rPr lang="en-US" sz="2000" i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PriceChange</a:t>
            </a:r>
            <a:r>
              <a:rPr lang="en-US" sz="2000" baseline="-25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0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= (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r>
              <a:rPr lang="en-US" sz="2000" baseline="-25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– Price</a:t>
            </a:r>
            <a:r>
              <a:rPr lang="en-US" sz="2000" baseline="-25000" dirty="0">
                <a:latin typeface="Arial" pitchFamily="34" charset="0"/>
                <a:ea typeface="Arial" pitchFamily="34" charset="-122"/>
                <a:cs typeface="Arial" pitchFamily="34" charset="-120"/>
              </a:rPr>
              <a:t>t-1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) / Price</a:t>
            </a:r>
            <a:r>
              <a:rPr lang="en-US" sz="2000" baseline="-25000" dirty="0">
                <a:latin typeface="Arial" pitchFamily="34" charset="0"/>
                <a:ea typeface="Arial" pitchFamily="34" charset="-122"/>
                <a:cs typeface="Arial" pitchFamily="34" charset="-120"/>
              </a:rPr>
              <a:t>t-1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b="1" dirty="0">
              <a:solidFill>
                <a:srgbClr val="00558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What other new features would make sense for H&amp;M sales prediction?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Feature Engineering: Proceed with Caution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Feature engineering allows for richer models by increasing predictors</a:t>
            </a:r>
            <a:b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But can risk overfitting depending on how many features we have vs. data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b="1" dirty="0"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Overfitting: Model is too complex for available data, fits to random noise instead of extracting real signal</a:t>
            </a:r>
            <a:b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Warning signs: test error much higher than training error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Picture 3" descr="A diagram of a curve&#10;&#10;AI-generated content may be incorrect.">
            <a:extLst>
              <a:ext uri="{FF2B5EF4-FFF2-40B4-BE49-F238E27FC236}">
                <a16:creationId xmlns:a16="http://schemas.microsoft.com/office/drawing/2014/main" id="{D1AB0496-878C-DE35-F5D1-34C231DC5C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870"/>
          <a:stretch>
            <a:fillRect/>
          </a:stretch>
        </p:blipFill>
        <p:spPr>
          <a:xfrm>
            <a:off x="371144" y="740697"/>
            <a:ext cx="8401711" cy="290547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Regularization:</a:t>
            </a:r>
            <a:endParaRPr lang="en-US" sz="3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Preventing Overfitting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Regularization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Regularization refers to any method that aims to limit model complexity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 linear regression, regularization means </a:t>
            </a:r>
            <a:r>
              <a:rPr lang="en-US" sz="2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shrinking large model weights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C59F-5E7E-FC96-B0D2-FBEFA45F9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9332CD-E5EF-8D97-7461-80A75BE9A84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B04852-516C-1DAD-9958-40B60426378E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Baseline: Standard Linear Regression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66652-59A9-615C-2BB2-638402F0A1E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A79B20-4171-7BAE-C42D-4ABDBE590609}"/>
              </a:ext>
            </a:extLst>
          </p:cNvPr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Regularization refers to any method that aims to limit model complexity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 linear regression, regularization means </a:t>
            </a:r>
            <a:r>
              <a:rPr lang="en-US" sz="2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shrinking large model weights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B5FBD1-10FE-7BE5-64DF-1D6C23A7F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22513"/>
            <a:ext cx="7772400" cy="10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724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LASSO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5205"/>
              </p:ext>
            </p:extLst>
          </p:nvPr>
        </p:nvGraphicFramePr>
        <p:xfrm>
          <a:off x="640080" y="2571750"/>
          <a:ext cx="7863840" cy="1737360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λ=0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λ=1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λ=10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λ=100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-2.5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-2.3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-1.8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+3.2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+2.9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+1.5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February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+45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+42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+30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+12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black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+0.3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+0.1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striped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44577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Most predictive features survive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019AE-F007-4825-6023-67F35A80E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925830"/>
            <a:ext cx="45720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C3FA-6E48-7739-FB1D-2DDC4D7CD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04AA29-A60C-96A2-ED7F-1E056165B84B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C3C3A3-FCDA-CFF7-4B9D-AC35908A1124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Best Practices: Feature Standardization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E72108-2D56-BB56-4493-C6585DB47CD6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1F7774-7D8B-32A0-076A-F9F77B15DEE3}"/>
              </a:ext>
            </a:extLst>
          </p:cNvPr>
          <p:cNvSpPr/>
          <p:nvPr/>
        </p:nvSpPr>
        <p:spPr>
          <a:xfrm>
            <a:off x="393700" y="9601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Features have different scales</a:t>
            </a:r>
            <a:endParaRPr lang="en-US" sz="15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C1AFD532-D747-3EF8-AB90-393DDF6639E4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371600"/>
          <a:ext cx="3840480" cy="8229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$10 – $150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productAge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1-10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4">
            <a:extLst>
              <a:ext uri="{FF2B5EF4-FFF2-40B4-BE49-F238E27FC236}">
                <a16:creationId xmlns:a16="http://schemas.microsoft.com/office/drawing/2014/main" id="{0007BBCC-2CAA-C83D-6F0B-C5D332D4ADA1}"/>
              </a:ext>
            </a:extLst>
          </p:cNvPr>
          <p:cNvSpPr/>
          <p:nvPr/>
        </p:nvSpPr>
        <p:spPr>
          <a:xfrm>
            <a:off x="47548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Rescaling formula: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9C04DCE-03E8-BE5F-F2B4-73CC6FC3C050}"/>
              </a:ext>
            </a:extLst>
          </p:cNvPr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E88191C-CAD5-B04F-E581-39153C9E6E66}"/>
              </a:ext>
            </a:extLst>
          </p:cNvPr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(x - mean) / std_dev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3255BCA-1397-48BC-B8F6-66C03C896F9A}"/>
              </a:ext>
            </a:extLst>
          </p:cNvPr>
          <p:cNvSpPr/>
          <p:nvPr/>
        </p:nvSpPr>
        <p:spPr>
          <a:xfrm>
            <a:off x="393700" y="254889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400" dirty="0"/>
          </a:p>
        </p:txBody>
      </p:sp>
      <p:graphicFrame>
        <p:nvGraphicFramePr>
          <p:cNvPr id="13" name="Table 1">
            <a:extLst>
              <a:ext uri="{FF2B5EF4-FFF2-40B4-BE49-F238E27FC236}">
                <a16:creationId xmlns:a16="http://schemas.microsoft.com/office/drawing/2014/main" id="{B51BE593-AA21-AEF1-F674-4DC9BFF89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567886"/>
              </p:ext>
            </p:extLst>
          </p:nvPr>
        </p:nvGraphicFramePr>
        <p:xfrm>
          <a:off x="1828800" y="2571750"/>
          <a:ext cx="5486400" cy="822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Before (raw)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(scaled)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42.50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productAge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>
            <a:extLst>
              <a:ext uri="{FF2B5EF4-FFF2-40B4-BE49-F238E27FC236}">
                <a16:creationId xmlns:a16="http://schemas.microsoft.com/office/drawing/2014/main" id="{3D3D8F80-01BE-E342-E55A-72B95F78D52D}"/>
              </a:ext>
            </a:extLst>
          </p:cNvPr>
          <p:cNvSpPr/>
          <p:nvPr/>
        </p:nvSpPr>
        <p:spPr>
          <a:xfrm>
            <a:off x="2921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All features now have mean=0, std=1</a:t>
            </a:r>
            <a:b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Makes LASSO penalty apply “more evenly” across variables</a:t>
            </a:r>
          </a:p>
          <a:p>
            <a:pPr marL="0" indent="0">
              <a:buNone/>
            </a:pPr>
            <a:endParaRPr lang="en-US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Also allows for direct comparison of coefficient weights</a:t>
            </a:r>
          </a:p>
        </p:txBody>
      </p:sp>
    </p:spTree>
    <p:extLst>
      <p:ext uri="{BB962C8B-B14F-4D97-AF65-F5344CB8AC3E}">
        <p14:creationId xmlns:p14="http://schemas.microsoft.com/office/powerpoint/2010/main" val="20074167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Ridge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394983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vs LASSO (λ=10):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39195"/>
              </p:ext>
            </p:extLst>
          </p:nvPr>
        </p:nvGraphicFramePr>
        <p:xfrm>
          <a:off x="502920" y="2679599"/>
          <a:ext cx="7863840" cy="179832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Reg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LASSO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Ridge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+3.2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+1.5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+2.6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February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+30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+39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black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+0.3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(removed)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+0.2 (kept)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striped</a:t>
                      </a: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(removed)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-0.6 (kept)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8F314F1A-F318-A165-28CD-5A247111115E}"/>
              </a:ext>
            </a:extLst>
          </p:cNvPr>
          <p:cNvSpPr/>
          <p:nvPr/>
        </p:nvSpPr>
        <p:spPr>
          <a:xfrm>
            <a:off x="502920" y="4579655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Arial" pitchFamily="34" charset="0"/>
                <a:cs typeface="Arial" pitchFamily="34" charset="-120"/>
              </a:rPr>
              <a:t>Does not fully eliminate variables from model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131E9A-0EA9-2C53-79D1-028A3A575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140" y="924696"/>
            <a:ext cx="3807460" cy="122857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ElasticNet: Best of Both Worlds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0DD4D-D901-C17F-6ED6-E69DD4E74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03444"/>
            <a:ext cx="7772400" cy="149690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4318AF0-CFAC-6E5E-DD0F-9457C5317C55}"/>
              </a:ext>
            </a:extLst>
          </p:cNvPr>
          <p:cNvSpPr/>
          <p:nvPr/>
        </p:nvSpPr>
        <p:spPr>
          <a:xfrm>
            <a:off x="558800" y="3339845"/>
            <a:ext cx="7899400" cy="1620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how strongly to regularize (a positive number)</a:t>
            </a:r>
            <a:b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- how strongly the regularization leans toward LASSO vs. Ridge (between 0 and 1)</a:t>
            </a:r>
            <a:endParaRPr 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28DE2-8112-09F1-46A2-FD8138FAA995}"/>
              </a:ext>
            </a:extLst>
          </p:cNvPr>
          <p:cNvSpPr txBox="1"/>
          <p:nvPr/>
        </p:nvSpPr>
        <p:spPr>
          <a:xfrm>
            <a:off x="4719320" y="2943080"/>
            <a:ext cx="86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4284C-636D-8789-21DE-AF64881F1A0F}"/>
              </a:ext>
            </a:extLst>
          </p:cNvPr>
          <p:cNvSpPr txBox="1"/>
          <p:nvPr/>
        </p:nvSpPr>
        <p:spPr>
          <a:xfrm>
            <a:off x="6992620" y="2941793"/>
            <a:ext cx="104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LASSO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50DE021-048A-4825-0586-F202739EE388}"/>
              </a:ext>
            </a:extLst>
          </p:cNvPr>
          <p:cNvSpPr/>
          <p:nvPr/>
        </p:nvSpPr>
        <p:spPr>
          <a:xfrm rot="16200000">
            <a:off x="5014391" y="1715912"/>
            <a:ext cx="153146" cy="229861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FF4B706A-CF64-ED58-279A-D2D80E49F61F}"/>
              </a:ext>
            </a:extLst>
          </p:cNvPr>
          <p:cNvSpPr/>
          <p:nvPr/>
        </p:nvSpPr>
        <p:spPr>
          <a:xfrm rot="16200000">
            <a:off x="7443861" y="2195190"/>
            <a:ext cx="153146" cy="141833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44474-6887-40E0-690B-123B9B769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24DAC1-8E3D-D2E6-1E43-CDBA6B61CBB7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6A4239-33AC-A2C9-80E1-260973A7B442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Cross-Validation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CC4CA0-0C02-1BD7-2CE6-9A3146B03EB1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52" name="Picture 4" descr="3.1. Cross-validation: evaluating estimator performance — scikit-learn  1.8.0 documentation">
            <a:extLst>
              <a:ext uri="{FF2B5EF4-FFF2-40B4-BE49-F238E27FC236}">
                <a16:creationId xmlns:a16="http://schemas.microsoft.com/office/drawing/2014/main" id="{FE3EE108-46A9-E4F0-7AAD-E6B47B9BB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740" y="960120"/>
            <a:ext cx="5792060" cy="401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8D97820-5EF0-00C8-2213-784977B50B71}"/>
              </a:ext>
            </a:extLst>
          </p:cNvPr>
          <p:cNvSpPr/>
          <p:nvPr/>
        </p:nvSpPr>
        <p:spPr>
          <a:xfrm>
            <a:off x="457200" y="960120"/>
            <a:ext cx="2686050" cy="907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choose best penalty parameters through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126849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Regularization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560320" cy="731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38988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" y="1719072"/>
            <a:ext cx="234086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78308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1947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 (zeros)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21945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" y="22860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Features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" y="245059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21945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" y="27889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" y="295351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3246120"/>
            <a:ext cx="21945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91840" y="128016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91840" y="1280160"/>
            <a:ext cx="2560320" cy="73152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01568" y="138988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01568" y="1719072"/>
            <a:ext cx="234086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01568" y="178308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01568" y="1947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74720" y="2240280"/>
            <a:ext cx="21945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01568" y="22860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Features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01568" y="245059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Excellent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74720" y="2743200"/>
            <a:ext cx="21945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01568" y="27889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01568" y="295351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features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1945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128016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0760" y="1280160"/>
            <a:ext cx="2560320" cy="7315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90488" y="138988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ElasticNet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90488" y="1719072"/>
            <a:ext cx="234086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90488" y="178308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90488" y="1947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Partial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63640" y="2240280"/>
            <a:ext cx="21945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90488" y="22860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Features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0488" y="245059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Good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63640" y="2743200"/>
            <a:ext cx="21945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90488" y="27889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90488" y="295351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purpose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63640" y="3246120"/>
            <a:ext cx="21945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B90EF-9B15-661B-6932-358B5DCA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8FFC3D-E102-55AE-6403-3A6AF64484FB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4EEA07-94EC-4EF9-CA6F-EE614C2C0076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 Standard ML Pipeline </a:t>
            </a:r>
            <a:r>
              <a:rPr lang="en-US" sz="2800" b="1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for Linear Regression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9AF4D3E-4794-2D86-028F-727C206AB6C3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F271C61-4CD9-8F7C-141B-723172CE911E}"/>
              </a:ext>
            </a:extLst>
          </p:cNvPr>
          <p:cNvSpPr/>
          <p:nvPr/>
        </p:nvSpPr>
        <p:spPr>
          <a:xfrm>
            <a:off x="457200" y="1051560"/>
            <a:ext cx="8321040" cy="381762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Organize and clean data</a:t>
            </a:r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choose features (x) and label (y)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AutoNum type="arabicPeriod"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Engineer new features if needed based on context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Standardize features, create training/test split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Train model on training data; use cross validation for regularization parameters if using LASSO/Ridge/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ElasticNet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Report errors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2516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lab: An easy way to learn and use TensorFlow | by TensorFlow | TensorFlow  | Medium">
            <a:hlinkClick r:id="rId3"/>
            <a:extLst>
              <a:ext uri="{FF2B5EF4-FFF2-40B4-BE49-F238E27FC236}">
                <a16:creationId xmlns:a16="http://schemas.microsoft.com/office/drawing/2014/main" id="{795F9E86-5328-359F-212C-5B6F8D1B6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758" y="1955918"/>
            <a:ext cx="2786483" cy="1231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1324-3684-DDE2-E5D5-CAFD0043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07705F-686D-74BF-DEC5-201C4DE88DBD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CBE9B-13DD-1B69-2D2F-F9EB8E477EB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In-Class Assignments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28ADBD-F6B8-6FBA-229B-731987C4CEE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F7E69C2B-3F59-5563-11CA-E5EE8A887893}"/>
              </a:ext>
            </a:extLst>
          </p:cNvPr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0E44EF4D-099F-C025-A884-F907D2B0E04B}"/>
              </a:ext>
            </a:extLst>
          </p:cNvPr>
          <p:cNvSpPr/>
          <p:nvPr/>
        </p:nvSpPr>
        <p:spPr>
          <a:xfrm>
            <a:off x="457200" y="97155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How this will work:</a:t>
            </a:r>
            <a:b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Each week’s in-class assignment has a web frontend on top of a Python backend </a:t>
            </a: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  <a:sym typeface="Wingdings" pitchFamily="2" charset="2"/>
              </a:rPr>
              <a:t> avoids the need to deal with code so you can focus on concepts</a:t>
            </a:r>
            <a:b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  <a:sym typeface="Wingdings" pitchFamily="2" charset="2"/>
              </a:rPr>
            </a:br>
            <a:b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Questions available on </a:t>
            </a:r>
            <a:r>
              <a:rPr lang="en-US" dirty="0" err="1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BruinLearn</a:t>
            </a: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as a PDF, add your responses and submit</a:t>
            </a:r>
          </a:p>
          <a:p>
            <a:pPr>
              <a:spcAft>
                <a:spcPts val="600"/>
              </a:spcAft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Due 5pm the day of class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with two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missed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assignments allowed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Individual, mostly graded “on completion”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978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3"/>
          </p:cNvPr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00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Assignment 1</a:t>
            </a:r>
            <a:endParaRPr lang="en-US" sz="3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Glossary (1/2)</a:t>
            </a:r>
          </a:p>
        </p:txBody>
      </p:sp>
      <p:sp>
        <p:nvSpPr>
          <p:cNvPr id="103" name="Rectangle"/>
          <p:cNvSpPr/>
          <p:nvPr/>
        </p:nvSpPr>
        <p:spPr>
          <a:xfrm>
            <a:off x="457200" y="896112"/>
            <a:ext cx="83210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457200" y="1051560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621792" y="1051560"/>
            <a:ext cx="25603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005587"/>
                </a:solidFill>
                <a:latin typeface="Arial"/>
              </a:rPr>
              <a:t>Machine </a:t>
            </a:r>
            <a:r>
              <a:rPr lang="en-US" sz="1300" b="1" dirty="0">
                <a:solidFill>
                  <a:srgbClr val="005587"/>
                </a:solidFill>
                <a:latin typeface="Arial"/>
              </a:rPr>
              <a:t>l</a:t>
            </a:r>
            <a:r>
              <a:rPr sz="1300" b="1" dirty="0">
                <a:solidFill>
                  <a:srgbClr val="005587"/>
                </a:solidFill>
                <a:latin typeface="Arial"/>
              </a:rPr>
              <a:t>earning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9271" y="105156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branch of AI where models learn patterns from data instead of being explicitly programmed with rules.</a:t>
            </a:r>
          </a:p>
        </p:txBody>
      </p:sp>
      <p:sp>
        <p:nvSpPr>
          <p:cNvPr id="107" name="Rectangle"/>
          <p:cNvSpPr/>
          <p:nvPr/>
        </p:nvSpPr>
        <p:spPr>
          <a:xfrm>
            <a:off x="457200" y="1490472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621792" y="1490472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Features (x)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19271" y="1490472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The input variables a model uses to make predictions, such as price or discount rate.</a:t>
            </a:r>
          </a:p>
        </p:txBody>
      </p:sp>
      <p:sp>
        <p:nvSpPr>
          <p:cNvPr id="110" name="Rectangle"/>
          <p:cNvSpPr/>
          <p:nvPr/>
        </p:nvSpPr>
        <p:spPr>
          <a:xfrm>
            <a:off x="457200" y="1929384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621792" y="1929384"/>
            <a:ext cx="25603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005587"/>
                </a:solidFill>
                <a:latin typeface="Arial"/>
              </a:rPr>
              <a:t>Label (y)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9271" y="1929384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The output variable the model is trying to predict, such as units sold.</a:t>
            </a:r>
          </a:p>
        </p:txBody>
      </p:sp>
      <p:sp>
        <p:nvSpPr>
          <p:cNvPr id="113" name="Rectangle"/>
          <p:cNvSpPr/>
          <p:nvPr/>
        </p:nvSpPr>
        <p:spPr>
          <a:xfrm>
            <a:off x="457200" y="2368296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621792" y="2368296"/>
            <a:ext cx="25603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 dirty="0">
                <a:solidFill>
                  <a:srgbClr val="005587"/>
                </a:solidFill>
                <a:latin typeface="Arial"/>
              </a:rPr>
              <a:t>Weights</a:t>
            </a:r>
            <a:endParaRPr sz="1300" b="1" dirty="0">
              <a:solidFill>
                <a:srgbClr val="005587"/>
              </a:solidFill>
              <a:latin typeface="Arial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319271" y="2368296"/>
            <a:ext cx="53035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000000"/>
                </a:solidFill>
                <a:latin typeface="Arial"/>
              </a:rPr>
              <a:t>Learned numerical 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values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that determine how much each feature influences the prediction.</a:t>
            </a:r>
          </a:p>
        </p:txBody>
      </p:sp>
      <p:sp>
        <p:nvSpPr>
          <p:cNvPr id="116" name="Rectangle"/>
          <p:cNvSpPr/>
          <p:nvPr/>
        </p:nvSpPr>
        <p:spPr>
          <a:xfrm>
            <a:off x="457200" y="2807208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621792" y="280720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Training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9271" y="2807208"/>
            <a:ext cx="53035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000000"/>
                </a:solidFill>
                <a:latin typeface="Arial"/>
              </a:rPr>
              <a:t>The process of finding the best model 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weights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by minimizing prediction error on known data.</a:t>
            </a:r>
          </a:p>
        </p:txBody>
      </p:sp>
      <p:sp>
        <p:nvSpPr>
          <p:cNvPr id="122" name="Rectangle"/>
          <p:cNvSpPr/>
          <p:nvPr/>
        </p:nvSpPr>
        <p:spPr>
          <a:xfrm>
            <a:off x="457200" y="3307842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Box 122"/>
          <p:cNvSpPr txBox="1"/>
          <p:nvPr/>
        </p:nvSpPr>
        <p:spPr>
          <a:xfrm>
            <a:off x="621792" y="3307842"/>
            <a:ext cx="25603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005587"/>
                </a:solidFill>
                <a:latin typeface="Arial"/>
              </a:rPr>
              <a:t>Loss </a:t>
            </a:r>
            <a:r>
              <a:rPr lang="en-US" sz="1300" b="1" dirty="0">
                <a:solidFill>
                  <a:srgbClr val="005587"/>
                </a:solidFill>
                <a:latin typeface="Arial"/>
              </a:rPr>
              <a:t>f</a:t>
            </a:r>
            <a:r>
              <a:rPr sz="1300" b="1" dirty="0">
                <a:solidFill>
                  <a:srgbClr val="005587"/>
                </a:solidFill>
                <a:latin typeface="Arial"/>
              </a:rPr>
              <a:t>unction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19271" y="3307842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formula that measures how wrong the model's predictions are; training tries to make this as small as possible.</a:t>
            </a:r>
          </a:p>
        </p:txBody>
      </p:sp>
      <p:sp>
        <p:nvSpPr>
          <p:cNvPr id="125" name="Rectangle"/>
          <p:cNvSpPr/>
          <p:nvPr/>
        </p:nvSpPr>
        <p:spPr>
          <a:xfrm>
            <a:off x="457200" y="3746754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621792" y="3746754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Overfitting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19271" y="3746754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When a model memorizes the training data (including noise) and performs poorly on new data.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Glossary (2/2)</a:t>
            </a:r>
          </a:p>
        </p:txBody>
      </p:sp>
      <p:sp>
        <p:nvSpPr>
          <p:cNvPr id="103" name="Rectangle"/>
          <p:cNvSpPr/>
          <p:nvPr/>
        </p:nvSpPr>
        <p:spPr>
          <a:xfrm>
            <a:off x="457200" y="896112"/>
            <a:ext cx="83210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621792" y="1051560"/>
            <a:ext cx="25603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005587"/>
                </a:solidFill>
                <a:latin typeface="Arial"/>
              </a:rPr>
              <a:t>Train/</a:t>
            </a:r>
            <a:r>
              <a:rPr lang="en-US" sz="1300" b="1" dirty="0">
                <a:solidFill>
                  <a:srgbClr val="005587"/>
                </a:solidFill>
                <a:latin typeface="Arial"/>
              </a:rPr>
              <a:t>t</a:t>
            </a:r>
            <a:r>
              <a:rPr sz="1300" b="1" dirty="0">
                <a:solidFill>
                  <a:srgbClr val="005587"/>
                </a:solidFill>
                <a:latin typeface="Arial"/>
              </a:rPr>
              <a:t>est </a:t>
            </a:r>
            <a:r>
              <a:rPr lang="en-US" sz="1300" b="1" dirty="0">
                <a:solidFill>
                  <a:srgbClr val="005587"/>
                </a:solidFill>
                <a:latin typeface="Arial"/>
              </a:rPr>
              <a:t>s</a:t>
            </a:r>
            <a:r>
              <a:rPr sz="1300" b="1" dirty="0">
                <a:solidFill>
                  <a:srgbClr val="005587"/>
                </a:solidFill>
                <a:latin typeface="Arial"/>
              </a:rPr>
              <a:t>plit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9271" y="1051560"/>
            <a:ext cx="53035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000000"/>
                </a:solidFill>
                <a:latin typeface="Arial"/>
              </a:rPr>
              <a:t>Dividing data into a training set (to learn from) and a held-out test set (to evaluate on), so we can 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evaluate performance and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detect overfitting.</a:t>
            </a:r>
          </a:p>
        </p:txBody>
      </p:sp>
      <p:sp>
        <p:nvSpPr>
          <p:cNvPr id="107" name="Rectangle"/>
          <p:cNvSpPr/>
          <p:nvPr/>
        </p:nvSpPr>
        <p:spPr>
          <a:xfrm>
            <a:off x="457200" y="1609344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621792" y="1609344"/>
            <a:ext cx="25603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005587"/>
                </a:solidFill>
                <a:latin typeface="Arial"/>
              </a:rPr>
              <a:t>Feature </a:t>
            </a:r>
            <a:r>
              <a:rPr lang="en-US" sz="1300" b="1" dirty="0">
                <a:solidFill>
                  <a:srgbClr val="005587"/>
                </a:solidFill>
                <a:latin typeface="Arial"/>
              </a:rPr>
              <a:t>e</a:t>
            </a:r>
            <a:r>
              <a:rPr sz="1300" b="1" dirty="0">
                <a:solidFill>
                  <a:srgbClr val="005587"/>
                </a:solidFill>
                <a:latin typeface="Arial"/>
              </a:rPr>
              <a:t>ngineering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19271" y="1609344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Creating new input variables from existing ones to help the model capture more complex patterns.</a:t>
            </a:r>
          </a:p>
        </p:txBody>
      </p:sp>
      <p:sp>
        <p:nvSpPr>
          <p:cNvPr id="110" name="Rectangle"/>
          <p:cNvSpPr/>
          <p:nvPr/>
        </p:nvSpPr>
        <p:spPr>
          <a:xfrm>
            <a:off x="457200" y="2048256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621792" y="2048256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Regularization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9271" y="2048256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Any technique that penalizes model complexity to prevent overfitting, such as LASSO or Ridge.</a:t>
            </a:r>
          </a:p>
        </p:txBody>
      </p:sp>
      <p:sp>
        <p:nvSpPr>
          <p:cNvPr id="113" name="Rectangle"/>
          <p:cNvSpPr/>
          <p:nvPr/>
        </p:nvSpPr>
        <p:spPr>
          <a:xfrm>
            <a:off x="457200" y="2487168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621792" y="248716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LASSO (L1)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1" y="248716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regularization method that adds a penalty based on the absolute value of coefficients, which can zero out weak features entirely.</a:t>
            </a:r>
          </a:p>
        </p:txBody>
      </p:sp>
      <p:sp>
        <p:nvSpPr>
          <p:cNvPr id="116" name="Rectangle"/>
          <p:cNvSpPr/>
          <p:nvPr/>
        </p:nvSpPr>
        <p:spPr>
          <a:xfrm>
            <a:off x="457200" y="3044952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621792" y="304495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Ridge (L2)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9271" y="304495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regularization method that adds a penalty based on the squared value of coefficients, shrinking all of them but keeping them nonzero.</a:t>
            </a:r>
          </a:p>
        </p:txBody>
      </p:sp>
      <p:sp>
        <p:nvSpPr>
          <p:cNvPr id="119" name="Rectangle"/>
          <p:cNvSpPr/>
          <p:nvPr/>
        </p:nvSpPr>
        <p:spPr>
          <a:xfrm>
            <a:off x="457200" y="3602736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Box 119"/>
          <p:cNvSpPr txBox="1"/>
          <p:nvPr/>
        </p:nvSpPr>
        <p:spPr>
          <a:xfrm>
            <a:off x="621792" y="3602736"/>
            <a:ext cx="25603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005587"/>
                </a:solidFill>
                <a:latin typeface="Arial"/>
              </a:rPr>
              <a:t>Cross-</a:t>
            </a:r>
            <a:r>
              <a:rPr lang="en-US" sz="1300" b="1" dirty="0">
                <a:solidFill>
                  <a:srgbClr val="005587"/>
                </a:solidFill>
                <a:latin typeface="Arial"/>
              </a:rPr>
              <a:t>v</a:t>
            </a:r>
            <a:r>
              <a:rPr sz="1300" b="1" dirty="0">
                <a:solidFill>
                  <a:srgbClr val="005587"/>
                </a:solidFill>
                <a:latin typeface="Arial"/>
              </a:rPr>
              <a:t>alidation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19271" y="3602736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technique for evaluating model performance by rotating which portion of the data is used for testing, used to choose hyperparameters like the regularization strength.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</TotalTime>
  <Words>2963</Words>
  <Application>Microsoft Macintosh PowerPoint</Application>
  <PresentationFormat>On-screen Show (16:9)</PresentationFormat>
  <Paragraphs>531</Paragraphs>
  <Slides>64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Arial</vt:lpstr>
      <vt:lpstr>Courier New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MGMT298D Week 1 - Course Introduction; Regression with Feature Engineering</dc:title>
  <dc:subject>PptxGenJS Presentation</dc:subject>
  <dc:creator>Auyon Siddiq</dc:creator>
  <cp:lastModifiedBy>Siddiq, Auyon</cp:lastModifiedBy>
  <cp:revision>567</cp:revision>
  <dcterms:created xsi:type="dcterms:W3CDTF">2026-02-02T18:55:02Z</dcterms:created>
  <dcterms:modified xsi:type="dcterms:W3CDTF">2026-04-13T05:14:53Z</dcterms:modified>
</cp:coreProperties>
</file>