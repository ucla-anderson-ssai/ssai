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6"/>
    <p:sldId id="261" r:id="rId7"/>
    <p:sldId id="262" r:id="rId8"/>
    <p:sldId id="263" r:id="rId9"/>
    <p:sldId id="264" r:id="rId10"/>
    <p:sldId id="265" r:id="rId11"/>
    <p:sldId id="269" r:id="rId15"/>
    <p:sldId id="270" r:id="rId16"/>
    <p:sldId id="271" r:id="rId17"/>
    <p:sldId id="272" r:id="rId18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5587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3600">
                <a:solidFill>
                  <a:srgbClr val="FFFFFF"/>
                </a:solidFill>
                <a:latin typeface="Whitney"/>
              </a:rPr>
              <a:t>Convolutional Neural Networks</a:t>
            </a:r>
            <a:endParaRPr lang="en-US" sz="3600" dirty="0"/>
          </a:p>
          <a:p>
            <a:pPr marL="0" indent="0" algn="ctr">
              <a:buNone/>
            </a:pPr>
            <a:r>
              <a:rPr b="1" sz="3600">
                <a:solidFill>
                  <a:srgbClr val="FFFFFF"/>
                </a:solidFill>
                <a:latin typeface="Whitney"/>
              </a:rPr>
              <a:t>Teaching Machines to See</a:t>
            </a:r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The Problem with Regular Neural Networks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Why fully-connected networks fail on images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Too many parameters: 224×224 image → 150 million weights in one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No spatial awareness: Treats each pixel independently, ignores neighbors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Position matters too much: A cat in the corner ≠ cat in the center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No weight sharing: Must learn 'edge at position 1' and 'edge at position 2' separately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Result: Memorizes training data instead of learning useful patterns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The CNN Insight: A Sliding Window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Use a small filter that slides across the entire image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Filter: A small grid (e.g., 3×3) that checks 'does this match my pattern?'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At each position: multiply by pixels, sum up → high score = pattern found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Same filter (same weights) is reused everywhere across the image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Output: A 'feature map' showing where the pattern appears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Different filters detect different patterns: edges, textures, shapes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400">
                <a:solidFill>
                  <a:srgbClr val="2774AE"/>
                </a:solidFill>
                <a:latin typeface="Arial"/>
              </a:rPr>
              <a:t>A cat is a cat whether it's in the top-left or bottom-right. Same detector works everywhere.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The Convolution Operation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Key Terms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Filter/Kernel: Small matrix of learnable weights (e.g., 3×3 = 9 parameters)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Stride: How far to slide each step (1 = one pixel, 2 = two pixels)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Padding: Add zeros around border to control output size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Feature Map: Output grid showing where patterns appear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400">
                <a:solidFill>
                  <a:srgbClr val="2774AE"/>
                </a:solidFill>
                <a:latin typeface="Arial"/>
              </a:rPr>
              <a:t>Example: 32×32 input, 3×3 filter → 32×32 output. Only 9 weights, reused everywhere.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What Filters Learn: A Hierarchy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Deeper layers combine simpler features into complex patterns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Layer 1: Edges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Horizontal edges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Vertical edges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Diagonal edges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Color gradients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Corners, spots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Deeper Layers: Textures &amp; Parts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Fur, feathers, patterns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Wheels, eyes, wings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Circles, curves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Car grills, bird beaks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400">
                <a:solidFill>
                  <a:srgbClr val="2774AE"/>
                </a:solidFill>
                <a:latin typeface="Arial"/>
              </a:rPr>
              <a:t>The network learns this hierarchy automatically through training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400">
                <a:solidFill>
                  <a:srgbClr val="005587"/>
                </a:solidFill>
                <a:latin typeface="Arial"/>
              </a:rPr>
              <a:t>Edges → Textures → Parts → Objects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Multiple Filters = Multiple Features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Each filter detects one pattern. Use many to capture variety.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Typical: 32, 64, 128 filters per layer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64 filters on 32×32 → 64 feature maps (32×32×64 output)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Deeper layers have more filters (combine patterns)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64 filters × 3×3 × 3 channels = 1,792 parameters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Equivalent fully-connected: 196,608 parameters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886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b="1" sz="1400">
                <a:solidFill>
                  <a:srgbClr val="2774AE"/>
                </a:solidFill>
                <a:latin typeface="Arial"/>
              </a:rPr>
              <a:t>CNNs are ~100× more parameter-efficient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Pooling: Shrink and Strengthen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Reduce size while keeping important features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Max Pooling (2×2)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Divide into 2×2 regions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Keep maximum value from each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32×32 → 16×16 → 8×8 → 4×4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Strongest activations survive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13716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Why It Matters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6916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4× fewer values = faster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9659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Fewer parameters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2402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Translation invariance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5146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Larger receptive field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788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The CNN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The building block: Conv → ReLU → Pool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b="1" sz="1400">
                <a:solidFill>
                  <a:srgbClr val="005587"/>
                </a:solidFill>
                <a:latin typeface="Arial"/>
              </a:rPr>
              <a:t>Input → [Conv → ReLU → Pool] × N → Flatten → Dense → Output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Layer by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Conv: Apply filters to detect patterns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59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ReLU: Add non-linearity (max(0, x))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70662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Pool: Downsample (2×2 max pooling)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54096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Repeat: Stack blocks (depth ↑, size ↓)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Flatten: Convert 3D → 1D vector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Dense: Combine features for classification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09651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Softmax: Output class probabilities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Transfer Learning: Use What Others Learned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Why train from scratch when others already learned to see?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The Insight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Early layers learn universal features (edges, textures) that work on ALL images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A network trained on millions of images has a great 'visual vocabulary'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Keep pre-trained weights, replace only the final classification layer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Get great results with just hundreds of examples (not millions)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Training time: weeks → hours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Business Impact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b="1" sz="1400">
                <a:solidFill>
                  <a:srgbClr val="005587"/>
                </a:solidFill>
                <a:latin typeface="Arial"/>
              </a:rPr>
              <a:t>Companies without massive datasets can build production-quality image classifiers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Pre-trained Models: Ready to Use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Trained on ImageNet (1.2M images), one line of code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560320" y="12801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749040" y="12801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The original (2012)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560320" y="1828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749040" y="18288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Simple, popular for transfer learning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3774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237744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Skip connections, 50+ layers. Industry standard.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260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560320" y="2926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49040" y="29260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Best accuracy/efficiency. State-of-the-art.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4747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49040" y="347472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Optimized for mobile. Real-time on phones.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400">
                <a:solidFill>
                  <a:srgbClr val="005587"/>
                </a:solidFill>
                <a:latin typeface="Arial"/>
              </a:rPr>
              <a:t>tf.keras.applications.ResNet50(weights='imagenet')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Two Approaches to Transfer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Feature Extraction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Freeze all pre-trained layers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Add new layer for your classes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Only train the new layer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Fast: minutes to train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Best: limited data, similar domain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Best: different domain, more data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0" y="91440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Fine-Tuning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2344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Start with pre-trained weights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15087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Unfreeze and train some layers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Use very low learning rate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05740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Adapts to new domain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3317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-142240" marL="284480" algn="l">
              <a:buChar char="•"/>
            </a:pPr>
            <a:r>
              <a:rPr sz="1400">
                <a:solidFill>
                  <a:srgbClr val="333333"/>
                </a:solidFill>
                <a:latin typeface="Arial"/>
              </a:rPr>
              <a:t>Slower but more accurate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260604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3375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CNNs in Production</a:t>
            </a:r>
            <a:endParaRPr lang="en-US" sz="2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82880" y="914400"/>
          <a:ext cx="8778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Domain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Application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Players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Impact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558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 imaging diagnosis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Google Health, Zebra Medical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Matches/exceeds radiologist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Retail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Visual search, product tagging, inventory monitoring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Pinterest, Amazon, Alibaba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Billions in e-commerce revenue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Automotive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Object detection for autonomous vehicles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Tesla, Waymo, Cruise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 safety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Facial recognition, surveillance, access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Clearview, NEC, Apple FaceID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Controversial but widespread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Agriculture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Crop disease detection, yield prediction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Blue River (John Deere)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 farming for large datasets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Manufacturing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Defect detection, quality control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Landing AI, Cognex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Reduces waste and recalls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1600">
                <a:solidFill>
                  <a:srgbClr val="2774AE"/>
                </a:solidFill>
                <a:latin typeface="Arial"/>
              </a:rPr>
              <a:t>CNNs excel where humans need to visually inspect at scale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b="1" sz="2800">
                <a:solidFill>
                  <a:srgbClr val="005587"/>
                </a:solidFill>
                <a:latin typeface="Whitney"/>
              </a:rPr>
              <a:t>Key Takeaways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CNNs use local connectivity and weight sharing—same filter works everywhere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Conv → ReLU → Pool builds: edges → textures → parts → objects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Transfer learning: great results with minimal data and training time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5146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CNNs are ~100× more parameter-efficient than fully-connected networks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14400" y="30175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Watch for: adversarial attacks, bias in training data, domain shift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520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20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sz="1400">
                <a:solidFill>
                  <a:srgbClr val="333333"/>
                </a:solidFill>
                <a:latin typeface="Arial"/>
              </a:rPr>
              <a:t>Next week: Recurrent Neural Networks for sequential data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6: Convolutional Neural Networks</dc:title>
  <dc:subject>MGMT298D: Science and Strategy of AI</dc:subject>
  <dc:creator>UCLA Anderson</dc:creator>
  <cp:lastModifiedBy>UCLA Anderson</cp:lastModifiedBy>
  <cp:revision>1</cp:revision>
  <dcterms:created xsi:type="dcterms:W3CDTF">2026-01-16T03:09:21Z</dcterms:created>
  <dcterms:modified xsi:type="dcterms:W3CDTF">2026-01-16T03:09:21Z</dcterms:modified>
</cp:coreProperties>
</file>