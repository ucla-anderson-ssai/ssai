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7"/>
  </p:notesMasterIdLst>
  <p:sldIdLst>
    <p:sldId id="256" r:id="rId2"/>
    <p:sldId id="356" r:id="rId3"/>
    <p:sldId id="355" r:id="rId4"/>
    <p:sldId id="257" r:id="rId5"/>
    <p:sldId id="258" r:id="rId6"/>
    <p:sldId id="336" r:id="rId7"/>
    <p:sldId id="337" r:id="rId8"/>
    <p:sldId id="338" r:id="rId9"/>
    <p:sldId id="339" r:id="rId10"/>
    <p:sldId id="301" r:id="rId11"/>
    <p:sldId id="296" r:id="rId12"/>
    <p:sldId id="266" r:id="rId13"/>
    <p:sldId id="269" r:id="rId14"/>
    <p:sldId id="345" r:id="rId15"/>
    <p:sldId id="340" r:id="rId16"/>
    <p:sldId id="353" r:id="rId17"/>
    <p:sldId id="263" r:id="rId18"/>
    <p:sldId id="341" r:id="rId19"/>
    <p:sldId id="344" r:id="rId20"/>
    <p:sldId id="299" r:id="rId21"/>
    <p:sldId id="342" r:id="rId22"/>
    <p:sldId id="343" r:id="rId23"/>
    <p:sldId id="271" r:id="rId24"/>
    <p:sldId id="272" r:id="rId25"/>
    <p:sldId id="320" r:id="rId26"/>
    <p:sldId id="304" r:id="rId27"/>
    <p:sldId id="309" r:id="rId28"/>
    <p:sldId id="310" r:id="rId29"/>
    <p:sldId id="311" r:id="rId30"/>
    <p:sldId id="312" r:id="rId31"/>
    <p:sldId id="313" r:id="rId32"/>
    <p:sldId id="315" r:id="rId33"/>
    <p:sldId id="318" r:id="rId34"/>
    <p:sldId id="317" r:id="rId35"/>
    <p:sldId id="357" r:id="rId36"/>
    <p:sldId id="283" r:id="rId37"/>
    <p:sldId id="319" r:id="rId38"/>
    <p:sldId id="346" r:id="rId39"/>
    <p:sldId id="322" r:id="rId40"/>
    <p:sldId id="324" r:id="rId41"/>
    <p:sldId id="326" r:id="rId42"/>
    <p:sldId id="331" r:id="rId43"/>
    <p:sldId id="350" r:id="rId44"/>
    <p:sldId id="325" r:id="rId45"/>
    <p:sldId id="332" r:id="rId46"/>
    <p:sldId id="327" r:id="rId47"/>
    <p:sldId id="287" r:id="rId48"/>
    <p:sldId id="335" r:id="rId49"/>
    <p:sldId id="349" r:id="rId50"/>
    <p:sldId id="352" r:id="rId51"/>
    <p:sldId id="330" r:id="rId52"/>
    <p:sldId id="290" r:id="rId53"/>
    <p:sldId id="328" r:id="rId54"/>
    <p:sldId id="292" r:id="rId55"/>
    <p:sldId id="354" r:id="rId5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774AE"/>
    <a:srgbClr val="EFCA9A"/>
    <a:srgbClr val="D4EDCB"/>
    <a:srgbClr val="FCDBC8"/>
    <a:srgbClr val="DDD4EB"/>
    <a:srgbClr val="9A85B5"/>
    <a:srgbClr val="D4836A"/>
    <a:srgbClr val="7BAF6B"/>
    <a:srgbClr val="D8D8D8"/>
    <a:srgbClr val="D4BE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157"/>
    <p:restoredTop sz="96006"/>
  </p:normalViewPr>
  <p:slideViewPr>
    <p:cSldViewPr snapToGrid="0" snapToObjects="1">
      <p:cViewPr varScale="1">
        <p:scale>
          <a:sx n="97" d="100"/>
          <a:sy n="97" d="100"/>
        </p:scale>
        <p:origin x="200" y="10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58439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24F75-5276-5CDA-6370-F0B705977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472E5C-8505-2456-B160-81FDA1DF25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507FFB-FCD0-8501-8517-AA1A37B62A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1BC505-EA3B-8E29-B5B1-4CA46F0126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6089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F0887-0403-EF06-31F1-D3E5FC9D4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3F2A30-B0E9-4699-EF62-6F233F1F7D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AD97A0-240E-14CD-CF21-7269E76ECD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C0370B-D17D-3F67-E1D8-75082E528F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1607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6FAC1-2138-32F8-A337-1F1C225C6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8D57CF-36DD-F902-DC99-7397BF4BE0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9D940F-53D0-23F2-C42B-92BDA01F52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1) Dimensionality – way too large; sparse representation</a:t>
            </a:r>
          </a:p>
          <a:p>
            <a:endParaRPr lang="en-US" dirty="0"/>
          </a:p>
          <a:p>
            <a:r>
              <a:rPr lang="en-US" dirty="0"/>
              <a:t>2) Distances don’t mean anything</a:t>
            </a:r>
          </a:p>
          <a:p>
            <a:endParaRPr lang="en-US" dirty="0"/>
          </a:p>
          <a:p>
            <a:r>
              <a:rPr lang="en-US" dirty="0"/>
              <a:t>3) And the big one: No context. Only one way to represent the word bank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D19AFE-7912-0610-1E14-0CF414B8E9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0905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A1150-2004-2FE6-C965-B4640AA66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3D99C8-6BBF-B3AC-39CF-A3AAEC9CAA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11BA21-6078-1FDE-0C8B-E0E6813B3E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1F6E20-C64D-D347-902A-DD81FB9724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3748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15255-E359-F824-21E1-8BA3A06EF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A2EC3B-1273-3B74-4942-D40767937A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A5C6FB-EB3D-4357-90E8-E35B2DBC37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57D6E4-4DA9-8872-0FBE-56DB158DFF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8484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1F0D4-B4DD-CC2E-A551-F6626F9B5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EBBC06-A592-29D2-08BA-CADAAEA5B0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56DF69-21C3-1D1C-4839-DB8E7E1FE7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304E58-535D-9C23-856D-B54AF25F89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7398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5C230-BF8E-58E8-6E96-F79A5C449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8E3D70-8C6B-0EDF-53F9-6E9CACF5BA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CF7CCD-1FEF-246D-A287-0F9AD84F6E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7F0FB3-CD5F-FF43-4BC3-AAECD56FFA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66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E6518-5D28-7EE2-C931-C5B95BEFE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90F453-3781-9D0C-8D64-F01F2C7410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F60B65-DE7E-2A05-4C11-5C87D5B9C2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54ACE6-1F21-7253-013C-3679AC5A77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1674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28454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EB17E-8F23-2AD3-1430-FB74CE0C5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333AB2-D54B-605E-4E8D-AA1337C6AB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10CD90-9824-ABF1-8390-6471F95A0D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9B5859-75AB-04F1-601D-887F3CC952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99456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0C2E7-3BAB-0DBA-6C3C-2D28312C2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E3043E-63FD-61D1-EC0E-99A6DAEA48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DADED4-BB0B-0860-E65C-2FB12E7965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7328F2-3E6A-6E2C-8012-B44BA4409A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63477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49B81-2059-47AF-698A-AC964F6E7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FA1EF3-83B9-7CD2-0788-210361C6AA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DD7640-65F2-30B7-5ECF-DB2A607196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793AB3-74EF-3262-9EA5-1161B8AB3D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07236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87161-8150-0876-DCC8-C75AB46CF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CDED70-39ED-B9EA-ACF1-8B0799E83F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772021-8E5E-F89A-C0F9-1345AF57E9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A02A3C-51DA-CD71-2C89-682B9724B7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3946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A4CD9-9217-B0C2-E4DD-629F63184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7DF5F9-D459-654A-EDEE-23830B313D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8F9FF1-785F-F461-6204-E0CD1A5381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ED7F61-E585-B260-1844-AE3799E081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27906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63777-42BF-685B-AD05-60AE8E012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034DBB-A4A2-14E6-C41D-27023A421F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3BC004-81B4-61BF-50EE-2CC3A518EC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3D9872-A85B-E077-605B-0C72F4B889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26487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9DB45-5744-576B-878F-CB96F8B64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4D5865-D52C-586C-7119-15E453487C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56157E-63F2-3F21-7E43-03088BE98E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F0E476-9768-5A57-E34B-27ABADD856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0199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81220-CE7F-9A4D-5D9A-D51DE7D81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081D8B-3616-2D16-3B7B-5B198C1237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AF1F5A-CDE4-0F52-1E24-7BEC26BB95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7415AD-42B0-B001-6C93-B7CF2D5167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89392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90CAD-A7F5-9014-88CC-D6E77C8FC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D2B957-A851-ADFE-0FE8-6155BE8376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419FB9-0242-3767-CCD8-FB8B630A0E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427AA7-D6CF-026D-29D5-F64654A14B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0456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7537A-C120-D881-04B0-00553D629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EC0811-29E0-88A8-C795-4275F35049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37FE97-BE40-4523-C1E0-15E4DB6887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40E332-F173-7C54-9360-9315079CE2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62956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3CD45-A572-20AC-5ADB-543361EE2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0DD7E4-B929-3C94-C0C5-E8152435BD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FAF99A-8C78-D494-7248-6D6D6998BA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619651-C6ED-FD3C-9119-05C4C73B0F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9574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B28C0-C203-185F-0B1C-BCE625265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4F9972-5233-32C0-A298-ED39711BF4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90ED05-89F7-1FC6-D72A-C591E4900D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8BB965-E217-69C1-E259-49081E7543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3522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1A97C-B5C0-7B1F-5230-79AB8DFA9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A89658-5109-4EF0-D48C-B18E2594CB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24A6AA-8C45-19E9-F105-E52212F498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42C028-9CB1-001C-FD00-9D347A262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45186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B377C-E73D-F85A-F70E-6F538C72A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145619-9A22-A3A4-DCBF-43FE49780F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5040D0-BAD1-7C59-CAE4-3F10FAEA89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1DA300-EC45-A027-F232-8FE368372B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11087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DD44D-B810-350C-4330-3A60986FE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D401E7-0087-10CD-141C-F2CF46A7EF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79D7BF-3682-DD3A-D6D1-EA2281A527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72ADB1-70CC-9F6C-C7FF-E5D999D424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49653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7DBC4-CFD5-53B2-E084-7223E01B5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6ECFE4-C000-76CB-9EC4-2102314682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1A4F91-1CEA-6B14-7012-BBEA3CCE8E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D62265-4ABC-340F-9114-13AC87CAAC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26086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AD7AC-C2B3-3A9C-7E37-BFEFC5D3F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F8B451-635D-A4D0-A41A-E6046D43FE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ED7D34-AD8B-20BF-3181-15C988E645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423F3C-DFF5-A0C1-B195-B128705C96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95901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11CF1-485E-89A7-A32D-94D5F945A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5C4329-A60D-62A1-DEF2-C9E71C9547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801805-12DB-E105-4A31-E13B1B5D10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B27AB4-4721-F0C2-B80C-84B0A92388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60100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EF7A9-CB2A-5A1C-6F69-7DD3F994D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01DF1C-E275-B220-1475-6213355043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80A6A4-53C0-C24E-D7A9-1641423E72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EBD409-62F0-BEBB-7E89-C130117169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75176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4B046-8F06-217A-E19D-87E0610E9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792BAC-79B3-2FBB-4878-E73EC5AE48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4B2071-769F-8463-8B1F-BF3ABBD454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4055D0-F3DE-E2BC-E8C7-1430035485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96152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8B0C4-3E11-FD5C-3A1B-025DDD54D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1E9C82-E9D6-BB89-D77E-E8D8B9275E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45D4AD-AAC6-3BEC-1EA2-91E17E06F4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61CC26-4B75-F04A-45F5-49D8DFB715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67491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D74E7-8E60-9EC5-F708-24562B9FA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85C276-6562-2924-DE0F-E010EBD8E4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C39789-1B5E-68D6-9912-AAF344B21C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E615CB-7D21-A199-9632-92D8579C87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40772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7555D-D410-1235-8397-6B37AB520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12E21F-63E0-1EB0-DDA3-A9BE60CE9B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2085F5-3C05-9312-46D2-F25D1C8A95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6E1D65-34C3-7D9B-16B7-E975AEF852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63660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C1459-4B6A-A4CE-6BE5-7AFBB7EA9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E66BAC-5419-C1FF-EF9B-D9676BA674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AEF349-3255-82E3-E24A-5703403F78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974140-7BB6-7E14-2A4E-6D334F18D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61525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F6D99-D38F-E910-E3A0-D36560F85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B8BB64-4108-0383-6A82-51F682C94A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D46736-D586-7828-1C63-2FAB0B7633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FD6A72-81A8-3F49-9458-D384CB2E9B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805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projector.tensorflow.org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microsoft.com/office/2007/relationships/hdphoto" Target="../media/hdphoto1.wdp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ucla-anderson-SSAI/SSAI/blob/main/Notebooks/Week6.ipynb" TargetMode="External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hyperlink" Target="https://ucla-ssai-week6.up.railway.app/" TargetMode="External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55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2">
            <a:extLst>
              <a:ext uri="{FF2B5EF4-FFF2-40B4-BE49-F238E27FC236}">
                <a16:creationId xmlns:a16="http://schemas.microsoft.com/office/drawing/2014/main" id="{38A44534-04A1-341E-E932-0AE12C7A62C3}"/>
              </a:ext>
            </a:extLst>
          </p:cNvPr>
          <p:cNvSpPr/>
          <p:nvPr/>
        </p:nvSpPr>
        <p:spPr>
          <a:xfrm>
            <a:off x="0" y="1645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D100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Week 6</a:t>
            </a:r>
            <a:endParaRPr lang="en-US" sz="2000" dirty="0">
              <a:solidFill>
                <a:srgbClr val="FFD100"/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015E4FB4-A65A-E37F-0200-301A62FCA4A3}"/>
              </a:ext>
            </a:extLst>
          </p:cNvPr>
          <p:cNvSpPr/>
          <p:nvPr/>
        </p:nvSpPr>
        <p:spPr>
          <a:xfrm>
            <a:off x="0" y="22860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Whitney Bold" pitchFamily="34" charset="0"/>
                <a:cs typeface="Whitney Bold" pitchFamily="34" charset="-120"/>
              </a:rPr>
              <a:t>Transformers and </a:t>
            </a:r>
          </a:p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Whitney Bold" pitchFamily="34" charset="0"/>
                <a:cs typeface="Whitney Bold" pitchFamily="34" charset="-120"/>
              </a:rPr>
              <a:t>Large Language Models</a:t>
            </a:r>
            <a:endParaRPr lang="en-US" sz="3600" dirty="0"/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2292B036-4ACB-49C4-19B8-D0EB296C4562}"/>
              </a:ext>
            </a:extLst>
          </p:cNvPr>
          <p:cNvSpPr/>
          <p:nvPr/>
        </p:nvSpPr>
        <p:spPr>
          <a:xfrm>
            <a:off x="457199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MGMT298D</a:t>
            </a: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Science and Strategy of AI</a:t>
            </a:r>
            <a:b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</a:b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9F8049DE-E154-471E-C26C-76301ED5257E}"/>
              </a:ext>
            </a:extLst>
          </p:cNvPr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Auyon Siddiq</a:t>
            </a:r>
            <a:b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UCLA Anderson School of Management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963AF-C7C0-834E-FAB1-3B2F8239A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225D0E1-F330-7675-1FF6-8FC346DEFE92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38A1CB9-98FF-BD14-C895-8F81AF9C6D3C}"/>
              </a:ext>
            </a:extLst>
          </p:cNvPr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cs typeface="Whitney Bold" pitchFamily="34" charset="-120"/>
              </a:rPr>
              <a:t>Product Sprint Details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98DF3D9-9ED6-C06D-3FB1-674F10608ABC}"/>
              </a:ext>
            </a:extLst>
          </p:cNvPr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82AF824-892C-79B0-8801-7CECC0B862DC}"/>
              </a:ext>
            </a:extLst>
          </p:cNvPr>
          <p:cNvSpPr/>
          <p:nvPr/>
        </p:nvSpPr>
        <p:spPr>
          <a:xfrm>
            <a:off x="457200" y="1046446"/>
            <a:ext cx="8321040" cy="3391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Start thinking about your team now (3 or 4 people)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You will develop a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prototype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of an app that makes use of concepts from class, e.g., 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ML prediction tool</a:t>
            </a:r>
            <a:b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LLM chatbot agent</a:t>
            </a:r>
            <a:b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Computer vision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specific and coherent use case with a clearly defined value proposition (even if it is narrow) is more important than flashiness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More details to be posted on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BruinLearn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tomorrow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48939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B74F3-3EC4-8044-3853-3AAB209DF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B7A9F96-2E78-7D92-5952-AFCF96881937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AE9ED1F-8600-8CF5-71B4-026F55AF7538}"/>
              </a:ext>
            </a:extLst>
          </p:cNvPr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cs typeface="Whitney Bold" pitchFamily="34" charset="-120"/>
              </a:rPr>
              <a:t>Product Sprint Timeline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32DD129-41D9-CE2A-608F-5D24DD296EA3}"/>
              </a:ext>
            </a:extLst>
          </p:cNvPr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AD8EB57-8F5A-491A-634E-C39ADB7FBDCC}"/>
              </a:ext>
            </a:extLst>
          </p:cNvPr>
          <p:cNvSpPr/>
          <p:nvPr/>
        </p:nvSpPr>
        <p:spPr>
          <a:xfrm>
            <a:off x="457200" y="1046446"/>
            <a:ext cx="8321040" cy="3391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Week 8 lecture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(May 18</a:t>
            </a:r>
            <a:r>
              <a:rPr 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): Overview of tools and deliverables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Week 9 lecture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Friday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May 22</a:t>
            </a:r>
            <a:r>
              <a:rPr 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nd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Memorial Day make-up class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): In-class lab session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11:59pm PT, May 27</a:t>
            </a:r>
            <a:r>
              <a:rPr lang="en-US" baseline="300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Apps go live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May 28</a:t>
            </a:r>
            <a:r>
              <a:rPr 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-- May 29</a:t>
            </a:r>
            <a:r>
              <a:rPr 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Class preliminary voting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Week 10 lecture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(June 1</a:t>
            </a:r>
            <a:r>
              <a:rPr 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): Top teams 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pitch in-class;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final round of voting</a:t>
            </a:r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6973A432-4437-7FF6-0677-40F938EE05CD}"/>
              </a:ext>
            </a:extLst>
          </p:cNvPr>
          <p:cNvSpPr/>
          <p:nvPr/>
        </p:nvSpPr>
        <p:spPr>
          <a:xfrm>
            <a:off x="457200" y="3658241"/>
            <a:ext cx="8321040" cy="589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3811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Today's Class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231734"/>
            <a:ext cx="8321040" cy="646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1: Word Embeddings</a:t>
            </a:r>
          </a:p>
          <a:p>
            <a:pPr marL="0" indent="0">
              <a:buNone/>
            </a:pP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How do we represent words numerically in a way that captures their </a:t>
            </a:r>
            <a:r>
              <a:rPr lang="en-US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meaning</a:t>
            </a: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? 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241855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2: Attention</a:t>
            </a:r>
          </a:p>
          <a:p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How does deep learning understand the </a:t>
            </a:r>
            <a:r>
              <a:rPr lang="en-US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 in which words are used? 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BC60C490-2ECA-789B-D0C3-7D5B9D37E2B1}"/>
              </a:ext>
            </a:extLst>
          </p:cNvPr>
          <p:cNvSpPr/>
          <p:nvPr/>
        </p:nvSpPr>
        <p:spPr>
          <a:xfrm>
            <a:off x="457200" y="3658241"/>
            <a:ext cx="8321040" cy="589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chemeClr val="accent1"/>
                </a:solidFill>
                <a:latin typeface="Arial" pitchFamily="34" charset="0"/>
                <a:cs typeface="Arial" pitchFamily="34" charset="-120"/>
              </a:rPr>
              <a:t>Part 3: Transformers and LLMs</a:t>
            </a:r>
            <a:br>
              <a:rPr lang="en-US" dirty="0">
                <a:latin typeface="Arial" pitchFamily="34" charset="0"/>
                <a:cs typeface="Arial" pitchFamily="34" charset="-120"/>
              </a:rPr>
            </a:br>
            <a:r>
              <a:rPr lang="en-US" dirty="0">
                <a:latin typeface="Arial" pitchFamily="34" charset="0"/>
                <a:cs typeface="Arial" pitchFamily="34" charset="-120"/>
              </a:rPr>
              <a:t>How do all the pieces come together in a deep neural network that can </a:t>
            </a:r>
            <a:r>
              <a:rPr lang="en-US" b="1" dirty="0">
                <a:latin typeface="Arial" pitchFamily="34" charset="0"/>
                <a:cs typeface="Arial" pitchFamily="34" charset="-120"/>
              </a:rPr>
              <a:t>understand </a:t>
            </a:r>
            <a:r>
              <a:rPr lang="en-US" dirty="0">
                <a:latin typeface="Arial" pitchFamily="34" charset="0"/>
                <a:cs typeface="Arial" pitchFamily="34" charset="-120"/>
              </a:rPr>
              <a:t>and</a:t>
            </a:r>
            <a:r>
              <a:rPr lang="en-US" b="1" dirty="0">
                <a:latin typeface="Arial" pitchFamily="34" charset="0"/>
                <a:cs typeface="Arial" pitchFamily="34" charset="-120"/>
              </a:rPr>
              <a:t> generate</a:t>
            </a:r>
            <a:r>
              <a:rPr lang="en-US" dirty="0">
                <a:latin typeface="Arial" pitchFamily="34" charset="0"/>
                <a:cs typeface="Arial" pitchFamily="34" charset="-120"/>
              </a:rPr>
              <a:t> language? </a:t>
            </a:r>
          </a:p>
          <a:p>
            <a:endParaRPr lang="en-US" b="1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55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Part 1: Word Embeddings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ctor 4"/>
          <p:cNvCxnSpPr/>
          <p:nvPr/>
        </p:nvCxnSpPr>
        <p:spPr>
          <a:xfrm>
            <a:off x="457200" y="896112"/>
            <a:ext cx="8321040" cy="0"/>
          </a:xfrm>
          <a:prstGeom prst="line">
            <a:avLst/>
          </a:prstGeom>
          <a:ln w="1270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A screenshot of a website&#10;&#10;AI-generated content may be incorrect.">
            <a:extLst>
              <a:ext uri="{FF2B5EF4-FFF2-40B4-BE49-F238E27FC236}">
                <a16:creationId xmlns:a16="http://schemas.microsoft.com/office/drawing/2014/main" id="{ACAAA1D2-81F9-CCE0-2667-988497A3BB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391" b="37124"/>
          <a:stretch>
            <a:fillRect/>
          </a:stretch>
        </p:blipFill>
        <p:spPr>
          <a:xfrm>
            <a:off x="614477" y="1243584"/>
            <a:ext cx="7772400" cy="23847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406ACC5-86C3-0C38-DAF9-1D29EEC0A7ED}"/>
              </a:ext>
            </a:extLst>
          </p:cNvPr>
          <p:cNvSpPr txBox="1"/>
          <p:nvPr/>
        </p:nvSpPr>
        <p:spPr>
          <a:xfrm>
            <a:off x="744071" y="3899916"/>
            <a:ext cx="74944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All of these have the same intent but use different words. Neural networks can recognize them as equivalent. How?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F81CA1-2FC0-C057-3AB0-35D6D5BDB09A}"/>
              </a:ext>
            </a:extLst>
          </p:cNvPr>
          <p:cNvSpPr txBox="1"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005587"/>
                </a:solidFill>
                <a:latin typeface="Whitney Bold"/>
              </a:rPr>
              <a:t>The Word Representation Problem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nector 6"/>
          <p:cNvCxnSpPr/>
          <p:nvPr/>
        </p:nvCxnSpPr>
        <p:spPr>
          <a:xfrm>
            <a:off x="457200" y="896112"/>
            <a:ext cx="8321040" cy="0"/>
          </a:xfrm>
          <a:prstGeom prst="line">
            <a:avLst/>
          </a:prstGeom>
          <a:ln w="1270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005587"/>
                </a:solidFill>
                <a:latin typeface="Whitney Bold"/>
              </a:rPr>
              <a:t>The Word Representation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24128"/>
            <a:ext cx="8321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1000"/>
              </a:spcAft>
            </a:pPr>
            <a:r>
              <a:rPr sz="1700" dirty="0">
                <a:solidFill>
                  <a:srgbClr val="000000"/>
                </a:solidFill>
                <a:latin typeface="Arial"/>
              </a:rPr>
              <a:t>ML models need numbers, not words</a:t>
            </a:r>
          </a:p>
          <a:p>
            <a:pPr>
              <a:lnSpc>
                <a:spcPct val="114000"/>
              </a:lnSpc>
              <a:spcAft>
                <a:spcPts val="1000"/>
              </a:spcAft>
            </a:pPr>
            <a:r>
              <a:rPr sz="1700" dirty="0">
                <a:solidFill>
                  <a:srgbClr val="000000"/>
                </a:solidFill>
                <a:latin typeface="Arial"/>
              </a:rPr>
              <a:t>Naive approach: assign each word an arbitrary ID.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5556157"/>
              </p:ext>
            </p:extLst>
          </p:nvPr>
        </p:nvGraphicFramePr>
        <p:xfrm>
          <a:off x="914400" y="1975103"/>
          <a:ext cx="713232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500" b="1" dirty="0">
                          <a:solidFill>
                            <a:schemeClr val="tx1"/>
                          </a:solidFill>
                          <a:latin typeface="Arial"/>
                        </a:rPr>
                        <a:t>cat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chemeClr val="tx1"/>
                          </a:solidFill>
                          <a:latin typeface="Arial"/>
                        </a:rPr>
                        <a:t>ID = 1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chemeClr val="tx1"/>
                          </a:solidFill>
                          <a:latin typeface="Arial"/>
                        </a:rPr>
                        <a:t>dog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tx1"/>
                          </a:solidFill>
                          <a:latin typeface="Arial"/>
                        </a:rPr>
                        <a:t>ID = 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chemeClr val="tx1"/>
                          </a:solidFill>
                          <a:latin typeface="Arial"/>
                        </a:rPr>
                        <a:t>automobile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tx1"/>
                          </a:solidFill>
                          <a:latin typeface="Arial"/>
                        </a:rPr>
                        <a:t>ID = 3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chemeClr val="tx1"/>
                          </a:solidFill>
                          <a:latin typeface="Arial"/>
                        </a:rPr>
                        <a:t>car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chemeClr val="tx1"/>
                          </a:solidFill>
                          <a:latin typeface="Arial"/>
                        </a:rPr>
                        <a:t>ID = 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703320"/>
            <a:ext cx="8321040" cy="11162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1000"/>
              </a:spcAft>
            </a:pPr>
            <a:r>
              <a:rPr sz="1500" b="1" i="0" dirty="0">
                <a:solidFill>
                  <a:srgbClr val="000000"/>
                </a:solidFill>
                <a:latin typeface="Arial"/>
              </a:rPr>
              <a:t>Problem: </a:t>
            </a:r>
            <a:r>
              <a:rPr sz="1500" b="0" i="0" dirty="0">
                <a:solidFill>
                  <a:srgbClr val="000000"/>
                </a:solidFill>
                <a:latin typeface="Arial"/>
              </a:rPr>
              <a:t>IDs do not encode meaning</a:t>
            </a:r>
          </a:p>
          <a:p>
            <a:pPr>
              <a:lnSpc>
                <a:spcPct val="114000"/>
              </a:lnSpc>
              <a:spcAft>
                <a:spcPts val="1000"/>
              </a:spcAft>
            </a:pPr>
            <a:r>
              <a:rPr sz="1500" b="1" i="1" dirty="0">
                <a:solidFill>
                  <a:srgbClr val="000000"/>
                </a:solidFill>
                <a:latin typeface="Arial"/>
              </a:rPr>
              <a:t>car </a:t>
            </a:r>
            <a:r>
              <a:rPr sz="1500" dirty="0">
                <a:solidFill>
                  <a:srgbClr val="000000"/>
                </a:solidFill>
                <a:latin typeface="Arial"/>
              </a:rPr>
              <a:t>and </a:t>
            </a:r>
            <a:r>
              <a:rPr sz="1500" b="1" i="1" dirty="0">
                <a:solidFill>
                  <a:srgbClr val="000000"/>
                </a:solidFill>
                <a:latin typeface="Arial"/>
              </a:rPr>
              <a:t>automobile</a:t>
            </a:r>
            <a:r>
              <a:rPr sz="1500" b="0" i="0" dirty="0">
                <a:solidFill>
                  <a:srgbClr val="000000"/>
                </a:solidFill>
                <a:latin typeface="Arial"/>
              </a:rPr>
              <a:t> are synonyms but have unrelated IDs</a:t>
            </a:r>
          </a:p>
          <a:p>
            <a:pPr>
              <a:lnSpc>
                <a:spcPct val="114000"/>
              </a:lnSpc>
              <a:spcAft>
                <a:spcPts val="1000"/>
              </a:spcAft>
            </a:pPr>
            <a:r>
              <a:rPr sz="1500" b="1" i="1" dirty="0">
                <a:solidFill>
                  <a:srgbClr val="000000"/>
                </a:solidFill>
                <a:latin typeface="Arial"/>
              </a:rPr>
              <a:t>cat </a:t>
            </a:r>
            <a:r>
              <a:rPr sz="1500" dirty="0">
                <a:solidFill>
                  <a:srgbClr val="000000"/>
                </a:solidFill>
                <a:latin typeface="Arial"/>
              </a:rPr>
              <a:t>and</a:t>
            </a:r>
            <a:r>
              <a:rPr sz="1500" b="1" i="1" dirty="0">
                <a:solidFill>
                  <a:srgbClr val="000000"/>
                </a:solidFill>
                <a:latin typeface="Arial"/>
              </a:rPr>
              <a:t> car</a:t>
            </a:r>
            <a:r>
              <a:rPr sz="1500" b="0" i="0" dirty="0">
                <a:solidFill>
                  <a:srgbClr val="000000"/>
                </a:solidFill>
                <a:latin typeface="Arial"/>
              </a:rPr>
              <a:t> are numerically close but semantically unrelated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C3A68-DE07-6F09-DCA4-68B1C6309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ctor 4"/>
          <p:cNvCxnSpPr/>
          <p:nvPr/>
        </p:nvCxnSpPr>
        <p:spPr>
          <a:xfrm>
            <a:off x="457200" y="896112"/>
            <a:ext cx="8321040" cy="0"/>
          </a:xfrm>
          <a:prstGeom prst="line">
            <a:avLst/>
          </a:prstGeom>
          <a:ln w="1270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24128"/>
            <a:ext cx="8321040" cy="569495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1000"/>
              </a:spcAft>
            </a:pPr>
            <a:r>
              <a:rPr sz="1700" b="1" i="0" dirty="0">
                <a:solidFill>
                  <a:srgbClr val="000000"/>
                </a:solidFill>
                <a:latin typeface="Arial"/>
              </a:rPr>
              <a:t>Vocabulary: </a:t>
            </a:r>
            <a:r>
              <a:rPr lang="en-US" sz="1700" b="0" i="0" dirty="0">
                <a:solidFill>
                  <a:srgbClr val="000000"/>
                </a:solidFill>
                <a:latin typeface="Arial"/>
              </a:rPr>
              <a:t>All relevant words</a:t>
            </a:r>
            <a:endParaRPr sz="1700" b="0" i="0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4000"/>
              </a:lnSpc>
              <a:spcAft>
                <a:spcPts val="1000"/>
              </a:spcAft>
            </a:pPr>
            <a:r>
              <a:rPr sz="1700" b="1" i="0" dirty="0">
                <a:solidFill>
                  <a:srgbClr val="000000"/>
                </a:solidFill>
                <a:latin typeface="Arial"/>
              </a:rPr>
              <a:t>Token: </a:t>
            </a:r>
            <a:r>
              <a:rPr lang="en-US" sz="1700" b="0" i="0" dirty="0">
                <a:solidFill>
                  <a:srgbClr val="000000"/>
                </a:solidFill>
                <a:latin typeface="Arial"/>
              </a:rPr>
              <a:t>One word</a:t>
            </a:r>
          </a:p>
          <a:p>
            <a:pPr>
              <a:lnSpc>
                <a:spcPct val="114000"/>
              </a:lnSpc>
              <a:spcAft>
                <a:spcPts val="1000"/>
              </a:spcAft>
            </a:pPr>
            <a:endParaRPr lang="en-US" sz="1700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4000"/>
              </a:lnSpc>
              <a:spcAft>
                <a:spcPts val="1000"/>
              </a:spcAft>
            </a:pPr>
            <a:r>
              <a:rPr lang="en-US" sz="1700" b="0" i="0" dirty="0">
                <a:solidFill>
                  <a:srgbClr val="000000"/>
                </a:solidFill>
                <a:latin typeface="Arial"/>
              </a:rPr>
              <a:t>Standard approach is to use </a:t>
            </a:r>
            <a:br>
              <a:rPr lang="en-US" sz="1700" b="0" i="0" dirty="0">
                <a:solidFill>
                  <a:srgbClr val="000000"/>
                </a:solidFill>
                <a:latin typeface="Arial"/>
              </a:rPr>
            </a:br>
            <a:r>
              <a:rPr lang="en-US" sz="1700" b="0" i="0" dirty="0">
                <a:solidFill>
                  <a:srgbClr val="000000"/>
                </a:solidFill>
                <a:latin typeface="Arial"/>
              </a:rPr>
              <a:t>“one-hot encoding”</a:t>
            </a:r>
            <a:br>
              <a:rPr lang="en-US" sz="1700" b="0" i="0" dirty="0">
                <a:solidFill>
                  <a:srgbClr val="000000"/>
                </a:solidFill>
                <a:latin typeface="Arial"/>
              </a:rPr>
            </a:br>
            <a:br>
              <a:rPr lang="en-US" sz="1700" b="0" i="0" dirty="0">
                <a:solidFill>
                  <a:srgbClr val="000000"/>
                </a:solidFill>
                <a:latin typeface="Arial"/>
              </a:rPr>
            </a:br>
            <a:br>
              <a:rPr lang="en-US" sz="1700" b="0" i="0" dirty="0">
                <a:solidFill>
                  <a:srgbClr val="000000"/>
                </a:solidFill>
                <a:latin typeface="Arial"/>
              </a:rPr>
            </a:br>
            <a:r>
              <a:rPr lang="en-US" sz="1700" dirty="0">
                <a:solidFill>
                  <a:srgbClr val="000000"/>
                </a:solidFill>
                <a:latin typeface="Arial"/>
              </a:rPr>
              <a:t>What are some of the </a:t>
            </a:r>
            <a:br>
              <a:rPr lang="en-US" sz="1700" dirty="0">
                <a:solidFill>
                  <a:srgbClr val="000000"/>
                </a:solidFill>
                <a:latin typeface="Arial"/>
              </a:rPr>
            </a:br>
            <a:r>
              <a:rPr lang="en-US" sz="1700" dirty="0">
                <a:solidFill>
                  <a:srgbClr val="000000"/>
                </a:solidFill>
                <a:latin typeface="Arial"/>
              </a:rPr>
              <a:t>limitations of this approach?</a:t>
            </a:r>
          </a:p>
          <a:p>
            <a:pPr>
              <a:lnSpc>
                <a:spcPct val="114000"/>
              </a:lnSpc>
              <a:spcAft>
                <a:spcPts val="1000"/>
              </a:spcAft>
            </a:pPr>
            <a:endParaRPr lang="en-US" sz="1700" b="0" i="0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4000"/>
              </a:lnSpc>
              <a:spcAft>
                <a:spcPts val="1000"/>
              </a:spcAft>
            </a:pPr>
            <a:endParaRPr lang="en-US" sz="1700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4000"/>
              </a:lnSpc>
              <a:spcAft>
                <a:spcPts val="1000"/>
              </a:spcAft>
            </a:pPr>
            <a:endParaRPr lang="en-US" sz="1700" b="0" i="0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4000"/>
              </a:lnSpc>
              <a:spcAft>
                <a:spcPts val="1000"/>
              </a:spcAft>
            </a:pPr>
            <a:endParaRPr lang="en-US" sz="1700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4000"/>
              </a:lnSpc>
              <a:spcAft>
                <a:spcPts val="1000"/>
              </a:spcAft>
            </a:pPr>
            <a:endParaRPr lang="en-US" sz="1700" b="0" i="0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4000"/>
              </a:lnSpc>
              <a:spcAft>
                <a:spcPts val="1000"/>
              </a:spcAft>
            </a:pPr>
            <a:endParaRPr sz="1700" b="0" i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D4DE4D-B1A6-127B-8AD2-0BA8DF514A7D}"/>
              </a:ext>
            </a:extLst>
          </p:cNvPr>
          <p:cNvSpPr txBox="1"/>
          <p:nvPr/>
        </p:nvSpPr>
        <p:spPr>
          <a:xfrm>
            <a:off x="457200" y="182880"/>
            <a:ext cx="393889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005587"/>
                </a:solidFill>
                <a:latin typeface="Whitney Bold"/>
              </a:rPr>
              <a:t>The Standard Approach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pic>
        <p:nvPicPr>
          <p:cNvPr id="15" name="Picture 14" descr="A screenshot of a calendar&#10;&#10;AI-generated content may be incorrect.">
            <a:extLst>
              <a:ext uri="{FF2B5EF4-FFF2-40B4-BE49-F238E27FC236}">
                <a16:creationId xmlns:a16="http://schemas.microsoft.com/office/drawing/2014/main" id="{67D6D49D-9832-8628-63BC-BE4AEC8AD7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5189" y="1540513"/>
            <a:ext cx="5391298" cy="3133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0694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ctor 4"/>
          <p:cNvCxnSpPr/>
          <p:nvPr/>
        </p:nvCxnSpPr>
        <p:spPr>
          <a:xfrm>
            <a:off x="457200" y="896112"/>
            <a:ext cx="8321040" cy="0"/>
          </a:xfrm>
          <a:prstGeom prst="line">
            <a:avLst/>
          </a:prstGeom>
          <a:ln w="1270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457200" y="182880"/>
            <a:ext cx="374814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005587"/>
                </a:solidFill>
                <a:latin typeface="Whitney Bold"/>
              </a:rPr>
              <a:t>Wouldn’t it be nice if…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024128"/>
            <a:ext cx="8321040" cy="3424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1000"/>
              </a:spcAft>
            </a:pPr>
            <a:r>
              <a:rPr lang="en-US" sz="2000" dirty="0">
                <a:solidFill>
                  <a:srgbClr val="000000"/>
                </a:solidFill>
                <a:latin typeface="Arial"/>
              </a:rPr>
              <a:t>1. Each </a:t>
            </a:r>
            <a:r>
              <a:rPr sz="2000" dirty="0">
                <a:solidFill>
                  <a:srgbClr val="000000"/>
                </a:solidFill>
                <a:latin typeface="Arial"/>
              </a:rPr>
              <a:t>word </a:t>
            </a:r>
            <a:r>
              <a:rPr lang="en-US" sz="2000" dirty="0">
                <a:solidFill>
                  <a:srgbClr val="000000"/>
                </a:solidFill>
                <a:latin typeface="Arial"/>
              </a:rPr>
              <a:t>(</a:t>
            </a:r>
            <a:r>
              <a:rPr sz="2000" dirty="0">
                <a:solidFill>
                  <a:srgbClr val="000000"/>
                </a:solidFill>
                <a:latin typeface="Arial"/>
              </a:rPr>
              <a:t>token</a:t>
            </a:r>
            <a:r>
              <a:rPr lang="en-US" sz="2000" dirty="0">
                <a:solidFill>
                  <a:srgbClr val="000000"/>
                </a:solidFill>
                <a:latin typeface="Arial"/>
              </a:rPr>
              <a:t>)</a:t>
            </a:r>
            <a:r>
              <a:rPr sz="2000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Arial"/>
              </a:rPr>
              <a:t>could be represented in lower dimensions?</a:t>
            </a:r>
            <a:endParaRPr sz="2000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4000"/>
              </a:lnSpc>
              <a:spcAft>
                <a:spcPts val="1000"/>
              </a:spcAft>
            </a:pPr>
            <a:r>
              <a:rPr lang="en-US" sz="2000" dirty="0">
                <a:solidFill>
                  <a:srgbClr val="000000"/>
                </a:solidFill>
                <a:latin typeface="Arial"/>
              </a:rPr>
              <a:t>2. We could capture the meaning of each word (numerically)?</a:t>
            </a:r>
            <a:endParaRPr sz="2000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4000"/>
              </a:lnSpc>
              <a:spcAft>
                <a:spcPts val="1000"/>
              </a:spcAft>
            </a:pPr>
            <a:r>
              <a:rPr lang="en-US" sz="2000" dirty="0">
                <a:solidFill>
                  <a:srgbClr val="000000"/>
                </a:solidFill>
                <a:latin typeface="Arial"/>
              </a:rPr>
              <a:t>3. Related words were closer together (numerically)?</a:t>
            </a:r>
          </a:p>
          <a:p>
            <a:pPr>
              <a:lnSpc>
                <a:spcPct val="114000"/>
              </a:lnSpc>
              <a:spcAft>
                <a:spcPts val="1000"/>
              </a:spcAft>
            </a:pPr>
            <a:endParaRPr sz="2000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4000"/>
              </a:lnSpc>
              <a:spcAft>
                <a:spcPts val="1000"/>
              </a:spcAft>
            </a:pPr>
            <a:r>
              <a:rPr sz="2000" i="0" dirty="0">
                <a:solidFill>
                  <a:srgbClr val="000000"/>
                </a:solidFill>
                <a:latin typeface="Arial"/>
              </a:rPr>
              <a:t>Good news</a:t>
            </a:r>
            <a:r>
              <a:rPr sz="2000" b="1" i="0" dirty="0">
                <a:solidFill>
                  <a:srgbClr val="000000"/>
                </a:solidFill>
                <a:latin typeface="Arial"/>
              </a:rPr>
              <a:t>: </a:t>
            </a:r>
            <a:r>
              <a:rPr lang="en-US" sz="2000" i="0" dirty="0">
                <a:solidFill>
                  <a:srgbClr val="000000"/>
                </a:solidFill>
                <a:latin typeface="Arial"/>
              </a:rPr>
              <a:t>All of this is possible by using </a:t>
            </a:r>
            <a:r>
              <a:rPr sz="2000" b="0" i="0" dirty="0">
                <a:solidFill>
                  <a:srgbClr val="000000"/>
                </a:solidFill>
                <a:latin typeface="Arial"/>
              </a:rPr>
              <a:t>word </a:t>
            </a:r>
            <a:r>
              <a:rPr sz="2000" b="1" i="0" dirty="0">
                <a:solidFill>
                  <a:srgbClr val="000000"/>
                </a:solidFill>
                <a:latin typeface="Arial"/>
              </a:rPr>
              <a:t>embeddings</a:t>
            </a:r>
            <a:endParaRPr lang="en-US" sz="2000" dirty="0">
              <a:solidFill>
                <a:srgbClr val="000000"/>
              </a:solidFill>
              <a:latin typeface="Arial"/>
            </a:endParaRPr>
          </a:p>
          <a:p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First, what embeddings are; second, how they are created</a:t>
            </a:r>
          </a:p>
          <a:p>
            <a:endParaRPr lang="en-US" sz="2000" dirty="0">
              <a:solidFill>
                <a:srgbClr val="000000"/>
              </a:solidFill>
              <a:latin typeface="Arial" pitchFamily="34" charset="0"/>
              <a:cs typeface="Arial" pitchFamily="34" charset="-120"/>
            </a:endParaRPr>
          </a:p>
          <a:p>
            <a:pPr>
              <a:lnSpc>
                <a:spcPct val="114000"/>
              </a:lnSpc>
              <a:spcAft>
                <a:spcPts val="1000"/>
              </a:spcAft>
            </a:pPr>
            <a:endParaRPr sz="2000" b="0" i="0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F8B59-BE21-9701-8183-9D42D3EBD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3C29E82-DFFC-D7FC-47E8-64985C172424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9439F7A-31C6-EDEA-9E51-2EA134F17A26}"/>
              </a:ext>
            </a:extLst>
          </p:cNvPr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Embeddings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0B92E7A-A7ED-1F16-77A8-885B8D023588}"/>
              </a:ext>
            </a:extLst>
          </p:cNvPr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Picture 2">
            <a:extLst>
              <a:ext uri="{FF2B5EF4-FFF2-40B4-BE49-F238E27FC236}">
                <a16:creationId xmlns:a16="http://schemas.microsoft.com/office/drawing/2014/main" id="{D6381A96-4111-55F6-5307-07290971310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36" r="14644"/>
          <a:stretch>
            <a:fillRect/>
          </a:stretch>
        </p:blipFill>
        <p:spPr bwMode="auto">
          <a:xfrm>
            <a:off x="310897" y="1229845"/>
            <a:ext cx="4295326" cy="3266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3176F8D8-9F07-F005-3EFA-D56CC505BD0E}"/>
              </a:ext>
            </a:extLst>
          </p:cNvPr>
          <p:cNvSpPr txBox="1"/>
          <p:nvPr/>
        </p:nvSpPr>
        <p:spPr>
          <a:xfrm>
            <a:off x="5095473" y="4814233"/>
            <a:ext cx="36827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https://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txt.cohere.com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/sentence-word-embeddings/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D6FD20B-2F3F-E40E-C308-B57D8EDE380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26" r="20905"/>
          <a:stretch>
            <a:fillRect/>
          </a:stretch>
        </p:blipFill>
        <p:spPr bwMode="auto">
          <a:xfrm>
            <a:off x="4752838" y="1181311"/>
            <a:ext cx="4025402" cy="3315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5616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653DE-5A6B-EE3C-6625-FC86C7BF5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C50DFD2-590F-1850-8942-641EB67F9981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D842645-47A7-C6BB-2DBC-9F301395D2DD}"/>
              </a:ext>
            </a:extLst>
          </p:cNvPr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Embeddings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240AC32-4AFA-9BCC-34F3-8CFFDFB7778C}"/>
              </a:ext>
            </a:extLst>
          </p:cNvPr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689BEA48-EFAE-BA45-D88B-8A752938D1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601" y="1356200"/>
            <a:ext cx="8634798" cy="3224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29790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Embeddings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96BAB-55F2-3765-FC46-7854CE4ADB2E}"/>
              </a:ext>
            </a:extLst>
          </p:cNvPr>
          <p:cNvSpPr txBox="1"/>
          <p:nvPr/>
        </p:nvSpPr>
        <p:spPr>
          <a:xfrm>
            <a:off x="457200" y="1024128"/>
            <a:ext cx="8321040" cy="31198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1000"/>
              </a:spcAft>
            </a:pPr>
            <a:r>
              <a:rPr lang="en-US" sz="2000" dirty="0">
                <a:solidFill>
                  <a:srgbClr val="000000"/>
                </a:solidFill>
                <a:latin typeface="Arial"/>
              </a:rPr>
              <a:t>An embedding of a word is just a long vector of numbers:</a:t>
            </a:r>
            <a:br>
              <a:rPr lang="en-US" sz="2000" dirty="0">
                <a:solidFill>
                  <a:srgbClr val="000000"/>
                </a:solidFill>
                <a:latin typeface="Arial"/>
              </a:rPr>
            </a:br>
            <a:br>
              <a:rPr lang="en-US" sz="2000" dirty="0">
                <a:solidFill>
                  <a:srgbClr val="000000"/>
                </a:solidFill>
                <a:latin typeface="Arial"/>
              </a:rPr>
            </a:br>
            <a:r>
              <a:rPr lang="en-US" sz="2000" dirty="0">
                <a:solidFill>
                  <a:srgbClr val="000000"/>
                </a:solidFill>
                <a:latin typeface="Arial"/>
              </a:rPr>
              <a:t>e.g., dog = [-0.21 0.3 1.2 -2.1 -0.52 ………….]</a:t>
            </a:r>
            <a:endParaRPr lang="en-US" sz="2000" dirty="0">
              <a:solidFill>
                <a:srgbClr val="0000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br>
              <a:rPr lang="en-US" sz="2000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</a:br>
            <a:r>
              <a:rPr lang="en-US" sz="2000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An embedding can be interpreted as a point in a high-dimensional space (e.g., 256)</a:t>
            </a:r>
          </a:p>
          <a:p>
            <a:endParaRPr lang="en-US" sz="2000" dirty="0">
              <a:solidFill>
                <a:srgbClr val="000000"/>
              </a:solidFill>
              <a:latin typeface="Arial" pitchFamily="34" charset="0"/>
              <a:cs typeface="Arial" pitchFamily="34" charset="-120"/>
            </a:endParaRPr>
          </a:p>
          <a:p>
            <a:r>
              <a:rPr lang="en-US" sz="2000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The point of embeddings is to allow a words meaning to be represented </a:t>
            </a:r>
            <a:r>
              <a:rPr lang="en-US" sz="2000" i="1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spatially</a:t>
            </a:r>
            <a:endParaRPr sz="2000" b="0" i="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55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hlinkClick r:id="rId3"/>
            <a:extLst>
              <a:ext uri="{FF2B5EF4-FFF2-40B4-BE49-F238E27FC236}">
                <a16:creationId xmlns:a16="http://schemas.microsoft.com/office/drawing/2014/main" id="{E7FCCCBA-8A1F-C7B2-0CCB-B8C7AA5BE905}"/>
              </a:ext>
            </a:extLst>
          </p:cNvPr>
          <p:cNvSpPr txBox="1"/>
          <p:nvPr/>
        </p:nvSpPr>
        <p:spPr>
          <a:xfrm>
            <a:off x="1554933" y="2133587"/>
            <a:ext cx="603413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rgbClr val="FFC000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Embedding Visualization</a:t>
            </a:r>
            <a:endParaRPr lang="en-US" sz="4000" dirty="0">
              <a:solidFill>
                <a:srgbClr val="FFC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1FBEF-1FC7-A13A-5F2A-30520BE0F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CAADB22-D998-255F-C531-3FA96A98A48E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2F704D5-6655-3FA0-4C3D-73F8AC32C780}"/>
              </a:ext>
            </a:extLst>
          </p:cNvPr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Word Relationships in Embedding Space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E1818B4-59CE-CC12-8591-3CA0D1DB07E5}"/>
              </a:ext>
            </a:extLst>
          </p:cNvPr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F7CD58-021F-E3E6-B4E6-04C9BF709DE6}"/>
              </a:ext>
            </a:extLst>
          </p:cNvPr>
          <p:cNvSpPr txBox="1"/>
          <p:nvPr/>
        </p:nvSpPr>
        <p:spPr>
          <a:xfrm>
            <a:off x="5790735" y="1012082"/>
            <a:ext cx="3163141" cy="9110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1000"/>
              </a:spcAft>
            </a:pPr>
            <a:r>
              <a:rPr lang="en-US" sz="1600" dirty="0">
                <a:solidFill>
                  <a:srgbClr val="000000"/>
                </a:solidFill>
                <a:latin typeface="Arial"/>
              </a:rPr>
              <a:t>The spatial relationship of embeddings reflects their meaning or usage</a:t>
            </a:r>
            <a:endParaRPr sz="1600" b="0" i="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" name="Picture 6" descr="A diagram of different colors&#10;&#10;AI-generated content may be incorrect.">
            <a:extLst>
              <a:ext uri="{FF2B5EF4-FFF2-40B4-BE49-F238E27FC236}">
                <a16:creationId xmlns:a16="http://schemas.microsoft.com/office/drawing/2014/main" id="{1FDF3095-4517-1D3D-27D3-AE253515816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621"/>
          <a:stretch>
            <a:fillRect/>
          </a:stretch>
        </p:blipFill>
        <p:spPr>
          <a:xfrm>
            <a:off x="342027" y="1129775"/>
            <a:ext cx="5135920" cy="364136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7E9E472-2631-1402-8C11-F4D88630A026}"/>
              </a:ext>
            </a:extLst>
          </p:cNvPr>
          <p:cNvSpPr txBox="1"/>
          <p:nvPr/>
        </p:nvSpPr>
        <p:spPr>
          <a:xfrm>
            <a:off x="5814469" y="2004179"/>
            <a:ext cx="2987504" cy="2970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Semantic</a:t>
            </a:r>
            <a:b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11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italy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france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paris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≈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rome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pizza -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usa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japan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≈ sushi</a:t>
            </a:r>
          </a:p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elbow - knee + leg ≈ arm</a:t>
            </a:r>
          </a:p>
          <a:p>
            <a:b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Morphological</a:t>
            </a:r>
            <a:b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11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children - child + person ≈ people</a:t>
            </a:r>
          </a:p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walking - running + ran ≈ walked</a:t>
            </a:r>
          </a:p>
          <a:p>
            <a:b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Social/Cultural</a:t>
            </a:r>
          </a:p>
          <a:p>
            <a:b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king - man + woman ≈ queen</a:t>
            </a:r>
            <a:b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doctor - man + woman ≈ nurse</a:t>
            </a:r>
          </a:p>
          <a:p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4DB590-6E3C-F790-9763-EF058709FE0B}"/>
              </a:ext>
            </a:extLst>
          </p:cNvPr>
          <p:cNvSpPr txBox="1"/>
          <p:nvPr/>
        </p:nvSpPr>
        <p:spPr>
          <a:xfrm>
            <a:off x="7760370" y="4331610"/>
            <a:ext cx="3850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🤨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0588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A9F60-FB1C-8A36-9A57-5F77A1BC6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nector 6"/>
          <p:cNvCxnSpPr/>
          <p:nvPr/>
        </p:nvCxnSpPr>
        <p:spPr>
          <a:xfrm>
            <a:off x="457200" y="896112"/>
            <a:ext cx="8321040" cy="0"/>
          </a:xfrm>
          <a:prstGeom prst="line">
            <a:avLst/>
          </a:prstGeom>
          <a:ln w="1270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489471"/>
            <a:ext cx="8321040" cy="413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1000"/>
              </a:spcAft>
            </a:pPr>
            <a:r>
              <a:rPr sz="2000" b="0" i="1" dirty="0">
                <a:solidFill>
                  <a:srgbClr val="C00000"/>
                </a:solidFill>
                <a:latin typeface="Arial"/>
              </a:rPr>
              <a:t>“You shall know a word by the company it keeps.”</a:t>
            </a:r>
            <a:r>
              <a:rPr sz="2000" b="0" i="0" dirty="0">
                <a:solidFill>
                  <a:srgbClr val="C00000"/>
                </a:solidFill>
                <a:latin typeface="Arial"/>
              </a:rPr>
              <a:t> — J. R. Firth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DF0701-895C-4315-F44D-5954F92D97BA}"/>
              </a:ext>
            </a:extLst>
          </p:cNvPr>
          <p:cNvSpPr txBox="1"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005587"/>
                </a:solidFill>
                <a:latin typeface="Whitney Bold"/>
              </a:rPr>
              <a:t>Where Do Embeddings Come From?</a:t>
            </a:r>
          </a:p>
        </p:txBody>
      </p:sp>
    </p:spTree>
    <p:extLst>
      <p:ext uri="{BB962C8B-B14F-4D97-AF65-F5344CB8AC3E}">
        <p14:creationId xmlns:p14="http://schemas.microsoft.com/office/powerpoint/2010/main" val="17083430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E9F1D-28AC-C8AF-201F-83520752B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nector 6">
            <a:extLst>
              <a:ext uri="{FF2B5EF4-FFF2-40B4-BE49-F238E27FC236}">
                <a16:creationId xmlns:a16="http://schemas.microsoft.com/office/drawing/2014/main" id="{2E8A8C61-427C-9D1A-244C-1D6363D005D9}"/>
              </a:ext>
            </a:extLst>
          </p:cNvPr>
          <p:cNvCxnSpPr/>
          <p:nvPr/>
        </p:nvCxnSpPr>
        <p:spPr>
          <a:xfrm>
            <a:off x="457200" y="896112"/>
            <a:ext cx="8321040" cy="0"/>
          </a:xfrm>
          <a:prstGeom prst="line">
            <a:avLst/>
          </a:prstGeom>
          <a:ln w="1270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ABD6163-1A1F-D1CC-F63E-0BE39D63329F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0F4D25-4182-2E56-5BFE-7C17D7562679}"/>
              </a:ext>
            </a:extLst>
          </p:cNvPr>
          <p:cNvSpPr txBox="1"/>
          <p:nvPr/>
        </p:nvSpPr>
        <p:spPr>
          <a:xfrm>
            <a:off x="822960" y="2176272"/>
            <a:ext cx="7498079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Arial"/>
              </a:rPr>
              <a:t>The acting in the ____ was superb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D7111E-CC31-3D9C-E1C4-363E6B83D227}"/>
              </a:ext>
            </a:extLst>
          </p:cNvPr>
          <p:cNvSpPr txBox="1"/>
          <p:nvPr/>
        </p:nvSpPr>
        <p:spPr>
          <a:xfrm>
            <a:off x="457200" y="3429000"/>
            <a:ext cx="83210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1000"/>
              </a:spcAft>
            </a:pPr>
            <a:r>
              <a:rPr sz="1600" b="1" i="0">
                <a:solidFill>
                  <a:srgbClr val="000000"/>
                </a:solidFill>
                <a:latin typeface="Arial"/>
              </a:rPr>
              <a:t>Likely: </a:t>
            </a:r>
            <a:r>
              <a:rPr sz="1600" b="0" i="0">
                <a:solidFill>
                  <a:srgbClr val="000000"/>
                </a:solidFill>
                <a:latin typeface="Arial"/>
              </a:rPr>
              <a:t>movie, film, play</a:t>
            </a:r>
          </a:p>
          <a:p>
            <a:pPr>
              <a:lnSpc>
                <a:spcPct val="114000"/>
              </a:lnSpc>
              <a:spcAft>
                <a:spcPts val="1000"/>
              </a:spcAft>
            </a:pPr>
            <a:r>
              <a:rPr sz="1600" b="1" i="0">
                <a:solidFill>
                  <a:srgbClr val="000000"/>
                </a:solidFill>
                <a:latin typeface="Arial"/>
              </a:rPr>
              <a:t>Unlikely: </a:t>
            </a:r>
            <a:r>
              <a:rPr sz="1600" b="0" i="0">
                <a:solidFill>
                  <a:srgbClr val="000000"/>
                </a:solidFill>
                <a:latin typeface="Arial"/>
              </a:rPr>
              <a:t>refrigerator, legislature, molecule</a:t>
            </a:r>
          </a:p>
          <a:p>
            <a:pPr>
              <a:lnSpc>
                <a:spcPct val="114000"/>
              </a:lnSpc>
              <a:spcAft>
                <a:spcPts val="10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Embedding models exploit this pattern: context is evidence for meaning.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C8DB8A-FB7C-E86C-9230-D6AB1511273B}"/>
              </a:ext>
            </a:extLst>
          </p:cNvPr>
          <p:cNvSpPr txBox="1"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005587"/>
                </a:solidFill>
                <a:latin typeface="Whitney Bold"/>
              </a:rPr>
              <a:t>Where Do Embeddings Come From?</a:t>
            </a:r>
          </a:p>
        </p:txBody>
      </p:sp>
    </p:spTree>
    <p:extLst>
      <p:ext uri="{BB962C8B-B14F-4D97-AF65-F5344CB8AC3E}">
        <p14:creationId xmlns:p14="http://schemas.microsoft.com/office/powerpoint/2010/main" val="31251010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ctor 4"/>
          <p:cNvCxnSpPr/>
          <p:nvPr/>
        </p:nvCxnSpPr>
        <p:spPr>
          <a:xfrm>
            <a:off x="457200" y="896112"/>
            <a:ext cx="8321040" cy="0"/>
          </a:xfrm>
          <a:prstGeom prst="line">
            <a:avLst/>
          </a:prstGeom>
          <a:ln w="1270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005587"/>
                </a:solidFill>
                <a:latin typeface="Whitney Bold"/>
              </a:rPr>
              <a:t>Where Do Embeddings Come From?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24128"/>
            <a:ext cx="8321040" cy="38608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1000"/>
              </a:spcAft>
            </a:pPr>
            <a:r>
              <a:rPr sz="1700" b="1" i="0" dirty="0">
                <a:solidFill>
                  <a:srgbClr val="000000"/>
                </a:solidFill>
                <a:latin typeface="Arial"/>
              </a:rPr>
              <a:t>Training data: </a:t>
            </a:r>
            <a:r>
              <a:rPr sz="1700" b="0" i="0" dirty="0">
                <a:solidFill>
                  <a:srgbClr val="000000"/>
                </a:solidFill>
                <a:latin typeface="Arial"/>
              </a:rPr>
              <a:t>a large text </a:t>
            </a:r>
            <a:r>
              <a:rPr sz="1700" b="0" i="1" dirty="0">
                <a:solidFill>
                  <a:srgbClr val="000000"/>
                </a:solidFill>
                <a:latin typeface="Arial"/>
              </a:rPr>
              <a:t>corpus</a:t>
            </a:r>
            <a:r>
              <a:rPr sz="1700" b="0" i="0" dirty="0">
                <a:solidFill>
                  <a:srgbClr val="000000"/>
                </a:solidFill>
                <a:latin typeface="Arial"/>
              </a:rPr>
              <a:t> such as Wikipedia, news, books, or web pages</a:t>
            </a:r>
            <a:endParaRPr lang="en-US" sz="1700" b="0" i="0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4000"/>
              </a:lnSpc>
              <a:spcAft>
                <a:spcPts val="1000"/>
              </a:spcAft>
            </a:pPr>
            <a:br>
              <a:rPr lang="en-US" sz="1700" dirty="0">
                <a:solidFill>
                  <a:srgbClr val="000000"/>
                </a:solidFill>
                <a:latin typeface="Arial"/>
              </a:rPr>
            </a:br>
            <a:r>
              <a:rPr lang="en-US" sz="1700" dirty="0">
                <a:solidFill>
                  <a:srgbClr val="000000"/>
                </a:solidFill>
                <a:latin typeface="Arial"/>
              </a:rPr>
              <a:t>Two major approaches to creating embeddings:</a:t>
            </a:r>
            <a:br>
              <a:rPr lang="en-US" sz="1700" dirty="0">
                <a:solidFill>
                  <a:srgbClr val="000000"/>
                </a:solidFill>
                <a:latin typeface="Arial"/>
              </a:rPr>
            </a:br>
            <a:endParaRPr sz="1700" b="0" i="0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4000"/>
              </a:lnSpc>
              <a:spcAft>
                <a:spcPts val="1000"/>
              </a:spcAft>
            </a:pPr>
            <a:r>
              <a:rPr lang="en-US" sz="1700" b="1" i="0" dirty="0">
                <a:solidFill>
                  <a:srgbClr val="000000"/>
                </a:solidFill>
                <a:latin typeface="Arial"/>
              </a:rPr>
              <a:t>1. </a:t>
            </a:r>
            <a:r>
              <a:rPr sz="1700" b="1" i="0" dirty="0" err="1">
                <a:solidFill>
                  <a:srgbClr val="000000"/>
                </a:solidFill>
                <a:latin typeface="Arial"/>
              </a:rPr>
              <a:t>GloVe</a:t>
            </a:r>
            <a:r>
              <a:rPr sz="1700" b="1" i="0" dirty="0">
                <a:solidFill>
                  <a:srgbClr val="000000"/>
                </a:solidFill>
                <a:latin typeface="Arial"/>
              </a:rPr>
              <a:t>: </a:t>
            </a:r>
            <a:r>
              <a:rPr sz="1700" b="0" i="0" dirty="0">
                <a:solidFill>
                  <a:srgbClr val="000000"/>
                </a:solidFill>
                <a:latin typeface="Arial"/>
              </a:rPr>
              <a:t>learns from word co-occurrence statistics across the corpus</a:t>
            </a:r>
            <a:r>
              <a:rPr lang="en-US" sz="1700" b="0" i="0" dirty="0">
                <a:solidFill>
                  <a:srgbClr val="000000"/>
                </a:solidFill>
                <a:latin typeface="Arial"/>
              </a:rPr>
              <a:t> – </a:t>
            </a:r>
            <a:r>
              <a:rPr lang="en-US" sz="1700" b="0" i="1" dirty="0">
                <a:solidFill>
                  <a:srgbClr val="000000"/>
                </a:solidFill>
                <a:latin typeface="Arial"/>
              </a:rPr>
              <a:t>how frequently does each pair of words appear </a:t>
            </a:r>
            <a:r>
              <a:rPr lang="en-US" sz="1700" i="1" dirty="0">
                <a:solidFill>
                  <a:srgbClr val="000000"/>
                </a:solidFill>
                <a:latin typeface="Arial"/>
              </a:rPr>
              <a:t>together</a:t>
            </a:r>
            <a:r>
              <a:rPr lang="en-US" sz="1700" dirty="0">
                <a:solidFill>
                  <a:srgbClr val="000000"/>
                </a:solidFill>
                <a:latin typeface="Arial"/>
              </a:rPr>
              <a:t>?</a:t>
            </a:r>
            <a:br>
              <a:rPr lang="en-US" sz="1700" b="0" i="0" dirty="0">
                <a:solidFill>
                  <a:srgbClr val="000000"/>
                </a:solidFill>
                <a:latin typeface="Arial"/>
              </a:rPr>
            </a:br>
            <a:endParaRPr sz="1700" b="0" i="0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4000"/>
              </a:lnSpc>
              <a:spcAft>
                <a:spcPts val="1000"/>
              </a:spcAft>
            </a:pPr>
            <a:r>
              <a:rPr lang="en-US" sz="1700" b="1" i="0" dirty="0">
                <a:solidFill>
                  <a:srgbClr val="000000"/>
                </a:solidFill>
                <a:latin typeface="Arial"/>
              </a:rPr>
              <a:t>2. </a:t>
            </a:r>
            <a:r>
              <a:rPr sz="1700" b="1" i="0" dirty="0">
                <a:solidFill>
                  <a:srgbClr val="000000"/>
                </a:solidFill>
                <a:latin typeface="Arial"/>
              </a:rPr>
              <a:t>Word2Vec: </a:t>
            </a:r>
            <a:r>
              <a:rPr lang="en-US" sz="1700" dirty="0">
                <a:solidFill>
                  <a:srgbClr val="000000"/>
                </a:solidFill>
                <a:latin typeface="Arial"/>
              </a:rPr>
              <a:t>P</a:t>
            </a:r>
            <a:r>
              <a:rPr sz="1700" b="0" i="0" dirty="0">
                <a:solidFill>
                  <a:srgbClr val="000000"/>
                </a:solidFill>
                <a:latin typeface="Arial"/>
              </a:rPr>
              <a:t>redicts nearby words from a target word using a small neural network.</a:t>
            </a:r>
          </a:p>
          <a:p>
            <a:pPr>
              <a:lnSpc>
                <a:spcPct val="114000"/>
              </a:lnSpc>
              <a:spcAft>
                <a:spcPts val="1000"/>
              </a:spcAft>
            </a:pPr>
            <a:br>
              <a:rPr lang="en-US" sz="1700" dirty="0">
                <a:solidFill>
                  <a:srgbClr val="000000"/>
                </a:solidFill>
                <a:latin typeface="Arial"/>
              </a:rPr>
            </a:br>
            <a:r>
              <a:rPr sz="1700" dirty="0">
                <a:solidFill>
                  <a:srgbClr val="000000"/>
                </a:solidFill>
                <a:latin typeface="Arial"/>
              </a:rPr>
              <a:t>Key idea</a:t>
            </a:r>
            <a:r>
              <a:rPr lang="en-US" sz="1700" dirty="0">
                <a:solidFill>
                  <a:srgbClr val="000000"/>
                </a:solidFill>
                <a:latin typeface="Arial"/>
              </a:rPr>
              <a:t> in both cases</a:t>
            </a:r>
            <a:r>
              <a:rPr sz="1700" dirty="0">
                <a:solidFill>
                  <a:srgbClr val="000000"/>
                </a:solidFill>
                <a:latin typeface="Arial"/>
              </a:rPr>
              <a:t>: </a:t>
            </a:r>
            <a:r>
              <a:rPr lang="en-US" sz="1700" dirty="0">
                <a:solidFill>
                  <a:srgbClr val="000000"/>
                </a:solidFill>
                <a:latin typeface="Arial"/>
              </a:rPr>
              <a:t>W</a:t>
            </a:r>
            <a:r>
              <a:rPr sz="1700" dirty="0">
                <a:solidFill>
                  <a:srgbClr val="000000"/>
                </a:solidFill>
                <a:latin typeface="Arial"/>
              </a:rPr>
              <a:t>ords used in similar contexts get similar vectors.</a:t>
            </a:r>
          </a:p>
        </p:txBody>
      </p:sp>
    </p:spTree>
    <p:extLst>
      <p:ext uri="{BB962C8B-B14F-4D97-AF65-F5344CB8AC3E}">
        <p14:creationId xmlns:p14="http://schemas.microsoft.com/office/powerpoint/2010/main" val="33877288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nector 2"/>
          <p:cNvCxnSpPr/>
          <p:nvPr/>
        </p:nvCxnSpPr>
        <p:spPr>
          <a:xfrm>
            <a:off x="457200" y="896112"/>
            <a:ext cx="8321040" cy="0"/>
          </a:xfrm>
          <a:prstGeom prst="line">
            <a:avLst/>
          </a:prstGeom>
          <a:ln w="1270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5587"/>
                </a:solidFill>
                <a:latin typeface="Whitney Bold"/>
              </a:rPr>
              <a:t>How GloVe Learns Embeddings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8321040" cy="4471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 i="0" dirty="0">
                <a:solidFill>
                  <a:srgbClr val="000000"/>
                </a:solidFill>
                <a:latin typeface="Arial"/>
              </a:rPr>
              <a:t>Co-occurrence: </a:t>
            </a:r>
            <a:r>
              <a:rPr sz="1500" b="0" i="0" dirty="0">
                <a:solidFill>
                  <a:srgbClr val="000000"/>
                </a:solidFill>
                <a:latin typeface="Arial"/>
              </a:rPr>
              <a:t>how </a:t>
            </a:r>
            <a:r>
              <a:rPr lang="en-US" sz="1500" b="0" i="0" dirty="0">
                <a:solidFill>
                  <a:srgbClr val="000000"/>
                </a:solidFill>
                <a:latin typeface="Arial"/>
              </a:rPr>
              <a:t>many times two </a:t>
            </a:r>
            <a:r>
              <a:rPr sz="1500" b="0" i="0" dirty="0">
                <a:solidFill>
                  <a:srgbClr val="000000"/>
                </a:solidFill>
                <a:latin typeface="Arial"/>
              </a:rPr>
              <a:t>words appear near each other in a text window</a:t>
            </a:r>
            <a:r>
              <a:rPr lang="en-US" sz="1500" b="0" i="0" dirty="0">
                <a:solidFill>
                  <a:srgbClr val="000000"/>
                </a:solidFill>
                <a:latin typeface="Arial"/>
              </a:rPr>
              <a:t> across the entire corpus</a:t>
            </a:r>
            <a:r>
              <a:rPr sz="1500" b="0" i="0" dirty="0">
                <a:solidFill>
                  <a:srgbClr val="000000"/>
                </a:solidFill>
                <a:latin typeface="Arial"/>
              </a:rPr>
              <a:t>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br>
              <a:rPr lang="en-US" sz="1500" b="0" i="0" dirty="0">
                <a:solidFill>
                  <a:srgbClr val="000000"/>
                </a:solidFill>
                <a:latin typeface="Arial"/>
              </a:rPr>
            </a:br>
            <a:r>
              <a:rPr sz="1500" b="0" i="0" dirty="0" err="1">
                <a:solidFill>
                  <a:srgbClr val="000000"/>
                </a:solidFill>
                <a:latin typeface="Arial"/>
              </a:rPr>
              <a:t>GloVe</a:t>
            </a:r>
            <a:r>
              <a:rPr sz="1500"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500" b="0" i="0" dirty="0">
                <a:solidFill>
                  <a:srgbClr val="000000"/>
                </a:solidFill>
                <a:latin typeface="Arial"/>
              </a:rPr>
              <a:t>starts with a</a:t>
            </a:r>
            <a:r>
              <a:rPr sz="1500" b="0" i="0" dirty="0">
                <a:solidFill>
                  <a:srgbClr val="000000"/>
                </a:solidFill>
                <a:latin typeface="Arial"/>
              </a:rPr>
              <a:t> giant word-by-word co-occurrence where </a:t>
            </a:r>
            <a:r>
              <a:rPr sz="1500" b="1" i="0" dirty="0" err="1">
                <a:solidFill>
                  <a:srgbClr val="000000"/>
                </a:solidFill>
                <a:latin typeface="Arial"/>
              </a:rPr>
              <a:t>X</a:t>
            </a:r>
            <a:r>
              <a:rPr sz="1500" i="0" baseline="-25000" dirty="0" err="1">
                <a:solidFill>
                  <a:srgbClr val="000000"/>
                </a:solidFill>
                <a:latin typeface="Arial"/>
              </a:rPr>
              <a:t>ij</a:t>
            </a:r>
            <a:r>
              <a:rPr sz="1500" b="0" i="0" dirty="0">
                <a:solidFill>
                  <a:srgbClr val="000000"/>
                </a:solidFill>
                <a:latin typeface="Arial"/>
              </a:rPr>
              <a:t> counts how often word </a:t>
            </a:r>
            <a:r>
              <a:rPr sz="1500" i="1" dirty="0">
                <a:solidFill>
                  <a:srgbClr val="000000"/>
                </a:solidFill>
                <a:latin typeface="Arial"/>
              </a:rPr>
              <a:t>j</a:t>
            </a:r>
            <a:r>
              <a:rPr sz="1500" b="0" i="0" dirty="0">
                <a:solidFill>
                  <a:srgbClr val="000000"/>
                </a:solidFill>
                <a:latin typeface="Arial"/>
              </a:rPr>
              <a:t> appears near word </a:t>
            </a:r>
            <a:r>
              <a:rPr sz="1500" i="1" dirty="0" err="1">
                <a:solidFill>
                  <a:srgbClr val="000000"/>
                </a:solidFill>
                <a:latin typeface="Arial"/>
              </a:rPr>
              <a:t>i</a:t>
            </a:r>
            <a:r>
              <a:rPr sz="1500" b="0" i="0" dirty="0">
                <a:solidFill>
                  <a:srgbClr val="000000"/>
                </a:solidFill>
                <a:latin typeface="Arial"/>
              </a:rPr>
              <a:t>.</a:t>
            </a:r>
            <a:r>
              <a:rPr lang="en-US" sz="1500" b="0" i="0" dirty="0">
                <a:solidFill>
                  <a:srgbClr val="000000"/>
                </a:solidFill>
                <a:latin typeface="Arial"/>
              </a:rPr>
              <a:t> E.g.,</a:t>
            </a:r>
            <a:endParaRPr lang="en-US" sz="1500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lang="en-US" sz="1500" b="1" i="0" dirty="0">
                <a:solidFill>
                  <a:srgbClr val="000000"/>
                </a:solidFill>
                <a:latin typeface="Arial"/>
              </a:rPr>
              <a:t>				X</a:t>
            </a:r>
            <a:r>
              <a:rPr lang="en-US" sz="1500" b="0" i="0" baseline="-25000" dirty="0">
                <a:solidFill>
                  <a:srgbClr val="000000"/>
                </a:solidFill>
                <a:latin typeface="Arial"/>
              </a:rPr>
              <a:t>(radio, station)</a:t>
            </a:r>
            <a:r>
              <a:rPr lang="en-US" sz="1500" b="0" i="0" dirty="0">
                <a:solidFill>
                  <a:srgbClr val="000000"/>
                </a:solidFill>
                <a:latin typeface="Arial"/>
              </a:rPr>
              <a:t> = 10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lang="en-US" sz="1500" b="1" dirty="0">
                <a:solidFill>
                  <a:srgbClr val="000000"/>
                </a:solidFill>
                <a:latin typeface="Arial"/>
              </a:rPr>
              <a:t>				X</a:t>
            </a:r>
            <a:r>
              <a:rPr lang="en-US" sz="1500" baseline="-25000" dirty="0">
                <a:solidFill>
                  <a:srgbClr val="000000"/>
                </a:solidFill>
                <a:latin typeface="Arial"/>
              </a:rPr>
              <a:t>(radio, tv)</a:t>
            </a:r>
            <a:r>
              <a:rPr lang="en-US" sz="1500" dirty="0">
                <a:solidFill>
                  <a:srgbClr val="000000"/>
                </a:solidFill>
                <a:latin typeface="Arial"/>
              </a:rPr>
              <a:t> = 20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lang="en-US" sz="1500" b="1" dirty="0">
                <a:solidFill>
                  <a:srgbClr val="000000"/>
                </a:solidFill>
                <a:latin typeface="Arial"/>
              </a:rPr>
              <a:t>				X</a:t>
            </a:r>
            <a:r>
              <a:rPr lang="en-US" sz="1500" baseline="-25000" dirty="0">
                <a:solidFill>
                  <a:srgbClr val="000000"/>
                </a:solidFill>
                <a:latin typeface="Arial"/>
              </a:rPr>
              <a:t>(train, station)</a:t>
            </a:r>
            <a:r>
              <a:rPr lang="en-US" sz="1500" dirty="0">
                <a:solidFill>
                  <a:srgbClr val="000000"/>
                </a:solidFill>
                <a:latin typeface="Arial"/>
              </a:rPr>
              <a:t> = 5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lang="en-US" sz="1500" b="1" dirty="0">
                <a:solidFill>
                  <a:srgbClr val="000000"/>
                </a:solidFill>
                <a:latin typeface="Arial"/>
              </a:rPr>
              <a:t>				X</a:t>
            </a:r>
            <a:r>
              <a:rPr lang="en-US" sz="1500" baseline="-25000" dirty="0">
                <a:solidFill>
                  <a:srgbClr val="000000"/>
                </a:solidFill>
                <a:latin typeface="Arial"/>
              </a:rPr>
              <a:t>(radio, car) </a:t>
            </a:r>
            <a:r>
              <a:rPr lang="en-US" sz="1500" dirty="0">
                <a:solidFill>
                  <a:srgbClr val="000000"/>
                </a:solidFill>
                <a:latin typeface="Arial"/>
              </a:rPr>
              <a:t>= 1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lang="en-US" sz="1500" b="1" dirty="0">
                <a:solidFill>
                  <a:srgbClr val="000000"/>
                </a:solidFill>
                <a:latin typeface="Arial"/>
              </a:rPr>
              <a:t>				X</a:t>
            </a:r>
            <a:r>
              <a:rPr lang="en-US" sz="1500" baseline="-25000" dirty="0">
                <a:solidFill>
                  <a:srgbClr val="000000"/>
                </a:solidFill>
                <a:latin typeface="Arial"/>
              </a:rPr>
              <a:t>(train, car) </a:t>
            </a:r>
            <a:r>
              <a:rPr lang="en-US" sz="1500" dirty="0">
                <a:solidFill>
                  <a:srgbClr val="000000"/>
                </a:solidFill>
                <a:latin typeface="Arial"/>
              </a:rPr>
              <a:t>= 7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endParaRPr lang="en-US" sz="1500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2000"/>
              </a:lnSpc>
              <a:spcAft>
                <a:spcPts val="900"/>
              </a:spcAft>
            </a:pPr>
            <a:endParaRPr lang="en-US" sz="1500" b="0" i="0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2000"/>
              </a:lnSpc>
              <a:spcAft>
                <a:spcPts val="900"/>
              </a:spcAft>
            </a:pPr>
            <a:endParaRPr lang="en-US" sz="1500" b="0" i="0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FFA9A-CC09-4B87-2C51-D4DC86646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707A5BC-15B8-0FF2-BEC7-E649B8D4170E}"/>
              </a:ext>
            </a:extLst>
          </p:cNvPr>
          <p:cNvSpPr txBox="1"/>
          <p:nvPr/>
        </p:nvSpPr>
        <p:spPr>
          <a:xfrm>
            <a:off x="457200" y="1161597"/>
            <a:ext cx="8321040" cy="3765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latin typeface="Arial"/>
              </a:rPr>
              <a:t>Next step is…regression! </a:t>
            </a:r>
            <a:br>
              <a:rPr lang="en-US" sz="1600" b="1" dirty="0">
                <a:solidFill>
                  <a:srgbClr val="000000"/>
                </a:solidFill>
                <a:latin typeface="Arial"/>
              </a:rPr>
            </a:br>
            <a:br>
              <a:rPr lang="en-US" sz="1600" b="1" dirty="0">
                <a:solidFill>
                  <a:srgbClr val="000000"/>
                </a:solidFill>
                <a:latin typeface="Arial"/>
              </a:rPr>
            </a:br>
            <a:r>
              <a:rPr lang="en-US" sz="1600" b="0" dirty="0">
                <a:solidFill>
                  <a:srgbClr val="000000"/>
                </a:solidFill>
                <a:latin typeface="Arial"/>
              </a:rPr>
              <a:t>C</a:t>
            </a:r>
            <a:r>
              <a:rPr sz="1600" b="0" dirty="0">
                <a:solidFill>
                  <a:srgbClr val="000000"/>
                </a:solidFill>
                <a:latin typeface="Arial"/>
              </a:rPr>
              <a:t>hoose vectors </a:t>
            </a:r>
            <a:r>
              <a:rPr lang="en-US" sz="1600" b="1" dirty="0">
                <a:solidFill>
                  <a:srgbClr val="000000"/>
                </a:solidFill>
                <a:latin typeface="Arial"/>
              </a:rPr>
              <a:t>w</a:t>
            </a:r>
            <a:r>
              <a:rPr lang="en-US" sz="1600" dirty="0">
                <a:solidFill>
                  <a:srgbClr val="000000"/>
                </a:solidFill>
                <a:latin typeface="Arial"/>
              </a:rPr>
              <a:t>ᵢ and </a:t>
            </a:r>
            <a:r>
              <a:rPr lang="en-US" sz="1600" b="1" dirty="0">
                <a:solidFill>
                  <a:srgbClr val="000000"/>
                </a:solidFill>
                <a:latin typeface="Arial"/>
              </a:rPr>
              <a:t>w</a:t>
            </a:r>
            <a:r>
              <a:rPr lang="en-US" sz="1600" dirty="0">
                <a:solidFill>
                  <a:srgbClr val="000000"/>
                </a:solidFill>
                <a:latin typeface="Arial"/>
              </a:rPr>
              <a:t>ⱼ  and constants b</a:t>
            </a:r>
            <a:r>
              <a:rPr lang="en-US" sz="1600" baseline="-25000" dirty="0">
                <a:solidFill>
                  <a:srgbClr val="000000"/>
                </a:solidFill>
                <a:latin typeface="Arial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Arial"/>
              </a:rPr>
              <a:t> and </a:t>
            </a:r>
            <a:r>
              <a:rPr lang="en-US" sz="1600" dirty="0" err="1">
                <a:solidFill>
                  <a:srgbClr val="000000"/>
                </a:solidFill>
                <a:latin typeface="Arial"/>
              </a:rPr>
              <a:t>b</a:t>
            </a:r>
            <a:r>
              <a:rPr lang="en-US" sz="1600" baseline="-25000" dirty="0" err="1">
                <a:solidFill>
                  <a:srgbClr val="000000"/>
                </a:solidFill>
                <a:latin typeface="Arial"/>
              </a:rPr>
              <a:t>j</a:t>
            </a:r>
            <a:r>
              <a:rPr sz="1600" b="0" dirty="0">
                <a:solidFill>
                  <a:srgbClr val="000000"/>
                </a:solidFill>
                <a:latin typeface="Arial"/>
              </a:rPr>
              <a:t> that minimize prediction error </a:t>
            </a:r>
            <a:r>
              <a:rPr lang="en-US" sz="1600" b="0" dirty="0">
                <a:solidFill>
                  <a:srgbClr val="000000"/>
                </a:solidFill>
                <a:latin typeface="Arial"/>
              </a:rPr>
              <a:t>of co-occurrence count </a:t>
            </a:r>
            <a:r>
              <a:rPr sz="1600" b="0" dirty="0">
                <a:solidFill>
                  <a:srgbClr val="000000"/>
                </a:solidFill>
                <a:latin typeface="Arial"/>
              </a:rPr>
              <a:t>across all word pairs.</a:t>
            </a:r>
            <a:br>
              <a:rPr lang="en-US" sz="1600" b="0" dirty="0">
                <a:solidFill>
                  <a:srgbClr val="000000"/>
                </a:solidFill>
                <a:latin typeface="Arial"/>
              </a:rPr>
            </a:br>
            <a:endParaRPr lang="en-US" sz="1600" dirty="0">
              <a:solidFill>
                <a:srgbClr val="000000"/>
              </a:solidFill>
              <a:latin typeface="Arial"/>
            </a:endParaRPr>
          </a:p>
          <a:p>
            <a:pPr>
              <a:spcAft>
                <a:spcPts val="800"/>
              </a:spcAft>
            </a:pPr>
            <a:endParaRPr lang="en-US" sz="1600" b="0" dirty="0">
              <a:solidFill>
                <a:srgbClr val="000000"/>
              </a:solidFill>
              <a:latin typeface="Arial"/>
            </a:endParaRPr>
          </a:p>
          <a:p>
            <a:pPr>
              <a:spcAft>
                <a:spcPts val="800"/>
              </a:spcAft>
            </a:pPr>
            <a:endParaRPr lang="en-US" sz="1600" dirty="0">
              <a:solidFill>
                <a:srgbClr val="000000"/>
              </a:solidFill>
              <a:latin typeface="Arial"/>
            </a:endParaRPr>
          </a:p>
          <a:p>
            <a:pPr>
              <a:spcAft>
                <a:spcPts val="800"/>
              </a:spcAft>
            </a:pPr>
            <a:endParaRPr lang="en-US" sz="1600" dirty="0">
              <a:solidFill>
                <a:srgbClr val="000000"/>
              </a:solidFill>
              <a:latin typeface="Arial"/>
            </a:endParaRPr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latin typeface="Arial"/>
              </a:rPr>
              <a:t>The vector </a:t>
            </a:r>
            <a:r>
              <a:rPr lang="en-US" sz="1600" b="1" dirty="0" err="1">
                <a:solidFill>
                  <a:srgbClr val="000000"/>
                </a:solidFill>
                <a:latin typeface="Arial"/>
              </a:rPr>
              <a:t>w</a:t>
            </a:r>
            <a:r>
              <a:rPr lang="en-US" sz="1600" baseline="-25000" dirty="0" err="1">
                <a:solidFill>
                  <a:srgbClr val="000000"/>
                </a:solidFill>
                <a:latin typeface="Arial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Arial"/>
              </a:rPr>
              <a:t> becomes the embedding for word i</a:t>
            </a:r>
          </a:p>
          <a:p>
            <a:pPr>
              <a:spcAft>
                <a:spcPts val="800"/>
              </a:spcAft>
            </a:pPr>
            <a:endParaRPr lang="en-US" sz="1600" dirty="0">
              <a:solidFill>
                <a:srgbClr val="000000"/>
              </a:solidFill>
              <a:latin typeface="Arial"/>
            </a:endParaRPr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latin typeface="Arial"/>
              </a:rPr>
              <a:t>Words that appear in similar contexts get similar vectors</a:t>
            </a:r>
          </a:p>
          <a:p>
            <a:pPr>
              <a:spcAft>
                <a:spcPts val="800"/>
              </a:spcAft>
            </a:pPr>
            <a:endParaRPr sz="1600" b="0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96E6FD16-35A9-FB24-315B-CAB663F543E8}"/>
              </a:ext>
            </a:extLst>
          </p:cNvPr>
          <p:cNvCxnSpPr/>
          <p:nvPr/>
        </p:nvCxnSpPr>
        <p:spPr>
          <a:xfrm>
            <a:off x="457200" y="896112"/>
            <a:ext cx="8321040" cy="0"/>
          </a:xfrm>
          <a:prstGeom prst="line">
            <a:avLst/>
          </a:prstGeom>
          <a:ln w="1270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3C132409-23EF-FCAA-A4AB-8D910FDEA43B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C6E07F-5215-400C-4162-300CE3ACDA15}"/>
              </a:ext>
            </a:extLst>
          </p:cNvPr>
          <p:cNvSpPr txBox="1"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5587"/>
                </a:solidFill>
                <a:latin typeface="Whitney Bold"/>
              </a:rPr>
              <a:t>How GloVe Learns Embeddings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84CF81-31FD-1D65-9A59-FD49503C66AF}"/>
              </a:ext>
            </a:extLst>
          </p:cNvPr>
          <p:cNvSpPr txBox="1"/>
          <p:nvPr/>
        </p:nvSpPr>
        <p:spPr>
          <a:xfrm>
            <a:off x="2070353" y="2456223"/>
            <a:ext cx="5003293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dirty="0">
                <a:solidFill>
                  <a:srgbClr val="000000"/>
                </a:solidFill>
                <a:latin typeface="Arial"/>
              </a:rPr>
              <a:t>log(Xᵢⱼ) ≈ </a:t>
            </a:r>
            <a:r>
              <a:rPr sz="3600" b="1" dirty="0">
                <a:solidFill>
                  <a:srgbClr val="000000"/>
                </a:solidFill>
                <a:latin typeface="Arial"/>
              </a:rPr>
              <a:t>w</a:t>
            </a:r>
            <a:r>
              <a:rPr sz="3600" dirty="0">
                <a:solidFill>
                  <a:srgbClr val="000000"/>
                </a:solidFill>
                <a:latin typeface="Arial"/>
              </a:rPr>
              <a:t>ᵢ · </a:t>
            </a:r>
            <a:r>
              <a:rPr lang="en-US" sz="3600" b="1" dirty="0" err="1">
                <a:solidFill>
                  <a:srgbClr val="000000"/>
                </a:solidFill>
                <a:latin typeface="Arial"/>
              </a:rPr>
              <a:t>w</a:t>
            </a:r>
            <a:r>
              <a:rPr lang="en-US" sz="3600" baseline="-25000" dirty="0" err="1">
                <a:solidFill>
                  <a:srgbClr val="000000"/>
                </a:solidFill>
                <a:latin typeface="Arial"/>
              </a:rPr>
              <a:t>j</a:t>
            </a:r>
            <a:r>
              <a:rPr lang="en-US" sz="3600" baseline="-25000" dirty="0">
                <a:solidFill>
                  <a:srgbClr val="000000"/>
                </a:solidFill>
                <a:latin typeface="Arial"/>
              </a:rPr>
              <a:t> </a:t>
            </a:r>
            <a:r>
              <a:rPr sz="3600" dirty="0">
                <a:solidFill>
                  <a:srgbClr val="000000"/>
                </a:solidFill>
                <a:latin typeface="Arial"/>
              </a:rPr>
              <a:t>+ bᵢ + </a:t>
            </a:r>
            <a:r>
              <a:rPr lang="en-US" sz="3600" dirty="0" err="1">
                <a:solidFill>
                  <a:srgbClr val="000000"/>
                </a:solidFill>
                <a:latin typeface="Arial"/>
              </a:rPr>
              <a:t>b</a:t>
            </a:r>
            <a:r>
              <a:rPr lang="en-US" sz="3600" baseline="-25000" dirty="0" err="1">
                <a:solidFill>
                  <a:srgbClr val="000000"/>
                </a:solidFill>
                <a:latin typeface="Arial"/>
              </a:rPr>
              <a:t>j</a:t>
            </a:r>
            <a:endParaRPr sz="3600" baseline="-25000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415093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507F9-90EF-E3DA-2061-CE017C810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D569FD7-A945-5551-12FE-BBDACBF48F18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2928AEE-4566-4378-183E-E90FF251E83E}"/>
              </a:ext>
            </a:extLst>
          </p:cNvPr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Real </a:t>
            </a:r>
            <a:r>
              <a:rPr lang="en-US" sz="2800" b="1" dirty="0" err="1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GloVe</a:t>
            </a: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 Embeddings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1DF09B5-AF5B-04FE-20B1-B7516E99B708}"/>
              </a:ext>
            </a:extLst>
          </p:cNvPr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05A9C04-90F9-1A77-08E2-83D7FB2D2F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6879" y="1115736"/>
            <a:ext cx="4862866" cy="3714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0589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nector 2"/>
          <p:cNvCxnSpPr/>
          <p:nvPr/>
        </p:nvCxnSpPr>
        <p:spPr>
          <a:xfrm>
            <a:off x="457200" y="896112"/>
            <a:ext cx="8321040" cy="0"/>
          </a:xfrm>
          <a:prstGeom prst="line">
            <a:avLst/>
          </a:prstGeom>
          <a:ln w="1270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363112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005587"/>
                </a:solidFill>
                <a:latin typeface="Whitney Bold"/>
              </a:rPr>
              <a:t>Embeddings</a:t>
            </a:r>
            <a:r>
              <a:rPr lang="en-US" sz="2800" b="1" dirty="0">
                <a:solidFill>
                  <a:srgbClr val="005587"/>
                </a:solidFill>
                <a:latin typeface="Whitney Bold"/>
              </a:rPr>
              <a:t> Summary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042415"/>
            <a:ext cx="8321040" cy="42130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lang="en-US" b="0" i="0" dirty="0">
                <a:solidFill>
                  <a:srgbClr val="000000"/>
                </a:solidFill>
                <a:latin typeface="Arial"/>
              </a:rPr>
              <a:t>Recall </a:t>
            </a:r>
            <a:r>
              <a:rPr lang="en-US" dirty="0">
                <a:solidFill>
                  <a:srgbClr val="000000"/>
                </a:solidFill>
                <a:latin typeface="Arial"/>
              </a:rPr>
              <a:t>d</a:t>
            </a:r>
            <a:r>
              <a:rPr b="0" i="0" dirty="0">
                <a:solidFill>
                  <a:srgbClr val="000000"/>
                </a:solidFill>
                <a:latin typeface="Arial"/>
              </a:rPr>
              <a:t>eep learning is </a:t>
            </a:r>
            <a:r>
              <a:rPr lang="en-US" b="0" i="0" dirty="0">
                <a:solidFill>
                  <a:srgbClr val="000000"/>
                </a:solidFill>
                <a:latin typeface="Arial"/>
              </a:rPr>
              <a:t>all</a:t>
            </a:r>
            <a:r>
              <a:rPr b="0" i="0" dirty="0">
                <a:solidFill>
                  <a:srgbClr val="000000"/>
                </a:solidFill>
                <a:latin typeface="Arial"/>
              </a:rPr>
              <a:t> about learning useful </a:t>
            </a:r>
            <a:r>
              <a:rPr i="0" dirty="0">
                <a:solidFill>
                  <a:srgbClr val="000000"/>
                </a:solidFill>
                <a:latin typeface="Arial"/>
              </a:rPr>
              <a:t>numerical</a:t>
            </a:r>
            <a:r>
              <a:rPr b="1" i="0" dirty="0">
                <a:solidFill>
                  <a:srgbClr val="000000"/>
                </a:solidFill>
                <a:latin typeface="Arial"/>
              </a:rPr>
              <a:t> </a:t>
            </a:r>
            <a:r>
              <a:rPr i="0" dirty="0">
                <a:solidFill>
                  <a:srgbClr val="000000"/>
                </a:solidFill>
                <a:latin typeface="Arial"/>
              </a:rPr>
              <a:t>representations</a:t>
            </a:r>
            <a:r>
              <a:rPr b="0" i="0" dirty="0">
                <a:solidFill>
                  <a:srgbClr val="000000"/>
                </a:solidFill>
                <a:latin typeface="Arial"/>
              </a:rPr>
              <a:t> of raw dat</a:t>
            </a:r>
            <a:r>
              <a:rPr lang="en-US" b="0" i="0" dirty="0">
                <a:solidFill>
                  <a:srgbClr val="000000"/>
                </a:solidFill>
                <a:latin typeface="Arial"/>
              </a:rPr>
              <a:t>a (images, words, audio, </a:t>
            </a:r>
            <a:r>
              <a:rPr lang="en-US" b="0" i="0" dirty="0" err="1">
                <a:solidFill>
                  <a:srgbClr val="000000"/>
                </a:solidFill>
                <a:latin typeface="Arial"/>
              </a:rPr>
              <a:t>etc</a:t>
            </a:r>
            <a:r>
              <a:rPr lang="en-US" b="0" i="0" dirty="0">
                <a:solidFill>
                  <a:srgbClr val="000000"/>
                </a:solidFill>
                <a:latin typeface="Arial"/>
              </a:rPr>
              <a:t>) that classification/prediction layers can deal with</a:t>
            </a:r>
            <a:br>
              <a:rPr lang="en-US" b="0" i="0" dirty="0">
                <a:solidFill>
                  <a:srgbClr val="000000"/>
                </a:solidFill>
                <a:latin typeface="Arial"/>
              </a:rPr>
            </a:br>
            <a:endParaRPr b="0" i="0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lang="en-US" i="0" dirty="0">
                <a:solidFill>
                  <a:srgbClr val="000000"/>
                </a:solidFill>
                <a:latin typeface="Arial"/>
              </a:rPr>
              <a:t>Embeddings</a:t>
            </a:r>
            <a:r>
              <a:rPr b="0" i="0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b="0" i="0" dirty="0">
                <a:solidFill>
                  <a:srgbClr val="000000"/>
                </a:solidFill>
                <a:latin typeface="Arial"/>
              </a:rPr>
              <a:t>are exactly these representations</a:t>
            </a:r>
            <a:br>
              <a:rPr lang="en-US" b="0" i="0" dirty="0">
                <a:solidFill>
                  <a:srgbClr val="000000"/>
                </a:solidFill>
                <a:latin typeface="Arial"/>
              </a:rPr>
            </a:br>
            <a:br>
              <a:rPr lang="en-US" b="0" i="0" dirty="0">
                <a:solidFill>
                  <a:srgbClr val="000000"/>
                </a:solidFill>
                <a:latin typeface="Arial"/>
              </a:rPr>
            </a:br>
            <a:r>
              <a:rPr lang="en-US" b="1" dirty="0">
                <a:solidFill>
                  <a:srgbClr val="000000"/>
                </a:solidFill>
                <a:latin typeface="Arial"/>
              </a:rPr>
              <a:t>You can embed almost anything: </a:t>
            </a:r>
            <a:r>
              <a:rPr lang="en-US" dirty="0">
                <a:solidFill>
                  <a:srgbClr val="000000"/>
                </a:solidFill>
                <a:latin typeface="Arial"/>
              </a:rPr>
              <a:t>a word, a sentence, a full page of text, an image, audio, video, a product, or a customer</a:t>
            </a:r>
            <a:br>
              <a:rPr lang="en-US" dirty="0">
                <a:solidFill>
                  <a:srgbClr val="000000"/>
                </a:solidFill>
                <a:latin typeface="Arial"/>
              </a:rPr>
            </a:br>
            <a:endParaRPr b="0" i="0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i="0" dirty="0">
                <a:solidFill>
                  <a:srgbClr val="000000"/>
                </a:solidFill>
                <a:latin typeface="Arial"/>
              </a:rPr>
              <a:t>Connection to computer vision</a:t>
            </a:r>
            <a:r>
              <a:rPr b="1" i="0" dirty="0">
                <a:solidFill>
                  <a:srgbClr val="000000"/>
                </a:solidFill>
                <a:latin typeface="Arial"/>
              </a:rPr>
              <a:t>: </a:t>
            </a:r>
            <a:r>
              <a:rPr b="0" i="0" dirty="0">
                <a:solidFill>
                  <a:srgbClr val="000000"/>
                </a:solidFill>
                <a:latin typeface="Arial"/>
              </a:rPr>
              <a:t>the output of convolutional blocks can be viewed as an embedding of an image.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endParaRPr b="0" i="0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nector 2"/>
          <p:cNvCxnSpPr/>
          <p:nvPr/>
        </p:nvCxnSpPr>
        <p:spPr>
          <a:xfrm>
            <a:off x="457200" y="896112"/>
            <a:ext cx="8321040" cy="0"/>
          </a:xfrm>
          <a:prstGeom prst="line">
            <a:avLst/>
          </a:prstGeom>
          <a:ln w="1270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09787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005587"/>
                </a:solidFill>
                <a:latin typeface="Whitney Bold"/>
              </a:rPr>
              <a:t>Limitation</a:t>
            </a:r>
            <a:r>
              <a:rPr lang="en-US" sz="2800" b="1" dirty="0">
                <a:solidFill>
                  <a:srgbClr val="005587"/>
                </a:solidFill>
                <a:latin typeface="Whitney Bold"/>
              </a:rPr>
              <a:t>s of</a:t>
            </a:r>
            <a:r>
              <a:rPr sz="2800" b="1" dirty="0">
                <a:solidFill>
                  <a:srgbClr val="005587"/>
                </a:solidFill>
                <a:latin typeface="Whitney Bold"/>
              </a:rPr>
              <a:t> Raw Embeddings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42415"/>
            <a:ext cx="8321040" cy="3671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600" b="0" i="0" dirty="0">
                <a:solidFill>
                  <a:srgbClr val="000000"/>
                </a:solidFill>
                <a:latin typeface="Arial"/>
              </a:rPr>
              <a:t>Most word embeddings are trained on a large general corpus, not on a specific </a:t>
            </a:r>
            <a:r>
              <a:rPr lang="en-US" sz="1600" b="0" i="0" dirty="0">
                <a:solidFill>
                  <a:srgbClr val="000000"/>
                </a:solidFill>
                <a:latin typeface="Arial"/>
              </a:rPr>
              <a:t>task</a:t>
            </a:r>
            <a:br>
              <a:rPr lang="en-US" sz="1600" b="0" i="0" dirty="0">
                <a:solidFill>
                  <a:srgbClr val="000000"/>
                </a:solidFill>
                <a:latin typeface="Arial"/>
              </a:rPr>
            </a:br>
            <a:endParaRPr sz="1600" b="0" i="0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lang="en-US" sz="1600" dirty="0">
                <a:solidFill>
                  <a:srgbClr val="000000"/>
                </a:solidFill>
                <a:latin typeface="Arial"/>
              </a:rPr>
              <a:t>Embeddings</a:t>
            </a:r>
            <a:r>
              <a:rPr sz="1600" b="0" i="0" dirty="0">
                <a:solidFill>
                  <a:srgbClr val="000000"/>
                </a:solidFill>
                <a:latin typeface="Arial"/>
              </a:rPr>
              <a:t> capture broad statistical patterns in language, </a:t>
            </a:r>
            <a:r>
              <a:rPr lang="en-US" sz="1600" b="0" i="0" dirty="0">
                <a:solidFill>
                  <a:srgbClr val="000000"/>
                </a:solidFill>
                <a:latin typeface="Arial"/>
              </a:rPr>
              <a:t>but your task may be need to use a word in a specific way</a:t>
            </a:r>
            <a:br>
              <a:rPr lang="en-US" sz="1600" b="0" i="0" dirty="0">
                <a:solidFill>
                  <a:srgbClr val="000000"/>
                </a:solidFill>
                <a:latin typeface="Arial"/>
              </a:rPr>
            </a:br>
            <a:endParaRPr lang="en-US" sz="1600" b="0" i="0" dirty="0">
              <a:solidFill>
                <a:srgbClr val="000000"/>
              </a:solidFill>
              <a:latin typeface="Arial"/>
            </a:endParaRPr>
          </a:p>
          <a:p>
            <a:pPr marL="285750" indent="-285750">
              <a:lnSpc>
                <a:spcPct val="112000"/>
              </a:lnSpc>
              <a:spcAft>
                <a:spcPts val="1100"/>
              </a:spcAft>
              <a:buFont typeface="Arial" panose="020B0604020202020204" pitchFamily="34" charset="0"/>
              <a:buChar char="•"/>
            </a:pPr>
            <a:r>
              <a:rPr lang="en-US" sz="1400" i="1" dirty="0">
                <a:solidFill>
                  <a:srgbClr val="000000"/>
                </a:solidFill>
                <a:latin typeface="Arial"/>
              </a:rPr>
              <a:t>I deposited the check at the bank</a:t>
            </a:r>
          </a:p>
          <a:p>
            <a:pPr marL="285750" indent="-285750">
              <a:lnSpc>
                <a:spcPct val="112000"/>
              </a:lnSpc>
              <a:spcAft>
                <a:spcPts val="1100"/>
              </a:spcAft>
              <a:buFont typeface="Arial" panose="020B0604020202020204" pitchFamily="34" charset="0"/>
              <a:buChar char="•"/>
            </a:pPr>
            <a:r>
              <a:rPr lang="en-US" sz="1400" i="1" dirty="0">
                <a:solidFill>
                  <a:srgbClr val="000000"/>
                </a:solidFill>
                <a:latin typeface="Arial"/>
              </a:rPr>
              <a:t>The children sat at the river bank</a:t>
            </a:r>
          </a:p>
          <a:p>
            <a:pPr marL="285750" indent="-285750">
              <a:lnSpc>
                <a:spcPct val="112000"/>
              </a:lnSpc>
              <a:spcAft>
                <a:spcPts val="1100"/>
              </a:spcAft>
              <a:buFont typeface="Arial" panose="020B0604020202020204" pitchFamily="34" charset="0"/>
              <a:buChar char="•"/>
            </a:pPr>
            <a:r>
              <a:rPr lang="en-US" sz="1400" i="1" dirty="0">
                <a:solidFill>
                  <a:srgbClr val="000000"/>
                </a:solidFill>
                <a:latin typeface="Arial"/>
              </a:rPr>
              <a:t>The plane began to bank right</a:t>
            </a:r>
          </a:p>
          <a:p>
            <a:pPr marL="285750" indent="-285750">
              <a:lnSpc>
                <a:spcPct val="112000"/>
              </a:lnSpc>
              <a:spcAft>
                <a:spcPts val="1100"/>
              </a:spcAft>
              <a:buFont typeface="Arial" panose="020B0604020202020204" pitchFamily="34" charset="0"/>
              <a:buChar char="•"/>
            </a:pPr>
            <a:r>
              <a:rPr lang="en-US" sz="1400" i="1" dirty="0">
                <a:solidFill>
                  <a:srgbClr val="000000"/>
                </a:solidFill>
                <a:latin typeface="Arial"/>
              </a:rPr>
              <a:t>I wouldn’t bank on it</a:t>
            </a:r>
            <a:br>
              <a:rPr lang="en-US" sz="1600" dirty="0">
                <a:solidFill>
                  <a:srgbClr val="000000"/>
                </a:solidFill>
                <a:latin typeface="Arial"/>
              </a:rPr>
            </a:br>
            <a:br>
              <a:rPr lang="en-US" sz="1600" dirty="0">
                <a:solidFill>
                  <a:srgbClr val="000000"/>
                </a:solidFill>
                <a:latin typeface="Arial"/>
              </a:rPr>
            </a:br>
            <a:endParaRPr sz="1600" b="0" i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1E7F5C-B16E-FBAC-08FD-3A6072346FCA}"/>
              </a:ext>
            </a:extLst>
          </p:cNvPr>
          <p:cNvSpPr txBox="1"/>
          <p:nvPr/>
        </p:nvSpPr>
        <p:spPr>
          <a:xfrm>
            <a:off x="457200" y="4314289"/>
            <a:ext cx="79942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dirty="0">
                <a:solidFill>
                  <a:srgbClr val="000000"/>
                </a:solidFill>
                <a:latin typeface="Arial"/>
              </a:rPr>
              <a:t>Next challenge: </a:t>
            </a:r>
            <a:r>
              <a:rPr lang="en-US" sz="1800" b="0" i="0" dirty="0">
                <a:solidFill>
                  <a:srgbClr val="000000"/>
                </a:solidFill>
                <a:latin typeface="Arial"/>
              </a:rPr>
              <a:t>How can we consider the </a:t>
            </a:r>
            <a:r>
              <a:rPr lang="en-US" sz="1800" b="0" i="1" dirty="0">
                <a:solidFill>
                  <a:srgbClr val="000000"/>
                </a:solidFill>
                <a:latin typeface="Arial"/>
              </a:rPr>
              <a:t>context</a:t>
            </a:r>
            <a:r>
              <a:rPr lang="en-US" sz="1800" b="0" i="0" dirty="0">
                <a:solidFill>
                  <a:srgbClr val="000000"/>
                </a:solidFill>
                <a:latin typeface="Arial"/>
              </a:rPr>
              <a:t> that the word appears in to improve its embedding?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55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Part 2: Attention</a:t>
            </a:r>
            <a:endParaRPr lang="en-US" sz="3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Context Matters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with raw embeddings: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8056" y="1620277"/>
            <a:ext cx="3931920" cy="497354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34924" y="1666396"/>
            <a:ext cx="3739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animal didn't cross the street because </a:t>
            </a:r>
            <a:r>
              <a:rPr lang="en-US" sz="11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</a:t>
            </a:r>
            <a:r>
              <a:rPr lang="en-US" sz="11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was too tired"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620277"/>
            <a:ext cx="3931920" cy="497354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98614" y="1656457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animal didn't cross the street because </a:t>
            </a:r>
            <a:r>
              <a:rPr lang="en-US" sz="11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</a:t>
            </a:r>
            <a:r>
              <a:rPr lang="en-US" sz="11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was too wide"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24120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The embedding for </a:t>
            </a:r>
            <a:r>
              <a:rPr lang="en-US" sz="1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it</a:t>
            </a:r>
            <a:r>
              <a:rPr lang="en-US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 needs to pay “attention” to the surrounding words in the context.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49B16-CA2B-AFCC-2AE2-56FAE0573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604AD36-C2E7-9A83-8683-63B1B10FA01D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86010A3-A36F-3AC9-EC68-6F72C1A6C5EC}"/>
              </a:ext>
            </a:extLst>
          </p:cNvPr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Motivating Example: Classifying Yelp Reviews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3A06E4A-CB04-6293-6632-086AA8B7F34A}"/>
              </a:ext>
            </a:extLst>
          </p:cNvPr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0F8F6D5-BFC6-94BD-5419-7E87D4861FF2}"/>
              </a:ext>
            </a:extLst>
          </p:cNvPr>
          <p:cNvSpPr/>
          <p:nvPr/>
        </p:nvSpPr>
        <p:spPr>
          <a:xfrm>
            <a:off x="2869239" y="1785257"/>
            <a:ext cx="5525589" cy="1314991"/>
          </a:xfrm>
          <a:prstGeom prst="roundRect">
            <a:avLst>
              <a:gd name="adj" fmla="val 2443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5D875A2-3060-68A7-4E5D-C59C5DB298DE}"/>
              </a:ext>
            </a:extLst>
          </p:cNvPr>
          <p:cNvSpPr txBox="1"/>
          <p:nvPr/>
        </p:nvSpPr>
        <p:spPr>
          <a:xfrm>
            <a:off x="5921910" y="2328369"/>
            <a:ext cx="2407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The main course was truly delicious!</a:t>
            </a:r>
          </a:p>
        </p:txBody>
      </p:sp>
      <p:pic>
        <p:nvPicPr>
          <p:cNvPr id="1026" name="Picture 2" descr="Chris G's Best Yelp Reviews: Masa of Echo Park - 5/5 Stars – The Chris  Girard Blog">
            <a:extLst>
              <a:ext uri="{FF2B5EF4-FFF2-40B4-BE49-F238E27FC236}">
                <a16:creationId xmlns:a16="http://schemas.microsoft.com/office/drawing/2014/main" id="{E50A4A76-9D65-5BA1-C02A-6EADF4CA27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985" b="29943"/>
          <a:stretch>
            <a:fillRect/>
          </a:stretch>
        </p:blipFill>
        <p:spPr bwMode="auto">
          <a:xfrm>
            <a:off x="5921910" y="1855679"/>
            <a:ext cx="1494723" cy="303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houghts on the new Yelp icon? : r/Design">
            <a:extLst>
              <a:ext uri="{FF2B5EF4-FFF2-40B4-BE49-F238E27FC236}">
                <a16:creationId xmlns:a16="http://schemas.microsoft.com/office/drawing/2014/main" id="{E7E27C48-DC37-4C8A-3DF2-2C66A6E6E96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314" b="11294"/>
          <a:stretch>
            <a:fillRect/>
          </a:stretch>
        </p:blipFill>
        <p:spPr bwMode="auto">
          <a:xfrm>
            <a:off x="544949" y="1619202"/>
            <a:ext cx="1855717" cy="1679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file Icon Vector Art, Icons, and Graphics for Free Download">
            <a:extLst>
              <a:ext uri="{FF2B5EF4-FFF2-40B4-BE49-F238E27FC236}">
                <a16:creationId xmlns:a16="http://schemas.microsoft.com/office/drawing/2014/main" id="{564043E3-33C9-60D3-51DA-5F3396669B0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46" t="10222" r="3580" b="7633"/>
          <a:stretch>
            <a:fillRect/>
          </a:stretch>
        </p:blipFill>
        <p:spPr bwMode="auto">
          <a:xfrm>
            <a:off x="2959363" y="1855679"/>
            <a:ext cx="1121717" cy="1097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4A509C2-5BD6-103C-4787-4E28C72CF40D}"/>
              </a:ext>
            </a:extLst>
          </p:cNvPr>
          <p:cNvSpPr txBox="1"/>
          <p:nvPr/>
        </p:nvSpPr>
        <p:spPr>
          <a:xfrm>
            <a:off x="3896509" y="1812690"/>
            <a:ext cx="20944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BruinFan298D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Los Angeles, CA</a:t>
            </a:r>
            <a:b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ECD129-036B-1854-434E-47BAD941E798}"/>
              </a:ext>
            </a:extLst>
          </p:cNvPr>
          <p:cNvSpPr txBox="1"/>
          <p:nvPr/>
        </p:nvSpPr>
        <p:spPr>
          <a:xfrm>
            <a:off x="7416633" y="1876422"/>
            <a:ext cx="9100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05/04/2026</a:t>
            </a:r>
            <a:endParaRPr lang="en-US" sz="1100" dirty="0"/>
          </a:p>
        </p:txBody>
      </p:sp>
      <p:sp>
        <p:nvSpPr>
          <p:cNvPr id="5" name="Text 15">
            <a:extLst>
              <a:ext uri="{FF2B5EF4-FFF2-40B4-BE49-F238E27FC236}">
                <a16:creationId xmlns:a16="http://schemas.microsoft.com/office/drawing/2014/main" id="{63709070-9996-9730-E056-730FE1016F57}"/>
              </a:ext>
            </a:extLst>
          </p:cNvPr>
          <p:cNvSpPr/>
          <p:nvPr/>
        </p:nvSpPr>
        <p:spPr>
          <a:xfrm>
            <a:off x="640080" y="1037414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Our goal is to predict # of stars from review text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9879628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FA644-3EAC-FB3F-423C-497686263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0AA4B89-729F-F905-BD6B-F9D52D88710E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A0B6612-2731-25BC-377D-820C4678A07B}"/>
              </a:ext>
            </a:extLst>
          </p:cNvPr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Context Matters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7588017-F851-BBF0-C8A3-D51F1CBDD611}"/>
              </a:ext>
            </a:extLst>
          </p:cNvPr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532FA4D-72B3-E65E-C561-F4080C9B4EFD}"/>
              </a:ext>
            </a:extLst>
          </p:cNvPr>
          <p:cNvSpPr/>
          <p:nvPr/>
        </p:nvSpPr>
        <p:spPr>
          <a:xfrm>
            <a:off x="1954636" y="1862356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F5B631A5-950D-3882-BD5C-559EC57F73CB}"/>
              </a:ext>
            </a:extLst>
          </p:cNvPr>
          <p:cNvSpPr/>
          <p:nvPr/>
        </p:nvSpPr>
        <p:spPr>
          <a:xfrm>
            <a:off x="1954636" y="2030136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27513831-5657-01CF-22EC-38A32A7EEF9F}"/>
              </a:ext>
            </a:extLst>
          </p:cNvPr>
          <p:cNvSpPr/>
          <p:nvPr/>
        </p:nvSpPr>
        <p:spPr>
          <a:xfrm>
            <a:off x="1954636" y="2197916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1B7DD59F-03E9-E546-908D-1FEEA21F6A02}"/>
              </a:ext>
            </a:extLst>
          </p:cNvPr>
          <p:cNvSpPr/>
          <p:nvPr/>
        </p:nvSpPr>
        <p:spPr>
          <a:xfrm>
            <a:off x="1954636" y="2365696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81000A5A-7836-DA52-BFEA-21B85AC0DBAA}"/>
              </a:ext>
            </a:extLst>
          </p:cNvPr>
          <p:cNvSpPr/>
          <p:nvPr/>
        </p:nvSpPr>
        <p:spPr>
          <a:xfrm>
            <a:off x="2769767" y="1862356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50E2B091-A28A-08E1-DA65-CCF02F4BA093}"/>
              </a:ext>
            </a:extLst>
          </p:cNvPr>
          <p:cNvSpPr/>
          <p:nvPr/>
        </p:nvSpPr>
        <p:spPr>
          <a:xfrm>
            <a:off x="2769767" y="2030136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1721BF6D-B91E-F6C2-13D5-63BF87CE4164}"/>
              </a:ext>
            </a:extLst>
          </p:cNvPr>
          <p:cNvSpPr/>
          <p:nvPr/>
        </p:nvSpPr>
        <p:spPr>
          <a:xfrm>
            <a:off x="2769767" y="2197916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5E1B3554-2E82-5788-232C-E5ACCC741721}"/>
              </a:ext>
            </a:extLst>
          </p:cNvPr>
          <p:cNvSpPr/>
          <p:nvPr/>
        </p:nvSpPr>
        <p:spPr>
          <a:xfrm>
            <a:off x="2769767" y="2365696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7926BA26-A7F3-8EE5-5744-D8AC0DDC14BB}"/>
              </a:ext>
            </a:extLst>
          </p:cNvPr>
          <p:cNvSpPr/>
          <p:nvPr/>
        </p:nvSpPr>
        <p:spPr>
          <a:xfrm>
            <a:off x="3584898" y="1879134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1E191084-7FA8-62F8-C8A2-D9A5CE8ACBE9}"/>
              </a:ext>
            </a:extLst>
          </p:cNvPr>
          <p:cNvSpPr/>
          <p:nvPr/>
        </p:nvSpPr>
        <p:spPr>
          <a:xfrm>
            <a:off x="3584898" y="2046914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E16D3D05-40C3-17C3-DF8F-A5FC8370C90F}"/>
              </a:ext>
            </a:extLst>
          </p:cNvPr>
          <p:cNvSpPr/>
          <p:nvPr/>
        </p:nvSpPr>
        <p:spPr>
          <a:xfrm>
            <a:off x="3584898" y="2214694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BCA9E215-5B71-5A15-5305-490163C96C59}"/>
              </a:ext>
            </a:extLst>
          </p:cNvPr>
          <p:cNvSpPr/>
          <p:nvPr/>
        </p:nvSpPr>
        <p:spPr>
          <a:xfrm>
            <a:off x="3584898" y="2382474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06B71BEC-C6DC-6D01-087B-814A8F81CD30}"/>
              </a:ext>
            </a:extLst>
          </p:cNvPr>
          <p:cNvSpPr/>
          <p:nvPr/>
        </p:nvSpPr>
        <p:spPr>
          <a:xfrm>
            <a:off x="4400029" y="1879134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69A8243A-8F1C-83F7-784E-6AEFA0A4CD85}"/>
              </a:ext>
            </a:extLst>
          </p:cNvPr>
          <p:cNvSpPr/>
          <p:nvPr/>
        </p:nvSpPr>
        <p:spPr>
          <a:xfrm>
            <a:off x="4400029" y="2046914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B54053AF-B094-1F84-8012-F21A0A8968CF}"/>
              </a:ext>
            </a:extLst>
          </p:cNvPr>
          <p:cNvSpPr/>
          <p:nvPr/>
        </p:nvSpPr>
        <p:spPr>
          <a:xfrm>
            <a:off x="4400029" y="2214694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51334322-8515-E8B4-74F8-97612CDF3916}"/>
              </a:ext>
            </a:extLst>
          </p:cNvPr>
          <p:cNvSpPr/>
          <p:nvPr/>
        </p:nvSpPr>
        <p:spPr>
          <a:xfrm>
            <a:off x="4400029" y="2382474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DD7351A1-0CEA-6411-7C8A-D04D1811F013}"/>
              </a:ext>
            </a:extLst>
          </p:cNvPr>
          <p:cNvSpPr/>
          <p:nvPr/>
        </p:nvSpPr>
        <p:spPr>
          <a:xfrm>
            <a:off x="5215160" y="1862356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D6783631-214C-78DF-F3C7-BFB9AC715E74}"/>
              </a:ext>
            </a:extLst>
          </p:cNvPr>
          <p:cNvSpPr/>
          <p:nvPr/>
        </p:nvSpPr>
        <p:spPr>
          <a:xfrm>
            <a:off x="5215160" y="2030136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B7CA3D92-3416-48FA-BEEC-72F3BF859E80}"/>
              </a:ext>
            </a:extLst>
          </p:cNvPr>
          <p:cNvSpPr/>
          <p:nvPr/>
        </p:nvSpPr>
        <p:spPr>
          <a:xfrm>
            <a:off x="5215160" y="2197916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AD6E3C04-6199-B4B6-1720-4821A006EE02}"/>
              </a:ext>
            </a:extLst>
          </p:cNvPr>
          <p:cNvSpPr/>
          <p:nvPr/>
        </p:nvSpPr>
        <p:spPr>
          <a:xfrm>
            <a:off x="5215160" y="2365696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B13FBB00-C2E5-726F-12E9-0AD531D5E790}"/>
              </a:ext>
            </a:extLst>
          </p:cNvPr>
          <p:cNvSpPr/>
          <p:nvPr/>
        </p:nvSpPr>
        <p:spPr>
          <a:xfrm>
            <a:off x="6030291" y="1862356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8D931192-BE6C-EC6B-4095-74918434A72A}"/>
              </a:ext>
            </a:extLst>
          </p:cNvPr>
          <p:cNvSpPr/>
          <p:nvPr/>
        </p:nvSpPr>
        <p:spPr>
          <a:xfrm>
            <a:off x="6030291" y="2030136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3BFA2EA3-9E8D-DCB4-9F6A-ADC0C10DB0C0}"/>
              </a:ext>
            </a:extLst>
          </p:cNvPr>
          <p:cNvSpPr/>
          <p:nvPr/>
        </p:nvSpPr>
        <p:spPr>
          <a:xfrm>
            <a:off x="6030291" y="2197916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A1CD3512-25DB-B9C2-F948-1C610E9BFE54}"/>
              </a:ext>
            </a:extLst>
          </p:cNvPr>
          <p:cNvSpPr/>
          <p:nvPr/>
        </p:nvSpPr>
        <p:spPr>
          <a:xfrm>
            <a:off x="6030291" y="2365696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F3251D5-8B17-9995-4FC6-0A91E0871D33}"/>
              </a:ext>
            </a:extLst>
          </p:cNvPr>
          <p:cNvSpPr txBox="1"/>
          <p:nvPr/>
        </p:nvSpPr>
        <p:spPr>
          <a:xfrm>
            <a:off x="1833524" y="1167065"/>
            <a:ext cx="58848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the       main     course     was       truly     delicious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5E5397C-D018-F36F-7771-FF012509B743}"/>
              </a:ext>
            </a:extLst>
          </p:cNvPr>
          <p:cNvSpPr txBox="1"/>
          <p:nvPr/>
        </p:nvSpPr>
        <p:spPr>
          <a:xfrm>
            <a:off x="1030360" y="3164108"/>
            <a:ext cx="70197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We can use stand-alone embeddings (like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GloVe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), but this ignores context.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Can we do better?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0F2A5A-338D-D7D5-46A1-D0B4EEFF6BE2}"/>
              </a:ext>
            </a:extLst>
          </p:cNvPr>
          <p:cNvSpPr txBox="1"/>
          <p:nvPr/>
        </p:nvSpPr>
        <p:spPr>
          <a:xfrm>
            <a:off x="1872230" y="1466155"/>
            <a:ext cx="822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baseline="-250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95F22C-0C02-DC32-CCAF-DD35B9E931E6}"/>
              </a:ext>
            </a:extLst>
          </p:cNvPr>
          <p:cNvSpPr txBox="1"/>
          <p:nvPr/>
        </p:nvSpPr>
        <p:spPr>
          <a:xfrm>
            <a:off x="2668507" y="1466155"/>
            <a:ext cx="822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baseline="-250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023C34-5F2C-ACA4-B432-F12E11609119}"/>
              </a:ext>
            </a:extLst>
          </p:cNvPr>
          <p:cNvSpPr txBox="1"/>
          <p:nvPr/>
        </p:nvSpPr>
        <p:spPr>
          <a:xfrm>
            <a:off x="3483638" y="1459931"/>
            <a:ext cx="822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baseline="-250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935285-9B13-3890-D5F1-589D14D10610}"/>
              </a:ext>
            </a:extLst>
          </p:cNvPr>
          <p:cNvSpPr txBox="1"/>
          <p:nvPr/>
        </p:nvSpPr>
        <p:spPr>
          <a:xfrm>
            <a:off x="4310633" y="1459235"/>
            <a:ext cx="822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baseline="-250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7DE00C-624C-859A-89BF-5D90B48720A3}"/>
              </a:ext>
            </a:extLst>
          </p:cNvPr>
          <p:cNvSpPr txBox="1"/>
          <p:nvPr/>
        </p:nvSpPr>
        <p:spPr>
          <a:xfrm>
            <a:off x="5111784" y="1444484"/>
            <a:ext cx="822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baseline="-250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022649-3EAA-0DEA-3641-5E850183238E}"/>
              </a:ext>
            </a:extLst>
          </p:cNvPr>
          <p:cNvSpPr txBox="1"/>
          <p:nvPr/>
        </p:nvSpPr>
        <p:spPr>
          <a:xfrm>
            <a:off x="5912935" y="1437965"/>
            <a:ext cx="822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baseline="-250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9086014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5C26D-7F17-DBE7-9E0C-73A74CFF4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940CB79-091A-CBFE-75F1-7F670895227C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D530EB7-6149-3C38-A10A-85905FAC6D3C}"/>
              </a:ext>
            </a:extLst>
          </p:cNvPr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Contextual Embeddings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DFB08B9-21E5-92E6-2F7B-658B949DDFB1}"/>
              </a:ext>
            </a:extLst>
          </p:cNvPr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1BD4073-E30E-C5FE-8B81-7A55D4444F4B}"/>
              </a:ext>
            </a:extLst>
          </p:cNvPr>
          <p:cNvSpPr/>
          <p:nvPr/>
        </p:nvSpPr>
        <p:spPr>
          <a:xfrm>
            <a:off x="1954636" y="1862356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23E3B635-80EF-3C05-9781-3A6FAE0663FE}"/>
              </a:ext>
            </a:extLst>
          </p:cNvPr>
          <p:cNvSpPr/>
          <p:nvPr/>
        </p:nvSpPr>
        <p:spPr>
          <a:xfrm>
            <a:off x="1954636" y="2030136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1681B5D6-B269-0D69-303A-55CDFF81B418}"/>
              </a:ext>
            </a:extLst>
          </p:cNvPr>
          <p:cNvSpPr/>
          <p:nvPr/>
        </p:nvSpPr>
        <p:spPr>
          <a:xfrm>
            <a:off x="1954636" y="2197916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0532C6F0-67DA-9B97-6C54-05D609879787}"/>
              </a:ext>
            </a:extLst>
          </p:cNvPr>
          <p:cNvSpPr/>
          <p:nvPr/>
        </p:nvSpPr>
        <p:spPr>
          <a:xfrm>
            <a:off x="1954636" y="2365696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237DBDC7-7AF0-47D8-1D96-8DBAEDEA79BD}"/>
              </a:ext>
            </a:extLst>
          </p:cNvPr>
          <p:cNvSpPr/>
          <p:nvPr/>
        </p:nvSpPr>
        <p:spPr>
          <a:xfrm>
            <a:off x="2769767" y="1862356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E9B21FCB-42A5-7716-6009-A06872DF7936}"/>
              </a:ext>
            </a:extLst>
          </p:cNvPr>
          <p:cNvSpPr/>
          <p:nvPr/>
        </p:nvSpPr>
        <p:spPr>
          <a:xfrm>
            <a:off x="2769767" y="2030136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F02FCCBA-A1E5-66BA-00B0-450145639F5F}"/>
              </a:ext>
            </a:extLst>
          </p:cNvPr>
          <p:cNvSpPr/>
          <p:nvPr/>
        </p:nvSpPr>
        <p:spPr>
          <a:xfrm>
            <a:off x="2769767" y="2197916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47BFC567-7EAF-44AB-D9AF-31695D7CE5EC}"/>
              </a:ext>
            </a:extLst>
          </p:cNvPr>
          <p:cNvSpPr/>
          <p:nvPr/>
        </p:nvSpPr>
        <p:spPr>
          <a:xfrm>
            <a:off x="2769767" y="2365696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40F4CC0C-B4F4-7E12-2581-4C2C4EC3FDCB}"/>
              </a:ext>
            </a:extLst>
          </p:cNvPr>
          <p:cNvSpPr/>
          <p:nvPr/>
        </p:nvSpPr>
        <p:spPr>
          <a:xfrm>
            <a:off x="3584898" y="1879134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8D31E838-1C5C-B80B-2FBA-350EC2909E84}"/>
              </a:ext>
            </a:extLst>
          </p:cNvPr>
          <p:cNvSpPr/>
          <p:nvPr/>
        </p:nvSpPr>
        <p:spPr>
          <a:xfrm>
            <a:off x="3584898" y="2046914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CFC4A806-8AFD-4F29-5102-EEAD3ECC79C3}"/>
              </a:ext>
            </a:extLst>
          </p:cNvPr>
          <p:cNvSpPr/>
          <p:nvPr/>
        </p:nvSpPr>
        <p:spPr>
          <a:xfrm>
            <a:off x="3584898" y="2214694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25A9E434-6B8D-7509-B8C1-1B052DBECAE8}"/>
              </a:ext>
            </a:extLst>
          </p:cNvPr>
          <p:cNvSpPr/>
          <p:nvPr/>
        </p:nvSpPr>
        <p:spPr>
          <a:xfrm>
            <a:off x="3584898" y="2382474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B42423F1-1C58-0DED-5B36-865E8FEFC87A}"/>
              </a:ext>
            </a:extLst>
          </p:cNvPr>
          <p:cNvSpPr/>
          <p:nvPr/>
        </p:nvSpPr>
        <p:spPr>
          <a:xfrm>
            <a:off x="4400029" y="1879134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3D0BF126-CDF5-58C0-AEE5-70D7FD2B5EFF}"/>
              </a:ext>
            </a:extLst>
          </p:cNvPr>
          <p:cNvSpPr/>
          <p:nvPr/>
        </p:nvSpPr>
        <p:spPr>
          <a:xfrm>
            <a:off x="4400029" y="2046914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E0459BB6-BA52-6278-6527-82FA5D1FEEAC}"/>
              </a:ext>
            </a:extLst>
          </p:cNvPr>
          <p:cNvSpPr/>
          <p:nvPr/>
        </p:nvSpPr>
        <p:spPr>
          <a:xfrm>
            <a:off x="4400029" y="2214694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C26E5123-122B-E494-9114-9B67C206458C}"/>
              </a:ext>
            </a:extLst>
          </p:cNvPr>
          <p:cNvSpPr/>
          <p:nvPr/>
        </p:nvSpPr>
        <p:spPr>
          <a:xfrm>
            <a:off x="4400029" y="2382474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538F2593-BFC6-40EA-1B4A-1BF690CCF12A}"/>
              </a:ext>
            </a:extLst>
          </p:cNvPr>
          <p:cNvSpPr/>
          <p:nvPr/>
        </p:nvSpPr>
        <p:spPr>
          <a:xfrm>
            <a:off x="5215160" y="1862356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1CD79C53-5E2C-701B-DB99-198E4D2A5EDB}"/>
              </a:ext>
            </a:extLst>
          </p:cNvPr>
          <p:cNvSpPr/>
          <p:nvPr/>
        </p:nvSpPr>
        <p:spPr>
          <a:xfrm>
            <a:off x="5215160" y="2030136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C16790DD-45BB-6C74-0810-1ADF6B736C63}"/>
              </a:ext>
            </a:extLst>
          </p:cNvPr>
          <p:cNvSpPr/>
          <p:nvPr/>
        </p:nvSpPr>
        <p:spPr>
          <a:xfrm>
            <a:off x="5215160" y="2197916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E5EC8E21-4298-BD63-656D-F05F32CE77BB}"/>
              </a:ext>
            </a:extLst>
          </p:cNvPr>
          <p:cNvSpPr/>
          <p:nvPr/>
        </p:nvSpPr>
        <p:spPr>
          <a:xfrm>
            <a:off x="5215160" y="2365696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EADEF499-5BE9-D084-B765-40EC5E32F0DE}"/>
              </a:ext>
            </a:extLst>
          </p:cNvPr>
          <p:cNvSpPr/>
          <p:nvPr/>
        </p:nvSpPr>
        <p:spPr>
          <a:xfrm>
            <a:off x="6030291" y="1862356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0B8F05D1-0AEC-D85D-CE43-9ADC1439F68F}"/>
              </a:ext>
            </a:extLst>
          </p:cNvPr>
          <p:cNvSpPr/>
          <p:nvPr/>
        </p:nvSpPr>
        <p:spPr>
          <a:xfrm>
            <a:off x="6030291" y="2030136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C6ACAF9B-2B27-2A12-E33D-428600EF0B5B}"/>
              </a:ext>
            </a:extLst>
          </p:cNvPr>
          <p:cNvSpPr/>
          <p:nvPr/>
        </p:nvSpPr>
        <p:spPr>
          <a:xfrm>
            <a:off x="6030291" y="2197916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07096AEA-3BCA-0029-307A-982143D70DEC}"/>
              </a:ext>
            </a:extLst>
          </p:cNvPr>
          <p:cNvSpPr/>
          <p:nvPr/>
        </p:nvSpPr>
        <p:spPr>
          <a:xfrm>
            <a:off x="6030291" y="2365696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F58507-CF40-3F9A-7D43-5C67209EF8AA}"/>
              </a:ext>
            </a:extLst>
          </p:cNvPr>
          <p:cNvSpPr txBox="1"/>
          <p:nvPr/>
        </p:nvSpPr>
        <p:spPr>
          <a:xfrm>
            <a:off x="702037" y="3040996"/>
            <a:ext cx="807620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 big idea: 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Update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the embedding of each word based on the “most relevant” words around it.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Which word is most relevant for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course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CF4BED-9B84-AFC3-6533-ED740D5E4B6E}"/>
              </a:ext>
            </a:extLst>
          </p:cNvPr>
          <p:cNvSpPr txBox="1"/>
          <p:nvPr/>
        </p:nvSpPr>
        <p:spPr>
          <a:xfrm>
            <a:off x="1872230" y="1466155"/>
            <a:ext cx="822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baseline="-250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21AD98-00E6-B6EF-AF17-722D0115C2D5}"/>
              </a:ext>
            </a:extLst>
          </p:cNvPr>
          <p:cNvSpPr txBox="1"/>
          <p:nvPr/>
        </p:nvSpPr>
        <p:spPr>
          <a:xfrm>
            <a:off x="2668507" y="1466155"/>
            <a:ext cx="822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baseline="-250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E80415-AF88-610B-CFF4-991C070ACB0F}"/>
              </a:ext>
            </a:extLst>
          </p:cNvPr>
          <p:cNvSpPr txBox="1"/>
          <p:nvPr/>
        </p:nvSpPr>
        <p:spPr>
          <a:xfrm>
            <a:off x="3483638" y="1459931"/>
            <a:ext cx="822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baseline="-250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462AB7B-BEC0-EEE1-0F2F-BDE1303BD553}"/>
              </a:ext>
            </a:extLst>
          </p:cNvPr>
          <p:cNvSpPr txBox="1"/>
          <p:nvPr/>
        </p:nvSpPr>
        <p:spPr>
          <a:xfrm>
            <a:off x="4310633" y="1459235"/>
            <a:ext cx="822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baseline="-250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2403063-C2D9-189C-0D51-D9932286B743}"/>
              </a:ext>
            </a:extLst>
          </p:cNvPr>
          <p:cNvSpPr txBox="1"/>
          <p:nvPr/>
        </p:nvSpPr>
        <p:spPr>
          <a:xfrm>
            <a:off x="5111784" y="1444484"/>
            <a:ext cx="822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baseline="-250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248EAE2-5068-2634-1949-C016078E7518}"/>
              </a:ext>
            </a:extLst>
          </p:cNvPr>
          <p:cNvSpPr txBox="1"/>
          <p:nvPr/>
        </p:nvSpPr>
        <p:spPr>
          <a:xfrm>
            <a:off x="5912935" y="1437965"/>
            <a:ext cx="822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baseline="-250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B7EDF8-2F62-2B57-17F5-071597F648E0}"/>
              </a:ext>
            </a:extLst>
          </p:cNvPr>
          <p:cNvSpPr txBox="1"/>
          <p:nvPr/>
        </p:nvSpPr>
        <p:spPr>
          <a:xfrm>
            <a:off x="1833524" y="1167065"/>
            <a:ext cx="58848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the       main     course     was       truly     delicious</a:t>
            </a:r>
          </a:p>
        </p:txBody>
      </p:sp>
    </p:spTree>
    <p:extLst>
      <p:ext uri="{BB962C8B-B14F-4D97-AF65-F5344CB8AC3E}">
        <p14:creationId xmlns:p14="http://schemas.microsoft.com/office/powerpoint/2010/main" val="5888222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75894-AD6D-E2A0-31D5-1331AB0AF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1FC487C-E4A5-4505-3510-1BA01C9A3CDB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C855D40-201E-B9A1-6653-0945FA2DDAFB}"/>
              </a:ext>
            </a:extLst>
          </p:cNvPr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3A54CA63-645E-91B6-DF36-C86D86CE5B64}"/>
              </a:ext>
            </a:extLst>
          </p:cNvPr>
          <p:cNvSpPr/>
          <p:nvPr/>
        </p:nvSpPr>
        <p:spPr>
          <a:xfrm>
            <a:off x="1954636" y="1862356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68312BBB-77A8-49A9-7A1D-84F11B7A2287}"/>
              </a:ext>
            </a:extLst>
          </p:cNvPr>
          <p:cNvSpPr/>
          <p:nvPr/>
        </p:nvSpPr>
        <p:spPr>
          <a:xfrm>
            <a:off x="1954636" y="2030136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3504C891-2539-B45D-0590-585ADDACB4A5}"/>
              </a:ext>
            </a:extLst>
          </p:cNvPr>
          <p:cNvSpPr/>
          <p:nvPr/>
        </p:nvSpPr>
        <p:spPr>
          <a:xfrm>
            <a:off x="1954636" y="2197916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BFE97531-5613-CCE8-73AD-64EE360846CB}"/>
              </a:ext>
            </a:extLst>
          </p:cNvPr>
          <p:cNvSpPr/>
          <p:nvPr/>
        </p:nvSpPr>
        <p:spPr>
          <a:xfrm>
            <a:off x="1954636" y="2365696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9C61D394-01CE-7F36-D750-FD09D5389AA2}"/>
              </a:ext>
            </a:extLst>
          </p:cNvPr>
          <p:cNvSpPr/>
          <p:nvPr/>
        </p:nvSpPr>
        <p:spPr>
          <a:xfrm>
            <a:off x="2769767" y="1862356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EB984CFA-C4A7-C100-0540-325523E7198A}"/>
              </a:ext>
            </a:extLst>
          </p:cNvPr>
          <p:cNvSpPr/>
          <p:nvPr/>
        </p:nvSpPr>
        <p:spPr>
          <a:xfrm>
            <a:off x="2769767" y="2030136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F95D1CE9-2329-9CCB-B98C-92C50BAFBD72}"/>
              </a:ext>
            </a:extLst>
          </p:cNvPr>
          <p:cNvSpPr/>
          <p:nvPr/>
        </p:nvSpPr>
        <p:spPr>
          <a:xfrm>
            <a:off x="2769767" y="2197916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C4FA4870-28D6-7546-8C2D-031B012BA00B}"/>
              </a:ext>
            </a:extLst>
          </p:cNvPr>
          <p:cNvSpPr/>
          <p:nvPr/>
        </p:nvSpPr>
        <p:spPr>
          <a:xfrm>
            <a:off x="2769767" y="2365696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B6AA30D6-8DAC-FD1F-E91C-22F682B90096}"/>
              </a:ext>
            </a:extLst>
          </p:cNvPr>
          <p:cNvSpPr/>
          <p:nvPr/>
        </p:nvSpPr>
        <p:spPr>
          <a:xfrm>
            <a:off x="3584898" y="1879134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D1E5B9EF-5C06-08BE-CA51-3AE1CBE30950}"/>
              </a:ext>
            </a:extLst>
          </p:cNvPr>
          <p:cNvSpPr/>
          <p:nvPr/>
        </p:nvSpPr>
        <p:spPr>
          <a:xfrm>
            <a:off x="3584898" y="2046914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08C62CF6-D395-A4D0-C0D0-534B0CB91752}"/>
              </a:ext>
            </a:extLst>
          </p:cNvPr>
          <p:cNvSpPr/>
          <p:nvPr/>
        </p:nvSpPr>
        <p:spPr>
          <a:xfrm>
            <a:off x="3584898" y="2214694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DCD02351-B5E2-16BB-B509-3E5F606CCED4}"/>
              </a:ext>
            </a:extLst>
          </p:cNvPr>
          <p:cNvSpPr/>
          <p:nvPr/>
        </p:nvSpPr>
        <p:spPr>
          <a:xfrm>
            <a:off x="3584898" y="2382474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614A099D-F94A-0DBC-05C5-5DF81792BABD}"/>
              </a:ext>
            </a:extLst>
          </p:cNvPr>
          <p:cNvSpPr/>
          <p:nvPr/>
        </p:nvSpPr>
        <p:spPr>
          <a:xfrm>
            <a:off x="4400029" y="1879134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DA1194A6-ACE8-D802-6181-ACB986DD915F}"/>
              </a:ext>
            </a:extLst>
          </p:cNvPr>
          <p:cNvSpPr/>
          <p:nvPr/>
        </p:nvSpPr>
        <p:spPr>
          <a:xfrm>
            <a:off x="4400029" y="2046914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B86D6781-2E52-8A7E-A530-58D85C75C34A}"/>
              </a:ext>
            </a:extLst>
          </p:cNvPr>
          <p:cNvSpPr/>
          <p:nvPr/>
        </p:nvSpPr>
        <p:spPr>
          <a:xfrm>
            <a:off x="4400029" y="2214694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D07449A1-1971-1DD5-53F9-661B8910A501}"/>
              </a:ext>
            </a:extLst>
          </p:cNvPr>
          <p:cNvSpPr/>
          <p:nvPr/>
        </p:nvSpPr>
        <p:spPr>
          <a:xfrm>
            <a:off x="4400029" y="2382474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02CD6F7B-EE41-A41D-03ED-7D6B3B023FF3}"/>
              </a:ext>
            </a:extLst>
          </p:cNvPr>
          <p:cNvSpPr/>
          <p:nvPr/>
        </p:nvSpPr>
        <p:spPr>
          <a:xfrm>
            <a:off x="5215160" y="1862356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1DC5459E-5AF1-90A1-F3F1-EDB66D176A61}"/>
              </a:ext>
            </a:extLst>
          </p:cNvPr>
          <p:cNvSpPr/>
          <p:nvPr/>
        </p:nvSpPr>
        <p:spPr>
          <a:xfrm>
            <a:off x="5215160" y="2030136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A32892A8-2770-C012-CFDD-119085C1E3BA}"/>
              </a:ext>
            </a:extLst>
          </p:cNvPr>
          <p:cNvSpPr/>
          <p:nvPr/>
        </p:nvSpPr>
        <p:spPr>
          <a:xfrm>
            <a:off x="5215160" y="2197916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8886B11C-EA8E-BD5D-240B-EA5DC436FB9B}"/>
              </a:ext>
            </a:extLst>
          </p:cNvPr>
          <p:cNvSpPr/>
          <p:nvPr/>
        </p:nvSpPr>
        <p:spPr>
          <a:xfrm>
            <a:off x="5215160" y="2365696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CA7CA7D3-31CB-CB34-1799-BFF10D9BF402}"/>
              </a:ext>
            </a:extLst>
          </p:cNvPr>
          <p:cNvSpPr/>
          <p:nvPr/>
        </p:nvSpPr>
        <p:spPr>
          <a:xfrm>
            <a:off x="6030291" y="1862356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274B15CD-EC80-B1A0-5C03-34B0F92D93EB}"/>
              </a:ext>
            </a:extLst>
          </p:cNvPr>
          <p:cNvSpPr/>
          <p:nvPr/>
        </p:nvSpPr>
        <p:spPr>
          <a:xfrm>
            <a:off x="6030291" y="2030136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B7A1A77F-B9E0-05A8-8DC6-EC4E0989F9E4}"/>
              </a:ext>
            </a:extLst>
          </p:cNvPr>
          <p:cNvSpPr/>
          <p:nvPr/>
        </p:nvSpPr>
        <p:spPr>
          <a:xfrm>
            <a:off x="6030291" y="2197916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1BB68D71-6C8F-0433-AEEB-C30C352585FD}"/>
              </a:ext>
            </a:extLst>
          </p:cNvPr>
          <p:cNvSpPr/>
          <p:nvPr/>
        </p:nvSpPr>
        <p:spPr>
          <a:xfrm>
            <a:off x="6030291" y="2365696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F79880-DE8B-EC46-E62C-992C6F394EB1}"/>
              </a:ext>
            </a:extLst>
          </p:cNvPr>
          <p:cNvSpPr txBox="1"/>
          <p:nvPr/>
        </p:nvSpPr>
        <p:spPr>
          <a:xfrm>
            <a:off x="579618" y="2945587"/>
            <a:ext cx="807620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Suppose we could come up with </a:t>
            </a:r>
            <a:r>
              <a:rPr lang="en-US" sz="16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weights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for all the other tokens that reflect their related-ness to “course” in this particular context.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Clearly, “delicious” should have a high weight here.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B73EFF3-879F-5B46-B1FC-CCFB9C0D8D7A}"/>
              </a:ext>
            </a:extLst>
          </p:cNvPr>
          <p:cNvSpPr txBox="1"/>
          <p:nvPr/>
        </p:nvSpPr>
        <p:spPr>
          <a:xfrm>
            <a:off x="1497777" y="1990557"/>
            <a:ext cx="4847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0.05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75EA12F-A7D7-1C6B-450C-F8FAF311426A}"/>
              </a:ext>
            </a:extLst>
          </p:cNvPr>
          <p:cNvSpPr txBox="1"/>
          <p:nvPr/>
        </p:nvSpPr>
        <p:spPr>
          <a:xfrm>
            <a:off x="2315683" y="1981450"/>
            <a:ext cx="5057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0.15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EF773EA-C81F-2249-D7D6-E8C77255ECBF}"/>
              </a:ext>
            </a:extLst>
          </p:cNvPr>
          <p:cNvSpPr txBox="1"/>
          <p:nvPr/>
        </p:nvSpPr>
        <p:spPr>
          <a:xfrm>
            <a:off x="3130488" y="1981130"/>
            <a:ext cx="5057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0.35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4858095-F3EF-2E4F-D390-5A011D85FA54}"/>
              </a:ext>
            </a:extLst>
          </p:cNvPr>
          <p:cNvSpPr txBox="1"/>
          <p:nvPr/>
        </p:nvSpPr>
        <p:spPr>
          <a:xfrm>
            <a:off x="3964830" y="1981130"/>
            <a:ext cx="5057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0.07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9A37131-D4B8-4048-9A80-6B5393D51227}"/>
              </a:ext>
            </a:extLst>
          </p:cNvPr>
          <p:cNvSpPr txBox="1"/>
          <p:nvPr/>
        </p:nvSpPr>
        <p:spPr>
          <a:xfrm>
            <a:off x="4779557" y="1974273"/>
            <a:ext cx="5057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0.08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A73571E-CA3C-F816-8E71-CC04CC77DCE1}"/>
              </a:ext>
            </a:extLst>
          </p:cNvPr>
          <p:cNvSpPr txBox="1"/>
          <p:nvPr/>
        </p:nvSpPr>
        <p:spPr>
          <a:xfrm>
            <a:off x="5611342" y="1970446"/>
            <a:ext cx="5057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0.30</a:t>
            </a:r>
          </a:p>
        </p:txBody>
      </p:sp>
      <p:sp>
        <p:nvSpPr>
          <p:cNvPr id="49" name="Text 1">
            <a:extLst>
              <a:ext uri="{FF2B5EF4-FFF2-40B4-BE49-F238E27FC236}">
                <a16:creationId xmlns:a16="http://schemas.microsoft.com/office/drawing/2014/main" id="{DD8A4082-E9CB-3A61-27F2-F9ECD3900772}"/>
              </a:ext>
            </a:extLst>
          </p:cNvPr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Contextual Embeddings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EAD621-0F58-4B45-6966-F0A99BE09CBE}"/>
              </a:ext>
            </a:extLst>
          </p:cNvPr>
          <p:cNvSpPr txBox="1"/>
          <p:nvPr/>
        </p:nvSpPr>
        <p:spPr>
          <a:xfrm>
            <a:off x="1872230" y="1466155"/>
            <a:ext cx="822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baseline="-250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1BC0F6-BCD9-BA70-3B0F-CD4A5DC198CC}"/>
              </a:ext>
            </a:extLst>
          </p:cNvPr>
          <p:cNvSpPr txBox="1"/>
          <p:nvPr/>
        </p:nvSpPr>
        <p:spPr>
          <a:xfrm>
            <a:off x="2668507" y="1466155"/>
            <a:ext cx="822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baseline="-250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5BFE19-429A-EBB2-D88F-1BC5B01AAA47}"/>
              </a:ext>
            </a:extLst>
          </p:cNvPr>
          <p:cNvSpPr txBox="1"/>
          <p:nvPr/>
        </p:nvSpPr>
        <p:spPr>
          <a:xfrm>
            <a:off x="3483638" y="1459931"/>
            <a:ext cx="822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baseline="-250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1015C9-F9A4-140D-B2DA-FD5C44ECBE27}"/>
              </a:ext>
            </a:extLst>
          </p:cNvPr>
          <p:cNvSpPr txBox="1"/>
          <p:nvPr/>
        </p:nvSpPr>
        <p:spPr>
          <a:xfrm>
            <a:off x="4310633" y="1459235"/>
            <a:ext cx="822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baseline="-250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E006F1-2DF0-44DA-2655-3F35875F0EF1}"/>
              </a:ext>
            </a:extLst>
          </p:cNvPr>
          <p:cNvSpPr txBox="1"/>
          <p:nvPr/>
        </p:nvSpPr>
        <p:spPr>
          <a:xfrm>
            <a:off x="5111784" y="1444484"/>
            <a:ext cx="822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baseline="-250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274FCA-BC45-5374-0391-5FFCD9CFA62F}"/>
              </a:ext>
            </a:extLst>
          </p:cNvPr>
          <p:cNvSpPr txBox="1"/>
          <p:nvPr/>
        </p:nvSpPr>
        <p:spPr>
          <a:xfrm>
            <a:off x="5912935" y="1437965"/>
            <a:ext cx="822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baseline="-250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560465-D9A1-ECC7-DE82-25C822EB83CA}"/>
              </a:ext>
            </a:extLst>
          </p:cNvPr>
          <p:cNvSpPr txBox="1"/>
          <p:nvPr/>
        </p:nvSpPr>
        <p:spPr>
          <a:xfrm>
            <a:off x="1833524" y="1167065"/>
            <a:ext cx="58848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the       main     course     was       truly     delicious</a:t>
            </a:r>
          </a:p>
        </p:txBody>
      </p:sp>
    </p:spTree>
    <p:extLst>
      <p:ext uri="{BB962C8B-B14F-4D97-AF65-F5344CB8AC3E}">
        <p14:creationId xmlns:p14="http://schemas.microsoft.com/office/powerpoint/2010/main" val="6686704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2F3A1-3745-E3A4-81E0-291549190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86D3519-20E6-86B2-A150-6D9368BF3FBE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4F2338A-80F6-1AD7-F642-74FC2116C394}"/>
              </a:ext>
            </a:extLst>
          </p:cNvPr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B9B24318-F710-DB0E-D603-48FD0069B67A}"/>
              </a:ext>
            </a:extLst>
          </p:cNvPr>
          <p:cNvSpPr/>
          <p:nvPr/>
        </p:nvSpPr>
        <p:spPr>
          <a:xfrm>
            <a:off x="1954636" y="1862356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EED8EAAA-B4CF-D7D9-0AD2-4B6A5DC3E620}"/>
              </a:ext>
            </a:extLst>
          </p:cNvPr>
          <p:cNvSpPr/>
          <p:nvPr/>
        </p:nvSpPr>
        <p:spPr>
          <a:xfrm>
            <a:off x="1954636" y="2030136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E40C8734-352C-5A8D-B637-255EBFB6409A}"/>
              </a:ext>
            </a:extLst>
          </p:cNvPr>
          <p:cNvSpPr/>
          <p:nvPr/>
        </p:nvSpPr>
        <p:spPr>
          <a:xfrm>
            <a:off x="1954636" y="2197916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7D97C2E1-8A42-83D8-77B2-248BD2FA08C6}"/>
              </a:ext>
            </a:extLst>
          </p:cNvPr>
          <p:cNvSpPr/>
          <p:nvPr/>
        </p:nvSpPr>
        <p:spPr>
          <a:xfrm>
            <a:off x="1954636" y="2365696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9BE86EBF-F1CD-21EF-9395-E2CCE560F4B3}"/>
              </a:ext>
            </a:extLst>
          </p:cNvPr>
          <p:cNvSpPr/>
          <p:nvPr/>
        </p:nvSpPr>
        <p:spPr>
          <a:xfrm>
            <a:off x="2769767" y="1862356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B8B0FA3D-F211-A987-C205-B52B16DFD2D8}"/>
              </a:ext>
            </a:extLst>
          </p:cNvPr>
          <p:cNvSpPr/>
          <p:nvPr/>
        </p:nvSpPr>
        <p:spPr>
          <a:xfrm>
            <a:off x="2769767" y="2030136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D81B136D-AB7C-27F9-AB75-4E435D168638}"/>
              </a:ext>
            </a:extLst>
          </p:cNvPr>
          <p:cNvSpPr/>
          <p:nvPr/>
        </p:nvSpPr>
        <p:spPr>
          <a:xfrm>
            <a:off x="2769767" y="2197916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DE0605FB-0541-843D-2169-9BC1F410A022}"/>
              </a:ext>
            </a:extLst>
          </p:cNvPr>
          <p:cNvSpPr/>
          <p:nvPr/>
        </p:nvSpPr>
        <p:spPr>
          <a:xfrm>
            <a:off x="2769767" y="2365696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520EB599-6854-308F-AE84-1C5F47712E2C}"/>
              </a:ext>
            </a:extLst>
          </p:cNvPr>
          <p:cNvSpPr/>
          <p:nvPr/>
        </p:nvSpPr>
        <p:spPr>
          <a:xfrm>
            <a:off x="3584898" y="1879134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F5400D46-0B07-46B0-4F8C-B6291135E28A}"/>
              </a:ext>
            </a:extLst>
          </p:cNvPr>
          <p:cNvSpPr/>
          <p:nvPr/>
        </p:nvSpPr>
        <p:spPr>
          <a:xfrm>
            <a:off x="3584898" y="2046914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9D7B60A0-CBC6-7449-4844-3144E7A182F9}"/>
              </a:ext>
            </a:extLst>
          </p:cNvPr>
          <p:cNvSpPr/>
          <p:nvPr/>
        </p:nvSpPr>
        <p:spPr>
          <a:xfrm>
            <a:off x="3584898" y="2214694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CBCFC382-E85A-ED9C-8C62-390B6CD9113C}"/>
              </a:ext>
            </a:extLst>
          </p:cNvPr>
          <p:cNvSpPr/>
          <p:nvPr/>
        </p:nvSpPr>
        <p:spPr>
          <a:xfrm>
            <a:off x="3584898" y="2382474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95CE79FC-6ED3-6CFE-B47C-28BAC354AA80}"/>
              </a:ext>
            </a:extLst>
          </p:cNvPr>
          <p:cNvSpPr/>
          <p:nvPr/>
        </p:nvSpPr>
        <p:spPr>
          <a:xfrm>
            <a:off x="4400029" y="1879134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841983C7-C4D7-416F-F5DC-95ACCC0F042C}"/>
              </a:ext>
            </a:extLst>
          </p:cNvPr>
          <p:cNvSpPr/>
          <p:nvPr/>
        </p:nvSpPr>
        <p:spPr>
          <a:xfrm>
            <a:off x="4400029" y="2046914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D721692F-BC4E-8B0B-D775-8B019D99FB18}"/>
              </a:ext>
            </a:extLst>
          </p:cNvPr>
          <p:cNvSpPr/>
          <p:nvPr/>
        </p:nvSpPr>
        <p:spPr>
          <a:xfrm>
            <a:off x="4400029" y="2214694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A1CAEFA2-A6C3-15CC-78BD-DF599F043D6C}"/>
              </a:ext>
            </a:extLst>
          </p:cNvPr>
          <p:cNvSpPr/>
          <p:nvPr/>
        </p:nvSpPr>
        <p:spPr>
          <a:xfrm>
            <a:off x="4400029" y="2382474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76765C0D-4463-35AF-0152-F326F97D741A}"/>
              </a:ext>
            </a:extLst>
          </p:cNvPr>
          <p:cNvSpPr/>
          <p:nvPr/>
        </p:nvSpPr>
        <p:spPr>
          <a:xfrm>
            <a:off x="5215160" y="1862356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69857B57-B271-CE8E-6B6A-00CE66966146}"/>
              </a:ext>
            </a:extLst>
          </p:cNvPr>
          <p:cNvSpPr/>
          <p:nvPr/>
        </p:nvSpPr>
        <p:spPr>
          <a:xfrm>
            <a:off x="5215160" y="2030136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E7141894-2329-4809-B9F3-FD0063026893}"/>
              </a:ext>
            </a:extLst>
          </p:cNvPr>
          <p:cNvSpPr/>
          <p:nvPr/>
        </p:nvSpPr>
        <p:spPr>
          <a:xfrm>
            <a:off x="5215160" y="2197916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58FAF2A6-FE62-C9F3-B2EC-31DA7B967863}"/>
              </a:ext>
            </a:extLst>
          </p:cNvPr>
          <p:cNvSpPr/>
          <p:nvPr/>
        </p:nvSpPr>
        <p:spPr>
          <a:xfrm>
            <a:off x="5215160" y="2365696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826A4C84-BA80-9574-BE42-396359B22BB2}"/>
              </a:ext>
            </a:extLst>
          </p:cNvPr>
          <p:cNvSpPr/>
          <p:nvPr/>
        </p:nvSpPr>
        <p:spPr>
          <a:xfrm>
            <a:off x="6030291" y="1862356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1B8B1953-662B-CF41-4D81-E3B30E70B70F}"/>
              </a:ext>
            </a:extLst>
          </p:cNvPr>
          <p:cNvSpPr/>
          <p:nvPr/>
        </p:nvSpPr>
        <p:spPr>
          <a:xfrm>
            <a:off x="6030291" y="2030136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E5CC9390-67E3-A9D1-85C9-F5B1777E77B2}"/>
              </a:ext>
            </a:extLst>
          </p:cNvPr>
          <p:cNvSpPr/>
          <p:nvPr/>
        </p:nvSpPr>
        <p:spPr>
          <a:xfrm>
            <a:off x="6030291" y="2197916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70273F4C-E312-74D3-5E16-4BD55B76DB99}"/>
              </a:ext>
            </a:extLst>
          </p:cNvPr>
          <p:cNvSpPr/>
          <p:nvPr/>
        </p:nvSpPr>
        <p:spPr>
          <a:xfrm>
            <a:off x="6030291" y="2365696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878EA3-2E92-B378-877B-936089955642}"/>
              </a:ext>
            </a:extLst>
          </p:cNvPr>
          <p:cNvSpPr txBox="1"/>
          <p:nvPr/>
        </p:nvSpPr>
        <p:spPr>
          <a:xfrm>
            <a:off x="457615" y="3333384"/>
            <a:ext cx="28975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Then we can update the embedding for delicious by taking a weighted average: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1FA3F49-1D51-E574-3344-F166E16A6413}"/>
              </a:ext>
            </a:extLst>
          </p:cNvPr>
          <p:cNvGrpSpPr/>
          <p:nvPr/>
        </p:nvGrpSpPr>
        <p:grpSpPr>
          <a:xfrm>
            <a:off x="7480549" y="1862356"/>
            <a:ext cx="140214" cy="654340"/>
            <a:chOff x="6862199" y="2594826"/>
            <a:chExt cx="140214" cy="654340"/>
          </a:xfrm>
          <a:solidFill>
            <a:srgbClr val="7030A0"/>
          </a:solidFill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6EAE664F-0C24-F72F-9F8E-87B767A953B2}"/>
                </a:ext>
              </a:extLst>
            </p:cNvPr>
            <p:cNvSpPr/>
            <p:nvPr/>
          </p:nvSpPr>
          <p:spPr>
            <a:xfrm>
              <a:off x="6862199" y="2594826"/>
              <a:ext cx="140214" cy="151000"/>
            </a:xfrm>
            <a:prstGeom prst="roundRect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B44F13FE-B6CE-5B81-A16E-E22E589AD4C4}"/>
                </a:ext>
              </a:extLst>
            </p:cNvPr>
            <p:cNvSpPr/>
            <p:nvPr/>
          </p:nvSpPr>
          <p:spPr>
            <a:xfrm>
              <a:off x="6862199" y="2762606"/>
              <a:ext cx="140214" cy="151000"/>
            </a:xfrm>
            <a:prstGeom prst="roundRect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F61269C0-A7E1-92C7-7549-CDCFA6827FE3}"/>
                </a:ext>
              </a:extLst>
            </p:cNvPr>
            <p:cNvSpPr/>
            <p:nvPr/>
          </p:nvSpPr>
          <p:spPr>
            <a:xfrm>
              <a:off x="6862199" y="2930386"/>
              <a:ext cx="140214" cy="151000"/>
            </a:xfrm>
            <a:prstGeom prst="roundRect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F937B492-C7E5-1E5F-E4AC-7903B7C315E0}"/>
                </a:ext>
              </a:extLst>
            </p:cNvPr>
            <p:cNvSpPr/>
            <p:nvPr/>
          </p:nvSpPr>
          <p:spPr>
            <a:xfrm>
              <a:off x="6862199" y="3098166"/>
              <a:ext cx="140214" cy="151000"/>
            </a:xfrm>
            <a:prstGeom prst="roundRect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9" name="Text 1">
            <a:extLst>
              <a:ext uri="{FF2B5EF4-FFF2-40B4-BE49-F238E27FC236}">
                <a16:creationId xmlns:a16="http://schemas.microsoft.com/office/drawing/2014/main" id="{AD730AF0-2243-51FE-2C6F-C739516DC8D3}"/>
              </a:ext>
            </a:extLst>
          </p:cNvPr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Contextual Embeddings</a:t>
            </a:r>
            <a:endParaRPr lang="en-US" sz="28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9AD45B3-6427-810E-BAFD-AE215AA571BD}"/>
              </a:ext>
            </a:extLst>
          </p:cNvPr>
          <p:cNvSpPr txBox="1"/>
          <p:nvPr/>
        </p:nvSpPr>
        <p:spPr>
          <a:xfrm>
            <a:off x="2163833" y="1910929"/>
            <a:ext cx="307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68DDBF8-4158-176C-B4C7-B160B5DA71A6}"/>
              </a:ext>
            </a:extLst>
          </p:cNvPr>
          <p:cNvSpPr txBox="1"/>
          <p:nvPr/>
        </p:nvSpPr>
        <p:spPr>
          <a:xfrm>
            <a:off x="2933747" y="1910929"/>
            <a:ext cx="284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CEEAAD2-FEFA-2394-9266-9FA0DC96766F}"/>
              </a:ext>
            </a:extLst>
          </p:cNvPr>
          <p:cNvSpPr txBox="1"/>
          <p:nvPr/>
        </p:nvSpPr>
        <p:spPr>
          <a:xfrm>
            <a:off x="3774281" y="1912911"/>
            <a:ext cx="284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2DCAA97-2255-B805-FD7D-8897AC6FDE60}"/>
              </a:ext>
            </a:extLst>
          </p:cNvPr>
          <p:cNvSpPr txBox="1"/>
          <p:nvPr/>
        </p:nvSpPr>
        <p:spPr>
          <a:xfrm>
            <a:off x="4595808" y="1915003"/>
            <a:ext cx="267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A5997C8-7EFE-BCF9-0733-6AA2CBE5522E}"/>
              </a:ext>
            </a:extLst>
          </p:cNvPr>
          <p:cNvSpPr txBox="1"/>
          <p:nvPr/>
        </p:nvSpPr>
        <p:spPr>
          <a:xfrm>
            <a:off x="5464458" y="1920862"/>
            <a:ext cx="267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E8A3870-9FFA-5B68-85D6-6C8EC9843A55}"/>
              </a:ext>
            </a:extLst>
          </p:cNvPr>
          <p:cNvSpPr txBox="1"/>
          <p:nvPr/>
        </p:nvSpPr>
        <p:spPr>
          <a:xfrm>
            <a:off x="6606108" y="1904084"/>
            <a:ext cx="609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=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458BE82-EDD7-1A0C-88A3-3B8125E7DB13}"/>
              </a:ext>
            </a:extLst>
          </p:cNvPr>
          <p:cNvSpPr txBox="1"/>
          <p:nvPr/>
        </p:nvSpPr>
        <p:spPr>
          <a:xfrm>
            <a:off x="7771626" y="1845139"/>
            <a:ext cx="16730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Contextual embedding!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1649B4-40CB-2B32-3F09-AE2A8AEF31C3}"/>
              </a:ext>
            </a:extLst>
          </p:cNvPr>
          <p:cNvSpPr txBox="1"/>
          <p:nvPr/>
        </p:nvSpPr>
        <p:spPr>
          <a:xfrm>
            <a:off x="1872230" y="1466155"/>
            <a:ext cx="822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baseline="-250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AE840DE-4363-B691-BC81-1FEA334E1BE7}"/>
              </a:ext>
            </a:extLst>
          </p:cNvPr>
          <p:cNvSpPr txBox="1"/>
          <p:nvPr/>
        </p:nvSpPr>
        <p:spPr>
          <a:xfrm>
            <a:off x="2668507" y="1466155"/>
            <a:ext cx="822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baseline="-250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A9FAACE-EB4C-D561-2DF0-D816B8FCDF08}"/>
              </a:ext>
            </a:extLst>
          </p:cNvPr>
          <p:cNvSpPr txBox="1"/>
          <p:nvPr/>
        </p:nvSpPr>
        <p:spPr>
          <a:xfrm>
            <a:off x="3483638" y="1459931"/>
            <a:ext cx="822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baseline="-250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F98DEF9-0EBE-3B37-DD05-084A919CA1F4}"/>
              </a:ext>
            </a:extLst>
          </p:cNvPr>
          <p:cNvSpPr txBox="1"/>
          <p:nvPr/>
        </p:nvSpPr>
        <p:spPr>
          <a:xfrm>
            <a:off x="4310633" y="1459235"/>
            <a:ext cx="822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baseline="-250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CC572E4-62A8-862C-2ED1-83AC4047C2B1}"/>
              </a:ext>
            </a:extLst>
          </p:cNvPr>
          <p:cNvSpPr txBox="1"/>
          <p:nvPr/>
        </p:nvSpPr>
        <p:spPr>
          <a:xfrm>
            <a:off x="5111784" y="1444484"/>
            <a:ext cx="822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baseline="-250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7702FD6-1E5B-7DEC-6680-B4958BA70FF4}"/>
              </a:ext>
            </a:extLst>
          </p:cNvPr>
          <p:cNvSpPr txBox="1"/>
          <p:nvPr/>
        </p:nvSpPr>
        <p:spPr>
          <a:xfrm>
            <a:off x="5912935" y="1437965"/>
            <a:ext cx="822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baseline="-250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160E363-5E40-6D5B-072D-D02A2F037285}"/>
              </a:ext>
            </a:extLst>
          </p:cNvPr>
          <p:cNvSpPr txBox="1"/>
          <p:nvPr/>
        </p:nvSpPr>
        <p:spPr>
          <a:xfrm>
            <a:off x="7382659" y="1430746"/>
            <a:ext cx="622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x̂</a:t>
            </a:r>
            <a:r>
              <a:rPr lang="en-US" baseline="-250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1DF3FC-DA6E-04C2-3BDF-1CC998412CBE}"/>
              </a:ext>
            </a:extLst>
          </p:cNvPr>
          <p:cNvSpPr txBox="1"/>
          <p:nvPr/>
        </p:nvSpPr>
        <p:spPr>
          <a:xfrm>
            <a:off x="1833524" y="1167065"/>
            <a:ext cx="58848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the       main     course     was       truly     delicious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C2BEFB-E8C2-5484-ADC6-F2BA2740DB01}"/>
              </a:ext>
            </a:extLst>
          </p:cNvPr>
          <p:cNvSpPr txBox="1"/>
          <p:nvPr/>
        </p:nvSpPr>
        <p:spPr>
          <a:xfrm>
            <a:off x="1497777" y="1990557"/>
            <a:ext cx="4847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0.05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56062C-81A3-5518-87B0-A97085EB8F3E}"/>
              </a:ext>
            </a:extLst>
          </p:cNvPr>
          <p:cNvSpPr txBox="1"/>
          <p:nvPr/>
        </p:nvSpPr>
        <p:spPr>
          <a:xfrm>
            <a:off x="2315683" y="1981450"/>
            <a:ext cx="5057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0.15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45E878-0DA5-E4AA-D1F2-8074E6223DCB}"/>
              </a:ext>
            </a:extLst>
          </p:cNvPr>
          <p:cNvSpPr txBox="1"/>
          <p:nvPr/>
        </p:nvSpPr>
        <p:spPr>
          <a:xfrm>
            <a:off x="3130488" y="1981130"/>
            <a:ext cx="5057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0.35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8B4709-9B44-C6F0-B45C-C00CBA9AC4DC}"/>
              </a:ext>
            </a:extLst>
          </p:cNvPr>
          <p:cNvSpPr txBox="1"/>
          <p:nvPr/>
        </p:nvSpPr>
        <p:spPr>
          <a:xfrm>
            <a:off x="3964830" y="1981130"/>
            <a:ext cx="5057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0.07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9BE374-411E-B68E-680D-CEB620177FA7}"/>
              </a:ext>
            </a:extLst>
          </p:cNvPr>
          <p:cNvSpPr txBox="1"/>
          <p:nvPr/>
        </p:nvSpPr>
        <p:spPr>
          <a:xfrm>
            <a:off x="4779557" y="1974273"/>
            <a:ext cx="5057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0.08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E37E453-29F7-39DE-D85D-122FC7BD655A}"/>
              </a:ext>
            </a:extLst>
          </p:cNvPr>
          <p:cNvSpPr txBox="1"/>
          <p:nvPr/>
        </p:nvSpPr>
        <p:spPr>
          <a:xfrm>
            <a:off x="5611342" y="1970446"/>
            <a:ext cx="5057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0.30</a:t>
            </a:r>
          </a:p>
        </p:txBody>
      </p:sp>
    </p:spTree>
    <p:extLst>
      <p:ext uri="{BB962C8B-B14F-4D97-AF65-F5344CB8AC3E}">
        <p14:creationId xmlns:p14="http://schemas.microsoft.com/office/powerpoint/2010/main" val="21372831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136B5-7F82-6C34-F845-3BE78B233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2116682-2DE0-834E-514B-E4D4EF42D30B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99F4FD7-4FEE-8AE5-592A-F8DB62075DE1}"/>
              </a:ext>
            </a:extLst>
          </p:cNvPr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BF2FB2C7-59B5-EE52-4245-4B6E6BD05055}"/>
              </a:ext>
            </a:extLst>
          </p:cNvPr>
          <p:cNvSpPr/>
          <p:nvPr/>
        </p:nvSpPr>
        <p:spPr>
          <a:xfrm>
            <a:off x="1954636" y="1862356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73A61383-11E8-720A-5882-4AC1FF99AAB7}"/>
              </a:ext>
            </a:extLst>
          </p:cNvPr>
          <p:cNvSpPr/>
          <p:nvPr/>
        </p:nvSpPr>
        <p:spPr>
          <a:xfrm>
            <a:off x="1954636" y="2030136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10FF3AA3-5A19-A309-BD4F-E9F5A9BE3CDE}"/>
              </a:ext>
            </a:extLst>
          </p:cNvPr>
          <p:cNvSpPr/>
          <p:nvPr/>
        </p:nvSpPr>
        <p:spPr>
          <a:xfrm>
            <a:off x="1954636" y="2197916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32FE9C2D-7954-C154-FE12-E97C35C2E291}"/>
              </a:ext>
            </a:extLst>
          </p:cNvPr>
          <p:cNvSpPr/>
          <p:nvPr/>
        </p:nvSpPr>
        <p:spPr>
          <a:xfrm>
            <a:off x="1954636" y="2365696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E8AD57BF-281F-3A4D-EF81-CD4498C6FDF3}"/>
              </a:ext>
            </a:extLst>
          </p:cNvPr>
          <p:cNvSpPr/>
          <p:nvPr/>
        </p:nvSpPr>
        <p:spPr>
          <a:xfrm>
            <a:off x="2769767" y="1862356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5060A300-D75C-008C-C77B-6089E4D9B7FE}"/>
              </a:ext>
            </a:extLst>
          </p:cNvPr>
          <p:cNvSpPr/>
          <p:nvPr/>
        </p:nvSpPr>
        <p:spPr>
          <a:xfrm>
            <a:off x="2769767" y="2030136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5AA7C296-7542-4F41-37D4-ACAF8CE990D1}"/>
              </a:ext>
            </a:extLst>
          </p:cNvPr>
          <p:cNvSpPr/>
          <p:nvPr/>
        </p:nvSpPr>
        <p:spPr>
          <a:xfrm>
            <a:off x="2769767" y="2197916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7CD637EB-242D-4B9E-FD6D-7A768F45F62C}"/>
              </a:ext>
            </a:extLst>
          </p:cNvPr>
          <p:cNvSpPr/>
          <p:nvPr/>
        </p:nvSpPr>
        <p:spPr>
          <a:xfrm>
            <a:off x="2769767" y="2365696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8A7667CB-34D5-50BE-4255-23E74474F5FA}"/>
              </a:ext>
            </a:extLst>
          </p:cNvPr>
          <p:cNvSpPr/>
          <p:nvPr/>
        </p:nvSpPr>
        <p:spPr>
          <a:xfrm>
            <a:off x="3584898" y="1879134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389B1BE3-BA2E-3358-9500-2BECCEBE4DF9}"/>
              </a:ext>
            </a:extLst>
          </p:cNvPr>
          <p:cNvSpPr/>
          <p:nvPr/>
        </p:nvSpPr>
        <p:spPr>
          <a:xfrm>
            <a:off x="3584898" y="2046914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64E65D22-4E3F-3C43-56C3-87B1EFEA8492}"/>
              </a:ext>
            </a:extLst>
          </p:cNvPr>
          <p:cNvSpPr/>
          <p:nvPr/>
        </p:nvSpPr>
        <p:spPr>
          <a:xfrm>
            <a:off x="3584898" y="2214694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336ACDED-7F0E-7B5E-60C4-034902C5EDEF}"/>
              </a:ext>
            </a:extLst>
          </p:cNvPr>
          <p:cNvSpPr/>
          <p:nvPr/>
        </p:nvSpPr>
        <p:spPr>
          <a:xfrm>
            <a:off x="3584898" y="2382474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FA7AD6DF-0705-313D-E4CB-3C6A709622E2}"/>
              </a:ext>
            </a:extLst>
          </p:cNvPr>
          <p:cNvSpPr/>
          <p:nvPr/>
        </p:nvSpPr>
        <p:spPr>
          <a:xfrm>
            <a:off x="4400029" y="1879134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08454E41-3657-8316-8D77-93FDBC6A1F2F}"/>
              </a:ext>
            </a:extLst>
          </p:cNvPr>
          <p:cNvSpPr/>
          <p:nvPr/>
        </p:nvSpPr>
        <p:spPr>
          <a:xfrm>
            <a:off x="4400029" y="2046914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4CD038A2-0865-490C-316D-04274FDD5022}"/>
              </a:ext>
            </a:extLst>
          </p:cNvPr>
          <p:cNvSpPr/>
          <p:nvPr/>
        </p:nvSpPr>
        <p:spPr>
          <a:xfrm>
            <a:off x="4400029" y="2214694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BF1C456F-270D-0519-6A87-3508C38A9F69}"/>
              </a:ext>
            </a:extLst>
          </p:cNvPr>
          <p:cNvSpPr/>
          <p:nvPr/>
        </p:nvSpPr>
        <p:spPr>
          <a:xfrm>
            <a:off x="4400029" y="2382474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312E2CB2-9907-E3AD-DD1B-9DE5062A69C0}"/>
              </a:ext>
            </a:extLst>
          </p:cNvPr>
          <p:cNvSpPr/>
          <p:nvPr/>
        </p:nvSpPr>
        <p:spPr>
          <a:xfrm>
            <a:off x="5215160" y="1862356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865A5C99-264F-5D54-CB0A-5D542189F84D}"/>
              </a:ext>
            </a:extLst>
          </p:cNvPr>
          <p:cNvSpPr/>
          <p:nvPr/>
        </p:nvSpPr>
        <p:spPr>
          <a:xfrm>
            <a:off x="5215160" y="2030136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7C779B00-C4F2-63FF-F8BB-93AF79B6B0C1}"/>
              </a:ext>
            </a:extLst>
          </p:cNvPr>
          <p:cNvSpPr/>
          <p:nvPr/>
        </p:nvSpPr>
        <p:spPr>
          <a:xfrm>
            <a:off x="5215160" y="2197916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055F66E4-5E52-6192-BA10-2565E88F5427}"/>
              </a:ext>
            </a:extLst>
          </p:cNvPr>
          <p:cNvSpPr/>
          <p:nvPr/>
        </p:nvSpPr>
        <p:spPr>
          <a:xfrm>
            <a:off x="5215160" y="2365696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B8B2BB51-6464-3B43-4163-366141CB9D74}"/>
              </a:ext>
            </a:extLst>
          </p:cNvPr>
          <p:cNvSpPr/>
          <p:nvPr/>
        </p:nvSpPr>
        <p:spPr>
          <a:xfrm>
            <a:off x="6030291" y="1862356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02EC8DEB-6DF6-4003-0926-E9BDF6E35D5D}"/>
              </a:ext>
            </a:extLst>
          </p:cNvPr>
          <p:cNvSpPr/>
          <p:nvPr/>
        </p:nvSpPr>
        <p:spPr>
          <a:xfrm>
            <a:off x="6030291" y="2030136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CDDD4781-C7E5-2128-22FB-1125C38E3522}"/>
              </a:ext>
            </a:extLst>
          </p:cNvPr>
          <p:cNvSpPr/>
          <p:nvPr/>
        </p:nvSpPr>
        <p:spPr>
          <a:xfrm>
            <a:off x="6030291" y="2197916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9C447849-1AC4-6668-9198-34B82FDDF5C5}"/>
              </a:ext>
            </a:extLst>
          </p:cNvPr>
          <p:cNvSpPr/>
          <p:nvPr/>
        </p:nvSpPr>
        <p:spPr>
          <a:xfrm>
            <a:off x="6030291" y="2365696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89DDC2-535B-11E3-401E-99512384068D}"/>
              </a:ext>
            </a:extLst>
          </p:cNvPr>
          <p:cNvSpPr txBox="1"/>
          <p:nvPr/>
        </p:nvSpPr>
        <p:spPr>
          <a:xfrm>
            <a:off x="185724" y="3210274"/>
            <a:ext cx="289755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What effect does this have? It pulls “course” closer to the location for “delicious” in the embedding space: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CCA4F1A-51D9-10DB-07DC-B9442AC5D6B4}"/>
              </a:ext>
            </a:extLst>
          </p:cNvPr>
          <p:cNvGrpSpPr/>
          <p:nvPr/>
        </p:nvGrpSpPr>
        <p:grpSpPr>
          <a:xfrm>
            <a:off x="7480549" y="1862356"/>
            <a:ext cx="140214" cy="654340"/>
            <a:chOff x="6862199" y="2594826"/>
            <a:chExt cx="140214" cy="654340"/>
          </a:xfrm>
          <a:solidFill>
            <a:srgbClr val="7030A0"/>
          </a:solidFill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72DEDD92-EF23-EE37-B557-37C26DA6EE7B}"/>
                </a:ext>
              </a:extLst>
            </p:cNvPr>
            <p:cNvSpPr/>
            <p:nvPr/>
          </p:nvSpPr>
          <p:spPr>
            <a:xfrm>
              <a:off x="6862199" y="2594826"/>
              <a:ext cx="140214" cy="151000"/>
            </a:xfrm>
            <a:prstGeom prst="roundRect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982D896D-C123-AD80-9A81-AADF7B43D7C4}"/>
                </a:ext>
              </a:extLst>
            </p:cNvPr>
            <p:cNvSpPr/>
            <p:nvPr/>
          </p:nvSpPr>
          <p:spPr>
            <a:xfrm>
              <a:off x="6862199" y="2762606"/>
              <a:ext cx="140214" cy="151000"/>
            </a:xfrm>
            <a:prstGeom prst="roundRect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FEF6912A-9200-2393-EAA7-B821F591D3D0}"/>
                </a:ext>
              </a:extLst>
            </p:cNvPr>
            <p:cNvSpPr/>
            <p:nvPr/>
          </p:nvSpPr>
          <p:spPr>
            <a:xfrm>
              <a:off x="6862199" y="2930386"/>
              <a:ext cx="140214" cy="151000"/>
            </a:xfrm>
            <a:prstGeom prst="roundRect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72429D25-30F3-3DE3-A4B1-BD996AE5EB17}"/>
                </a:ext>
              </a:extLst>
            </p:cNvPr>
            <p:cNvSpPr/>
            <p:nvPr/>
          </p:nvSpPr>
          <p:spPr>
            <a:xfrm>
              <a:off x="6862199" y="3098166"/>
              <a:ext cx="140214" cy="151000"/>
            </a:xfrm>
            <a:prstGeom prst="roundRect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9" name="Text 1">
            <a:extLst>
              <a:ext uri="{FF2B5EF4-FFF2-40B4-BE49-F238E27FC236}">
                <a16:creationId xmlns:a16="http://schemas.microsoft.com/office/drawing/2014/main" id="{58EEFB4A-C76F-9F60-1395-456A7F7A641D}"/>
              </a:ext>
            </a:extLst>
          </p:cNvPr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Contextual Embeddings</a:t>
            </a:r>
            <a:endParaRPr lang="en-US" sz="28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A53BAD4-73FA-33C7-7C23-CEEC2F10CB1F}"/>
              </a:ext>
            </a:extLst>
          </p:cNvPr>
          <p:cNvSpPr txBox="1"/>
          <p:nvPr/>
        </p:nvSpPr>
        <p:spPr>
          <a:xfrm>
            <a:off x="2163833" y="1910929"/>
            <a:ext cx="303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A3CB944-59FA-A473-AC3E-5F1DA925A222}"/>
              </a:ext>
            </a:extLst>
          </p:cNvPr>
          <p:cNvSpPr txBox="1"/>
          <p:nvPr/>
        </p:nvSpPr>
        <p:spPr>
          <a:xfrm>
            <a:off x="2933747" y="1910929"/>
            <a:ext cx="292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86855F8-F363-B033-C6AF-336D26A7DD71}"/>
              </a:ext>
            </a:extLst>
          </p:cNvPr>
          <p:cNvSpPr txBox="1"/>
          <p:nvPr/>
        </p:nvSpPr>
        <p:spPr>
          <a:xfrm>
            <a:off x="3774281" y="1912911"/>
            <a:ext cx="309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9D02EA5-FB2F-4606-B1E4-2AF755B8C630}"/>
              </a:ext>
            </a:extLst>
          </p:cNvPr>
          <p:cNvSpPr txBox="1"/>
          <p:nvPr/>
        </p:nvSpPr>
        <p:spPr>
          <a:xfrm>
            <a:off x="4595808" y="1915003"/>
            <a:ext cx="310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20A4F29-B434-652A-4070-BF76A51309B6}"/>
              </a:ext>
            </a:extLst>
          </p:cNvPr>
          <p:cNvSpPr txBox="1"/>
          <p:nvPr/>
        </p:nvSpPr>
        <p:spPr>
          <a:xfrm>
            <a:off x="5464458" y="1920862"/>
            <a:ext cx="291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653D2D8-FF89-9C8E-D853-06C85D14980A}"/>
              </a:ext>
            </a:extLst>
          </p:cNvPr>
          <p:cNvSpPr txBox="1"/>
          <p:nvPr/>
        </p:nvSpPr>
        <p:spPr>
          <a:xfrm>
            <a:off x="6606108" y="1904084"/>
            <a:ext cx="609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=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5C11266-B0AF-63F5-9986-35A193AC911D}"/>
              </a:ext>
            </a:extLst>
          </p:cNvPr>
          <p:cNvSpPr txBox="1"/>
          <p:nvPr/>
        </p:nvSpPr>
        <p:spPr>
          <a:xfrm>
            <a:off x="7771626" y="1845139"/>
            <a:ext cx="16730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Contextual embedding!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7075FAAC-1084-4511-E3E4-7354D29D5580}"/>
              </a:ext>
            </a:extLst>
          </p:cNvPr>
          <p:cNvCxnSpPr>
            <a:cxnSpLocks/>
          </p:cNvCxnSpPr>
          <p:nvPr/>
        </p:nvCxnSpPr>
        <p:spPr>
          <a:xfrm flipV="1">
            <a:off x="4353339" y="3055009"/>
            <a:ext cx="0" cy="1905290"/>
          </a:xfrm>
          <a:prstGeom prst="straightConnector1">
            <a:avLst/>
          </a:prstGeom>
          <a:ln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9A2AA131-5D09-803A-DFB2-BA377A022DFB}"/>
              </a:ext>
            </a:extLst>
          </p:cNvPr>
          <p:cNvCxnSpPr>
            <a:cxnSpLocks/>
          </p:cNvCxnSpPr>
          <p:nvPr/>
        </p:nvCxnSpPr>
        <p:spPr>
          <a:xfrm>
            <a:off x="3143177" y="3946556"/>
            <a:ext cx="2484587" cy="0"/>
          </a:xfrm>
          <a:prstGeom prst="straightConnector1">
            <a:avLst/>
          </a:prstGeom>
          <a:ln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5886304B-D4BF-FD4A-8D10-B4F8B73D909C}"/>
              </a:ext>
            </a:extLst>
          </p:cNvPr>
          <p:cNvSpPr txBox="1"/>
          <p:nvPr/>
        </p:nvSpPr>
        <p:spPr>
          <a:xfrm>
            <a:off x="5032411" y="3093876"/>
            <a:ext cx="9014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delicious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01843B8-294F-1291-BADC-B5603A86AAD0}"/>
              </a:ext>
            </a:extLst>
          </p:cNvPr>
          <p:cNvSpPr txBox="1"/>
          <p:nvPr/>
        </p:nvSpPr>
        <p:spPr>
          <a:xfrm>
            <a:off x="4316658" y="3578445"/>
            <a:ext cx="6551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course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F85B518-EEAA-DD8E-2A5C-484429C6E537}"/>
              </a:ext>
            </a:extLst>
          </p:cNvPr>
          <p:cNvSpPr txBox="1"/>
          <p:nvPr/>
        </p:nvSpPr>
        <p:spPr>
          <a:xfrm>
            <a:off x="4463077" y="4431125"/>
            <a:ext cx="11603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university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7593911-0F91-5E09-3D49-A7D47FDA2A71}"/>
              </a:ext>
            </a:extLst>
          </p:cNvPr>
          <p:cNvSpPr txBox="1"/>
          <p:nvPr/>
        </p:nvSpPr>
        <p:spPr>
          <a:xfrm>
            <a:off x="3683747" y="2703825"/>
            <a:ext cx="17952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Raw embedding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C2AF63F-2CE5-84CB-DA53-F80AD8D12979}"/>
              </a:ext>
            </a:extLst>
          </p:cNvPr>
          <p:cNvSpPr txBox="1"/>
          <p:nvPr/>
        </p:nvSpPr>
        <p:spPr>
          <a:xfrm>
            <a:off x="6767538" y="2699663"/>
            <a:ext cx="17952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Contextual embedding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EA38C2-0E10-3AFF-24B8-937D9075CEA8}"/>
              </a:ext>
            </a:extLst>
          </p:cNvPr>
          <p:cNvSpPr txBox="1"/>
          <p:nvPr/>
        </p:nvSpPr>
        <p:spPr>
          <a:xfrm>
            <a:off x="1872230" y="1466155"/>
            <a:ext cx="822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baseline="-250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65957F1-28D9-A794-50DD-DD40ED143262}"/>
              </a:ext>
            </a:extLst>
          </p:cNvPr>
          <p:cNvSpPr txBox="1"/>
          <p:nvPr/>
        </p:nvSpPr>
        <p:spPr>
          <a:xfrm>
            <a:off x="2668507" y="1466155"/>
            <a:ext cx="822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baseline="-250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247A2AF-53B6-E9AD-6096-CAE37B92E280}"/>
              </a:ext>
            </a:extLst>
          </p:cNvPr>
          <p:cNvSpPr txBox="1"/>
          <p:nvPr/>
        </p:nvSpPr>
        <p:spPr>
          <a:xfrm>
            <a:off x="3483638" y="1459931"/>
            <a:ext cx="822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baseline="-250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9CBA52A-3A73-286E-0D96-1F4222B6A3F3}"/>
              </a:ext>
            </a:extLst>
          </p:cNvPr>
          <p:cNvSpPr txBox="1"/>
          <p:nvPr/>
        </p:nvSpPr>
        <p:spPr>
          <a:xfrm>
            <a:off x="4310633" y="1459235"/>
            <a:ext cx="822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baseline="-250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5A10930-E3B2-849E-30E6-A6802166C620}"/>
              </a:ext>
            </a:extLst>
          </p:cNvPr>
          <p:cNvSpPr txBox="1"/>
          <p:nvPr/>
        </p:nvSpPr>
        <p:spPr>
          <a:xfrm>
            <a:off x="5111784" y="1444484"/>
            <a:ext cx="822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baseline="-250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3788D81-0B36-7E81-668B-96DB3480D212}"/>
              </a:ext>
            </a:extLst>
          </p:cNvPr>
          <p:cNvSpPr txBox="1"/>
          <p:nvPr/>
        </p:nvSpPr>
        <p:spPr>
          <a:xfrm>
            <a:off x="5912935" y="1437965"/>
            <a:ext cx="822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baseline="-250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B64D1A7-52BB-5934-CF47-05745E81C7C1}"/>
              </a:ext>
            </a:extLst>
          </p:cNvPr>
          <p:cNvSpPr txBox="1"/>
          <p:nvPr/>
        </p:nvSpPr>
        <p:spPr>
          <a:xfrm>
            <a:off x="7382659" y="1430746"/>
            <a:ext cx="622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x̂</a:t>
            </a:r>
            <a:r>
              <a:rPr lang="en-US" baseline="-250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A3C1D4F-7EE8-4A41-0008-355DA4CE0F29}"/>
              </a:ext>
            </a:extLst>
          </p:cNvPr>
          <p:cNvCxnSpPr>
            <a:cxnSpLocks/>
          </p:cNvCxnSpPr>
          <p:nvPr/>
        </p:nvCxnSpPr>
        <p:spPr>
          <a:xfrm flipV="1">
            <a:off x="7516997" y="3041854"/>
            <a:ext cx="0" cy="1905290"/>
          </a:xfrm>
          <a:prstGeom prst="straightConnector1">
            <a:avLst/>
          </a:prstGeom>
          <a:ln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3DA7E42-AEFD-6EF3-01F4-D8682AA914D9}"/>
              </a:ext>
            </a:extLst>
          </p:cNvPr>
          <p:cNvCxnSpPr>
            <a:cxnSpLocks/>
          </p:cNvCxnSpPr>
          <p:nvPr/>
        </p:nvCxnSpPr>
        <p:spPr>
          <a:xfrm>
            <a:off x="6306835" y="3933401"/>
            <a:ext cx="2484587" cy="0"/>
          </a:xfrm>
          <a:prstGeom prst="straightConnector1">
            <a:avLst/>
          </a:prstGeom>
          <a:ln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B8C8621-CC6F-8B1F-A593-B4ACCF64CB35}"/>
              </a:ext>
            </a:extLst>
          </p:cNvPr>
          <p:cNvSpPr txBox="1"/>
          <p:nvPr/>
        </p:nvSpPr>
        <p:spPr>
          <a:xfrm>
            <a:off x="8196069" y="3080721"/>
            <a:ext cx="7622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delicious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D04C97-37AE-F79B-1E74-6925B7D03E88}"/>
              </a:ext>
            </a:extLst>
          </p:cNvPr>
          <p:cNvSpPr txBox="1"/>
          <p:nvPr/>
        </p:nvSpPr>
        <p:spPr>
          <a:xfrm>
            <a:off x="7677468" y="3210274"/>
            <a:ext cx="6551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course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CE6350-3366-252A-18E4-4C8C20EC407B}"/>
              </a:ext>
            </a:extLst>
          </p:cNvPr>
          <p:cNvSpPr txBox="1"/>
          <p:nvPr/>
        </p:nvSpPr>
        <p:spPr>
          <a:xfrm>
            <a:off x="7626734" y="4417970"/>
            <a:ext cx="10250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university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FC29CAB-B7AB-6243-AB6C-D22C661C5847}"/>
              </a:ext>
            </a:extLst>
          </p:cNvPr>
          <p:cNvSpPr txBox="1"/>
          <p:nvPr/>
        </p:nvSpPr>
        <p:spPr>
          <a:xfrm>
            <a:off x="1833524" y="1167065"/>
            <a:ext cx="58848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the       main     course     was       truly     delicious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3C8B6AC-F9FC-4E13-836C-A207B5C72D9D}"/>
              </a:ext>
            </a:extLst>
          </p:cNvPr>
          <p:cNvSpPr txBox="1"/>
          <p:nvPr/>
        </p:nvSpPr>
        <p:spPr>
          <a:xfrm>
            <a:off x="1497777" y="1990557"/>
            <a:ext cx="4847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0.05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BEDD26-8971-8E24-47F9-5E710F465494}"/>
              </a:ext>
            </a:extLst>
          </p:cNvPr>
          <p:cNvSpPr txBox="1"/>
          <p:nvPr/>
        </p:nvSpPr>
        <p:spPr>
          <a:xfrm>
            <a:off x="2315683" y="1981450"/>
            <a:ext cx="5057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0.15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0753854-13F8-34E3-3EF8-405B8E9BF0DE}"/>
              </a:ext>
            </a:extLst>
          </p:cNvPr>
          <p:cNvSpPr txBox="1"/>
          <p:nvPr/>
        </p:nvSpPr>
        <p:spPr>
          <a:xfrm>
            <a:off x="3130488" y="1981130"/>
            <a:ext cx="5057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0.35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8318659-11B2-A17A-C459-5D302CCC4C54}"/>
              </a:ext>
            </a:extLst>
          </p:cNvPr>
          <p:cNvSpPr txBox="1"/>
          <p:nvPr/>
        </p:nvSpPr>
        <p:spPr>
          <a:xfrm>
            <a:off x="3964830" y="1981130"/>
            <a:ext cx="5057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0.07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5E0625F-DD9E-B59E-FAAD-2C8699286995}"/>
              </a:ext>
            </a:extLst>
          </p:cNvPr>
          <p:cNvSpPr txBox="1"/>
          <p:nvPr/>
        </p:nvSpPr>
        <p:spPr>
          <a:xfrm>
            <a:off x="4779557" y="1974273"/>
            <a:ext cx="5057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0.08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5A74394-9759-2040-2928-744AAC33BFE5}"/>
              </a:ext>
            </a:extLst>
          </p:cNvPr>
          <p:cNvSpPr txBox="1"/>
          <p:nvPr/>
        </p:nvSpPr>
        <p:spPr>
          <a:xfrm>
            <a:off x="5611342" y="1970446"/>
            <a:ext cx="5057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0.30</a:t>
            </a:r>
          </a:p>
        </p:txBody>
      </p:sp>
    </p:spTree>
    <p:extLst>
      <p:ext uri="{BB962C8B-B14F-4D97-AF65-F5344CB8AC3E}">
        <p14:creationId xmlns:p14="http://schemas.microsoft.com/office/powerpoint/2010/main" val="3748652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60D0E-B5F8-F21F-9C6B-BED2FC85E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7C731A0-3444-5786-FFFD-C1E25980F9A5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C63730D-F225-2066-DDE5-624E6190F61F}"/>
              </a:ext>
            </a:extLst>
          </p:cNvPr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1">
            <a:extLst>
              <a:ext uri="{FF2B5EF4-FFF2-40B4-BE49-F238E27FC236}">
                <a16:creationId xmlns:a16="http://schemas.microsoft.com/office/drawing/2014/main" id="{32D10F2C-EA8A-304F-6667-1CA6E0CDBE5A}"/>
              </a:ext>
            </a:extLst>
          </p:cNvPr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Contextual Embeddings</a:t>
            </a:r>
            <a:endParaRPr lang="en-US" sz="2800" dirty="0"/>
          </a:p>
        </p:txBody>
      </p:sp>
      <p:pic>
        <p:nvPicPr>
          <p:cNvPr id="3" name="Picture 2" descr="A screenshot of a phone&#10;&#10;AI-generated content may be incorrect.">
            <a:extLst>
              <a:ext uri="{FF2B5EF4-FFF2-40B4-BE49-F238E27FC236}">
                <a16:creationId xmlns:a16="http://schemas.microsoft.com/office/drawing/2014/main" id="{8192D78B-71BC-6572-0489-8CBBDCE9EF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113" y="1501136"/>
            <a:ext cx="8964887" cy="267806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BC45A8F-9C48-AC2D-6466-E7723C6B076D}"/>
              </a:ext>
            </a:extLst>
          </p:cNvPr>
          <p:cNvSpPr txBox="1"/>
          <p:nvPr/>
        </p:nvSpPr>
        <p:spPr>
          <a:xfrm>
            <a:off x="3467405" y="4811661"/>
            <a:ext cx="588507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https://</a:t>
            </a:r>
            <a:r>
              <a:rPr lang="en-US" sz="900" dirty="0" err="1">
                <a:latin typeface="Arial" panose="020B0604020202020204" pitchFamily="34" charset="0"/>
                <a:cs typeface="Arial" panose="020B0604020202020204" pitchFamily="34" charset="0"/>
              </a:rPr>
              <a:t>research.google</a:t>
            </a:r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/blog/transformer-a-novel-neural-network-architecture-for-language-understanding/</a:t>
            </a:r>
          </a:p>
        </p:txBody>
      </p:sp>
    </p:spTree>
    <p:extLst>
      <p:ext uri="{BB962C8B-B14F-4D97-AF65-F5344CB8AC3E}">
        <p14:creationId xmlns:p14="http://schemas.microsoft.com/office/powerpoint/2010/main" val="7047843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C3AB6-04C0-8B53-5175-D74CEFE61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C6D7042-3F59-9AA0-8CCF-23608DA3F3FA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621CA55-419A-74EB-909B-ABF36C791194}"/>
              </a:ext>
            </a:extLst>
          </p:cNvPr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C661D756-DC0D-9311-1C4F-EE2CD17F64AC}"/>
              </a:ext>
            </a:extLst>
          </p:cNvPr>
          <p:cNvSpPr/>
          <p:nvPr/>
        </p:nvSpPr>
        <p:spPr>
          <a:xfrm>
            <a:off x="4254776" y="1845232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D2336BD5-690D-953E-568F-4ED4690FF373}"/>
              </a:ext>
            </a:extLst>
          </p:cNvPr>
          <p:cNvSpPr/>
          <p:nvPr/>
        </p:nvSpPr>
        <p:spPr>
          <a:xfrm>
            <a:off x="4254776" y="2013012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8A6414C7-D638-D14B-C158-5ACAB809B6FA}"/>
              </a:ext>
            </a:extLst>
          </p:cNvPr>
          <p:cNvSpPr/>
          <p:nvPr/>
        </p:nvSpPr>
        <p:spPr>
          <a:xfrm>
            <a:off x="4254776" y="2180792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85F06130-0093-ACB9-D07A-302699E88895}"/>
              </a:ext>
            </a:extLst>
          </p:cNvPr>
          <p:cNvSpPr/>
          <p:nvPr/>
        </p:nvSpPr>
        <p:spPr>
          <a:xfrm>
            <a:off x="4254776" y="2348572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C620528E-AA1E-3AEA-D7DC-29A53A14973A}"/>
              </a:ext>
            </a:extLst>
          </p:cNvPr>
          <p:cNvSpPr/>
          <p:nvPr/>
        </p:nvSpPr>
        <p:spPr>
          <a:xfrm>
            <a:off x="5069907" y="1845232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21F2E50F-FFDE-DACC-F975-E2B3A87EFE76}"/>
              </a:ext>
            </a:extLst>
          </p:cNvPr>
          <p:cNvSpPr/>
          <p:nvPr/>
        </p:nvSpPr>
        <p:spPr>
          <a:xfrm>
            <a:off x="5069907" y="2013012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F8B88DF8-490E-2A38-067C-ED6927B7860A}"/>
              </a:ext>
            </a:extLst>
          </p:cNvPr>
          <p:cNvSpPr/>
          <p:nvPr/>
        </p:nvSpPr>
        <p:spPr>
          <a:xfrm>
            <a:off x="5069907" y="2180792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6E1D4944-1B94-E874-0267-27A5E0D9DFC6}"/>
              </a:ext>
            </a:extLst>
          </p:cNvPr>
          <p:cNvSpPr/>
          <p:nvPr/>
        </p:nvSpPr>
        <p:spPr>
          <a:xfrm>
            <a:off x="5069907" y="2348572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02E29F89-7633-19F7-9168-26F0D4E26B76}"/>
              </a:ext>
            </a:extLst>
          </p:cNvPr>
          <p:cNvSpPr/>
          <p:nvPr/>
        </p:nvSpPr>
        <p:spPr>
          <a:xfrm>
            <a:off x="5885038" y="1862010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50CD91AA-DCC4-47FE-75FA-D33CE97B0995}"/>
              </a:ext>
            </a:extLst>
          </p:cNvPr>
          <p:cNvSpPr/>
          <p:nvPr/>
        </p:nvSpPr>
        <p:spPr>
          <a:xfrm>
            <a:off x="5885038" y="2029790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18950872-0309-D416-0A97-D6939B471FC3}"/>
              </a:ext>
            </a:extLst>
          </p:cNvPr>
          <p:cNvSpPr/>
          <p:nvPr/>
        </p:nvSpPr>
        <p:spPr>
          <a:xfrm>
            <a:off x="5885038" y="2197570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67849206-85BE-7164-D7AE-F19614E63507}"/>
              </a:ext>
            </a:extLst>
          </p:cNvPr>
          <p:cNvSpPr/>
          <p:nvPr/>
        </p:nvSpPr>
        <p:spPr>
          <a:xfrm>
            <a:off x="5885038" y="2365350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A429ADE9-238E-A094-8CFB-9ACC5D161110}"/>
              </a:ext>
            </a:extLst>
          </p:cNvPr>
          <p:cNvSpPr/>
          <p:nvPr/>
        </p:nvSpPr>
        <p:spPr>
          <a:xfrm>
            <a:off x="6700169" y="1862010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139779AC-0A6A-939F-3B06-B7D2D927F536}"/>
              </a:ext>
            </a:extLst>
          </p:cNvPr>
          <p:cNvSpPr/>
          <p:nvPr/>
        </p:nvSpPr>
        <p:spPr>
          <a:xfrm>
            <a:off x="6700169" y="2029790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945BBF59-550A-FD2B-99BC-06DFB5F4B5D2}"/>
              </a:ext>
            </a:extLst>
          </p:cNvPr>
          <p:cNvSpPr/>
          <p:nvPr/>
        </p:nvSpPr>
        <p:spPr>
          <a:xfrm>
            <a:off x="6700169" y="2197570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7A1A328C-A09C-2948-A951-94B97E259A22}"/>
              </a:ext>
            </a:extLst>
          </p:cNvPr>
          <p:cNvSpPr/>
          <p:nvPr/>
        </p:nvSpPr>
        <p:spPr>
          <a:xfrm>
            <a:off x="6700169" y="2365350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20B65A90-F9D2-FFFE-8BE5-33CC05D54C87}"/>
              </a:ext>
            </a:extLst>
          </p:cNvPr>
          <p:cNvSpPr/>
          <p:nvPr/>
        </p:nvSpPr>
        <p:spPr>
          <a:xfrm>
            <a:off x="7515300" y="1845232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07FA612A-4712-DACB-840F-203D622C0747}"/>
              </a:ext>
            </a:extLst>
          </p:cNvPr>
          <p:cNvSpPr/>
          <p:nvPr/>
        </p:nvSpPr>
        <p:spPr>
          <a:xfrm>
            <a:off x="7515300" y="2013012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B67BB6BE-FF10-BDDC-471C-1214816424D2}"/>
              </a:ext>
            </a:extLst>
          </p:cNvPr>
          <p:cNvSpPr/>
          <p:nvPr/>
        </p:nvSpPr>
        <p:spPr>
          <a:xfrm>
            <a:off x="7515300" y="2180792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94F226C7-2F3D-9FFD-C213-5726D5C02C20}"/>
              </a:ext>
            </a:extLst>
          </p:cNvPr>
          <p:cNvSpPr/>
          <p:nvPr/>
        </p:nvSpPr>
        <p:spPr>
          <a:xfrm>
            <a:off x="7515300" y="2348572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3E3F4464-A004-52F3-FB3B-FE9CC6CCC5AB}"/>
              </a:ext>
            </a:extLst>
          </p:cNvPr>
          <p:cNvSpPr/>
          <p:nvPr/>
        </p:nvSpPr>
        <p:spPr>
          <a:xfrm>
            <a:off x="8330431" y="1845232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990B8539-F91B-5C8A-3D00-5B52AE173BD9}"/>
              </a:ext>
            </a:extLst>
          </p:cNvPr>
          <p:cNvSpPr/>
          <p:nvPr/>
        </p:nvSpPr>
        <p:spPr>
          <a:xfrm>
            <a:off x="8330431" y="2013012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8EEF7632-34CF-EAB6-7280-A6C30E75143E}"/>
              </a:ext>
            </a:extLst>
          </p:cNvPr>
          <p:cNvSpPr/>
          <p:nvPr/>
        </p:nvSpPr>
        <p:spPr>
          <a:xfrm>
            <a:off x="8330431" y="2180792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26CA8642-9352-E4D9-0AA8-E42F2C5510A5}"/>
              </a:ext>
            </a:extLst>
          </p:cNvPr>
          <p:cNvSpPr/>
          <p:nvPr/>
        </p:nvSpPr>
        <p:spPr>
          <a:xfrm>
            <a:off x="8330431" y="2348572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 1">
            <a:extLst>
              <a:ext uri="{FF2B5EF4-FFF2-40B4-BE49-F238E27FC236}">
                <a16:creationId xmlns:a16="http://schemas.microsoft.com/office/drawing/2014/main" id="{A6A1A20A-09B2-66C5-F790-B51C0A6D1B9F}"/>
              </a:ext>
            </a:extLst>
          </p:cNvPr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Where do attention weights come from?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F38F67-3CA3-40AB-26CD-3216F56EF100}"/>
              </a:ext>
            </a:extLst>
          </p:cNvPr>
          <p:cNvSpPr txBox="1"/>
          <p:nvPr/>
        </p:nvSpPr>
        <p:spPr>
          <a:xfrm>
            <a:off x="4172370" y="1449031"/>
            <a:ext cx="822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baseline="-250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C4A50D6-0F64-8E58-4628-149A50AF95DD}"/>
              </a:ext>
            </a:extLst>
          </p:cNvPr>
          <p:cNvSpPr txBox="1"/>
          <p:nvPr/>
        </p:nvSpPr>
        <p:spPr>
          <a:xfrm>
            <a:off x="4968647" y="1449031"/>
            <a:ext cx="822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baseline="-250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9E3F94D-37EC-D8CB-636E-682F4BB657D5}"/>
              </a:ext>
            </a:extLst>
          </p:cNvPr>
          <p:cNvSpPr txBox="1"/>
          <p:nvPr/>
        </p:nvSpPr>
        <p:spPr>
          <a:xfrm>
            <a:off x="5783778" y="1442807"/>
            <a:ext cx="822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baseline="-250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7BC6100-B0C9-EB4D-F584-D2CD8A32AF83}"/>
              </a:ext>
            </a:extLst>
          </p:cNvPr>
          <p:cNvSpPr txBox="1"/>
          <p:nvPr/>
        </p:nvSpPr>
        <p:spPr>
          <a:xfrm>
            <a:off x="6610773" y="1442111"/>
            <a:ext cx="822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baseline="-250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EF157B0-D9CB-CF57-19E5-CB2A313DCA76}"/>
              </a:ext>
            </a:extLst>
          </p:cNvPr>
          <p:cNvSpPr txBox="1"/>
          <p:nvPr/>
        </p:nvSpPr>
        <p:spPr>
          <a:xfrm>
            <a:off x="7411924" y="1427360"/>
            <a:ext cx="822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baseline="-250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8BD19BD-F034-14B2-6079-3E0F697C0DAA}"/>
              </a:ext>
            </a:extLst>
          </p:cNvPr>
          <p:cNvSpPr txBox="1"/>
          <p:nvPr/>
        </p:nvSpPr>
        <p:spPr>
          <a:xfrm>
            <a:off x="8213075" y="1420841"/>
            <a:ext cx="822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baseline="-250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83F1CB-C551-4CC6-730F-93F04097146B}"/>
              </a:ext>
            </a:extLst>
          </p:cNvPr>
          <p:cNvSpPr txBox="1"/>
          <p:nvPr/>
        </p:nvSpPr>
        <p:spPr>
          <a:xfrm>
            <a:off x="468659" y="1111018"/>
            <a:ext cx="3262038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Idea: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Just use similarity of the embeddings themselves! 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Intuition: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Tokens that are close in the embedding space are semantically related, so we want them to attend strongly to each other 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C1813FE-43DE-733D-9C7C-B62B1D2D3640}"/>
              </a:ext>
            </a:extLst>
          </p:cNvPr>
          <p:cNvGrpSpPr/>
          <p:nvPr/>
        </p:nvGrpSpPr>
        <p:grpSpPr>
          <a:xfrm>
            <a:off x="8196101" y="2499572"/>
            <a:ext cx="468040" cy="1073646"/>
            <a:chOff x="4469425" y="3058119"/>
            <a:chExt cx="468040" cy="1073646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5BA078F-AB13-4C51-D31C-F835198F2615}"/>
                </a:ext>
              </a:extLst>
            </p:cNvPr>
            <p:cNvSpPr txBox="1"/>
            <p:nvPr/>
          </p:nvSpPr>
          <p:spPr>
            <a:xfrm>
              <a:off x="4469425" y="3177459"/>
              <a:ext cx="468040" cy="83099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-0.2</a:t>
              </a:r>
            </a:p>
            <a:p>
              <a:pPr algn="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1.4</a:t>
              </a:r>
            </a:p>
            <a:p>
              <a:pPr algn="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0.9</a:t>
              </a:r>
            </a:p>
            <a:p>
              <a:pPr algn="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-0.4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7B6027B-27BA-7E7F-75C2-44C43CBDD801}"/>
                </a:ext>
              </a:extLst>
            </p:cNvPr>
            <p:cNvSpPr/>
            <p:nvPr/>
          </p:nvSpPr>
          <p:spPr>
            <a:xfrm>
              <a:off x="4531800" y="3058119"/>
              <a:ext cx="343289" cy="1783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6A4F8B8-C1A1-7323-9268-168AFE4C5D56}"/>
                </a:ext>
              </a:extLst>
            </p:cNvPr>
            <p:cNvSpPr/>
            <p:nvPr/>
          </p:nvSpPr>
          <p:spPr>
            <a:xfrm>
              <a:off x="4531800" y="3953439"/>
              <a:ext cx="343289" cy="1783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926458D-4FB2-A12A-1140-26558D59F452}"/>
              </a:ext>
            </a:extLst>
          </p:cNvPr>
          <p:cNvGrpSpPr/>
          <p:nvPr/>
        </p:nvGrpSpPr>
        <p:grpSpPr>
          <a:xfrm>
            <a:off x="7354944" y="2496919"/>
            <a:ext cx="468040" cy="1073646"/>
            <a:chOff x="4469425" y="3058119"/>
            <a:chExt cx="468040" cy="1073646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4FFD035-87A1-EFE6-2926-D326E3E77486}"/>
                </a:ext>
              </a:extLst>
            </p:cNvPr>
            <p:cNvSpPr txBox="1"/>
            <p:nvPr/>
          </p:nvSpPr>
          <p:spPr>
            <a:xfrm>
              <a:off x="4469425" y="3177459"/>
              <a:ext cx="468040" cy="83099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0.6</a:t>
              </a:r>
            </a:p>
            <a:p>
              <a:pPr algn="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-0.5</a:t>
              </a:r>
            </a:p>
            <a:p>
              <a:pPr algn="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0.2</a:t>
              </a:r>
            </a:p>
            <a:p>
              <a:pPr algn="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0.7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8CA4989-E923-2B0B-B45F-14E808450D0F}"/>
                </a:ext>
              </a:extLst>
            </p:cNvPr>
            <p:cNvSpPr/>
            <p:nvPr/>
          </p:nvSpPr>
          <p:spPr>
            <a:xfrm>
              <a:off x="4531800" y="3058119"/>
              <a:ext cx="343289" cy="1783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462CF3C5-13A0-F952-E321-8CF5D3606950}"/>
                </a:ext>
              </a:extLst>
            </p:cNvPr>
            <p:cNvSpPr/>
            <p:nvPr/>
          </p:nvSpPr>
          <p:spPr>
            <a:xfrm>
              <a:off x="4531800" y="3953439"/>
              <a:ext cx="343289" cy="1783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215358B8-C7CC-83D1-D31B-479F23BE5AC8}"/>
              </a:ext>
            </a:extLst>
          </p:cNvPr>
          <p:cNvGrpSpPr/>
          <p:nvPr/>
        </p:nvGrpSpPr>
        <p:grpSpPr>
          <a:xfrm>
            <a:off x="5750466" y="2533130"/>
            <a:ext cx="468040" cy="1073646"/>
            <a:chOff x="4469425" y="3058119"/>
            <a:chExt cx="468040" cy="1073646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CDFDBCFE-8F6A-9CD0-D02E-F3375FEE0560}"/>
                </a:ext>
              </a:extLst>
            </p:cNvPr>
            <p:cNvSpPr txBox="1"/>
            <p:nvPr/>
          </p:nvSpPr>
          <p:spPr>
            <a:xfrm>
              <a:off x="4469425" y="3177459"/>
              <a:ext cx="468040" cy="83099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-0.6</a:t>
              </a:r>
            </a:p>
            <a:p>
              <a:pPr algn="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0.8</a:t>
              </a:r>
            </a:p>
            <a:p>
              <a:pPr algn="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1.1</a:t>
              </a:r>
            </a:p>
            <a:p>
              <a:pPr algn="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-0.1</a:t>
              </a: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00A6CE50-0843-DC96-988C-DC265A742E5D}"/>
                </a:ext>
              </a:extLst>
            </p:cNvPr>
            <p:cNvSpPr/>
            <p:nvPr/>
          </p:nvSpPr>
          <p:spPr>
            <a:xfrm>
              <a:off x="4531800" y="3058119"/>
              <a:ext cx="343289" cy="1783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99781160-0FF4-D864-6846-902CBD7BDC21}"/>
                </a:ext>
              </a:extLst>
            </p:cNvPr>
            <p:cNvSpPr/>
            <p:nvPr/>
          </p:nvSpPr>
          <p:spPr>
            <a:xfrm>
              <a:off x="4531800" y="3953439"/>
              <a:ext cx="343289" cy="1783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5E8A8BB8-373A-5891-08A2-9BFAE705CD72}"/>
              </a:ext>
            </a:extLst>
          </p:cNvPr>
          <p:cNvSpPr txBox="1"/>
          <p:nvPr/>
        </p:nvSpPr>
        <p:spPr>
          <a:xfrm>
            <a:off x="4079396" y="1139223"/>
            <a:ext cx="58848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the       main     course     was       truly     delicious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FC3F25-019B-A90A-4B1E-B13ACEB9DB87}"/>
              </a:ext>
            </a:extLst>
          </p:cNvPr>
          <p:cNvSpPr txBox="1"/>
          <p:nvPr/>
        </p:nvSpPr>
        <p:spPr>
          <a:xfrm>
            <a:off x="2808699" y="4109516"/>
            <a:ext cx="5392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·</a:t>
            </a:r>
            <a:r>
              <a:rPr lang="en-US" b="1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baseline="-25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baseline="-250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baseline="-25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baseline="-250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baseline="-25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baseline="-250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+ </a:t>
            </a:r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baseline="-25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baseline="-250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n-US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7F6E4A-8BD2-66D0-B521-317E98A45FCC}"/>
              </a:ext>
            </a:extLst>
          </p:cNvPr>
          <p:cNvSpPr txBox="1"/>
          <p:nvPr/>
        </p:nvSpPr>
        <p:spPr>
          <a:xfrm>
            <a:off x="255935" y="4116813"/>
            <a:ext cx="1544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706FF8E-6B00-FF66-A242-3AC985058AF0}"/>
              </a:ext>
            </a:extLst>
          </p:cNvPr>
          <p:cNvGrpSpPr/>
          <p:nvPr/>
        </p:nvGrpSpPr>
        <p:grpSpPr>
          <a:xfrm>
            <a:off x="785465" y="3833148"/>
            <a:ext cx="468040" cy="1238746"/>
            <a:chOff x="4469425" y="3058119"/>
            <a:chExt cx="468040" cy="1238746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301D80C-6FD4-E9F2-A2CD-5588ADFF03AE}"/>
                </a:ext>
              </a:extLst>
            </p:cNvPr>
            <p:cNvSpPr txBox="1"/>
            <p:nvPr/>
          </p:nvSpPr>
          <p:spPr>
            <a:xfrm>
              <a:off x="4469425" y="3177459"/>
              <a:ext cx="468040" cy="95410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  <a:r>
                <a:rPr lang="en-US" sz="1400" baseline="-2500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40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  <a:r>
                <a:rPr lang="en-US" sz="1400" baseline="-2500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40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  <a:r>
                <a:rPr lang="en-US" sz="1400" baseline="-2500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  <a:p>
              <a:pPr algn="ctr"/>
              <a:r>
                <a:rPr lang="en-US" sz="140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  <a:r>
                <a:rPr lang="en-US" sz="1400" baseline="-2500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8729A74-E410-F1D0-A726-FE5BBCAD01EA}"/>
                </a:ext>
              </a:extLst>
            </p:cNvPr>
            <p:cNvSpPr/>
            <p:nvPr/>
          </p:nvSpPr>
          <p:spPr>
            <a:xfrm>
              <a:off x="4531800" y="3058119"/>
              <a:ext cx="343289" cy="1783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7E5A800-96CC-B31C-2492-F197A504C682}"/>
                </a:ext>
              </a:extLst>
            </p:cNvPr>
            <p:cNvSpPr/>
            <p:nvPr/>
          </p:nvSpPr>
          <p:spPr>
            <a:xfrm>
              <a:off x="4531800" y="4118539"/>
              <a:ext cx="343289" cy="1783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3CA49E5C-2257-8EEB-E4C8-F747904B6B13}"/>
              </a:ext>
            </a:extLst>
          </p:cNvPr>
          <p:cNvSpPr txBox="1"/>
          <p:nvPr/>
        </p:nvSpPr>
        <p:spPr>
          <a:xfrm>
            <a:off x="1459921" y="4119900"/>
            <a:ext cx="1544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dirty="0"/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95E1E508-7537-ADFE-4510-0CEAE37B5229}"/>
              </a:ext>
            </a:extLst>
          </p:cNvPr>
          <p:cNvGrpSpPr/>
          <p:nvPr/>
        </p:nvGrpSpPr>
        <p:grpSpPr>
          <a:xfrm>
            <a:off x="1960025" y="3823422"/>
            <a:ext cx="468040" cy="1245096"/>
            <a:chOff x="4469425" y="3058119"/>
            <a:chExt cx="468040" cy="1245096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7CD5B5DD-78AF-603E-9F77-773A9C7DF6B2}"/>
                </a:ext>
              </a:extLst>
            </p:cNvPr>
            <p:cNvSpPr txBox="1"/>
            <p:nvPr/>
          </p:nvSpPr>
          <p:spPr>
            <a:xfrm>
              <a:off x="4469425" y="3177459"/>
              <a:ext cx="468040" cy="95410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  <a:r>
                <a:rPr lang="en-US" sz="1400" baseline="-25000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en-US" sz="14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400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  <a:r>
                <a:rPr lang="en-US" sz="1400" baseline="-25000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en-US" sz="14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400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  <a:r>
                <a:rPr lang="en-US" sz="1400" baseline="-25000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  <a:p>
              <a:pPr algn="ctr"/>
              <a:r>
                <a:rPr lang="en-US" sz="1400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  <a:r>
                <a:rPr lang="en-US" sz="1400" baseline="-25000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en-US" sz="14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D6765481-0C48-C764-04E6-39B0DAA3DD05}"/>
                </a:ext>
              </a:extLst>
            </p:cNvPr>
            <p:cNvSpPr/>
            <p:nvPr/>
          </p:nvSpPr>
          <p:spPr>
            <a:xfrm>
              <a:off x="4531800" y="3058119"/>
              <a:ext cx="343289" cy="1783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8298A259-FD07-B29B-800F-0D01535BD10E}"/>
                </a:ext>
              </a:extLst>
            </p:cNvPr>
            <p:cNvSpPr/>
            <p:nvPr/>
          </p:nvSpPr>
          <p:spPr>
            <a:xfrm>
              <a:off x="4531800" y="4124889"/>
              <a:ext cx="343289" cy="1783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BA600353-366C-D8B8-AEE9-5E27AB87215C}"/>
              </a:ext>
            </a:extLst>
          </p:cNvPr>
          <p:cNvSpPr txBox="1"/>
          <p:nvPr/>
        </p:nvSpPr>
        <p:spPr>
          <a:xfrm>
            <a:off x="158005" y="3216423"/>
            <a:ext cx="4331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How to measure similarity between two embeddings? 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Dot product: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0077098-02E9-2940-566D-F8C43D423023}"/>
              </a:ext>
            </a:extLst>
          </p:cNvPr>
          <p:cNvSpPr txBox="1"/>
          <p:nvPr/>
        </p:nvSpPr>
        <p:spPr>
          <a:xfrm>
            <a:off x="6525688" y="4045162"/>
            <a:ext cx="22596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If embeddings </a:t>
            </a:r>
            <a:r>
              <a:rPr lang="en-US" sz="1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1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are “close”, then </a:t>
            </a:r>
            <a:r>
              <a:rPr lang="en-US" sz="1200" b="1" dirty="0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·</a:t>
            </a:r>
            <a:r>
              <a:rPr lang="en-US" sz="1200" b="1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will be large.</a:t>
            </a: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4232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6" grpId="0"/>
      <p:bldP spid="7" grpId="0"/>
      <p:bldP spid="13" grpId="0"/>
      <p:bldP spid="53" grpId="0"/>
      <p:bldP spid="5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8758C-CA50-3FF9-300A-962046E06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A9D97E3-9FA3-5E2F-D9BF-3BA38725556E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FEB1C72-F478-38A8-96BD-2ABDFA0FCC98}"/>
              </a:ext>
            </a:extLst>
          </p:cNvPr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1">
            <a:extLst>
              <a:ext uri="{FF2B5EF4-FFF2-40B4-BE49-F238E27FC236}">
                <a16:creationId xmlns:a16="http://schemas.microsoft.com/office/drawing/2014/main" id="{2D8164C2-A798-9D0F-1B9B-B80254D51066}"/>
              </a:ext>
            </a:extLst>
          </p:cNvPr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Attention Weights</a:t>
            </a:r>
            <a:endParaRPr lang="en-US" sz="2800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FD6C55E-53ED-F747-A5A9-13D9ADF1062E}"/>
              </a:ext>
            </a:extLst>
          </p:cNvPr>
          <p:cNvSpPr txBox="1"/>
          <p:nvPr/>
        </p:nvSpPr>
        <p:spPr>
          <a:xfrm>
            <a:off x="466075" y="1228142"/>
            <a:ext cx="1544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baseline="-25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en-US" dirty="0"/>
              <a:t> ·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baseline="-250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F9D2D45-15DF-C800-753C-C652FB1753A1}"/>
              </a:ext>
            </a:extLst>
          </p:cNvPr>
          <p:cNvSpPr txBox="1"/>
          <p:nvPr/>
        </p:nvSpPr>
        <p:spPr>
          <a:xfrm>
            <a:off x="508870" y="2298593"/>
            <a:ext cx="1544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baseline="-250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/>
              <a:t>·  </a:t>
            </a:r>
            <a:r>
              <a:rPr lang="en-US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baseline="-250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= </a:t>
            </a: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C9568CFD-2BD0-A853-3EB2-B2D819C90276}"/>
              </a:ext>
            </a:extLst>
          </p:cNvPr>
          <p:cNvGrpSpPr/>
          <p:nvPr/>
        </p:nvGrpSpPr>
        <p:grpSpPr>
          <a:xfrm>
            <a:off x="1543300" y="937578"/>
            <a:ext cx="468040" cy="1073646"/>
            <a:chOff x="4469425" y="3058119"/>
            <a:chExt cx="468040" cy="1073646"/>
          </a:xfrm>
        </p:grpSpPr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E2012EDB-827F-2417-3FBB-D3AF01F6D07F}"/>
                </a:ext>
              </a:extLst>
            </p:cNvPr>
            <p:cNvSpPr txBox="1"/>
            <p:nvPr/>
          </p:nvSpPr>
          <p:spPr>
            <a:xfrm>
              <a:off x="4469425" y="3177459"/>
              <a:ext cx="468040" cy="83099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20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-0.2</a:t>
              </a:r>
            </a:p>
            <a:p>
              <a:pPr algn="r"/>
              <a:r>
                <a:rPr lang="en-US" sz="120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1.4</a:t>
              </a:r>
            </a:p>
            <a:p>
              <a:pPr algn="r"/>
              <a:r>
                <a:rPr lang="en-US" sz="120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0.9</a:t>
              </a:r>
            </a:p>
            <a:p>
              <a:pPr algn="r"/>
              <a:r>
                <a:rPr lang="en-US" sz="120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-0.4</a:t>
              </a: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E0228C41-E4F5-3457-3120-D71E3C662939}"/>
                </a:ext>
              </a:extLst>
            </p:cNvPr>
            <p:cNvSpPr/>
            <p:nvPr/>
          </p:nvSpPr>
          <p:spPr>
            <a:xfrm>
              <a:off x="4531800" y="3058119"/>
              <a:ext cx="343289" cy="1783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64919986-8A35-A0DA-309D-F46AC152B1F8}"/>
                </a:ext>
              </a:extLst>
            </p:cNvPr>
            <p:cNvSpPr/>
            <p:nvPr/>
          </p:nvSpPr>
          <p:spPr>
            <a:xfrm>
              <a:off x="4531800" y="3953439"/>
              <a:ext cx="343289" cy="1783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42D67178-E095-B059-1DAE-C69BC08AB786}"/>
              </a:ext>
            </a:extLst>
          </p:cNvPr>
          <p:cNvGrpSpPr/>
          <p:nvPr/>
        </p:nvGrpSpPr>
        <p:grpSpPr>
          <a:xfrm>
            <a:off x="2287572" y="937578"/>
            <a:ext cx="468040" cy="1073646"/>
            <a:chOff x="4469425" y="3058119"/>
            <a:chExt cx="468040" cy="1073646"/>
          </a:xfrm>
        </p:grpSpPr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D96CA222-DF9A-6B76-C13A-72C35F906767}"/>
                </a:ext>
              </a:extLst>
            </p:cNvPr>
            <p:cNvSpPr txBox="1"/>
            <p:nvPr/>
          </p:nvSpPr>
          <p:spPr>
            <a:xfrm>
              <a:off x="4469425" y="3177459"/>
              <a:ext cx="468040" cy="83099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200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-0.6</a:t>
              </a:r>
            </a:p>
            <a:p>
              <a:pPr algn="r"/>
              <a:r>
                <a:rPr lang="en-US" sz="1200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0.8</a:t>
              </a:r>
            </a:p>
            <a:p>
              <a:pPr algn="r"/>
              <a:r>
                <a:rPr lang="en-US" sz="1200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1.1</a:t>
              </a:r>
            </a:p>
            <a:p>
              <a:pPr algn="r"/>
              <a:r>
                <a:rPr lang="en-US" sz="1200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-0.1</a:t>
              </a: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8AD56404-B0D4-FD93-290F-5CE1272A707A}"/>
                </a:ext>
              </a:extLst>
            </p:cNvPr>
            <p:cNvSpPr/>
            <p:nvPr/>
          </p:nvSpPr>
          <p:spPr>
            <a:xfrm>
              <a:off x="4531800" y="3058119"/>
              <a:ext cx="343289" cy="1783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640E4553-9EBE-1D22-56DE-760C5AE6EE25}"/>
                </a:ext>
              </a:extLst>
            </p:cNvPr>
            <p:cNvSpPr/>
            <p:nvPr/>
          </p:nvSpPr>
          <p:spPr>
            <a:xfrm>
              <a:off x="4531800" y="3953439"/>
              <a:ext cx="343289" cy="1783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7385F1A1-7E5A-9350-17CA-FA1A6F3D8D90}"/>
              </a:ext>
            </a:extLst>
          </p:cNvPr>
          <p:cNvGrpSpPr/>
          <p:nvPr/>
        </p:nvGrpSpPr>
        <p:grpSpPr>
          <a:xfrm>
            <a:off x="1543299" y="1959947"/>
            <a:ext cx="468040" cy="1073646"/>
            <a:chOff x="4469425" y="3058119"/>
            <a:chExt cx="468040" cy="1073646"/>
          </a:xfrm>
        </p:grpSpPr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E68EBA80-D293-9261-100E-30E5A988832D}"/>
                </a:ext>
              </a:extLst>
            </p:cNvPr>
            <p:cNvSpPr txBox="1"/>
            <p:nvPr/>
          </p:nvSpPr>
          <p:spPr>
            <a:xfrm>
              <a:off x="4469425" y="3177459"/>
              <a:ext cx="468040" cy="83099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200" dirty="0">
                  <a:solidFill>
                    <a:schemeClr val="accent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0.6</a:t>
              </a:r>
            </a:p>
            <a:p>
              <a:pPr algn="r"/>
              <a:r>
                <a:rPr lang="en-US" sz="1200" dirty="0">
                  <a:solidFill>
                    <a:schemeClr val="accent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-0.5</a:t>
              </a:r>
            </a:p>
            <a:p>
              <a:pPr algn="r"/>
              <a:r>
                <a:rPr lang="en-US" sz="1200" dirty="0">
                  <a:solidFill>
                    <a:schemeClr val="accent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0.2</a:t>
              </a:r>
            </a:p>
            <a:p>
              <a:pPr algn="r"/>
              <a:r>
                <a:rPr lang="en-US" sz="1200" dirty="0">
                  <a:solidFill>
                    <a:schemeClr val="accent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0.7</a:t>
              </a: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812FFDF3-818D-1E93-82BC-3FDF455B1D26}"/>
                </a:ext>
              </a:extLst>
            </p:cNvPr>
            <p:cNvSpPr/>
            <p:nvPr/>
          </p:nvSpPr>
          <p:spPr>
            <a:xfrm>
              <a:off x="4531800" y="3058119"/>
              <a:ext cx="343289" cy="1783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005DA8BB-BE6B-E497-AFCE-C32D26B99D6C}"/>
                </a:ext>
              </a:extLst>
            </p:cNvPr>
            <p:cNvSpPr/>
            <p:nvPr/>
          </p:nvSpPr>
          <p:spPr>
            <a:xfrm>
              <a:off x="4531800" y="3953439"/>
              <a:ext cx="343289" cy="1783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A1D52CEF-25AB-D13A-B73F-27316179F57F}"/>
              </a:ext>
            </a:extLst>
          </p:cNvPr>
          <p:cNvGrpSpPr/>
          <p:nvPr/>
        </p:nvGrpSpPr>
        <p:grpSpPr>
          <a:xfrm>
            <a:off x="2288172" y="1957962"/>
            <a:ext cx="468040" cy="1073646"/>
            <a:chOff x="4469425" y="3058119"/>
            <a:chExt cx="468040" cy="1073646"/>
          </a:xfrm>
        </p:grpSpPr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CA41BE56-2DD5-D019-555E-02B23F4921C4}"/>
                </a:ext>
              </a:extLst>
            </p:cNvPr>
            <p:cNvSpPr txBox="1"/>
            <p:nvPr/>
          </p:nvSpPr>
          <p:spPr>
            <a:xfrm>
              <a:off x="4469425" y="3177459"/>
              <a:ext cx="468040" cy="83099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200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-0.6</a:t>
              </a:r>
            </a:p>
            <a:p>
              <a:pPr algn="r"/>
              <a:r>
                <a:rPr lang="en-US" sz="1200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0.8</a:t>
              </a:r>
            </a:p>
            <a:p>
              <a:pPr algn="r"/>
              <a:r>
                <a:rPr lang="en-US" sz="1200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1.1</a:t>
              </a:r>
            </a:p>
            <a:p>
              <a:pPr algn="r"/>
              <a:r>
                <a:rPr lang="en-US" sz="1200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-0.1</a:t>
              </a:r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5161269B-E3E7-9785-6DC7-03C01DB92D78}"/>
                </a:ext>
              </a:extLst>
            </p:cNvPr>
            <p:cNvSpPr/>
            <p:nvPr/>
          </p:nvSpPr>
          <p:spPr>
            <a:xfrm>
              <a:off x="4531800" y="3058119"/>
              <a:ext cx="343289" cy="1783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57232AE1-9122-21BA-4DAB-BB694DAA160B}"/>
                </a:ext>
              </a:extLst>
            </p:cNvPr>
            <p:cNvSpPr/>
            <p:nvPr/>
          </p:nvSpPr>
          <p:spPr>
            <a:xfrm>
              <a:off x="4531800" y="3953439"/>
              <a:ext cx="343289" cy="1783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B144EDEE-802F-A169-8767-961ED0BC4C13}"/>
              </a:ext>
            </a:extLst>
          </p:cNvPr>
          <p:cNvSpPr txBox="1"/>
          <p:nvPr/>
        </p:nvSpPr>
        <p:spPr>
          <a:xfrm>
            <a:off x="2028101" y="1287750"/>
            <a:ext cx="2187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·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22370B5-2747-F596-E531-C1B6172BBA8F}"/>
              </a:ext>
            </a:extLst>
          </p:cNvPr>
          <p:cNvSpPr txBox="1"/>
          <p:nvPr/>
        </p:nvSpPr>
        <p:spPr>
          <a:xfrm>
            <a:off x="2028101" y="2307459"/>
            <a:ext cx="2187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·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AE06587-E131-9E24-D967-1CFF96440FF4}"/>
              </a:ext>
            </a:extLst>
          </p:cNvPr>
          <p:cNvSpPr txBox="1"/>
          <p:nvPr/>
        </p:nvSpPr>
        <p:spPr>
          <a:xfrm>
            <a:off x="2823112" y="1267189"/>
            <a:ext cx="46944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=  </a:t>
            </a:r>
            <a:r>
              <a:rPr lang="en-US" sz="1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(-0.2)</a:t>
            </a:r>
            <a:r>
              <a:rPr lang="en-US" sz="14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(-0.6)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n-US" sz="14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(1.4)</a:t>
            </a:r>
            <a:r>
              <a:rPr lang="en-US" sz="14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(0.8)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n-US" sz="14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(0.9)</a:t>
            </a:r>
            <a:r>
              <a:rPr lang="en-US" sz="14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(1.1)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n-US" sz="14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(-0.4)</a:t>
            </a:r>
            <a:r>
              <a:rPr lang="en-US" sz="14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(-0.1)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2.3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7919E6E-78AE-23A6-D1A3-2646F0467256}"/>
              </a:ext>
            </a:extLst>
          </p:cNvPr>
          <p:cNvSpPr txBox="1"/>
          <p:nvPr/>
        </p:nvSpPr>
        <p:spPr>
          <a:xfrm>
            <a:off x="2863236" y="2323615"/>
            <a:ext cx="47516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=  </a:t>
            </a:r>
            <a:r>
              <a:rPr lang="en-US" sz="1400" b="1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(0.6)</a:t>
            </a:r>
            <a:r>
              <a:rPr lang="en-US" sz="14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(-0.6)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n-US" sz="14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(-0.5)</a:t>
            </a:r>
            <a:r>
              <a:rPr lang="en-US" sz="14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(0.8) </a:t>
            </a:r>
            <a:r>
              <a:rPr lang="en-US" sz="14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n-US" sz="14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(0.2)</a:t>
            </a:r>
            <a:r>
              <a:rPr lang="en-US" sz="14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(1.1)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n-US" sz="14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(0.7)</a:t>
            </a:r>
            <a:r>
              <a:rPr lang="en-US" sz="14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(-0.1)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= -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0.6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5A97227-D53D-277B-CD2A-B924D28A54DB}"/>
              </a:ext>
            </a:extLst>
          </p:cNvPr>
          <p:cNvGrpSpPr/>
          <p:nvPr/>
        </p:nvGrpSpPr>
        <p:grpSpPr>
          <a:xfrm>
            <a:off x="-3757" y="3112491"/>
            <a:ext cx="2619492" cy="1905290"/>
            <a:chOff x="6248939" y="1147100"/>
            <a:chExt cx="2619492" cy="1905290"/>
          </a:xfrm>
        </p:grpSpPr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E0EE950D-B54E-F1D9-D502-65455706DA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69307" y="1663963"/>
              <a:ext cx="935998" cy="385446"/>
            </a:xfrm>
            <a:prstGeom prst="straightConnector1">
              <a:avLst/>
            </a:prstGeom>
            <a:ln w="19050"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CE55297F-1F18-612B-0CF2-0B86289884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69907" y="1147100"/>
              <a:ext cx="0" cy="1905290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64B56116-8016-2DBD-F45B-B16C96FE3FF8}"/>
                </a:ext>
              </a:extLst>
            </p:cNvPr>
            <p:cNvCxnSpPr>
              <a:cxnSpLocks/>
            </p:cNvCxnSpPr>
            <p:nvPr/>
          </p:nvCxnSpPr>
          <p:spPr>
            <a:xfrm>
              <a:off x="6248939" y="2038647"/>
              <a:ext cx="210793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F7723E6-432C-CE31-EC6A-B7E1241BB72B}"/>
                </a:ext>
              </a:extLst>
            </p:cNvPr>
            <p:cNvSpPr txBox="1"/>
            <p:nvPr/>
          </p:nvSpPr>
          <p:spPr>
            <a:xfrm>
              <a:off x="8077881" y="1487864"/>
              <a:ext cx="7905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delicious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F737790-76A7-5C20-1FA0-20BAB34EC1CC}"/>
                </a:ext>
              </a:extLst>
            </p:cNvPr>
            <p:cNvSpPr txBox="1"/>
            <p:nvPr/>
          </p:nvSpPr>
          <p:spPr>
            <a:xfrm>
              <a:off x="7231683" y="1421078"/>
              <a:ext cx="6551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course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1D3A196-CC03-B4F2-210C-22ED67D65DA4}"/>
                </a:ext>
              </a:extLst>
            </p:cNvPr>
            <p:cNvSpPr txBox="1"/>
            <p:nvPr/>
          </p:nvSpPr>
          <p:spPr>
            <a:xfrm>
              <a:off x="7279645" y="2523216"/>
              <a:ext cx="6551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accent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truly</a:t>
              </a:r>
            </a:p>
          </p:txBody>
        </p:sp>
        <p:sp>
          <p:nvSpPr>
            <p:cNvPr id="29" name="Pie 28">
              <a:extLst>
                <a:ext uri="{FF2B5EF4-FFF2-40B4-BE49-F238E27FC236}">
                  <a16:creationId xmlns:a16="http://schemas.microsoft.com/office/drawing/2014/main" id="{7030541B-98AD-50E1-1695-5830D1A26F86}"/>
                </a:ext>
              </a:extLst>
            </p:cNvPr>
            <p:cNvSpPr/>
            <p:nvPr/>
          </p:nvSpPr>
          <p:spPr>
            <a:xfrm rot="12815273">
              <a:off x="6977097" y="1842124"/>
              <a:ext cx="400050" cy="400050"/>
            </a:xfrm>
            <a:prstGeom prst="pie">
              <a:avLst>
                <a:gd name="adj1" fmla="val 6290936"/>
                <a:gd name="adj2" fmla="val 12360864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C127338B-5B52-B739-A02A-519042B24C89}"/>
                </a:ext>
              </a:extLst>
            </p:cNvPr>
            <p:cNvCxnSpPr>
              <a:cxnSpLocks/>
              <a:endCxn id="14" idx="2"/>
            </p:cNvCxnSpPr>
            <p:nvPr/>
          </p:nvCxnSpPr>
          <p:spPr>
            <a:xfrm flipV="1">
              <a:off x="7180625" y="1698077"/>
              <a:ext cx="378643" cy="342981"/>
            </a:xfrm>
            <a:prstGeom prst="straightConnector1">
              <a:avLst/>
            </a:prstGeom>
            <a:ln w="19050">
              <a:solidFill>
                <a:schemeClr val="accent2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A253EE80-2F23-5B7E-2F43-D3F90CCE7E27}"/>
                </a:ext>
              </a:extLst>
            </p:cNvPr>
            <p:cNvCxnSpPr>
              <a:cxnSpLocks/>
            </p:cNvCxnSpPr>
            <p:nvPr/>
          </p:nvCxnSpPr>
          <p:spPr>
            <a:xfrm>
              <a:off x="7170288" y="2035061"/>
              <a:ext cx="278468" cy="477394"/>
            </a:xfrm>
            <a:prstGeom prst="straightConnector1">
              <a:avLst/>
            </a:prstGeom>
            <a:ln w="19050">
              <a:solidFill>
                <a:schemeClr val="accent6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AC9B69E-40B9-D1E1-2300-CABAD83C5A45}"/>
                </a:ext>
              </a:extLst>
            </p:cNvPr>
            <p:cNvSpPr txBox="1"/>
            <p:nvPr/>
          </p:nvSpPr>
          <p:spPr>
            <a:xfrm>
              <a:off x="7336876" y="2010617"/>
              <a:ext cx="5362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𝜃°</a:t>
              </a: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24B089FC-5DC5-1285-A59D-C2B01A36B1D0}"/>
              </a:ext>
            </a:extLst>
          </p:cNvPr>
          <p:cNvSpPr txBox="1"/>
          <p:nvPr/>
        </p:nvSpPr>
        <p:spPr>
          <a:xfrm>
            <a:off x="150458" y="1080776"/>
            <a:ext cx="904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delicious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F47D20B-972C-DC4E-94BB-626F61594CB5}"/>
              </a:ext>
            </a:extLst>
          </p:cNvPr>
          <p:cNvSpPr txBox="1"/>
          <p:nvPr/>
        </p:nvSpPr>
        <p:spPr>
          <a:xfrm>
            <a:off x="391459" y="2185115"/>
            <a:ext cx="6551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truly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1A8A088-007D-24FD-945A-4BD5CEFDBFE2}"/>
              </a:ext>
            </a:extLst>
          </p:cNvPr>
          <p:cNvSpPr txBox="1"/>
          <p:nvPr/>
        </p:nvSpPr>
        <p:spPr>
          <a:xfrm>
            <a:off x="792537" y="1077942"/>
            <a:ext cx="6551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course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13433F1-8872-EC86-EA9F-ABE6EB27D6B2}"/>
              </a:ext>
            </a:extLst>
          </p:cNvPr>
          <p:cNvSpPr txBox="1"/>
          <p:nvPr/>
        </p:nvSpPr>
        <p:spPr>
          <a:xfrm>
            <a:off x="803452" y="2178187"/>
            <a:ext cx="6551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course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B30598-3F32-7D7F-02E7-C188007C0197}"/>
              </a:ext>
            </a:extLst>
          </p:cNvPr>
          <p:cNvSpPr txBox="1"/>
          <p:nvPr/>
        </p:nvSpPr>
        <p:spPr>
          <a:xfrm>
            <a:off x="6983924" y="1626125"/>
            <a:ext cx="19625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Larger dot product means 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course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will attend more to 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delicious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than 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truly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3FEB63-8549-9CB4-6805-68D659423E7F}"/>
              </a:ext>
            </a:extLst>
          </p:cNvPr>
          <p:cNvSpPr txBox="1"/>
          <p:nvPr/>
        </p:nvSpPr>
        <p:spPr>
          <a:xfrm>
            <a:off x="3413338" y="3422010"/>
            <a:ext cx="47516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After calculating all pairs of dot products, we run them through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softmax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to get positive weights that add up to 1.</a:t>
            </a:r>
          </a:p>
        </p:txBody>
      </p:sp>
    </p:spTree>
    <p:extLst>
      <p:ext uri="{BB962C8B-B14F-4D97-AF65-F5344CB8AC3E}">
        <p14:creationId xmlns:p14="http://schemas.microsoft.com/office/powerpoint/2010/main" val="15571754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75E22-34A9-253D-97BA-3DE5F17AF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2980CBF-A6CC-FDA5-FA84-749CBB0D3D5A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5AA3AFE-19CA-F8AB-FD14-E671A5650837}"/>
              </a:ext>
            </a:extLst>
          </p:cNvPr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581395B5-BC88-3D64-0F9B-A7524596CEA7}"/>
              </a:ext>
            </a:extLst>
          </p:cNvPr>
          <p:cNvSpPr/>
          <p:nvPr/>
        </p:nvSpPr>
        <p:spPr>
          <a:xfrm>
            <a:off x="1954636" y="1862356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70D747B0-89EB-8DE9-8703-BE691D82B07D}"/>
              </a:ext>
            </a:extLst>
          </p:cNvPr>
          <p:cNvSpPr/>
          <p:nvPr/>
        </p:nvSpPr>
        <p:spPr>
          <a:xfrm>
            <a:off x="1954636" y="2030136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7B49D016-8D08-7C63-D023-8609FCF01000}"/>
              </a:ext>
            </a:extLst>
          </p:cNvPr>
          <p:cNvSpPr/>
          <p:nvPr/>
        </p:nvSpPr>
        <p:spPr>
          <a:xfrm>
            <a:off x="1954636" y="2197916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021F36A8-8793-8C0A-514E-32FB6316FB66}"/>
              </a:ext>
            </a:extLst>
          </p:cNvPr>
          <p:cNvSpPr/>
          <p:nvPr/>
        </p:nvSpPr>
        <p:spPr>
          <a:xfrm>
            <a:off x="1954636" y="2365696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15528F81-0EC9-9289-142F-5644C417EE8B}"/>
              </a:ext>
            </a:extLst>
          </p:cNvPr>
          <p:cNvSpPr/>
          <p:nvPr/>
        </p:nvSpPr>
        <p:spPr>
          <a:xfrm>
            <a:off x="2769767" y="1862356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4AD54AD0-81F7-1C47-4022-5D25099C1DCC}"/>
              </a:ext>
            </a:extLst>
          </p:cNvPr>
          <p:cNvSpPr/>
          <p:nvPr/>
        </p:nvSpPr>
        <p:spPr>
          <a:xfrm>
            <a:off x="2769767" y="2030136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2957A71F-CC04-E858-71F0-9EA307F3A25F}"/>
              </a:ext>
            </a:extLst>
          </p:cNvPr>
          <p:cNvSpPr/>
          <p:nvPr/>
        </p:nvSpPr>
        <p:spPr>
          <a:xfrm>
            <a:off x="2769767" y="2197916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0A2C7824-16B7-35A8-3231-D264D01C341A}"/>
              </a:ext>
            </a:extLst>
          </p:cNvPr>
          <p:cNvSpPr/>
          <p:nvPr/>
        </p:nvSpPr>
        <p:spPr>
          <a:xfrm>
            <a:off x="2769767" y="2365696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FE874FC3-2626-DEE5-6C09-5FB08F892A45}"/>
              </a:ext>
            </a:extLst>
          </p:cNvPr>
          <p:cNvSpPr/>
          <p:nvPr/>
        </p:nvSpPr>
        <p:spPr>
          <a:xfrm>
            <a:off x="3584898" y="1879134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2173DBF4-05BD-2107-07DF-E666960AA7B2}"/>
              </a:ext>
            </a:extLst>
          </p:cNvPr>
          <p:cNvSpPr/>
          <p:nvPr/>
        </p:nvSpPr>
        <p:spPr>
          <a:xfrm>
            <a:off x="3584898" y="2046914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5B7EDD98-53FC-D3C1-3FE8-DD91466CF415}"/>
              </a:ext>
            </a:extLst>
          </p:cNvPr>
          <p:cNvSpPr/>
          <p:nvPr/>
        </p:nvSpPr>
        <p:spPr>
          <a:xfrm>
            <a:off x="3584898" y="2214694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FD8910F7-3633-FEBE-1AAD-575B5F456A80}"/>
              </a:ext>
            </a:extLst>
          </p:cNvPr>
          <p:cNvSpPr/>
          <p:nvPr/>
        </p:nvSpPr>
        <p:spPr>
          <a:xfrm>
            <a:off x="3584898" y="2382474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167E9D56-980C-5561-2FE8-30BB84FCD4B2}"/>
              </a:ext>
            </a:extLst>
          </p:cNvPr>
          <p:cNvSpPr/>
          <p:nvPr/>
        </p:nvSpPr>
        <p:spPr>
          <a:xfrm>
            <a:off x="4400029" y="1879134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F0ABBBA6-F7BD-91B5-23D2-C36A9DE55250}"/>
              </a:ext>
            </a:extLst>
          </p:cNvPr>
          <p:cNvSpPr/>
          <p:nvPr/>
        </p:nvSpPr>
        <p:spPr>
          <a:xfrm>
            <a:off x="4400029" y="2046914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BF1FBEF1-08A8-3845-1FB3-012FAADAEE60}"/>
              </a:ext>
            </a:extLst>
          </p:cNvPr>
          <p:cNvSpPr/>
          <p:nvPr/>
        </p:nvSpPr>
        <p:spPr>
          <a:xfrm>
            <a:off x="4400029" y="2214694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6D6CB73B-37FF-EF6C-3396-2D65FCD5BBCE}"/>
              </a:ext>
            </a:extLst>
          </p:cNvPr>
          <p:cNvSpPr/>
          <p:nvPr/>
        </p:nvSpPr>
        <p:spPr>
          <a:xfrm>
            <a:off x="4400029" y="2382474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19517797-7C30-1849-5114-E9D4D0D69319}"/>
              </a:ext>
            </a:extLst>
          </p:cNvPr>
          <p:cNvSpPr/>
          <p:nvPr/>
        </p:nvSpPr>
        <p:spPr>
          <a:xfrm>
            <a:off x="5215160" y="1862356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D3CE54C5-357A-D1C9-C84E-E83915501F3C}"/>
              </a:ext>
            </a:extLst>
          </p:cNvPr>
          <p:cNvSpPr/>
          <p:nvPr/>
        </p:nvSpPr>
        <p:spPr>
          <a:xfrm>
            <a:off x="5215160" y="2030136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EEA35255-50FE-0220-1B3C-8467391DBA57}"/>
              </a:ext>
            </a:extLst>
          </p:cNvPr>
          <p:cNvSpPr/>
          <p:nvPr/>
        </p:nvSpPr>
        <p:spPr>
          <a:xfrm>
            <a:off x="5215160" y="2197916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69C7922B-324D-BA13-7802-32F1316D974E}"/>
              </a:ext>
            </a:extLst>
          </p:cNvPr>
          <p:cNvSpPr/>
          <p:nvPr/>
        </p:nvSpPr>
        <p:spPr>
          <a:xfrm>
            <a:off x="5215160" y="2365696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127DE557-DBD7-0B16-32A0-B922A96CFE99}"/>
              </a:ext>
            </a:extLst>
          </p:cNvPr>
          <p:cNvSpPr/>
          <p:nvPr/>
        </p:nvSpPr>
        <p:spPr>
          <a:xfrm>
            <a:off x="6030291" y="1862356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EC8FB609-5803-BF1D-5D3E-DB9087175136}"/>
              </a:ext>
            </a:extLst>
          </p:cNvPr>
          <p:cNvSpPr/>
          <p:nvPr/>
        </p:nvSpPr>
        <p:spPr>
          <a:xfrm>
            <a:off x="6030291" y="2030136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28B6875C-5E23-A7B9-F128-B1DC107BB497}"/>
              </a:ext>
            </a:extLst>
          </p:cNvPr>
          <p:cNvSpPr/>
          <p:nvPr/>
        </p:nvSpPr>
        <p:spPr>
          <a:xfrm>
            <a:off x="6030291" y="2197916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1959E48B-2EAE-F4D8-BE35-CE0E7D28484F}"/>
              </a:ext>
            </a:extLst>
          </p:cNvPr>
          <p:cNvSpPr/>
          <p:nvPr/>
        </p:nvSpPr>
        <p:spPr>
          <a:xfrm>
            <a:off x="6030291" y="2365696"/>
            <a:ext cx="140214" cy="151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DCFC545-E7C3-2556-0802-FDFD5FAE93C8}"/>
              </a:ext>
            </a:extLst>
          </p:cNvPr>
          <p:cNvGrpSpPr/>
          <p:nvPr/>
        </p:nvGrpSpPr>
        <p:grpSpPr>
          <a:xfrm>
            <a:off x="7480549" y="1862356"/>
            <a:ext cx="140214" cy="654340"/>
            <a:chOff x="6862199" y="2594826"/>
            <a:chExt cx="140214" cy="654340"/>
          </a:xfrm>
          <a:solidFill>
            <a:srgbClr val="7030A0"/>
          </a:solidFill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891A750F-CB44-B352-6D4D-4D3D3EAB00DB}"/>
                </a:ext>
              </a:extLst>
            </p:cNvPr>
            <p:cNvSpPr/>
            <p:nvPr/>
          </p:nvSpPr>
          <p:spPr>
            <a:xfrm>
              <a:off x="6862199" y="2594826"/>
              <a:ext cx="140214" cy="151000"/>
            </a:xfrm>
            <a:prstGeom prst="roundRect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A97C551D-8614-4397-FD18-EFA7F7B1AB4E}"/>
                </a:ext>
              </a:extLst>
            </p:cNvPr>
            <p:cNvSpPr/>
            <p:nvPr/>
          </p:nvSpPr>
          <p:spPr>
            <a:xfrm>
              <a:off x="6862199" y="2762606"/>
              <a:ext cx="140214" cy="151000"/>
            </a:xfrm>
            <a:prstGeom prst="roundRect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6C6980B3-E690-09FE-7B35-E0DD7E4FA3B2}"/>
                </a:ext>
              </a:extLst>
            </p:cNvPr>
            <p:cNvSpPr/>
            <p:nvPr/>
          </p:nvSpPr>
          <p:spPr>
            <a:xfrm>
              <a:off x="6862199" y="2930386"/>
              <a:ext cx="140214" cy="151000"/>
            </a:xfrm>
            <a:prstGeom prst="roundRect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D62739B3-F0BA-8F22-AA26-86C30065798C}"/>
                </a:ext>
              </a:extLst>
            </p:cNvPr>
            <p:cNvSpPr/>
            <p:nvPr/>
          </p:nvSpPr>
          <p:spPr>
            <a:xfrm>
              <a:off x="6862199" y="3098166"/>
              <a:ext cx="140214" cy="151000"/>
            </a:xfrm>
            <a:prstGeom prst="roundRect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9" name="Text 1">
            <a:extLst>
              <a:ext uri="{FF2B5EF4-FFF2-40B4-BE49-F238E27FC236}">
                <a16:creationId xmlns:a16="http://schemas.microsoft.com/office/drawing/2014/main" id="{75AF0160-0BEF-5769-C363-6A1CCF7F1FF4}"/>
              </a:ext>
            </a:extLst>
          </p:cNvPr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Attention Weights</a:t>
            </a:r>
            <a:endParaRPr lang="en-US" sz="28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546C3AE-6F17-76CB-830B-260188A90217}"/>
              </a:ext>
            </a:extLst>
          </p:cNvPr>
          <p:cNvSpPr txBox="1"/>
          <p:nvPr/>
        </p:nvSpPr>
        <p:spPr>
          <a:xfrm>
            <a:off x="2163833" y="1910929"/>
            <a:ext cx="307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3C466C2-56E5-67D9-E9EF-CC7BB4895A83}"/>
              </a:ext>
            </a:extLst>
          </p:cNvPr>
          <p:cNvSpPr txBox="1"/>
          <p:nvPr/>
        </p:nvSpPr>
        <p:spPr>
          <a:xfrm>
            <a:off x="2962323" y="1918073"/>
            <a:ext cx="284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BF3C003-E2BC-722C-7B8C-AF93CC5E1A63}"/>
              </a:ext>
            </a:extLst>
          </p:cNvPr>
          <p:cNvSpPr txBox="1"/>
          <p:nvPr/>
        </p:nvSpPr>
        <p:spPr>
          <a:xfrm>
            <a:off x="3774281" y="1912911"/>
            <a:ext cx="284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7B7DB66-F201-1F0C-0257-AA78BAE21D45}"/>
              </a:ext>
            </a:extLst>
          </p:cNvPr>
          <p:cNvSpPr txBox="1"/>
          <p:nvPr/>
        </p:nvSpPr>
        <p:spPr>
          <a:xfrm>
            <a:off x="4595808" y="1915003"/>
            <a:ext cx="267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697F51A-5069-7F4D-2DFE-B838A7BBCB63}"/>
              </a:ext>
            </a:extLst>
          </p:cNvPr>
          <p:cNvSpPr txBox="1"/>
          <p:nvPr/>
        </p:nvSpPr>
        <p:spPr>
          <a:xfrm>
            <a:off x="5464458" y="1920862"/>
            <a:ext cx="267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2B4683E-9A9A-B495-D473-927091E18C3A}"/>
              </a:ext>
            </a:extLst>
          </p:cNvPr>
          <p:cNvSpPr txBox="1"/>
          <p:nvPr/>
        </p:nvSpPr>
        <p:spPr>
          <a:xfrm>
            <a:off x="6606108" y="1904084"/>
            <a:ext cx="609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=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50904D-E107-0E42-01A5-1D72CFC89C84}"/>
              </a:ext>
            </a:extLst>
          </p:cNvPr>
          <p:cNvSpPr txBox="1"/>
          <p:nvPr/>
        </p:nvSpPr>
        <p:spPr>
          <a:xfrm>
            <a:off x="1872230" y="1466155"/>
            <a:ext cx="822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baseline="-250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89D75FA-AED6-6B33-66D5-10365B654D12}"/>
              </a:ext>
            </a:extLst>
          </p:cNvPr>
          <p:cNvSpPr txBox="1"/>
          <p:nvPr/>
        </p:nvSpPr>
        <p:spPr>
          <a:xfrm>
            <a:off x="2668507" y="1466155"/>
            <a:ext cx="822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baseline="-250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BB957A2-87E2-43F7-A2E5-EF300B6C0E0B}"/>
              </a:ext>
            </a:extLst>
          </p:cNvPr>
          <p:cNvSpPr txBox="1"/>
          <p:nvPr/>
        </p:nvSpPr>
        <p:spPr>
          <a:xfrm>
            <a:off x="3483638" y="1459931"/>
            <a:ext cx="822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baseline="-250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CCE20D7-1571-2ACC-CB85-0957F9537291}"/>
              </a:ext>
            </a:extLst>
          </p:cNvPr>
          <p:cNvSpPr txBox="1"/>
          <p:nvPr/>
        </p:nvSpPr>
        <p:spPr>
          <a:xfrm>
            <a:off x="4310633" y="1459235"/>
            <a:ext cx="822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baseline="-250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A39F185-3F6D-730E-6EB9-119EEC6F7561}"/>
              </a:ext>
            </a:extLst>
          </p:cNvPr>
          <p:cNvSpPr txBox="1"/>
          <p:nvPr/>
        </p:nvSpPr>
        <p:spPr>
          <a:xfrm>
            <a:off x="5111784" y="1444484"/>
            <a:ext cx="822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baseline="-250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252D616-00CF-A58C-3517-667088E87FEF}"/>
              </a:ext>
            </a:extLst>
          </p:cNvPr>
          <p:cNvSpPr txBox="1"/>
          <p:nvPr/>
        </p:nvSpPr>
        <p:spPr>
          <a:xfrm>
            <a:off x="5912935" y="1437965"/>
            <a:ext cx="822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baseline="-250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6A2E9D4-B585-0FF8-C51D-CF84617A0637}"/>
              </a:ext>
            </a:extLst>
          </p:cNvPr>
          <p:cNvSpPr txBox="1"/>
          <p:nvPr/>
        </p:nvSpPr>
        <p:spPr>
          <a:xfrm>
            <a:off x="1553749" y="1955132"/>
            <a:ext cx="4847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n-US" sz="1100" baseline="-250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6,1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DA1ED89-9ADF-22FF-2FFB-6B00AEAE5C16}"/>
              </a:ext>
            </a:extLst>
          </p:cNvPr>
          <p:cNvSpPr txBox="1"/>
          <p:nvPr/>
        </p:nvSpPr>
        <p:spPr>
          <a:xfrm>
            <a:off x="2359557" y="1963314"/>
            <a:ext cx="48124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n-US" sz="1100" baseline="-250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6,2</a:t>
            </a:r>
          </a:p>
          <a:p>
            <a:endParaRPr lang="en-US" sz="11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1C992D7-E2B7-5B61-440E-DFD262EE4241}"/>
              </a:ext>
            </a:extLst>
          </p:cNvPr>
          <p:cNvSpPr txBox="1"/>
          <p:nvPr/>
        </p:nvSpPr>
        <p:spPr>
          <a:xfrm>
            <a:off x="3179316" y="1971703"/>
            <a:ext cx="50570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n-US" sz="1100" baseline="-250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6,3</a:t>
            </a:r>
          </a:p>
          <a:p>
            <a:endParaRPr lang="en-US" sz="11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4CDF36A-D280-C485-F15A-54A9C35F8D05}"/>
              </a:ext>
            </a:extLst>
          </p:cNvPr>
          <p:cNvSpPr txBox="1"/>
          <p:nvPr/>
        </p:nvSpPr>
        <p:spPr>
          <a:xfrm>
            <a:off x="3987955" y="1957415"/>
            <a:ext cx="5057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n-US" sz="1100" baseline="-250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6,4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C508C86-04FD-7D40-F1A2-36B1CA4A08A1}"/>
              </a:ext>
            </a:extLst>
          </p:cNvPr>
          <p:cNvSpPr txBox="1"/>
          <p:nvPr/>
        </p:nvSpPr>
        <p:spPr>
          <a:xfrm>
            <a:off x="4800399" y="1950558"/>
            <a:ext cx="50570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n-US" sz="1100" baseline="-250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6,5</a:t>
            </a:r>
          </a:p>
          <a:p>
            <a:endParaRPr lang="en-US" sz="11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C930E0D-F240-7F65-79EE-01ED8882A1D6}"/>
              </a:ext>
            </a:extLst>
          </p:cNvPr>
          <p:cNvSpPr txBox="1"/>
          <p:nvPr/>
        </p:nvSpPr>
        <p:spPr>
          <a:xfrm>
            <a:off x="5642586" y="1957723"/>
            <a:ext cx="5057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n-US" sz="1100" baseline="-250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6,6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FD771CC-B025-5864-3A53-B6CB01DE610B}"/>
              </a:ext>
            </a:extLst>
          </p:cNvPr>
          <p:cNvSpPr txBox="1"/>
          <p:nvPr/>
        </p:nvSpPr>
        <p:spPr>
          <a:xfrm>
            <a:off x="7382659" y="1430746"/>
            <a:ext cx="622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x̂</a:t>
            </a:r>
            <a:r>
              <a:rPr lang="en-US" baseline="-250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E671A91-CB32-BDE1-6EB5-99A9E0E19B17}"/>
                  </a:ext>
                </a:extLst>
              </p:cNvPr>
              <p:cNvSpPr txBox="1"/>
              <p:nvPr/>
            </p:nvSpPr>
            <p:spPr>
              <a:xfrm>
                <a:off x="3147082" y="3450319"/>
                <a:ext cx="486607" cy="1923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200" b="0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200" b="0" i="1" baseline="-25000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200" b="0" i="1" baseline="-25000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.  </m:t>
                          </m:r>
                          <m:r>
                            <a:rPr lang="en-US" sz="1200" b="0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200" b="0" i="1" baseline="-25000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E671A91-CB32-BDE1-6EB5-99A9E0E19B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7082" y="3450319"/>
                <a:ext cx="486607" cy="192360"/>
              </a:xfrm>
              <a:prstGeom prst="rect">
                <a:avLst/>
              </a:prstGeom>
              <a:blipFill>
                <a:blip r:embed="rId3"/>
                <a:stretch>
                  <a:fillRect l="-2500" r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668C634-FE1E-DE5D-143C-5810DDB43289}"/>
                  </a:ext>
                </a:extLst>
              </p:cNvPr>
              <p:cNvSpPr txBox="1"/>
              <p:nvPr/>
            </p:nvSpPr>
            <p:spPr>
              <a:xfrm>
                <a:off x="1218449" y="3714207"/>
                <a:ext cx="4393767" cy="1923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200" b="0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200" b="0" i="1" baseline="-25000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1 </m:t>
                          </m:r>
                          <m:r>
                            <a:rPr lang="en-US" sz="1200" b="0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.  </m:t>
                          </m:r>
                          <m:r>
                            <a:rPr lang="en-US" sz="1200" b="0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200" b="0" i="1" baseline="-25000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200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200" b="0" i="1" baseline="-25000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200" i="1" baseline="-2500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200" i="1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.  </m:t>
                          </m:r>
                          <m:r>
                            <a:rPr lang="en-US" sz="1200" i="1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200" b="0" i="1" baseline="-25000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200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200" b="0" i="1" baseline="-25000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200" i="1" baseline="-2500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200" i="1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.  </m:t>
                          </m:r>
                          <m:r>
                            <a:rPr lang="en-US" sz="1200" i="1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200" b="0" i="1" baseline="-25000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200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200" b="0" i="1" baseline="-25000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1200" i="1" baseline="-2500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200" i="1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.  </m:t>
                          </m:r>
                          <m:r>
                            <a:rPr lang="en-US" sz="1200" i="1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200" b="0" i="1" baseline="-25000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200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200" b="0" i="1" baseline="-25000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1200" i="1" baseline="-2500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200" i="1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.  </m:t>
                          </m:r>
                          <m:r>
                            <a:rPr lang="en-US" sz="1200" i="1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200" b="0" i="1" baseline="-25000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200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200" b="0" i="1" baseline="-25000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sz="1200" i="1" baseline="-2500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200" i="1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.  </m:t>
                          </m:r>
                          <m:r>
                            <a:rPr lang="en-US" sz="1200" i="1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200" b="0" i="1" baseline="-25000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sz="12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200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200" b="0" i="1" baseline="-25000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sz="1200" i="1" baseline="-2500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200" i="1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.  </m:t>
                          </m:r>
                          <m:r>
                            <a:rPr lang="en-US" sz="1200" i="1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200" b="0" i="1" baseline="-25000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668C634-FE1E-DE5D-143C-5810DDB432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8449" y="3714207"/>
                <a:ext cx="4393767" cy="192360"/>
              </a:xfrm>
              <a:prstGeom prst="rect">
                <a:avLst/>
              </a:prstGeom>
              <a:blipFill>
                <a:blip r:embed="rId4"/>
                <a:stretch>
                  <a:fillRect l="-288" t="-12500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379E955-59FD-CCCB-7B4F-C8A39CE4C83F}"/>
              </a:ext>
            </a:extLst>
          </p:cNvPr>
          <p:cNvCxnSpPr>
            <a:cxnSpLocks/>
          </p:cNvCxnSpPr>
          <p:nvPr/>
        </p:nvCxnSpPr>
        <p:spPr>
          <a:xfrm>
            <a:off x="1249555" y="3642679"/>
            <a:ext cx="436266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DE76614-E7C5-C31A-4593-CE2BED3CE7EE}"/>
                  </a:ext>
                </a:extLst>
              </p:cNvPr>
              <p:cNvSpPr txBox="1"/>
              <p:nvPr/>
            </p:nvSpPr>
            <p:spPr>
              <a:xfrm>
                <a:off x="519777" y="3441055"/>
                <a:ext cx="867951" cy="3815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3,</m:t>
                        </m:r>
                        <m:r>
                          <a:rPr lang="en-US" b="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baseline="-25000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aseline="-25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DE76614-E7C5-C31A-4593-CE2BED3CE7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777" y="3441055"/>
                <a:ext cx="867951" cy="381515"/>
              </a:xfrm>
              <a:prstGeom prst="rect">
                <a:avLst/>
              </a:prstGeom>
              <a:blipFill>
                <a:blip r:embed="rId5"/>
                <a:stretch>
                  <a:fillRect t="-6452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1E0E1F74-4D54-1407-B504-7D69EC0FF428}"/>
              </a:ext>
            </a:extLst>
          </p:cNvPr>
          <p:cNvSpPr txBox="1"/>
          <p:nvPr/>
        </p:nvSpPr>
        <p:spPr>
          <a:xfrm>
            <a:off x="5676587" y="3490360"/>
            <a:ext cx="3412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=  “the attention token 3 pays to token </a:t>
            </a:r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E2660A5D-0706-20F0-BFC6-BB64D9FB6DCD}"/>
                  </a:ext>
                </a:extLst>
              </p:cNvPr>
              <p:cNvSpPr txBox="1"/>
              <p:nvPr/>
            </p:nvSpPr>
            <p:spPr>
              <a:xfrm>
                <a:off x="658338" y="4484845"/>
                <a:ext cx="7409291" cy="3815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baseline="-25000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e>
                    </m:acc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 dirty="0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i="1" dirty="0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i="1" dirty="0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b>
                    </m:sSub>
                    <m:sSub>
                      <m:sSubPr>
                        <m:ctrlPr>
                          <a:rPr lang="en-US" i="1" dirty="0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sub>
                    </m:sSub>
                    <m:sSub>
                      <m:sSubPr>
                        <m:ctrlPr>
                          <a:rPr lang="en-US" i="1" dirty="0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sub>
                    </m:sSub>
                    <m:sSub>
                      <m:sSubPr>
                        <m:ctrlPr>
                          <a:rPr lang="en-US" i="1" dirty="0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E2660A5D-0706-20F0-BFC6-BB64D9FB6D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338" y="4484845"/>
                <a:ext cx="7409291" cy="381515"/>
              </a:xfrm>
              <a:prstGeom prst="rect">
                <a:avLst/>
              </a:prstGeom>
              <a:blipFill>
                <a:blip r:embed="rId6"/>
                <a:stretch>
                  <a:fillRect t="-9677" b="-19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TextBox 46">
            <a:extLst>
              <a:ext uri="{FF2B5EF4-FFF2-40B4-BE49-F238E27FC236}">
                <a16:creationId xmlns:a16="http://schemas.microsoft.com/office/drawing/2014/main" id="{98915358-0D4F-DBE8-5C5C-2C8B34B5AE18}"/>
              </a:ext>
            </a:extLst>
          </p:cNvPr>
          <p:cNvSpPr txBox="1"/>
          <p:nvPr/>
        </p:nvSpPr>
        <p:spPr>
          <a:xfrm>
            <a:off x="457200" y="2865683"/>
            <a:ext cx="74999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Every token embedding is re-weighted based on the attention it pay to all other tokens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D607DD3-8D2B-997B-FBCD-BBA289C9ED02}"/>
              </a:ext>
            </a:extLst>
          </p:cNvPr>
          <p:cNvSpPr txBox="1"/>
          <p:nvPr/>
        </p:nvSpPr>
        <p:spPr>
          <a:xfrm>
            <a:off x="1833524" y="1167065"/>
            <a:ext cx="58848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the       main     course     was       truly     delicious</a:t>
            </a:r>
          </a:p>
        </p:txBody>
      </p:sp>
    </p:spTree>
    <p:extLst>
      <p:ext uri="{BB962C8B-B14F-4D97-AF65-F5344CB8AC3E}">
        <p14:creationId xmlns:p14="http://schemas.microsoft.com/office/powerpoint/2010/main" val="3368710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9" grpId="0"/>
      <p:bldP spid="20" grpId="0"/>
      <p:bldP spid="4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58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34AE92-70FC-F173-F3F2-37C0C79A7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AE225F05-667E-3192-DE05-71C10FCC1594}"/>
              </a:ext>
            </a:extLst>
          </p:cNvPr>
          <p:cNvSpPr/>
          <p:nvPr/>
        </p:nvSpPr>
        <p:spPr>
          <a:xfrm rot="20158012">
            <a:off x="325465" y="1503335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8BB8E8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15-min Break</a:t>
            </a:r>
            <a:endParaRPr lang="en-US" sz="8000" dirty="0">
              <a:solidFill>
                <a:srgbClr val="8BB8E8"/>
              </a:solidFill>
            </a:endParaRPr>
          </a:p>
        </p:txBody>
      </p:sp>
      <p:pic>
        <p:nvPicPr>
          <p:cNvPr id="4" name="Picture 3" descr="Sleepy Robot 3D Icons - Free Download in PNG, glTF">
            <a:extLst>
              <a:ext uri="{FF2B5EF4-FFF2-40B4-BE49-F238E27FC236}">
                <a16:creationId xmlns:a16="http://schemas.microsoft.com/office/drawing/2014/main" id="{C7D092F4-30F2-1C0F-7166-83A30F95B8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2269" y="2646335"/>
            <a:ext cx="2315059" cy="2315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677159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055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Part 3: Transformers</a:t>
            </a:r>
            <a:endParaRPr lang="en-US" sz="3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CA488-7ABE-1744-66B7-01B5A0E60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E2F7C4B-105D-969B-4437-6841A7204517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FB8F765-1B4C-9D73-9CAE-8E7AC121F34C}"/>
              </a:ext>
            </a:extLst>
          </p:cNvPr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1">
            <a:extLst>
              <a:ext uri="{FF2B5EF4-FFF2-40B4-BE49-F238E27FC236}">
                <a16:creationId xmlns:a16="http://schemas.microsoft.com/office/drawing/2014/main" id="{C4387280-2B44-BAC8-5D09-59C8B3BBE950}"/>
              </a:ext>
            </a:extLst>
          </p:cNvPr>
          <p:cNvSpPr/>
          <p:nvPr/>
        </p:nvSpPr>
        <p:spPr>
          <a:xfrm>
            <a:off x="457200" y="21031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cs typeface="Whitney Bold" pitchFamily="34" charset="-120"/>
              </a:rPr>
              <a:t>Transformers</a:t>
            </a:r>
            <a:endParaRPr lang="en-US" sz="2800" dirty="0"/>
          </a:p>
        </p:txBody>
      </p:sp>
      <p:pic>
        <p:nvPicPr>
          <p:cNvPr id="2050" name="Picture 2" descr="Karpathy's tweet about Gradient Descent">
            <a:extLst>
              <a:ext uri="{FF2B5EF4-FFF2-40B4-BE49-F238E27FC236}">
                <a16:creationId xmlns:a16="http://schemas.microsoft.com/office/drawing/2014/main" id="{99340E6B-5B8F-519E-BEBD-830826DB72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6971" y="1855961"/>
            <a:ext cx="4131269" cy="1948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document with text and images  AI-generated content may be incorrect.">
            <a:extLst>
              <a:ext uri="{FF2B5EF4-FFF2-40B4-BE49-F238E27FC236}">
                <a16:creationId xmlns:a16="http://schemas.microsoft.com/office/drawing/2014/main" id="{34554D95-4209-8276-4A67-6E4FFFC64A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074" y="1126833"/>
            <a:ext cx="4211955" cy="3806836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30F46AE9-3FA2-6543-0D44-539F966CA352}"/>
              </a:ext>
            </a:extLst>
          </p:cNvPr>
          <p:cNvSpPr/>
          <p:nvPr/>
        </p:nvSpPr>
        <p:spPr>
          <a:xfrm>
            <a:off x="5214796" y="2851842"/>
            <a:ext cx="642796" cy="199176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3932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89D37-180D-756A-F3E9-4ACCDCD69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extBox 145">
            <a:extLst>
              <a:ext uri="{FF2B5EF4-FFF2-40B4-BE49-F238E27FC236}">
                <a16:creationId xmlns:a16="http://schemas.microsoft.com/office/drawing/2014/main" id="{720D820A-B806-1EDB-C4D5-9F02BD08AA62}"/>
              </a:ext>
            </a:extLst>
          </p:cNvPr>
          <p:cNvSpPr txBox="1"/>
          <p:nvPr/>
        </p:nvSpPr>
        <p:spPr>
          <a:xfrm>
            <a:off x="4645981" y="1676997"/>
            <a:ext cx="62239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x̂</a:t>
            </a:r>
            <a:r>
              <a:rPr lang="en-US" baseline="-250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</a:p>
          <a:p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x̂</a:t>
            </a:r>
            <a:r>
              <a:rPr lang="en-US" baseline="-250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</a:p>
          <a:p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x̂</a:t>
            </a:r>
            <a:r>
              <a:rPr lang="en-US" baseline="-250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</a:t>
            </a:r>
          </a:p>
          <a:p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x̂</a:t>
            </a:r>
            <a:r>
              <a:rPr lang="en-US" baseline="-250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  <a:p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x̂</a:t>
            </a:r>
            <a:r>
              <a:rPr lang="en-US" baseline="-250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br>
              <a:rPr lang="en-US" baseline="-250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x̂</a:t>
            </a:r>
            <a:r>
              <a:rPr lang="en-US" baseline="-250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D156B59-D3CD-7A5F-8460-1A987AB2CD57}"/>
              </a:ext>
            </a:extLst>
          </p:cNvPr>
          <p:cNvSpPr/>
          <p:nvPr/>
        </p:nvSpPr>
        <p:spPr>
          <a:xfrm>
            <a:off x="1943599" y="1782221"/>
            <a:ext cx="566641" cy="1624783"/>
          </a:xfrm>
          <a:prstGeom prst="roundRect">
            <a:avLst/>
          </a:prstGeom>
          <a:solidFill>
            <a:srgbClr val="7030A0">
              <a:alpha val="2535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5B9F3F44-09F2-1730-B899-3D1B3E90A4B0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89FFB4B-3985-6AB3-9512-4EC294A1995D}"/>
              </a:ext>
            </a:extLst>
          </p:cNvPr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1">
            <a:extLst>
              <a:ext uri="{FF2B5EF4-FFF2-40B4-BE49-F238E27FC236}">
                <a16:creationId xmlns:a16="http://schemas.microsoft.com/office/drawing/2014/main" id="{94BA0F85-CECB-F055-CCCF-CF721D2AAE7E}"/>
              </a:ext>
            </a:extLst>
          </p:cNvPr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cs typeface="Whitney Bold" pitchFamily="34" charset="-120"/>
              </a:rPr>
              <a:t>Classifying with 1 Attention Head</a:t>
            </a:r>
            <a:endParaRPr lang="en-US" sz="28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738D69A-D813-1C82-80DE-4A1F31613C8A}"/>
              </a:ext>
            </a:extLst>
          </p:cNvPr>
          <p:cNvSpPr txBox="1"/>
          <p:nvPr/>
        </p:nvSpPr>
        <p:spPr>
          <a:xfrm>
            <a:off x="1207285" y="1694587"/>
            <a:ext cx="69294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68" name="Arc 67">
            <a:extLst>
              <a:ext uri="{FF2B5EF4-FFF2-40B4-BE49-F238E27FC236}">
                <a16:creationId xmlns:a16="http://schemas.microsoft.com/office/drawing/2014/main" id="{FF643AA8-3A0B-3618-8FEE-F370A0E3D059}"/>
              </a:ext>
            </a:extLst>
          </p:cNvPr>
          <p:cNvSpPr/>
          <p:nvPr/>
        </p:nvSpPr>
        <p:spPr>
          <a:xfrm>
            <a:off x="1602224" y="1893093"/>
            <a:ext cx="695667" cy="857250"/>
          </a:xfrm>
          <a:prstGeom prst="arc">
            <a:avLst>
              <a:gd name="adj1" fmla="val 16200000"/>
              <a:gd name="adj2" fmla="val 5338616"/>
            </a:avLst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Arc 75">
            <a:extLst>
              <a:ext uri="{FF2B5EF4-FFF2-40B4-BE49-F238E27FC236}">
                <a16:creationId xmlns:a16="http://schemas.microsoft.com/office/drawing/2014/main" id="{6B3EB7D1-3C6D-2686-54AF-72A20DC8C365}"/>
              </a:ext>
            </a:extLst>
          </p:cNvPr>
          <p:cNvSpPr/>
          <p:nvPr/>
        </p:nvSpPr>
        <p:spPr>
          <a:xfrm>
            <a:off x="1650682" y="2166340"/>
            <a:ext cx="686759" cy="857250"/>
          </a:xfrm>
          <a:prstGeom prst="arc">
            <a:avLst>
              <a:gd name="adj1" fmla="val 16200000"/>
              <a:gd name="adj2" fmla="val 5338616"/>
            </a:avLst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Arc 76">
            <a:extLst>
              <a:ext uri="{FF2B5EF4-FFF2-40B4-BE49-F238E27FC236}">
                <a16:creationId xmlns:a16="http://schemas.microsoft.com/office/drawing/2014/main" id="{A5B47412-2C6C-6B89-9365-8F9D6C057275}"/>
              </a:ext>
            </a:extLst>
          </p:cNvPr>
          <p:cNvSpPr/>
          <p:nvPr/>
        </p:nvSpPr>
        <p:spPr>
          <a:xfrm>
            <a:off x="1608768" y="2421449"/>
            <a:ext cx="747232" cy="857250"/>
          </a:xfrm>
          <a:prstGeom prst="arc">
            <a:avLst>
              <a:gd name="adj1" fmla="val 16200000"/>
              <a:gd name="adj2" fmla="val 5338616"/>
            </a:avLst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Arc 77">
            <a:extLst>
              <a:ext uri="{FF2B5EF4-FFF2-40B4-BE49-F238E27FC236}">
                <a16:creationId xmlns:a16="http://schemas.microsoft.com/office/drawing/2014/main" id="{CD91BB41-D9ED-9B57-3E3F-E5D8EFC1103E}"/>
              </a:ext>
            </a:extLst>
          </p:cNvPr>
          <p:cNvSpPr/>
          <p:nvPr/>
        </p:nvSpPr>
        <p:spPr>
          <a:xfrm>
            <a:off x="1613462" y="1896943"/>
            <a:ext cx="686759" cy="524507"/>
          </a:xfrm>
          <a:prstGeom prst="arc">
            <a:avLst>
              <a:gd name="adj1" fmla="val 16200000"/>
              <a:gd name="adj2" fmla="val 5338616"/>
            </a:avLst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Arc 78">
            <a:extLst>
              <a:ext uri="{FF2B5EF4-FFF2-40B4-BE49-F238E27FC236}">
                <a16:creationId xmlns:a16="http://schemas.microsoft.com/office/drawing/2014/main" id="{5EC11C69-1996-5254-8E2C-5702C469017F}"/>
              </a:ext>
            </a:extLst>
          </p:cNvPr>
          <p:cNvSpPr/>
          <p:nvPr/>
        </p:nvSpPr>
        <p:spPr>
          <a:xfrm>
            <a:off x="1542959" y="2166340"/>
            <a:ext cx="814319" cy="1112359"/>
          </a:xfrm>
          <a:prstGeom prst="arc">
            <a:avLst>
              <a:gd name="adj1" fmla="val 16401989"/>
              <a:gd name="adj2" fmla="val 5338616"/>
            </a:avLst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Arc 79">
            <a:extLst>
              <a:ext uri="{FF2B5EF4-FFF2-40B4-BE49-F238E27FC236}">
                <a16:creationId xmlns:a16="http://schemas.microsoft.com/office/drawing/2014/main" id="{994F531E-5686-FB1B-AA32-F4B74CF46833}"/>
              </a:ext>
            </a:extLst>
          </p:cNvPr>
          <p:cNvSpPr/>
          <p:nvPr/>
        </p:nvSpPr>
        <p:spPr>
          <a:xfrm>
            <a:off x="1534712" y="2421449"/>
            <a:ext cx="813041" cy="602141"/>
          </a:xfrm>
          <a:prstGeom prst="arc">
            <a:avLst>
              <a:gd name="adj1" fmla="val 16144000"/>
              <a:gd name="adj2" fmla="val 5338616"/>
            </a:avLst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Arc 80">
            <a:extLst>
              <a:ext uri="{FF2B5EF4-FFF2-40B4-BE49-F238E27FC236}">
                <a16:creationId xmlns:a16="http://schemas.microsoft.com/office/drawing/2014/main" id="{0FE2D3A7-3835-E697-9121-32D3201ACC9B}"/>
              </a:ext>
            </a:extLst>
          </p:cNvPr>
          <p:cNvSpPr/>
          <p:nvPr/>
        </p:nvSpPr>
        <p:spPr>
          <a:xfrm flipV="1">
            <a:off x="1649392" y="1893092"/>
            <a:ext cx="633870" cy="273248"/>
          </a:xfrm>
          <a:prstGeom prst="arc">
            <a:avLst>
              <a:gd name="adj1" fmla="val 16200000"/>
              <a:gd name="adj2" fmla="val 5338616"/>
            </a:avLst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Arc 81">
            <a:extLst>
              <a:ext uri="{FF2B5EF4-FFF2-40B4-BE49-F238E27FC236}">
                <a16:creationId xmlns:a16="http://schemas.microsoft.com/office/drawing/2014/main" id="{992B306B-EF4A-A0AD-277D-BB6060187310}"/>
              </a:ext>
            </a:extLst>
          </p:cNvPr>
          <p:cNvSpPr/>
          <p:nvPr/>
        </p:nvSpPr>
        <p:spPr>
          <a:xfrm>
            <a:off x="1559086" y="2766980"/>
            <a:ext cx="784957" cy="511719"/>
          </a:xfrm>
          <a:prstGeom prst="arc">
            <a:avLst>
              <a:gd name="adj1" fmla="val 16144000"/>
              <a:gd name="adj2" fmla="val 5188432"/>
            </a:avLst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Arc 82">
            <a:extLst>
              <a:ext uri="{FF2B5EF4-FFF2-40B4-BE49-F238E27FC236}">
                <a16:creationId xmlns:a16="http://schemas.microsoft.com/office/drawing/2014/main" id="{8947F4DA-6519-D72C-B1B9-567777C7BE42}"/>
              </a:ext>
            </a:extLst>
          </p:cNvPr>
          <p:cNvSpPr/>
          <p:nvPr/>
        </p:nvSpPr>
        <p:spPr>
          <a:xfrm>
            <a:off x="1558478" y="2172573"/>
            <a:ext cx="765759" cy="577770"/>
          </a:xfrm>
          <a:prstGeom prst="arc">
            <a:avLst>
              <a:gd name="adj1" fmla="val 16144000"/>
              <a:gd name="adj2" fmla="val 5188432"/>
            </a:avLst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2FB3DA42-F83E-C4B9-AB63-DAF6E0E497B0}"/>
              </a:ext>
            </a:extLst>
          </p:cNvPr>
          <p:cNvCxnSpPr>
            <a:cxnSpLocks/>
          </p:cNvCxnSpPr>
          <p:nvPr/>
        </p:nvCxnSpPr>
        <p:spPr>
          <a:xfrm>
            <a:off x="2604623" y="1921668"/>
            <a:ext cx="340283" cy="0"/>
          </a:xfrm>
          <a:prstGeom prst="straightConnector1">
            <a:avLst/>
          </a:prstGeom>
          <a:ln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8AE2B5A3-F9F1-52A2-8A12-D08B62200D79}"/>
              </a:ext>
            </a:extLst>
          </p:cNvPr>
          <p:cNvCxnSpPr>
            <a:cxnSpLocks/>
          </p:cNvCxnSpPr>
          <p:nvPr/>
        </p:nvCxnSpPr>
        <p:spPr>
          <a:xfrm>
            <a:off x="2604622" y="2202656"/>
            <a:ext cx="340284" cy="0"/>
          </a:xfrm>
          <a:prstGeom prst="straightConnector1">
            <a:avLst/>
          </a:prstGeom>
          <a:ln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F261057E-1A54-7F5E-3C6D-B420C7579B6F}"/>
              </a:ext>
            </a:extLst>
          </p:cNvPr>
          <p:cNvCxnSpPr>
            <a:cxnSpLocks/>
          </p:cNvCxnSpPr>
          <p:nvPr/>
        </p:nvCxnSpPr>
        <p:spPr>
          <a:xfrm>
            <a:off x="2604621" y="2476499"/>
            <a:ext cx="340285" cy="0"/>
          </a:xfrm>
          <a:prstGeom prst="straightConnector1">
            <a:avLst/>
          </a:prstGeom>
          <a:ln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A687BC3F-212A-E855-BA54-97CD9094A301}"/>
              </a:ext>
            </a:extLst>
          </p:cNvPr>
          <p:cNvCxnSpPr>
            <a:cxnSpLocks/>
          </p:cNvCxnSpPr>
          <p:nvPr/>
        </p:nvCxnSpPr>
        <p:spPr>
          <a:xfrm>
            <a:off x="2604620" y="2750343"/>
            <a:ext cx="340286" cy="0"/>
          </a:xfrm>
          <a:prstGeom prst="straightConnector1">
            <a:avLst/>
          </a:prstGeom>
          <a:ln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BA93CDB8-0985-FDB7-1D0A-212193175B54}"/>
              </a:ext>
            </a:extLst>
          </p:cNvPr>
          <p:cNvCxnSpPr>
            <a:cxnSpLocks/>
          </p:cNvCxnSpPr>
          <p:nvPr/>
        </p:nvCxnSpPr>
        <p:spPr>
          <a:xfrm>
            <a:off x="2604619" y="3031330"/>
            <a:ext cx="340287" cy="0"/>
          </a:xfrm>
          <a:prstGeom prst="straightConnector1">
            <a:avLst/>
          </a:prstGeom>
          <a:ln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C270A498-6A59-0D41-4295-E0B7128D1301}"/>
              </a:ext>
            </a:extLst>
          </p:cNvPr>
          <p:cNvCxnSpPr>
            <a:cxnSpLocks/>
          </p:cNvCxnSpPr>
          <p:nvPr/>
        </p:nvCxnSpPr>
        <p:spPr>
          <a:xfrm>
            <a:off x="2604619" y="3286439"/>
            <a:ext cx="340287" cy="0"/>
          </a:xfrm>
          <a:prstGeom prst="straightConnector1">
            <a:avLst/>
          </a:prstGeom>
          <a:ln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2EF1C047-F360-5624-D198-28A730B85020}"/>
              </a:ext>
            </a:extLst>
          </p:cNvPr>
          <p:cNvSpPr txBox="1"/>
          <p:nvPr/>
        </p:nvSpPr>
        <p:spPr>
          <a:xfrm>
            <a:off x="1676096" y="1480126"/>
            <a:ext cx="116443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i="1" dirty="0">
                <a:latin typeface="Arial" panose="020B0604020202020204" pitchFamily="34" charset="0"/>
                <a:cs typeface="Arial" panose="020B0604020202020204" pitchFamily="34" charset="0"/>
              </a:rPr>
              <a:t>self-attention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CD692BD2-4547-EE6C-A585-EEBE1370ADED}"/>
              </a:ext>
            </a:extLst>
          </p:cNvPr>
          <p:cNvSpPr txBox="1"/>
          <p:nvPr/>
        </p:nvSpPr>
        <p:spPr>
          <a:xfrm>
            <a:off x="2978753" y="1717449"/>
            <a:ext cx="62239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x̂</a:t>
            </a:r>
            <a:r>
              <a:rPr lang="en-US" baseline="-250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</a:p>
          <a:p>
            <a:r>
              <a:rPr lang="en-US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x̂</a:t>
            </a:r>
            <a:r>
              <a:rPr lang="en-US" baseline="-250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</a:p>
          <a:p>
            <a:r>
              <a:rPr lang="en-US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x̂</a:t>
            </a:r>
            <a:r>
              <a:rPr lang="en-US" baseline="-250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</a:t>
            </a:r>
          </a:p>
          <a:p>
            <a:r>
              <a:rPr lang="en-US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x̂</a:t>
            </a:r>
            <a:r>
              <a:rPr lang="en-US" baseline="-250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  <a:p>
            <a:r>
              <a:rPr lang="en-US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x̂</a:t>
            </a:r>
            <a:r>
              <a:rPr lang="en-US" baseline="-250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br>
              <a:rPr lang="en-US" baseline="-250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x̂</a:t>
            </a:r>
            <a:r>
              <a:rPr lang="en-US" baseline="-250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45465113-C935-9D97-A730-903674A06FA1}"/>
              </a:ext>
            </a:extLst>
          </p:cNvPr>
          <p:cNvSpPr txBox="1"/>
          <p:nvPr/>
        </p:nvSpPr>
        <p:spPr>
          <a:xfrm>
            <a:off x="3549102" y="1340240"/>
            <a:ext cx="1332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>
                <a:latin typeface="Arial" panose="020B0604020202020204" pitchFamily="34" charset="0"/>
                <a:cs typeface="Arial" panose="020B0604020202020204" pitchFamily="34" charset="0"/>
              </a:rPr>
              <a:t>dense layer</a:t>
            </a:r>
            <a:br>
              <a:rPr lang="en-US" sz="900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900" i="1" dirty="0">
                <a:latin typeface="Arial" panose="020B0604020202020204" pitchFamily="34" charset="0"/>
                <a:cs typeface="Arial" panose="020B0604020202020204" pitchFamily="34" charset="0"/>
              </a:rPr>
              <a:t>(1 hidden layer NN)</a:t>
            </a:r>
          </a:p>
        </p:txBody>
      </p: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42139884-43EF-85DA-550A-9E56DB156913}"/>
              </a:ext>
            </a:extLst>
          </p:cNvPr>
          <p:cNvCxnSpPr>
            <a:cxnSpLocks/>
          </p:cNvCxnSpPr>
          <p:nvPr/>
        </p:nvCxnSpPr>
        <p:spPr>
          <a:xfrm>
            <a:off x="3420029" y="1915348"/>
            <a:ext cx="340283" cy="0"/>
          </a:xfrm>
          <a:prstGeom prst="straightConnector1">
            <a:avLst/>
          </a:prstGeom>
          <a:ln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B3133EAD-53C2-9614-E3A5-551885352E25}"/>
              </a:ext>
            </a:extLst>
          </p:cNvPr>
          <p:cNvCxnSpPr>
            <a:cxnSpLocks/>
          </p:cNvCxnSpPr>
          <p:nvPr/>
        </p:nvCxnSpPr>
        <p:spPr>
          <a:xfrm>
            <a:off x="3420028" y="2196336"/>
            <a:ext cx="340284" cy="0"/>
          </a:xfrm>
          <a:prstGeom prst="straightConnector1">
            <a:avLst/>
          </a:prstGeom>
          <a:ln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41063CD8-3E1B-7BFD-6810-DAE221ACEA2A}"/>
              </a:ext>
            </a:extLst>
          </p:cNvPr>
          <p:cNvCxnSpPr>
            <a:cxnSpLocks/>
          </p:cNvCxnSpPr>
          <p:nvPr/>
        </p:nvCxnSpPr>
        <p:spPr>
          <a:xfrm>
            <a:off x="3420027" y="2470179"/>
            <a:ext cx="340285" cy="0"/>
          </a:xfrm>
          <a:prstGeom prst="straightConnector1">
            <a:avLst/>
          </a:prstGeom>
          <a:ln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07B34226-C74E-6AD4-3042-ABB74DF93FDB}"/>
              </a:ext>
            </a:extLst>
          </p:cNvPr>
          <p:cNvCxnSpPr>
            <a:cxnSpLocks/>
          </p:cNvCxnSpPr>
          <p:nvPr/>
        </p:nvCxnSpPr>
        <p:spPr>
          <a:xfrm>
            <a:off x="3420026" y="2744023"/>
            <a:ext cx="340286" cy="0"/>
          </a:xfrm>
          <a:prstGeom prst="straightConnector1">
            <a:avLst/>
          </a:prstGeom>
          <a:ln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C813CAAA-CD5A-DC85-A716-6787EF15C419}"/>
              </a:ext>
            </a:extLst>
          </p:cNvPr>
          <p:cNvCxnSpPr>
            <a:cxnSpLocks/>
          </p:cNvCxnSpPr>
          <p:nvPr/>
        </p:nvCxnSpPr>
        <p:spPr>
          <a:xfrm>
            <a:off x="3420025" y="3039640"/>
            <a:ext cx="340287" cy="0"/>
          </a:xfrm>
          <a:prstGeom prst="straightConnector1">
            <a:avLst/>
          </a:prstGeom>
          <a:ln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8235860D-E6B4-6B29-E8AC-2AA25A962692}"/>
              </a:ext>
            </a:extLst>
          </p:cNvPr>
          <p:cNvCxnSpPr>
            <a:cxnSpLocks/>
          </p:cNvCxnSpPr>
          <p:nvPr/>
        </p:nvCxnSpPr>
        <p:spPr>
          <a:xfrm>
            <a:off x="3420025" y="3302064"/>
            <a:ext cx="340287" cy="0"/>
          </a:xfrm>
          <a:prstGeom prst="straightConnector1">
            <a:avLst/>
          </a:prstGeom>
          <a:ln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Rounded Rectangle 139">
            <a:extLst>
              <a:ext uri="{FF2B5EF4-FFF2-40B4-BE49-F238E27FC236}">
                <a16:creationId xmlns:a16="http://schemas.microsoft.com/office/drawing/2014/main" id="{58BDB731-BA8D-4339-6FF5-A90DCF672836}"/>
              </a:ext>
            </a:extLst>
          </p:cNvPr>
          <p:cNvSpPr/>
          <p:nvPr/>
        </p:nvSpPr>
        <p:spPr>
          <a:xfrm>
            <a:off x="3909799" y="1782221"/>
            <a:ext cx="217607" cy="1624782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B19E171F-7C30-A8D6-2705-8C904517F8C5}"/>
              </a:ext>
            </a:extLst>
          </p:cNvPr>
          <p:cNvCxnSpPr>
            <a:cxnSpLocks/>
          </p:cNvCxnSpPr>
          <p:nvPr/>
        </p:nvCxnSpPr>
        <p:spPr>
          <a:xfrm>
            <a:off x="5459626" y="2593330"/>
            <a:ext cx="217013" cy="37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TextBox 143">
            <a:extLst>
              <a:ext uri="{FF2B5EF4-FFF2-40B4-BE49-F238E27FC236}">
                <a16:creationId xmlns:a16="http://schemas.microsoft.com/office/drawing/2014/main" id="{8D10120C-D50D-4FA4-892A-8FD79FE12E87}"/>
              </a:ext>
            </a:extLst>
          </p:cNvPr>
          <p:cNvSpPr txBox="1"/>
          <p:nvPr/>
        </p:nvSpPr>
        <p:spPr>
          <a:xfrm>
            <a:off x="5685401" y="2381011"/>
            <a:ext cx="622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x̂</a:t>
            </a:r>
            <a:r>
              <a:rPr lang="en-US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avg</a:t>
            </a:r>
            <a:endParaRPr lang="en-US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105E405D-DE44-D7CD-2C5C-AC68D1386DEB}"/>
              </a:ext>
            </a:extLst>
          </p:cNvPr>
          <p:cNvCxnSpPr>
            <a:cxnSpLocks/>
          </p:cNvCxnSpPr>
          <p:nvPr/>
        </p:nvCxnSpPr>
        <p:spPr>
          <a:xfrm>
            <a:off x="4235957" y="1884175"/>
            <a:ext cx="340283" cy="0"/>
          </a:xfrm>
          <a:prstGeom prst="straightConnector1">
            <a:avLst/>
          </a:prstGeom>
          <a:ln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357C7D9B-8DD3-919F-D7C2-8C8B6AA0D3DD}"/>
              </a:ext>
            </a:extLst>
          </p:cNvPr>
          <p:cNvCxnSpPr>
            <a:cxnSpLocks/>
          </p:cNvCxnSpPr>
          <p:nvPr/>
        </p:nvCxnSpPr>
        <p:spPr>
          <a:xfrm>
            <a:off x="4235956" y="2165163"/>
            <a:ext cx="340284" cy="0"/>
          </a:xfrm>
          <a:prstGeom prst="straightConnector1">
            <a:avLst/>
          </a:prstGeom>
          <a:ln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954524FE-C871-3DA9-0F82-AEE43CFEE0FC}"/>
              </a:ext>
            </a:extLst>
          </p:cNvPr>
          <p:cNvCxnSpPr>
            <a:cxnSpLocks/>
          </p:cNvCxnSpPr>
          <p:nvPr/>
        </p:nvCxnSpPr>
        <p:spPr>
          <a:xfrm>
            <a:off x="4235955" y="2439006"/>
            <a:ext cx="340285" cy="0"/>
          </a:xfrm>
          <a:prstGeom prst="straightConnector1">
            <a:avLst/>
          </a:prstGeom>
          <a:ln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1642EB0C-326D-CDDB-1942-CBD4A6BB5840}"/>
              </a:ext>
            </a:extLst>
          </p:cNvPr>
          <p:cNvCxnSpPr>
            <a:cxnSpLocks/>
          </p:cNvCxnSpPr>
          <p:nvPr/>
        </p:nvCxnSpPr>
        <p:spPr>
          <a:xfrm>
            <a:off x="4235954" y="2712850"/>
            <a:ext cx="340286" cy="0"/>
          </a:xfrm>
          <a:prstGeom prst="straightConnector1">
            <a:avLst/>
          </a:prstGeom>
          <a:ln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CAC9AF8C-54F1-690C-02B1-C5391683B270}"/>
              </a:ext>
            </a:extLst>
          </p:cNvPr>
          <p:cNvCxnSpPr>
            <a:cxnSpLocks/>
          </p:cNvCxnSpPr>
          <p:nvPr/>
        </p:nvCxnSpPr>
        <p:spPr>
          <a:xfrm>
            <a:off x="4235953" y="3008467"/>
            <a:ext cx="340287" cy="0"/>
          </a:xfrm>
          <a:prstGeom prst="straightConnector1">
            <a:avLst/>
          </a:prstGeom>
          <a:ln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5A3F0344-53C8-869F-3CBB-9E4393819873}"/>
              </a:ext>
            </a:extLst>
          </p:cNvPr>
          <p:cNvCxnSpPr>
            <a:cxnSpLocks/>
          </p:cNvCxnSpPr>
          <p:nvPr/>
        </p:nvCxnSpPr>
        <p:spPr>
          <a:xfrm>
            <a:off x="4235953" y="3270891"/>
            <a:ext cx="340287" cy="0"/>
          </a:xfrm>
          <a:prstGeom prst="straightConnector1">
            <a:avLst/>
          </a:prstGeom>
          <a:ln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3A98AAEB-4E11-81C0-01B2-27DD91E7BC3C}"/>
              </a:ext>
            </a:extLst>
          </p:cNvPr>
          <p:cNvCxnSpPr>
            <a:cxnSpLocks/>
          </p:cNvCxnSpPr>
          <p:nvPr/>
        </p:nvCxnSpPr>
        <p:spPr>
          <a:xfrm>
            <a:off x="1571879" y="1912422"/>
            <a:ext cx="340283" cy="0"/>
          </a:xfrm>
          <a:prstGeom prst="straightConnector1">
            <a:avLst/>
          </a:prstGeom>
          <a:ln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3DAF77D9-F673-B14A-44FD-4B80A7887970}"/>
              </a:ext>
            </a:extLst>
          </p:cNvPr>
          <p:cNvCxnSpPr>
            <a:cxnSpLocks/>
          </p:cNvCxnSpPr>
          <p:nvPr/>
        </p:nvCxnSpPr>
        <p:spPr>
          <a:xfrm>
            <a:off x="1571878" y="2193410"/>
            <a:ext cx="340284" cy="0"/>
          </a:xfrm>
          <a:prstGeom prst="straightConnector1">
            <a:avLst/>
          </a:prstGeom>
          <a:ln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98D28520-E3DE-F62E-A1E0-90BD3AECCF3F}"/>
              </a:ext>
            </a:extLst>
          </p:cNvPr>
          <p:cNvCxnSpPr>
            <a:cxnSpLocks/>
          </p:cNvCxnSpPr>
          <p:nvPr/>
        </p:nvCxnSpPr>
        <p:spPr>
          <a:xfrm>
            <a:off x="1571877" y="2467253"/>
            <a:ext cx="340285" cy="0"/>
          </a:xfrm>
          <a:prstGeom prst="straightConnector1">
            <a:avLst/>
          </a:prstGeom>
          <a:ln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03E75C73-1A6E-E5B2-1295-12DF75C65756}"/>
              </a:ext>
            </a:extLst>
          </p:cNvPr>
          <p:cNvCxnSpPr>
            <a:cxnSpLocks/>
          </p:cNvCxnSpPr>
          <p:nvPr/>
        </p:nvCxnSpPr>
        <p:spPr>
          <a:xfrm>
            <a:off x="1571876" y="2741097"/>
            <a:ext cx="340286" cy="0"/>
          </a:xfrm>
          <a:prstGeom prst="straightConnector1">
            <a:avLst/>
          </a:prstGeom>
          <a:ln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0C497EFA-F14C-B244-5456-BB631BC15392}"/>
              </a:ext>
            </a:extLst>
          </p:cNvPr>
          <p:cNvCxnSpPr>
            <a:cxnSpLocks/>
          </p:cNvCxnSpPr>
          <p:nvPr/>
        </p:nvCxnSpPr>
        <p:spPr>
          <a:xfrm>
            <a:off x="1571875" y="3022084"/>
            <a:ext cx="340287" cy="0"/>
          </a:xfrm>
          <a:prstGeom prst="straightConnector1">
            <a:avLst/>
          </a:prstGeom>
          <a:ln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823D2B44-B692-3BC3-72D4-57014D78CDBF}"/>
              </a:ext>
            </a:extLst>
          </p:cNvPr>
          <p:cNvCxnSpPr>
            <a:cxnSpLocks/>
          </p:cNvCxnSpPr>
          <p:nvPr/>
        </p:nvCxnSpPr>
        <p:spPr>
          <a:xfrm>
            <a:off x="1571875" y="3277193"/>
            <a:ext cx="340287" cy="0"/>
          </a:xfrm>
          <a:prstGeom prst="straightConnector1">
            <a:avLst/>
          </a:prstGeom>
          <a:ln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TextBox 164">
            <a:extLst>
              <a:ext uri="{FF2B5EF4-FFF2-40B4-BE49-F238E27FC236}">
                <a16:creationId xmlns:a16="http://schemas.microsoft.com/office/drawing/2014/main" id="{BAECD6E8-DBF1-4AC0-7BC0-23A86408E0E7}"/>
              </a:ext>
            </a:extLst>
          </p:cNvPr>
          <p:cNvSpPr txBox="1"/>
          <p:nvPr/>
        </p:nvSpPr>
        <p:spPr>
          <a:xfrm>
            <a:off x="5676639" y="2011679"/>
            <a:ext cx="901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>
                <a:latin typeface="Arial" panose="020B0604020202020204" pitchFamily="34" charset="0"/>
                <a:cs typeface="Arial" panose="020B0604020202020204" pitchFamily="34" charset="0"/>
              </a:rPr>
              <a:t>average pooling</a:t>
            </a:r>
          </a:p>
        </p:txBody>
      </p: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22587083-490B-87EA-ECF3-B4760BB66A1F}"/>
              </a:ext>
            </a:extLst>
          </p:cNvPr>
          <p:cNvCxnSpPr>
            <a:cxnSpLocks/>
          </p:cNvCxnSpPr>
          <p:nvPr/>
        </p:nvCxnSpPr>
        <p:spPr>
          <a:xfrm>
            <a:off x="4977009" y="1873683"/>
            <a:ext cx="485733" cy="720929"/>
          </a:xfrm>
          <a:prstGeom prst="straightConnector1">
            <a:avLst/>
          </a:prstGeom>
          <a:ln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Arrow Connector 166">
            <a:extLst>
              <a:ext uri="{FF2B5EF4-FFF2-40B4-BE49-F238E27FC236}">
                <a16:creationId xmlns:a16="http://schemas.microsoft.com/office/drawing/2014/main" id="{A9DD1A00-B1EB-3DD8-C577-FAEB326F4BED}"/>
              </a:ext>
            </a:extLst>
          </p:cNvPr>
          <p:cNvCxnSpPr>
            <a:cxnSpLocks/>
          </p:cNvCxnSpPr>
          <p:nvPr/>
        </p:nvCxnSpPr>
        <p:spPr>
          <a:xfrm>
            <a:off x="4977008" y="2154671"/>
            <a:ext cx="485734" cy="439941"/>
          </a:xfrm>
          <a:prstGeom prst="straightConnector1">
            <a:avLst/>
          </a:prstGeom>
          <a:ln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Arrow Connector 167">
            <a:extLst>
              <a:ext uri="{FF2B5EF4-FFF2-40B4-BE49-F238E27FC236}">
                <a16:creationId xmlns:a16="http://schemas.microsoft.com/office/drawing/2014/main" id="{4FE377D5-FB05-941D-5E6F-D69DCC1F7BAC}"/>
              </a:ext>
            </a:extLst>
          </p:cNvPr>
          <p:cNvCxnSpPr>
            <a:cxnSpLocks/>
          </p:cNvCxnSpPr>
          <p:nvPr/>
        </p:nvCxnSpPr>
        <p:spPr>
          <a:xfrm>
            <a:off x="4977007" y="2428514"/>
            <a:ext cx="485735" cy="166098"/>
          </a:xfrm>
          <a:prstGeom prst="straightConnector1">
            <a:avLst/>
          </a:prstGeom>
          <a:ln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CDB91CF8-C854-260F-FB48-0AF6AF18C8FB}"/>
              </a:ext>
            </a:extLst>
          </p:cNvPr>
          <p:cNvCxnSpPr>
            <a:cxnSpLocks/>
          </p:cNvCxnSpPr>
          <p:nvPr/>
        </p:nvCxnSpPr>
        <p:spPr>
          <a:xfrm flipV="1">
            <a:off x="4977006" y="2594612"/>
            <a:ext cx="485736" cy="107746"/>
          </a:xfrm>
          <a:prstGeom prst="straightConnector1">
            <a:avLst/>
          </a:prstGeom>
          <a:ln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836C90C4-3F17-D353-0857-A9517B371CAF}"/>
              </a:ext>
            </a:extLst>
          </p:cNvPr>
          <p:cNvCxnSpPr>
            <a:cxnSpLocks/>
          </p:cNvCxnSpPr>
          <p:nvPr/>
        </p:nvCxnSpPr>
        <p:spPr>
          <a:xfrm flipV="1">
            <a:off x="4977005" y="2594612"/>
            <a:ext cx="485737" cy="403363"/>
          </a:xfrm>
          <a:prstGeom prst="straightConnector1">
            <a:avLst/>
          </a:prstGeom>
          <a:ln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24143745-8612-C4EE-35E2-2BA3E91B03E9}"/>
              </a:ext>
            </a:extLst>
          </p:cNvPr>
          <p:cNvCxnSpPr>
            <a:cxnSpLocks/>
          </p:cNvCxnSpPr>
          <p:nvPr/>
        </p:nvCxnSpPr>
        <p:spPr>
          <a:xfrm flipV="1">
            <a:off x="4977005" y="2594612"/>
            <a:ext cx="485737" cy="665787"/>
          </a:xfrm>
          <a:prstGeom prst="straightConnector1">
            <a:avLst/>
          </a:prstGeom>
          <a:ln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Arrow Connector 196">
            <a:extLst>
              <a:ext uri="{FF2B5EF4-FFF2-40B4-BE49-F238E27FC236}">
                <a16:creationId xmlns:a16="http://schemas.microsoft.com/office/drawing/2014/main" id="{CD5D43EE-55E8-ED82-6C0F-41C27FE0418C}"/>
              </a:ext>
            </a:extLst>
          </p:cNvPr>
          <p:cNvCxnSpPr>
            <a:cxnSpLocks/>
          </p:cNvCxnSpPr>
          <p:nvPr/>
        </p:nvCxnSpPr>
        <p:spPr>
          <a:xfrm>
            <a:off x="6197998" y="2602934"/>
            <a:ext cx="334684" cy="0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TextBox 200">
            <a:extLst>
              <a:ext uri="{FF2B5EF4-FFF2-40B4-BE49-F238E27FC236}">
                <a16:creationId xmlns:a16="http://schemas.microsoft.com/office/drawing/2014/main" id="{F42F310F-3FEE-8D94-8944-53C0F62C5EA9}"/>
              </a:ext>
            </a:extLst>
          </p:cNvPr>
          <p:cNvSpPr txBox="1"/>
          <p:nvPr/>
        </p:nvSpPr>
        <p:spPr>
          <a:xfrm>
            <a:off x="6353200" y="1495378"/>
            <a:ext cx="1332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>
                <a:latin typeface="Arial" panose="020B0604020202020204" pitchFamily="34" charset="0"/>
                <a:cs typeface="Arial" panose="020B0604020202020204" pitchFamily="34" charset="0"/>
              </a:rPr>
              <a:t>dense layer</a:t>
            </a:r>
            <a:br>
              <a:rPr lang="en-US" sz="900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9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4" name="Rounded Rectangle 203">
            <a:extLst>
              <a:ext uri="{FF2B5EF4-FFF2-40B4-BE49-F238E27FC236}">
                <a16:creationId xmlns:a16="http://schemas.microsoft.com/office/drawing/2014/main" id="{CA6F2733-99A4-FFA5-5667-F3738FD04CA2}"/>
              </a:ext>
            </a:extLst>
          </p:cNvPr>
          <p:cNvSpPr/>
          <p:nvPr/>
        </p:nvSpPr>
        <p:spPr>
          <a:xfrm>
            <a:off x="7533059" y="1793724"/>
            <a:ext cx="157545" cy="1624783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4A55F9CC-4FAC-E5C5-71E4-714F8E0CE510}"/>
              </a:ext>
            </a:extLst>
          </p:cNvPr>
          <p:cNvSpPr txBox="1"/>
          <p:nvPr/>
        </p:nvSpPr>
        <p:spPr>
          <a:xfrm>
            <a:off x="7331697" y="1497288"/>
            <a:ext cx="1332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 err="1">
                <a:latin typeface="Arial" panose="020B0604020202020204" pitchFamily="34" charset="0"/>
                <a:cs typeface="Arial" panose="020B0604020202020204" pitchFamily="34" charset="0"/>
              </a:rPr>
              <a:t>softmax</a:t>
            </a:r>
            <a:br>
              <a:rPr lang="en-US" sz="900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9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06" name="Straight Arrow Connector 205">
            <a:extLst>
              <a:ext uri="{FF2B5EF4-FFF2-40B4-BE49-F238E27FC236}">
                <a16:creationId xmlns:a16="http://schemas.microsoft.com/office/drawing/2014/main" id="{0C9D7009-42BC-74C4-52FC-C4DD7249FC57}"/>
              </a:ext>
            </a:extLst>
          </p:cNvPr>
          <p:cNvCxnSpPr>
            <a:cxnSpLocks/>
          </p:cNvCxnSpPr>
          <p:nvPr/>
        </p:nvCxnSpPr>
        <p:spPr>
          <a:xfrm>
            <a:off x="7848365" y="2594611"/>
            <a:ext cx="210949" cy="0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" name="TextBox 207">
            <a:extLst>
              <a:ext uri="{FF2B5EF4-FFF2-40B4-BE49-F238E27FC236}">
                <a16:creationId xmlns:a16="http://schemas.microsoft.com/office/drawing/2014/main" id="{9BA2D56D-9706-AB81-EC91-682C37824F27}"/>
              </a:ext>
            </a:extLst>
          </p:cNvPr>
          <p:cNvSpPr txBox="1"/>
          <p:nvPr/>
        </p:nvSpPr>
        <p:spPr>
          <a:xfrm>
            <a:off x="96112" y="1714914"/>
            <a:ext cx="804210" cy="1720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the       </a:t>
            </a:r>
          </a:p>
          <a:p>
            <a:pPr>
              <a:lnSpc>
                <a:spcPct val="150000"/>
              </a:lnSpc>
            </a:pPr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main     </a:t>
            </a:r>
          </a:p>
          <a:p>
            <a:pPr>
              <a:lnSpc>
                <a:spcPct val="150000"/>
              </a:lnSpc>
            </a:pPr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course     </a:t>
            </a:r>
          </a:p>
          <a:p>
            <a:pPr>
              <a:lnSpc>
                <a:spcPct val="150000"/>
              </a:lnSpc>
            </a:pPr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was       </a:t>
            </a:r>
          </a:p>
          <a:p>
            <a:pPr>
              <a:lnSpc>
                <a:spcPct val="150000"/>
              </a:lnSpc>
            </a:pPr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truly     </a:t>
            </a:r>
          </a:p>
          <a:p>
            <a:pPr>
              <a:lnSpc>
                <a:spcPct val="150000"/>
              </a:lnSpc>
            </a:pPr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delicious</a:t>
            </a:r>
          </a:p>
        </p:txBody>
      </p: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08984E9F-B14B-9121-B0BD-1CB2DB388369}"/>
              </a:ext>
            </a:extLst>
          </p:cNvPr>
          <p:cNvGrpSpPr/>
          <p:nvPr/>
        </p:nvGrpSpPr>
        <p:grpSpPr>
          <a:xfrm>
            <a:off x="8138803" y="2176668"/>
            <a:ext cx="727215" cy="821307"/>
            <a:chOff x="6186526" y="3692377"/>
            <a:chExt cx="727215" cy="821307"/>
          </a:xfrm>
        </p:grpSpPr>
        <p:pic>
          <p:nvPicPr>
            <p:cNvPr id="209" name="Picture 2" descr="Chris G's Best Yelp Reviews: Masa of Echo Park - 5/5 Stars – The Chris  Girard Blog">
              <a:extLst>
                <a:ext uri="{FF2B5EF4-FFF2-40B4-BE49-F238E27FC236}">
                  <a16:creationId xmlns:a16="http://schemas.microsoft.com/office/drawing/2014/main" id="{6F945201-2248-F230-7E29-EAB8119B9F7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3985" r="79267" b="29943"/>
            <a:stretch>
              <a:fillRect/>
            </a:stretch>
          </p:blipFill>
          <p:spPr bwMode="auto">
            <a:xfrm>
              <a:off x="6186527" y="3692377"/>
              <a:ext cx="150774" cy="1474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0" name="Picture 2" descr="Chris G's Best Yelp Reviews: Masa of Echo Park - 5/5 Stars – The Chris  Girard Blog">
              <a:extLst>
                <a:ext uri="{FF2B5EF4-FFF2-40B4-BE49-F238E27FC236}">
                  <a16:creationId xmlns:a16="http://schemas.microsoft.com/office/drawing/2014/main" id="{8A4C19AB-AA43-D7A3-2AE5-65690C82242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3985" r="60057" b="31671"/>
            <a:stretch>
              <a:fillRect/>
            </a:stretch>
          </p:blipFill>
          <p:spPr bwMode="auto">
            <a:xfrm>
              <a:off x="6186527" y="3860838"/>
              <a:ext cx="290474" cy="1403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4" name="Picture 2" descr="Chris G's Best Yelp Reviews: Masa of Echo Park - 5/5 Stars – The Chris  Girard Blog">
              <a:extLst>
                <a:ext uri="{FF2B5EF4-FFF2-40B4-BE49-F238E27FC236}">
                  <a16:creationId xmlns:a16="http://schemas.microsoft.com/office/drawing/2014/main" id="{6F673F9F-F018-67E2-51F7-5090E306643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3985" r="40410" b="29943"/>
            <a:stretch>
              <a:fillRect/>
            </a:stretch>
          </p:blipFill>
          <p:spPr bwMode="auto">
            <a:xfrm>
              <a:off x="6186526" y="4029299"/>
              <a:ext cx="433349" cy="1474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5" name="Picture 2" descr="Chris G's Best Yelp Reviews: Masa of Echo Park - 5/5 Stars – The Chris  Girard Blog">
              <a:extLst>
                <a:ext uri="{FF2B5EF4-FFF2-40B4-BE49-F238E27FC236}">
                  <a16:creationId xmlns:a16="http://schemas.microsoft.com/office/drawing/2014/main" id="{F1C145FC-3187-E904-6F15-008D57C0066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3985" r="19890" b="29943"/>
            <a:stretch>
              <a:fillRect/>
            </a:stretch>
          </p:blipFill>
          <p:spPr bwMode="auto">
            <a:xfrm>
              <a:off x="6186527" y="4197760"/>
              <a:ext cx="582574" cy="1474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6" name="Picture 2" descr="Chris G's Best Yelp Reviews: Masa of Echo Park - 5/5 Stars – The Chris  Girard Blog">
              <a:extLst>
                <a:ext uri="{FF2B5EF4-FFF2-40B4-BE49-F238E27FC236}">
                  <a16:creationId xmlns:a16="http://schemas.microsoft.com/office/drawing/2014/main" id="{55E77D33-151F-DF17-0B92-B1C2539C3B0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3985" b="29943"/>
            <a:stretch>
              <a:fillRect/>
            </a:stretch>
          </p:blipFill>
          <p:spPr bwMode="auto">
            <a:xfrm>
              <a:off x="6186526" y="4366221"/>
              <a:ext cx="727215" cy="1474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18" name="TextBox 217">
            <a:extLst>
              <a:ext uri="{FF2B5EF4-FFF2-40B4-BE49-F238E27FC236}">
                <a16:creationId xmlns:a16="http://schemas.microsoft.com/office/drawing/2014/main" id="{67F9CB17-7C5D-7E0D-7DB4-0F66C3A59017}"/>
              </a:ext>
            </a:extLst>
          </p:cNvPr>
          <p:cNvSpPr txBox="1"/>
          <p:nvPr/>
        </p:nvSpPr>
        <p:spPr>
          <a:xfrm>
            <a:off x="8116536" y="1500517"/>
            <a:ext cx="57399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>
                <a:latin typeface="Arial" panose="020B0604020202020204" pitchFamily="34" charset="0"/>
                <a:cs typeface="Arial" panose="020B0604020202020204" pitchFamily="34" charset="0"/>
              </a:rPr>
              <a:t>class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AE3C6725-BEDD-4655-14A8-50ECC6AC92F1}"/>
              </a:ext>
            </a:extLst>
          </p:cNvPr>
          <p:cNvSpPr txBox="1"/>
          <p:nvPr/>
        </p:nvSpPr>
        <p:spPr>
          <a:xfrm>
            <a:off x="2155440" y="3863946"/>
            <a:ext cx="25663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an attention head</a:t>
            </a:r>
          </a:p>
        </p:txBody>
      </p:sp>
      <p:sp>
        <p:nvSpPr>
          <p:cNvPr id="220" name="Right Brace 219">
            <a:extLst>
              <a:ext uri="{FF2B5EF4-FFF2-40B4-BE49-F238E27FC236}">
                <a16:creationId xmlns:a16="http://schemas.microsoft.com/office/drawing/2014/main" id="{8BDDA06F-0CC0-688A-1A64-5C28DCEFD2AF}"/>
              </a:ext>
            </a:extLst>
          </p:cNvPr>
          <p:cNvSpPr/>
          <p:nvPr/>
        </p:nvSpPr>
        <p:spPr>
          <a:xfrm rot="5400000">
            <a:off x="3359686" y="2145388"/>
            <a:ext cx="157859" cy="3076778"/>
          </a:xfrm>
          <a:prstGeom prst="righ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1C5C88-450D-5DC8-BF67-F971B39AAF9C}"/>
              </a:ext>
            </a:extLst>
          </p:cNvPr>
          <p:cNvSpPr txBox="1"/>
          <p:nvPr/>
        </p:nvSpPr>
        <p:spPr>
          <a:xfrm>
            <a:off x="5974086" y="4305963"/>
            <a:ext cx="25663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Can we do better?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DED0505-2978-4AFB-CBC4-63F407A85432}"/>
              </a:ext>
            </a:extLst>
          </p:cNvPr>
          <p:cNvSpPr/>
          <p:nvPr/>
        </p:nvSpPr>
        <p:spPr>
          <a:xfrm>
            <a:off x="6627737" y="1790543"/>
            <a:ext cx="217607" cy="1624782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1763316-A83F-4E21-4ECE-767D3CC509D7}"/>
              </a:ext>
            </a:extLst>
          </p:cNvPr>
          <p:cNvSpPr/>
          <p:nvPr/>
        </p:nvSpPr>
        <p:spPr>
          <a:xfrm>
            <a:off x="870530" y="1782222"/>
            <a:ext cx="254547" cy="1624782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CC6DDF-5B2B-E7DA-C748-2C52EC5C38A1}"/>
              </a:ext>
            </a:extLst>
          </p:cNvPr>
          <p:cNvSpPr txBox="1"/>
          <p:nvPr/>
        </p:nvSpPr>
        <p:spPr>
          <a:xfrm>
            <a:off x="444800" y="1475764"/>
            <a:ext cx="116443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i="1" dirty="0">
                <a:latin typeface="Arial" panose="020B0604020202020204" pitchFamily="34" charset="0"/>
                <a:cs typeface="Arial" panose="020B0604020202020204" pitchFamily="34" charset="0"/>
              </a:rPr>
              <a:t>embedding layer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9C46E07-53CC-8EBB-962E-5D62098C139A}"/>
              </a:ext>
            </a:extLst>
          </p:cNvPr>
          <p:cNvCxnSpPr>
            <a:cxnSpLocks/>
          </p:cNvCxnSpPr>
          <p:nvPr/>
        </p:nvCxnSpPr>
        <p:spPr>
          <a:xfrm>
            <a:off x="6997013" y="2602934"/>
            <a:ext cx="334684" cy="0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5473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2EB31-A926-F998-C349-324A776CD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DA06D8D-27D2-57B9-2309-9D173F40D150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209E7EC-35E4-DC25-5FE2-914228D0E64D}"/>
              </a:ext>
            </a:extLst>
          </p:cNvPr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1">
            <a:extLst>
              <a:ext uri="{FF2B5EF4-FFF2-40B4-BE49-F238E27FC236}">
                <a16:creationId xmlns:a16="http://schemas.microsoft.com/office/drawing/2014/main" id="{DAFF2BE3-0F63-E4B6-965F-3338A87FEF6C}"/>
              </a:ext>
            </a:extLst>
          </p:cNvPr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cs typeface="Whitney Bold" pitchFamily="34" charset="-120"/>
              </a:rPr>
              <a:t>Multi-Headed Attention</a:t>
            </a:r>
            <a:endParaRPr lang="en-US" sz="280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E414AD5-7449-7974-98FF-652ED264182C}"/>
              </a:ext>
            </a:extLst>
          </p:cNvPr>
          <p:cNvGrpSpPr/>
          <p:nvPr/>
        </p:nvGrpSpPr>
        <p:grpSpPr>
          <a:xfrm>
            <a:off x="2178297" y="3163193"/>
            <a:ext cx="1028072" cy="1501016"/>
            <a:chOff x="1316501" y="1782221"/>
            <a:chExt cx="975528" cy="1624783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A85988A4-0122-A118-DA0B-D06D815AE4D9}"/>
                </a:ext>
              </a:extLst>
            </p:cNvPr>
            <p:cNvSpPr/>
            <p:nvPr/>
          </p:nvSpPr>
          <p:spPr>
            <a:xfrm>
              <a:off x="1725388" y="1782221"/>
              <a:ext cx="566641" cy="1624783"/>
            </a:xfrm>
            <a:prstGeom prst="roundRect">
              <a:avLst/>
            </a:prstGeom>
            <a:solidFill>
              <a:srgbClr val="7030A0">
                <a:alpha val="25352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Arc 7">
              <a:extLst>
                <a:ext uri="{FF2B5EF4-FFF2-40B4-BE49-F238E27FC236}">
                  <a16:creationId xmlns:a16="http://schemas.microsoft.com/office/drawing/2014/main" id="{C1077075-9314-83D3-8E82-4690079F87DB}"/>
                </a:ext>
              </a:extLst>
            </p:cNvPr>
            <p:cNvSpPr/>
            <p:nvPr/>
          </p:nvSpPr>
          <p:spPr>
            <a:xfrm>
              <a:off x="1384013" y="1893093"/>
              <a:ext cx="695667" cy="857250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Arc 8">
              <a:extLst>
                <a:ext uri="{FF2B5EF4-FFF2-40B4-BE49-F238E27FC236}">
                  <a16:creationId xmlns:a16="http://schemas.microsoft.com/office/drawing/2014/main" id="{A38ED08D-3E94-F995-D8E2-3EDCA5C443AA}"/>
                </a:ext>
              </a:extLst>
            </p:cNvPr>
            <p:cNvSpPr/>
            <p:nvPr/>
          </p:nvSpPr>
          <p:spPr>
            <a:xfrm>
              <a:off x="1432471" y="2166340"/>
              <a:ext cx="686759" cy="857250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Arc 9">
              <a:extLst>
                <a:ext uri="{FF2B5EF4-FFF2-40B4-BE49-F238E27FC236}">
                  <a16:creationId xmlns:a16="http://schemas.microsoft.com/office/drawing/2014/main" id="{91626E40-F668-8039-6933-E396EAB873C0}"/>
                </a:ext>
              </a:extLst>
            </p:cNvPr>
            <p:cNvSpPr/>
            <p:nvPr/>
          </p:nvSpPr>
          <p:spPr>
            <a:xfrm>
              <a:off x="1390557" y="2421449"/>
              <a:ext cx="747232" cy="857250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Arc 10">
              <a:extLst>
                <a:ext uri="{FF2B5EF4-FFF2-40B4-BE49-F238E27FC236}">
                  <a16:creationId xmlns:a16="http://schemas.microsoft.com/office/drawing/2014/main" id="{001BA603-D878-0262-B266-0217CF3A4524}"/>
                </a:ext>
              </a:extLst>
            </p:cNvPr>
            <p:cNvSpPr/>
            <p:nvPr/>
          </p:nvSpPr>
          <p:spPr>
            <a:xfrm>
              <a:off x="1395251" y="1896943"/>
              <a:ext cx="686759" cy="524507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Arc 12">
              <a:extLst>
                <a:ext uri="{FF2B5EF4-FFF2-40B4-BE49-F238E27FC236}">
                  <a16:creationId xmlns:a16="http://schemas.microsoft.com/office/drawing/2014/main" id="{A560AC65-CD0A-64B9-8A48-729C96688B3C}"/>
                </a:ext>
              </a:extLst>
            </p:cNvPr>
            <p:cNvSpPr/>
            <p:nvPr/>
          </p:nvSpPr>
          <p:spPr>
            <a:xfrm>
              <a:off x="1324748" y="2166340"/>
              <a:ext cx="814319" cy="1112359"/>
            </a:xfrm>
            <a:prstGeom prst="arc">
              <a:avLst>
                <a:gd name="adj1" fmla="val 16401989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Arc 13">
              <a:extLst>
                <a:ext uri="{FF2B5EF4-FFF2-40B4-BE49-F238E27FC236}">
                  <a16:creationId xmlns:a16="http://schemas.microsoft.com/office/drawing/2014/main" id="{4BBEEB94-C24D-2D2A-A203-184E681337A0}"/>
                </a:ext>
              </a:extLst>
            </p:cNvPr>
            <p:cNvSpPr/>
            <p:nvPr/>
          </p:nvSpPr>
          <p:spPr>
            <a:xfrm>
              <a:off x="1316501" y="2421449"/>
              <a:ext cx="813041" cy="602141"/>
            </a:xfrm>
            <a:prstGeom prst="arc">
              <a:avLst>
                <a:gd name="adj1" fmla="val 16144000"/>
                <a:gd name="adj2" fmla="val 5338616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Arc 14">
              <a:extLst>
                <a:ext uri="{FF2B5EF4-FFF2-40B4-BE49-F238E27FC236}">
                  <a16:creationId xmlns:a16="http://schemas.microsoft.com/office/drawing/2014/main" id="{A31424D7-DF23-5FE3-7B29-7EEE8308F77B}"/>
                </a:ext>
              </a:extLst>
            </p:cNvPr>
            <p:cNvSpPr/>
            <p:nvPr/>
          </p:nvSpPr>
          <p:spPr>
            <a:xfrm flipV="1">
              <a:off x="1431181" y="1893092"/>
              <a:ext cx="633870" cy="273248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Arc 15">
              <a:extLst>
                <a:ext uri="{FF2B5EF4-FFF2-40B4-BE49-F238E27FC236}">
                  <a16:creationId xmlns:a16="http://schemas.microsoft.com/office/drawing/2014/main" id="{FC305841-71CD-3569-FD4E-FD49AD048454}"/>
                </a:ext>
              </a:extLst>
            </p:cNvPr>
            <p:cNvSpPr/>
            <p:nvPr/>
          </p:nvSpPr>
          <p:spPr>
            <a:xfrm>
              <a:off x="1340875" y="2766980"/>
              <a:ext cx="784957" cy="511719"/>
            </a:xfrm>
            <a:prstGeom prst="arc">
              <a:avLst>
                <a:gd name="adj1" fmla="val 16144000"/>
                <a:gd name="adj2" fmla="val 5188432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Arc 16">
              <a:extLst>
                <a:ext uri="{FF2B5EF4-FFF2-40B4-BE49-F238E27FC236}">
                  <a16:creationId xmlns:a16="http://schemas.microsoft.com/office/drawing/2014/main" id="{BA462360-1DA4-A699-EA62-3369CAD710C1}"/>
                </a:ext>
              </a:extLst>
            </p:cNvPr>
            <p:cNvSpPr/>
            <p:nvPr/>
          </p:nvSpPr>
          <p:spPr>
            <a:xfrm>
              <a:off x="1340267" y="2172573"/>
              <a:ext cx="765759" cy="577770"/>
            </a:xfrm>
            <a:prstGeom prst="arc">
              <a:avLst>
                <a:gd name="adj1" fmla="val 16144000"/>
                <a:gd name="adj2" fmla="val 5188432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822D8072-FF21-052C-564F-AFBF645E1078}"/>
              </a:ext>
            </a:extLst>
          </p:cNvPr>
          <p:cNvSpPr txBox="1"/>
          <p:nvPr/>
        </p:nvSpPr>
        <p:spPr>
          <a:xfrm>
            <a:off x="3520106" y="1139789"/>
            <a:ext cx="517784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We can run attention heads in parallel. But how do we make each one learn something different? 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Introduce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weights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to each attention head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596973D-B2A7-F354-FD9D-790255CEC681}"/>
              </a:ext>
            </a:extLst>
          </p:cNvPr>
          <p:cNvSpPr txBox="1"/>
          <p:nvPr/>
        </p:nvSpPr>
        <p:spPr>
          <a:xfrm>
            <a:off x="2384952" y="982120"/>
            <a:ext cx="116443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i="1" dirty="0">
                <a:latin typeface="Arial" panose="020B0604020202020204" pitchFamily="34" charset="0"/>
                <a:cs typeface="Arial" panose="020B0604020202020204" pitchFamily="34" charset="0"/>
              </a:rPr>
              <a:t>attention head 1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7BABA81-25C8-5801-2A19-B830F6A522D5}"/>
              </a:ext>
            </a:extLst>
          </p:cNvPr>
          <p:cNvSpPr txBox="1"/>
          <p:nvPr/>
        </p:nvSpPr>
        <p:spPr>
          <a:xfrm>
            <a:off x="2324770" y="2923408"/>
            <a:ext cx="116443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i="1" dirty="0">
                <a:latin typeface="Arial" panose="020B0604020202020204" pitchFamily="34" charset="0"/>
                <a:cs typeface="Arial" panose="020B0604020202020204" pitchFamily="34" charset="0"/>
              </a:rPr>
              <a:t>attention head 2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029B662-716E-5E0C-0596-D9B9FF4FF195}"/>
              </a:ext>
            </a:extLst>
          </p:cNvPr>
          <p:cNvSpPr/>
          <p:nvPr/>
        </p:nvSpPr>
        <p:spPr>
          <a:xfrm>
            <a:off x="1133322" y="1212029"/>
            <a:ext cx="341603" cy="3452179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124BE17-5AE6-D645-D071-22B30978462F}"/>
              </a:ext>
            </a:extLst>
          </p:cNvPr>
          <p:cNvGrpSpPr/>
          <p:nvPr/>
        </p:nvGrpSpPr>
        <p:grpSpPr>
          <a:xfrm>
            <a:off x="2181499" y="1229799"/>
            <a:ext cx="1028072" cy="1501016"/>
            <a:chOff x="1316501" y="1782221"/>
            <a:chExt cx="975528" cy="1624783"/>
          </a:xfrm>
        </p:grpSpPr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97D0B5D8-5432-6CE2-F826-A05DC40BD8EB}"/>
                </a:ext>
              </a:extLst>
            </p:cNvPr>
            <p:cNvSpPr/>
            <p:nvPr/>
          </p:nvSpPr>
          <p:spPr>
            <a:xfrm>
              <a:off x="1725388" y="1782221"/>
              <a:ext cx="566641" cy="1624783"/>
            </a:xfrm>
            <a:prstGeom prst="roundRect">
              <a:avLst/>
            </a:prstGeom>
            <a:solidFill>
              <a:srgbClr val="7030A0">
                <a:alpha val="25352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Arc 20">
              <a:extLst>
                <a:ext uri="{FF2B5EF4-FFF2-40B4-BE49-F238E27FC236}">
                  <a16:creationId xmlns:a16="http://schemas.microsoft.com/office/drawing/2014/main" id="{971779FF-67C0-338A-10B7-7A9329AAB330}"/>
                </a:ext>
              </a:extLst>
            </p:cNvPr>
            <p:cNvSpPr/>
            <p:nvPr/>
          </p:nvSpPr>
          <p:spPr>
            <a:xfrm>
              <a:off x="1384013" y="1893093"/>
              <a:ext cx="695667" cy="857250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Arc 21">
              <a:extLst>
                <a:ext uri="{FF2B5EF4-FFF2-40B4-BE49-F238E27FC236}">
                  <a16:creationId xmlns:a16="http://schemas.microsoft.com/office/drawing/2014/main" id="{83E1708F-AF57-836A-4588-DE2D62DC8E08}"/>
                </a:ext>
              </a:extLst>
            </p:cNvPr>
            <p:cNvSpPr/>
            <p:nvPr/>
          </p:nvSpPr>
          <p:spPr>
            <a:xfrm>
              <a:off x="1432471" y="2166340"/>
              <a:ext cx="686759" cy="857250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Arc 23">
              <a:extLst>
                <a:ext uri="{FF2B5EF4-FFF2-40B4-BE49-F238E27FC236}">
                  <a16:creationId xmlns:a16="http://schemas.microsoft.com/office/drawing/2014/main" id="{8072D501-CCB6-A8E2-35D6-30127066F9DB}"/>
                </a:ext>
              </a:extLst>
            </p:cNvPr>
            <p:cNvSpPr/>
            <p:nvPr/>
          </p:nvSpPr>
          <p:spPr>
            <a:xfrm>
              <a:off x="1390557" y="2421449"/>
              <a:ext cx="747232" cy="857250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Arc 24">
              <a:extLst>
                <a:ext uri="{FF2B5EF4-FFF2-40B4-BE49-F238E27FC236}">
                  <a16:creationId xmlns:a16="http://schemas.microsoft.com/office/drawing/2014/main" id="{E8A8E100-E489-3191-BEE9-EDB1BD5E89FE}"/>
                </a:ext>
              </a:extLst>
            </p:cNvPr>
            <p:cNvSpPr/>
            <p:nvPr/>
          </p:nvSpPr>
          <p:spPr>
            <a:xfrm>
              <a:off x="1395251" y="1896943"/>
              <a:ext cx="686759" cy="524507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Arc 25">
              <a:extLst>
                <a:ext uri="{FF2B5EF4-FFF2-40B4-BE49-F238E27FC236}">
                  <a16:creationId xmlns:a16="http://schemas.microsoft.com/office/drawing/2014/main" id="{6CAB5EC7-87B6-52B6-DA0B-0C02F640B180}"/>
                </a:ext>
              </a:extLst>
            </p:cNvPr>
            <p:cNvSpPr/>
            <p:nvPr/>
          </p:nvSpPr>
          <p:spPr>
            <a:xfrm>
              <a:off x="1324748" y="2166340"/>
              <a:ext cx="814319" cy="1112359"/>
            </a:xfrm>
            <a:prstGeom prst="arc">
              <a:avLst>
                <a:gd name="adj1" fmla="val 16401989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Arc 26">
              <a:extLst>
                <a:ext uri="{FF2B5EF4-FFF2-40B4-BE49-F238E27FC236}">
                  <a16:creationId xmlns:a16="http://schemas.microsoft.com/office/drawing/2014/main" id="{20798F23-14B0-0A76-1B78-01B5A73A5BFA}"/>
                </a:ext>
              </a:extLst>
            </p:cNvPr>
            <p:cNvSpPr/>
            <p:nvPr/>
          </p:nvSpPr>
          <p:spPr>
            <a:xfrm>
              <a:off x="1316501" y="2421449"/>
              <a:ext cx="813041" cy="602141"/>
            </a:xfrm>
            <a:prstGeom prst="arc">
              <a:avLst>
                <a:gd name="adj1" fmla="val 16144000"/>
                <a:gd name="adj2" fmla="val 5338616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Arc 27">
              <a:extLst>
                <a:ext uri="{FF2B5EF4-FFF2-40B4-BE49-F238E27FC236}">
                  <a16:creationId xmlns:a16="http://schemas.microsoft.com/office/drawing/2014/main" id="{7CF6D7AE-CB98-6F2E-A725-69DAFE75A2BB}"/>
                </a:ext>
              </a:extLst>
            </p:cNvPr>
            <p:cNvSpPr/>
            <p:nvPr/>
          </p:nvSpPr>
          <p:spPr>
            <a:xfrm flipV="1">
              <a:off x="1431181" y="1893092"/>
              <a:ext cx="633870" cy="273248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Arc 28">
              <a:extLst>
                <a:ext uri="{FF2B5EF4-FFF2-40B4-BE49-F238E27FC236}">
                  <a16:creationId xmlns:a16="http://schemas.microsoft.com/office/drawing/2014/main" id="{141765FA-E0E5-3BFC-ADA9-326510B29AC9}"/>
                </a:ext>
              </a:extLst>
            </p:cNvPr>
            <p:cNvSpPr/>
            <p:nvPr/>
          </p:nvSpPr>
          <p:spPr>
            <a:xfrm>
              <a:off x="1340875" y="2766980"/>
              <a:ext cx="784957" cy="511719"/>
            </a:xfrm>
            <a:prstGeom prst="arc">
              <a:avLst>
                <a:gd name="adj1" fmla="val 16144000"/>
                <a:gd name="adj2" fmla="val 5188432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Arc 29">
              <a:extLst>
                <a:ext uri="{FF2B5EF4-FFF2-40B4-BE49-F238E27FC236}">
                  <a16:creationId xmlns:a16="http://schemas.microsoft.com/office/drawing/2014/main" id="{7C4F670C-E969-2992-F167-8E19D9AB0834}"/>
                </a:ext>
              </a:extLst>
            </p:cNvPr>
            <p:cNvSpPr/>
            <p:nvPr/>
          </p:nvSpPr>
          <p:spPr>
            <a:xfrm>
              <a:off x="1340267" y="2172573"/>
              <a:ext cx="765759" cy="577770"/>
            </a:xfrm>
            <a:prstGeom prst="arc">
              <a:avLst>
                <a:gd name="adj1" fmla="val 16144000"/>
                <a:gd name="adj2" fmla="val 5188432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612B6EE-34BC-48DF-6A77-1ABDF486E5EC}"/>
              </a:ext>
            </a:extLst>
          </p:cNvPr>
          <p:cNvCxnSpPr>
            <a:cxnSpLocks/>
            <a:stCxn id="32" idx="3"/>
          </p:cNvCxnSpPr>
          <p:nvPr/>
        </p:nvCxnSpPr>
        <p:spPr>
          <a:xfrm flipV="1">
            <a:off x="705498" y="2940855"/>
            <a:ext cx="437659" cy="4634"/>
          </a:xfrm>
          <a:prstGeom prst="straightConnector1">
            <a:avLst/>
          </a:prstGeom>
          <a:ln w="63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0A9587AC-BC7F-115C-A421-C2F2FC0001DF}"/>
              </a:ext>
            </a:extLst>
          </p:cNvPr>
          <p:cNvSpPr/>
          <p:nvPr/>
        </p:nvSpPr>
        <p:spPr>
          <a:xfrm>
            <a:off x="216206" y="2827651"/>
            <a:ext cx="489292" cy="23567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94D8335-5DF4-E705-57CF-F2B2A4CA1ADA}"/>
              </a:ext>
            </a:extLst>
          </p:cNvPr>
          <p:cNvSpPr txBox="1"/>
          <p:nvPr/>
        </p:nvSpPr>
        <p:spPr>
          <a:xfrm>
            <a:off x="219370" y="2825909"/>
            <a:ext cx="46153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i="1" dirty="0">
                <a:latin typeface="Arial" panose="020B0604020202020204" pitchFamily="34" charset="0"/>
                <a:cs typeface="Arial" panose="020B0604020202020204" pitchFamily="34" charset="0"/>
              </a:rPr>
              <a:t>Input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5B43BD2-1A23-2A1F-B9FF-A779A460AFB6}"/>
              </a:ext>
            </a:extLst>
          </p:cNvPr>
          <p:cNvSpPr txBox="1"/>
          <p:nvPr/>
        </p:nvSpPr>
        <p:spPr>
          <a:xfrm>
            <a:off x="718942" y="981729"/>
            <a:ext cx="116443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i="1" dirty="0">
                <a:latin typeface="Arial" panose="020B0604020202020204" pitchFamily="34" charset="0"/>
                <a:cs typeface="Arial" panose="020B0604020202020204" pitchFamily="34" charset="0"/>
              </a:rPr>
              <a:t>input embeddings</a:t>
            </a:r>
          </a:p>
        </p:txBody>
      </p: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8F4D44B5-C73F-75DE-7C72-33192FE4E320}"/>
              </a:ext>
            </a:extLst>
          </p:cNvPr>
          <p:cNvCxnSpPr>
            <a:cxnSpLocks/>
          </p:cNvCxnSpPr>
          <p:nvPr/>
        </p:nvCxnSpPr>
        <p:spPr>
          <a:xfrm>
            <a:off x="1482845" y="2932361"/>
            <a:ext cx="1119965" cy="969805"/>
          </a:xfrm>
          <a:prstGeom prst="bentConnector3">
            <a:avLst>
              <a:gd name="adj1" fmla="val 50000"/>
            </a:avLst>
          </a:prstGeom>
          <a:ln w="9525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id="{8BD27393-B7E7-CADD-390F-BBC8000B80D6}"/>
              </a:ext>
            </a:extLst>
          </p:cNvPr>
          <p:cNvCxnSpPr>
            <a:cxnSpLocks/>
          </p:cNvCxnSpPr>
          <p:nvPr/>
        </p:nvCxnSpPr>
        <p:spPr>
          <a:xfrm flipV="1">
            <a:off x="1484404" y="1989185"/>
            <a:ext cx="1119126" cy="944945"/>
          </a:xfrm>
          <a:prstGeom prst="bentConnector3">
            <a:avLst>
              <a:gd name="adj1" fmla="val 50000"/>
            </a:avLst>
          </a:prstGeom>
          <a:ln w="9525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495710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8E22F-D3AE-1EF1-D5F9-023D0D88D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E72FD24-BF9E-BACF-0EF9-99FC7212A670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492" name="Group 491">
            <a:extLst>
              <a:ext uri="{FF2B5EF4-FFF2-40B4-BE49-F238E27FC236}">
                <a16:creationId xmlns:a16="http://schemas.microsoft.com/office/drawing/2014/main" id="{6BAE962B-5FC6-9818-5084-F6AF8AE40B55}"/>
              </a:ext>
            </a:extLst>
          </p:cNvPr>
          <p:cNvGrpSpPr/>
          <p:nvPr/>
        </p:nvGrpSpPr>
        <p:grpSpPr>
          <a:xfrm rot="5400000">
            <a:off x="499750" y="792293"/>
            <a:ext cx="885634" cy="614917"/>
            <a:chOff x="377773" y="541673"/>
            <a:chExt cx="885634" cy="614917"/>
          </a:xfrm>
          <a:solidFill>
            <a:srgbClr val="D8D8D8"/>
          </a:solidFill>
        </p:grpSpPr>
        <p:sp>
          <p:nvSpPr>
            <p:cNvPr id="26" name="Rounded Rectangle 25">
              <a:extLst>
                <a:ext uri="{FF2B5EF4-FFF2-40B4-BE49-F238E27FC236}">
                  <a16:creationId xmlns:a16="http://schemas.microsoft.com/office/drawing/2014/main" id="{865A49A1-C688-A331-6EB7-3AEFFA998CE0}"/>
                </a:ext>
              </a:extLst>
            </p:cNvPr>
            <p:cNvSpPr/>
            <p:nvPr/>
          </p:nvSpPr>
          <p:spPr>
            <a:xfrm flipH="1">
              <a:off x="379852" y="542468"/>
              <a:ext cx="131653" cy="141780"/>
            </a:xfrm>
            <a:prstGeom prst="roundRect">
              <a:avLst/>
            </a:prstGeom>
            <a:grp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ounded Rectangle 26">
              <a:extLst>
                <a:ext uri="{FF2B5EF4-FFF2-40B4-BE49-F238E27FC236}">
                  <a16:creationId xmlns:a16="http://schemas.microsoft.com/office/drawing/2014/main" id="{DD613F80-BB6D-50D4-4308-A7608AAD8C24}"/>
                </a:ext>
              </a:extLst>
            </p:cNvPr>
            <p:cNvSpPr/>
            <p:nvPr/>
          </p:nvSpPr>
          <p:spPr>
            <a:xfrm flipH="1">
              <a:off x="379852" y="699209"/>
              <a:ext cx="131653" cy="141780"/>
            </a:xfrm>
            <a:prstGeom prst="roundRect">
              <a:avLst/>
            </a:prstGeom>
            <a:grp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ounded Rectangle 27">
              <a:extLst>
                <a:ext uri="{FF2B5EF4-FFF2-40B4-BE49-F238E27FC236}">
                  <a16:creationId xmlns:a16="http://schemas.microsoft.com/office/drawing/2014/main" id="{7814B60D-CF26-49A6-4920-3CB8B12D29D7}"/>
                </a:ext>
              </a:extLst>
            </p:cNvPr>
            <p:cNvSpPr/>
            <p:nvPr/>
          </p:nvSpPr>
          <p:spPr>
            <a:xfrm flipH="1">
              <a:off x="377773" y="856744"/>
              <a:ext cx="131653" cy="141780"/>
            </a:xfrm>
            <a:prstGeom prst="roundRect">
              <a:avLst/>
            </a:prstGeom>
            <a:grp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ounded Rectangle 28">
              <a:extLst>
                <a:ext uri="{FF2B5EF4-FFF2-40B4-BE49-F238E27FC236}">
                  <a16:creationId xmlns:a16="http://schemas.microsoft.com/office/drawing/2014/main" id="{BA2EC601-EA14-A739-6B04-2CABE7F78508}"/>
                </a:ext>
              </a:extLst>
            </p:cNvPr>
            <p:cNvSpPr/>
            <p:nvPr/>
          </p:nvSpPr>
          <p:spPr>
            <a:xfrm flipH="1">
              <a:off x="379629" y="1014280"/>
              <a:ext cx="131653" cy="141780"/>
            </a:xfrm>
            <a:prstGeom prst="roundRect">
              <a:avLst/>
            </a:prstGeom>
            <a:grp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ounded Rectangle 32">
              <a:extLst>
                <a:ext uri="{FF2B5EF4-FFF2-40B4-BE49-F238E27FC236}">
                  <a16:creationId xmlns:a16="http://schemas.microsoft.com/office/drawing/2014/main" id="{BE5EF7B7-FDB7-B689-6563-DCB3E246F573}"/>
                </a:ext>
              </a:extLst>
            </p:cNvPr>
            <p:cNvSpPr/>
            <p:nvPr/>
          </p:nvSpPr>
          <p:spPr>
            <a:xfrm flipH="1">
              <a:off x="529727" y="541673"/>
              <a:ext cx="131654" cy="141780"/>
            </a:xfrm>
            <a:prstGeom prst="roundRect">
              <a:avLst/>
            </a:prstGeom>
            <a:grp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ounded Rectangle 33">
              <a:extLst>
                <a:ext uri="{FF2B5EF4-FFF2-40B4-BE49-F238E27FC236}">
                  <a16:creationId xmlns:a16="http://schemas.microsoft.com/office/drawing/2014/main" id="{C5D56B90-39C8-66AF-2EB9-92B6A6553EF1}"/>
                </a:ext>
              </a:extLst>
            </p:cNvPr>
            <p:cNvSpPr/>
            <p:nvPr/>
          </p:nvSpPr>
          <p:spPr>
            <a:xfrm flipH="1">
              <a:off x="529698" y="699209"/>
              <a:ext cx="131654" cy="141780"/>
            </a:xfrm>
            <a:prstGeom prst="roundRect">
              <a:avLst/>
            </a:prstGeom>
            <a:grp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750E0C82-115D-53C3-A7DB-2ECFABCC0C28}"/>
                </a:ext>
              </a:extLst>
            </p:cNvPr>
            <p:cNvSpPr/>
            <p:nvPr/>
          </p:nvSpPr>
          <p:spPr>
            <a:xfrm flipH="1">
              <a:off x="529712" y="856744"/>
              <a:ext cx="131654" cy="141780"/>
            </a:xfrm>
            <a:prstGeom prst="roundRect">
              <a:avLst/>
            </a:prstGeom>
            <a:grp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ounded Rectangle 35">
              <a:extLst>
                <a:ext uri="{FF2B5EF4-FFF2-40B4-BE49-F238E27FC236}">
                  <a16:creationId xmlns:a16="http://schemas.microsoft.com/office/drawing/2014/main" id="{27C1CF64-603A-C9A7-9F6E-85E37B546F4A}"/>
                </a:ext>
              </a:extLst>
            </p:cNvPr>
            <p:cNvSpPr/>
            <p:nvPr/>
          </p:nvSpPr>
          <p:spPr>
            <a:xfrm flipH="1">
              <a:off x="529721" y="1014280"/>
              <a:ext cx="131654" cy="141780"/>
            </a:xfrm>
            <a:prstGeom prst="roundRect">
              <a:avLst/>
            </a:prstGeom>
            <a:grp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ounded Rectangle 37">
              <a:extLst>
                <a:ext uri="{FF2B5EF4-FFF2-40B4-BE49-F238E27FC236}">
                  <a16:creationId xmlns:a16="http://schemas.microsoft.com/office/drawing/2014/main" id="{6F6BC90C-2538-14FA-A8FC-B23D8E9F97F7}"/>
                </a:ext>
              </a:extLst>
            </p:cNvPr>
            <p:cNvSpPr/>
            <p:nvPr/>
          </p:nvSpPr>
          <p:spPr>
            <a:xfrm flipH="1">
              <a:off x="681031" y="542203"/>
              <a:ext cx="131653" cy="141780"/>
            </a:xfrm>
            <a:prstGeom prst="roundRect">
              <a:avLst/>
            </a:prstGeom>
            <a:grp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ounded Rectangle 38">
              <a:extLst>
                <a:ext uri="{FF2B5EF4-FFF2-40B4-BE49-F238E27FC236}">
                  <a16:creationId xmlns:a16="http://schemas.microsoft.com/office/drawing/2014/main" id="{322E576E-9F03-1672-8B8B-D21E8EAEAD46}"/>
                </a:ext>
              </a:extLst>
            </p:cNvPr>
            <p:cNvSpPr/>
            <p:nvPr/>
          </p:nvSpPr>
          <p:spPr>
            <a:xfrm flipH="1">
              <a:off x="681031" y="699739"/>
              <a:ext cx="131653" cy="141780"/>
            </a:xfrm>
            <a:prstGeom prst="roundRect">
              <a:avLst/>
            </a:prstGeom>
            <a:grp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C13D2BED-A488-AF64-F9C0-F839229A7EC4}"/>
                </a:ext>
              </a:extLst>
            </p:cNvPr>
            <p:cNvSpPr/>
            <p:nvPr/>
          </p:nvSpPr>
          <p:spPr>
            <a:xfrm flipH="1">
              <a:off x="681031" y="857274"/>
              <a:ext cx="131653" cy="141780"/>
            </a:xfrm>
            <a:prstGeom prst="roundRect">
              <a:avLst/>
            </a:prstGeom>
            <a:grp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ounded Rectangle 40">
              <a:extLst>
                <a:ext uri="{FF2B5EF4-FFF2-40B4-BE49-F238E27FC236}">
                  <a16:creationId xmlns:a16="http://schemas.microsoft.com/office/drawing/2014/main" id="{33FCC15C-DFB3-737E-CC95-044C51AAAA67}"/>
                </a:ext>
              </a:extLst>
            </p:cNvPr>
            <p:cNvSpPr/>
            <p:nvPr/>
          </p:nvSpPr>
          <p:spPr>
            <a:xfrm flipH="1">
              <a:off x="681031" y="1014810"/>
              <a:ext cx="131653" cy="141780"/>
            </a:xfrm>
            <a:prstGeom prst="roundRect">
              <a:avLst/>
            </a:prstGeom>
            <a:grp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ounded Rectangle 47">
              <a:extLst>
                <a:ext uri="{FF2B5EF4-FFF2-40B4-BE49-F238E27FC236}">
                  <a16:creationId xmlns:a16="http://schemas.microsoft.com/office/drawing/2014/main" id="{0578AD6B-0DC4-C7EB-6559-B6F8C6BCE756}"/>
                </a:ext>
              </a:extLst>
            </p:cNvPr>
            <p:cNvSpPr/>
            <p:nvPr/>
          </p:nvSpPr>
          <p:spPr>
            <a:xfrm flipH="1">
              <a:off x="831237" y="541673"/>
              <a:ext cx="131653" cy="141780"/>
            </a:xfrm>
            <a:prstGeom prst="roundRect">
              <a:avLst/>
            </a:prstGeom>
            <a:grp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ounded Rectangle 49">
              <a:extLst>
                <a:ext uri="{FF2B5EF4-FFF2-40B4-BE49-F238E27FC236}">
                  <a16:creationId xmlns:a16="http://schemas.microsoft.com/office/drawing/2014/main" id="{21E4130F-D7F9-9FB4-DDEF-09654AD6CC0F}"/>
                </a:ext>
              </a:extLst>
            </p:cNvPr>
            <p:cNvSpPr/>
            <p:nvPr/>
          </p:nvSpPr>
          <p:spPr>
            <a:xfrm flipH="1">
              <a:off x="831237" y="699209"/>
              <a:ext cx="131653" cy="141780"/>
            </a:xfrm>
            <a:prstGeom prst="roundRect">
              <a:avLst/>
            </a:prstGeom>
            <a:grp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ounded Rectangle 50">
              <a:extLst>
                <a:ext uri="{FF2B5EF4-FFF2-40B4-BE49-F238E27FC236}">
                  <a16:creationId xmlns:a16="http://schemas.microsoft.com/office/drawing/2014/main" id="{DDA565DF-A973-D1B6-8C35-9BE9A0713453}"/>
                </a:ext>
              </a:extLst>
            </p:cNvPr>
            <p:cNvSpPr/>
            <p:nvPr/>
          </p:nvSpPr>
          <p:spPr>
            <a:xfrm flipH="1">
              <a:off x="831237" y="856744"/>
              <a:ext cx="131653" cy="141780"/>
            </a:xfrm>
            <a:prstGeom prst="roundRect">
              <a:avLst/>
            </a:prstGeom>
            <a:grp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ounded Rectangle 56">
              <a:extLst>
                <a:ext uri="{FF2B5EF4-FFF2-40B4-BE49-F238E27FC236}">
                  <a16:creationId xmlns:a16="http://schemas.microsoft.com/office/drawing/2014/main" id="{D68E7960-FE80-8E58-CE81-B054C642CA79}"/>
                </a:ext>
              </a:extLst>
            </p:cNvPr>
            <p:cNvSpPr/>
            <p:nvPr/>
          </p:nvSpPr>
          <p:spPr>
            <a:xfrm flipH="1">
              <a:off x="831237" y="1014280"/>
              <a:ext cx="131653" cy="141780"/>
            </a:xfrm>
            <a:prstGeom prst="roundRect">
              <a:avLst/>
            </a:prstGeom>
            <a:grp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ounded Rectangle 58">
              <a:extLst>
                <a:ext uri="{FF2B5EF4-FFF2-40B4-BE49-F238E27FC236}">
                  <a16:creationId xmlns:a16="http://schemas.microsoft.com/office/drawing/2014/main" id="{6168DF4E-2866-FF70-A969-C20B2AED9128}"/>
                </a:ext>
              </a:extLst>
            </p:cNvPr>
            <p:cNvSpPr/>
            <p:nvPr/>
          </p:nvSpPr>
          <p:spPr>
            <a:xfrm flipH="1">
              <a:off x="981494" y="541673"/>
              <a:ext cx="131653" cy="141780"/>
            </a:xfrm>
            <a:prstGeom prst="roundRect">
              <a:avLst/>
            </a:prstGeom>
            <a:grp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ounded Rectangle 59">
              <a:extLst>
                <a:ext uri="{FF2B5EF4-FFF2-40B4-BE49-F238E27FC236}">
                  <a16:creationId xmlns:a16="http://schemas.microsoft.com/office/drawing/2014/main" id="{0FFDC685-BB16-0F40-ECD2-5D965ABFC6B1}"/>
                </a:ext>
              </a:extLst>
            </p:cNvPr>
            <p:cNvSpPr/>
            <p:nvPr/>
          </p:nvSpPr>
          <p:spPr>
            <a:xfrm flipH="1">
              <a:off x="981494" y="699209"/>
              <a:ext cx="131653" cy="141780"/>
            </a:xfrm>
            <a:prstGeom prst="roundRect">
              <a:avLst/>
            </a:prstGeom>
            <a:grp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ounded Rectangle 60">
              <a:extLst>
                <a:ext uri="{FF2B5EF4-FFF2-40B4-BE49-F238E27FC236}">
                  <a16:creationId xmlns:a16="http://schemas.microsoft.com/office/drawing/2014/main" id="{C530A53A-C444-E04C-2FFF-60F7CD0572F0}"/>
                </a:ext>
              </a:extLst>
            </p:cNvPr>
            <p:cNvSpPr/>
            <p:nvPr/>
          </p:nvSpPr>
          <p:spPr>
            <a:xfrm flipH="1">
              <a:off x="981494" y="856744"/>
              <a:ext cx="131653" cy="141780"/>
            </a:xfrm>
            <a:prstGeom prst="roundRect">
              <a:avLst/>
            </a:prstGeom>
            <a:grp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ounded Rectangle 61">
              <a:extLst>
                <a:ext uri="{FF2B5EF4-FFF2-40B4-BE49-F238E27FC236}">
                  <a16:creationId xmlns:a16="http://schemas.microsoft.com/office/drawing/2014/main" id="{7B39F30F-5D3E-0148-E9D0-1DCFC42F6043}"/>
                </a:ext>
              </a:extLst>
            </p:cNvPr>
            <p:cNvSpPr/>
            <p:nvPr/>
          </p:nvSpPr>
          <p:spPr>
            <a:xfrm flipH="1">
              <a:off x="981494" y="1014280"/>
              <a:ext cx="131653" cy="141780"/>
            </a:xfrm>
            <a:prstGeom prst="roundRect">
              <a:avLst/>
            </a:prstGeom>
            <a:grp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ounded Rectangle 63">
              <a:extLst>
                <a:ext uri="{FF2B5EF4-FFF2-40B4-BE49-F238E27FC236}">
                  <a16:creationId xmlns:a16="http://schemas.microsoft.com/office/drawing/2014/main" id="{E92D51BF-7917-D570-C0CA-487469BEF1A0}"/>
                </a:ext>
              </a:extLst>
            </p:cNvPr>
            <p:cNvSpPr/>
            <p:nvPr/>
          </p:nvSpPr>
          <p:spPr>
            <a:xfrm flipH="1">
              <a:off x="1131754" y="541673"/>
              <a:ext cx="131653" cy="141780"/>
            </a:xfrm>
            <a:prstGeom prst="roundRect">
              <a:avLst/>
            </a:prstGeom>
            <a:grp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ounded Rectangle 64">
              <a:extLst>
                <a:ext uri="{FF2B5EF4-FFF2-40B4-BE49-F238E27FC236}">
                  <a16:creationId xmlns:a16="http://schemas.microsoft.com/office/drawing/2014/main" id="{3AB9E50F-C8C9-CF5F-0C6E-D6C272B846DA}"/>
                </a:ext>
              </a:extLst>
            </p:cNvPr>
            <p:cNvSpPr/>
            <p:nvPr/>
          </p:nvSpPr>
          <p:spPr>
            <a:xfrm flipH="1">
              <a:off x="1131754" y="699209"/>
              <a:ext cx="131653" cy="141780"/>
            </a:xfrm>
            <a:prstGeom prst="roundRect">
              <a:avLst/>
            </a:prstGeom>
            <a:grp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ounded Rectangle 65">
              <a:extLst>
                <a:ext uri="{FF2B5EF4-FFF2-40B4-BE49-F238E27FC236}">
                  <a16:creationId xmlns:a16="http://schemas.microsoft.com/office/drawing/2014/main" id="{C75380DC-C6E3-3E3F-0C09-B68CDD0526DE}"/>
                </a:ext>
              </a:extLst>
            </p:cNvPr>
            <p:cNvSpPr/>
            <p:nvPr/>
          </p:nvSpPr>
          <p:spPr>
            <a:xfrm flipH="1">
              <a:off x="1131754" y="856744"/>
              <a:ext cx="131653" cy="141780"/>
            </a:xfrm>
            <a:prstGeom prst="roundRect">
              <a:avLst/>
            </a:prstGeom>
            <a:grp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ounded Rectangle 69">
              <a:extLst>
                <a:ext uri="{FF2B5EF4-FFF2-40B4-BE49-F238E27FC236}">
                  <a16:creationId xmlns:a16="http://schemas.microsoft.com/office/drawing/2014/main" id="{3F333BD3-9105-B2C2-FD5B-9F1C2EC8E26B}"/>
                </a:ext>
              </a:extLst>
            </p:cNvPr>
            <p:cNvSpPr/>
            <p:nvPr/>
          </p:nvSpPr>
          <p:spPr>
            <a:xfrm flipH="1">
              <a:off x="1131754" y="1014280"/>
              <a:ext cx="131653" cy="141780"/>
            </a:xfrm>
            <a:prstGeom prst="roundRect">
              <a:avLst/>
            </a:prstGeom>
            <a:grp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C5621232-1B58-0DA4-4B2F-316C297E7C0D}"/>
              </a:ext>
            </a:extLst>
          </p:cNvPr>
          <p:cNvSpPr txBox="1"/>
          <p:nvPr/>
        </p:nvSpPr>
        <p:spPr>
          <a:xfrm>
            <a:off x="769705" y="1543342"/>
            <a:ext cx="238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grpSp>
        <p:nvGrpSpPr>
          <p:cNvPr id="544" name="Group 543">
            <a:extLst>
              <a:ext uri="{FF2B5EF4-FFF2-40B4-BE49-F238E27FC236}">
                <a16:creationId xmlns:a16="http://schemas.microsoft.com/office/drawing/2014/main" id="{46938204-18D7-B72C-992F-2BD33CF7B3FA}"/>
              </a:ext>
            </a:extLst>
          </p:cNvPr>
          <p:cNvGrpSpPr/>
          <p:nvPr/>
        </p:nvGrpSpPr>
        <p:grpSpPr>
          <a:xfrm rot="5400000">
            <a:off x="1628073" y="918954"/>
            <a:ext cx="614386" cy="280463"/>
            <a:chOff x="1618647" y="673052"/>
            <a:chExt cx="614386" cy="280463"/>
          </a:xfrm>
          <a:solidFill>
            <a:srgbClr val="7BAF6B"/>
          </a:solidFill>
        </p:grpSpPr>
        <p:sp>
          <p:nvSpPr>
            <p:cNvPr id="82" name="Rounded Rectangle 81">
              <a:extLst>
                <a:ext uri="{FF2B5EF4-FFF2-40B4-BE49-F238E27FC236}">
                  <a16:creationId xmlns:a16="http://schemas.microsoft.com/office/drawing/2014/main" id="{3EC3C07A-275E-815E-2DBA-43E794FF6891}"/>
                </a:ext>
              </a:extLst>
            </p:cNvPr>
            <p:cNvSpPr/>
            <p:nvPr/>
          </p:nvSpPr>
          <p:spPr>
            <a:xfrm rot="5400000" flipH="1">
              <a:off x="2096316" y="667989"/>
              <a:ext cx="131653" cy="141780"/>
            </a:xfrm>
            <a:prstGeom prst="roundRect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ounded Rectangle 86">
              <a:extLst>
                <a:ext uri="{FF2B5EF4-FFF2-40B4-BE49-F238E27FC236}">
                  <a16:creationId xmlns:a16="http://schemas.microsoft.com/office/drawing/2014/main" id="{6477FC30-160E-9EB9-F34C-5DB508A50F70}"/>
                </a:ext>
              </a:extLst>
            </p:cNvPr>
            <p:cNvSpPr/>
            <p:nvPr/>
          </p:nvSpPr>
          <p:spPr>
            <a:xfrm rot="5400000" flipH="1">
              <a:off x="2096316" y="816799"/>
              <a:ext cx="131653" cy="141780"/>
            </a:xfrm>
            <a:prstGeom prst="roundRect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43" name="Group 542">
              <a:extLst>
                <a:ext uri="{FF2B5EF4-FFF2-40B4-BE49-F238E27FC236}">
                  <a16:creationId xmlns:a16="http://schemas.microsoft.com/office/drawing/2014/main" id="{A863529E-EAF7-2B5B-F823-3E237433EFB7}"/>
                </a:ext>
              </a:extLst>
            </p:cNvPr>
            <p:cNvGrpSpPr/>
            <p:nvPr/>
          </p:nvGrpSpPr>
          <p:grpSpPr>
            <a:xfrm>
              <a:off x="1618647" y="673052"/>
              <a:ext cx="456851" cy="280463"/>
              <a:chOff x="1618647" y="673052"/>
              <a:chExt cx="456851" cy="280463"/>
            </a:xfrm>
            <a:grpFill/>
          </p:grpSpPr>
          <p:sp>
            <p:nvSpPr>
              <p:cNvPr id="83" name="Rounded Rectangle 82">
                <a:extLst>
                  <a:ext uri="{FF2B5EF4-FFF2-40B4-BE49-F238E27FC236}">
                    <a16:creationId xmlns:a16="http://schemas.microsoft.com/office/drawing/2014/main" id="{E670FC6B-F5C0-9CA0-68E0-4966EED7580B}"/>
                  </a:ext>
                </a:extLst>
              </p:cNvPr>
              <p:cNvSpPr/>
              <p:nvPr/>
            </p:nvSpPr>
            <p:spPr>
              <a:xfrm rot="5400000" flipH="1">
                <a:off x="1938781" y="667989"/>
                <a:ext cx="131653" cy="141780"/>
              </a:xfrm>
              <a:prstGeom prst="roundRect">
                <a:avLst/>
              </a:prstGeom>
              <a:grp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4" name="Rounded Rectangle 83">
                <a:extLst>
                  <a:ext uri="{FF2B5EF4-FFF2-40B4-BE49-F238E27FC236}">
                    <a16:creationId xmlns:a16="http://schemas.microsoft.com/office/drawing/2014/main" id="{8A732C45-C7FF-0677-7E04-FB8E7CFCFF2C}"/>
                  </a:ext>
                </a:extLst>
              </p:cNvPr>
              <p:cNvSpPr/>
              <p:nvPr/>
            </p:nvSpPr>
            <p:spPr>
              <a:xfrm rot="5400000" flipH="1">
                <a:off x="1781245" y="667989"/>
                <a:ext cx="131653" cy="141780"/>
              </a:xfrm>
              <a:prstGeom prst="roundRect">
                <a:avLst/>
              </a:prstGeom>
              <a:grp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5" name="Rounded Rectangle 84">
                <a:extLst>
                  <a:ext uri="{FF2B5EF4-FFF2-40B4-BE49-F238E27FC236}">
                    <a16:creationId xmlns:a16="http://schemas.microsoft.com/office/drawing/2014/main" id="{85910AA2-D1E6-351A-172A-DCA23675CAF3}"/>
                  </a:ext>
                </a:extLst>
              </p:cNvPr>
              <p:cNvSpPr/>
              <p:nvPr/>
            </p:nvSpPr>
            <p:spPr>
              <a:xfrm rot="5400000" flipH="1">
                <a:off x="1623710" y="667989"/>
                <a:ext cx="131653" cy="141780"/>
              </a:xfrm>
              <a:prstGeom prst="roundRect">
                <a:avLst/>
              </a:prstGeom>
              <a:grp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" name="Rounded Rectangle 87">
                <a:extLst>
                  <a:ext uri="{FF2B5EF4-FFF2-40B4-BE49-F238E27FC236}">
                    <a16:creationId xmlns:a16="http://schemas.microsoft.com/office/drawing/2014/main" id="{977816D7-C59C-60BB-8344-F6949B669712}"/>
                  </a:ext>
                </a:extLst>
              </p:cNvPr>
              <p:cNvSpPr/>
              <p:nvPr/>
            </p:nvSpPr>
            <p:spPr>
              <a:xfrm rot="5400000" flipH="1">
                <a:off x="1938781" y="816799"/>
                <a:ext cx="131653" cy="141780"/>
              </a:xfrm>
              <a:prstGeom prst="roundRect">
                <a:avLst/>
              </a:prstGeom>
              <a:grp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" name="Rounded Rectangle 88">
                <a:extLst>
                  <a:ext uri="{FF2B5EF4-FFF2-40B4-BE49-F238E27FC236}">
                    <a16:creationId xmlns:a16="http://schemas.microsoft.com/office/drawing/2014/main" id="{23DD8932-D0B2-DF3A-1E8B-398C86FD96D8}"/>
                  </a:ext>
                </a:extLst>
              </p:cNvPr>
              <p:cNvSpPr/>
              <p:nvPr/>
            </p:nvSpPr>
            <p:spPr>
              <a:xfrm rot="5400000" flipH="1">
                <a:off x="1781245" y="816799"/>
                <a:ext cx="131653" cy="141780"/>
              </a:xfrm>
              <a:prstGeom prst="roundRect">
                <a:avLst/>
              </a:prstGeom>
              <a:grp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" name="Rounded Rectangle 89">
                <a:extLst>
                  <a:ext uri="{FF2B5EF4-FFF2-40B4-BE49-F238E27FC236}">
                    <a16:creationId xmlns:a16="http://schemas.microsoft.com/office/drawing/2014/main" id="{C9F7E221-D93E-F787-2FDF-C9551FE23865}"/>
                  </a:ext>
                </a:extLst>
              </p:cNvPr>
              <p:cNvSpPr/>
              <p:nvPr/>
            </p:nvSpPr>
            <p:spPr>
              <a:xfrm rot="5400000" flipH="1">
                <a:off x="1623710" y="816799"/>
                <a:ext cx="131653" cy="141780"/>
              </a:xfrm>
              <a:prstGeom prst="roundRect">
                <a:avLst/>
              </a:prstGeom>
              <a:grp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92" name="TextBox 91">
            <a:extLst>
              <a:ext uri="{FF2B5EF4-FFF2-40B4-BE49-F238E27FC236}">
                <a16:creationId xmlns:a16="http://schemas.microsoft.com/office/drawing/2014/main" id="{1917971E-97DE-287B-AD56-91BF7E4F5E42}"/>
              </a:ext>
            </a:extLst>
          </p:cNvPr>
          <p:cNvSpPr txBox="1"/>
          <p:nvPr/>
        </p:nvSpPr>
        <p:spPr>
          <a:xfrm>
            <a:off x="1713197" y="1538174"/>
            <a:ext cx="687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A04F75F7-5DBA-F48A-8663-1B65A8C9CEDD}"/>
              </a:ext>
            </a:extLst>
          </p:cNvPr>
          <p:cNvSpPr txBox="1"/>
          <p:nvPr/>
        </p:nvSpPr>
        <p:spPr>
          <a:xfrm>
            <a:off x="1347159" y="896144"/>
            <a:ext cx="2389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50EEDA6D-5424-55F4-94CC-912BED30AC3B}"/>
              </a:ext>
            </a:extLst>
          </p:cNvPr>
          <p:cNvSpPr txBox="1"/>
          <p:nvPr/>
        </p:nvSpPr>
        <p:spPr>
          <a:xfrm>
            <a:off x="2265492" y="874519"/>
            <a:ext cx="238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</a:p>
        </p:txBody>
      </p:sp>
      <p:grpSp>
        <p:nvGrpSpPr>
          <p:cNvPr id="545" name="Group 544">
            <a:extLst>
              <a:ext uri="{FF2B5EF4-FFF2-40B4-BE49-F238E27FC236}">
                <a16:creationId xmlns:a16="http://schemas.microsoft.com/office/drawing/2014/main" id="{76E075B1-526E-C5E5-4384-2E6A05129E66}"/>
              </a:ext>
            </a:extLst>
          </p:cNvPr>
          <p:cNvGrpSpPr/>
          <p:nvPr/>
        </p:nvGrpSpPr>
        <p:grpSpPr>
          <a:xfrm rot="5400000">
            <a:off x="2482882" y="847213"/>
            <a:ext cx="930878" cy="283776"/>
            <a:chOff x="2544765" y="680139"/>
            <a:chExt cx="930878" cy="283776"/>
          </a:xfrm>
          <a:solidFill>
            <a:srgbClr val="D4EDCB"/>
          </a:solidFill>
        </p:grpSpPr>
        <p:sp>
          <p:nvSpPr>
            <p:cNvPr id="96" name="Rounded Rectangle 95">
              <a:extLst>
                <a:ext uri="{FF2B5EF4-FFF2-40B4-BE49-F238E27FC236}">
                  <a16:creationId xmlns:a16="http://schemas.microsoft.com/office/drawing/2014/main" id="{43B1CE26-1B81-12BB-A06A-1FD55BA50034}"/>
                </a:ext>
              </a:extLst>
            </p:cNvPr>
            <p:cNvSpPr/>
            <p:nvPr/>
          </p:nvSpPr>
          <p:spPr>
            <a:xfrm rot="5400000" flipH="1">
              <a:off x="3022434" y="678389"/>
              <a:ext cx="131653" cy="141780"/>
            </a:xfrm>
            <a:prstGeom prst="roundRect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ounded Rectangle 96">
              <a:extLst>
                <a:ext uri="{FF2B5EF4-FFF2-40B4-BE49-F238E27FC236}">
                  <a16:creationId xmlns:a16="http://schemas.microsoft.com/office/drawing/2014/main" id="{3E0235F3-D8C8-902F-8FBC-EC300282FC46}"/>
                </a:ext>
              </a:extLst>
            </p:cNvPr>
            <p:cNvSpPr/>
            <p:nvPr/>
          </p:nvSpPr>
          <p:spPr>
            <a:xfrm rot="5400000" flipH="1">
              <a:off x="2864899" y="678389"/>
              <a:ext cx="131653" cy="141780"/>
            </a:xfrm>
            <a:prstGeom prst="roundRect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Rounded Rectangle 97">
              <a:extLst>
                <a:ext uri="{FF2B5EF4-FFF2-40B4-BE49-F238E27FC236}">
                  <a16:creationId xmlns:a16="http://schemas.microsoft.com/office/drawing/2014/main" id="{F4915DC4-8FF7-340D-FB57-3BB6E0E7AA3A}"/>
                </a:ext>
              </a:extLst>
            </p:cNvPr>
            <p:cNvSpPr/>
            <p:nvPr/>
          </p:nvSpPr>
          <p:spPr>
            <a:xfrm rot="5400000" flipH="1">
              <a:off x="2707363" y="678389"/>
              <a:ext cx="131653" cy="141780"/>
            </a:xfrm>
            <a:prstGeom prst="roundRect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ounded Rectangle 98">
              <a:extLst>
                <a:ext uri="{FF2B5EF4-FFF2-40B4-BE49-F238E27FC236}">
                  <a16:creationId xmlns:a16="http://schemas.microsoft.com/office/drawing/2014/main" id="{3E28B9E9-7C8F-E534-6BF8-4ED011814EDD}"/>
                </a:ext>
              </a:extLst>
            </p:cNvPr>
            <p:cNvSpPr/>
            <p:nvPr/>
          </p:nvSpPr>
          <p:spPr>
            <a:xfrm rot="5400000" flipH="1">
              <a:off x="2549828" y="678389"/>
              <a:ext cx="131653" cy="141780"/>
            </a:xfrm>
            <a:prstGeom prst="roundRect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Rounded Rectangle 102">
              <a:extLst>
                <a:ext uri="{FF2B5EF4-FFF2-40B4-BE49-F238E27FC236}">
                  <a16:creationId xmlns:a16="http://schemas.microsoft.com/office/drawing/2014/main" id="{ECF3BE03-6D43-B388-1A68-840F20716D22}"/>
                </a:ext>
              </a:extLst>
            </p:cNvPr>
            <p:cNvSpPr/>
            <p:nvPr/>
          </p:nvSpPr>
          <p:spPr>
            <a:xfrm rot="5400000" flipH="1">
              <a:off x="3338926" y="675076"/>
              <a:ext cx="131653" cy="141780"/>
            </a:xfrm>
            <a:prstGeom prst="roundRect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ounded Rectangle 103">
              <a:extLst>
                <a:ext uri="{FF2B5EF4-FFF2-40B4-BE49-F238E27FC236}">
                  <a16:creationId xmlns:a16="http://schemas.microsoft.com/office/drawing/2014/main" id="{B4FF7BD6-1EB4-51C4-F2CC-57B6EC458FAB}"/>
                </a:ext>
              </a:extLst>
            </p:cNvPr>
            <p:cNvSpPr/>
            <p:nvPr/>
          </p:nvSpPr>
          <p:spPr>
            <a:xfrm rot="5400000" flipH="1">
              <a:off x="3181555" y="675076"/>
              <a:ext cx="131653" cy="141780"/>
            </a:xfrm>
            <a:prstGeom prst="roundRect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ounded Rectangle 105">
              <a:extLst>
                <a:ext uri="{FF2B5EF4-FFF2-40B4-BE49-F238E27FC236}">
                  <a16:creationId xmlns:a16="http://schemas.microsoft.com/office/drawing/2014/main" id="{FA442B9C-5EAD-5E95-97E8-A1D182F553DC}"/>
                </a:ext>
              </a:extLst>
            </p:cNvPr>
            <p:cNvSpPr/>
            <p:nvPr/>
          </p:nvSpPr>
          <p:spPr>
            <a:xfrm rot="5400000" flipH="1">
              <a:off x="3022434" y="827199"/>
              <a:ext cx="131653" cy="141780"/>
            </a:xfrm>
            <a:prstGeom prst="roundRect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ounded Rectangle 106">
              <a:extLst>
                <a:ext uri="{FF2B5EF4-FFF2-40B4-BE49-F238E27FC236}">
                  <a16:creationId xmlns:a16="http://schemas.microsoft.com/office/drawing/2014/main" id="{2FEE4562-3CC3-652C-A6AB-A1A877C1EC99}"/>
                </a:ext>
              </a:extLst>
            </p:cNvPr>
            <p:cNvSpPr/>
            <p:nvPr/>
          </p:nvSpPr>
          <p:spPr>
            <a:xfrm rot="5400000" flipH="1">
              <a:off x="2864899" y="827199"/>
              <a:ext cx="131653" cy="141780"/>
            </a:xfrm>
            <a:prstGeom prst="roundRect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ounded Rectangle 107">
              <a:extLst>
                <a:ext uri="{FF2B5EF4-FFF2-40B4-BE49-F238E27FC236}">
                  <a16:creationId xmlns:a16="http://schemas.microsoft.com/office/drawing/2014/main" id="{386BF9DC-49E1-139C-D881-8DAADD72ADBB}"/>
                </a:ext>
              </a:extLst>
            </p:cNvPr>
            <p:cNvSpPr/>
            <p:nvPr/>
          </p:nvSpPr>
          <p:spPr>
            <a:xfrm rot="5400000" flipH="1">
              <a:off x="2707363" y="827199"/>
              <a:ext cx="131653" cy="141780"/>
            </a:xfrm>
            <a:prstGeom prst="roundRect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ounded Rectangle 108">
              <a:extLst>
                <a:ext uri="{FF2B5EF4-FFF2-40B4-BE49-F238E27FC236}">
                  <a16:creationId xmlns:a16="http://schemas.microsoft.com/office/drawing/2014/main" id="{FAF931ED-E287-56E4-2859-859C3B8EC1B4}"/>
                </a:ext>
              </a:extLst>
            </p:cNvPr>
            <p:cNvSpPr/>
            <p:nvPr/>
          </p:nvSpPr>
          <p:spPr>
            <a:xfrm rot="5400000" flipH="1">
              <a:off x="2549828" y="827199"/>
              <a:ext cx="131653" cy="141780"/>
            </a:xfrm>
            <a:prstGeom prst="roundRect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Rounded Rectangle 109">
              <a:extLst>
                <a:ext uri="{FF2B5EF4-FFF2-40B4-BE49-F238E27FC236}">
                  <a16:creationId xmlns:a16="http://schemas.microsoft.com/office/drawing/2014/main" id="{4F6AED71-43D3-85CA-493B-1C389E50C391}"/>
                </a:ext>
              </a:extLst>
            </p:cNvPr>
            <p:cNvSpPr/>
            <p:nvPr/>
          </p:nvSpPr>
          <p:spPr>
            <a:xfrm rot="5400000" flipH="1">
              <a:off x="3336529" y="825371"/>
              <a:ext cx="131653" cy="141780"/>
            </a:xfrm>
            <a:prstGeom prst="roundRect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Rounded Rectangle 110">
              <a:extLst>
                <a:ext uri="{FF2B5EF4-FFF2-40B4-BE49-F238E27FC236}">
                  <a16:creationId xmlns:a16="http://schemas.microsoft.com/office/drawing/2014/main" id="{296B5BB9-E551-C542-2CF5-F161822E2D46}"/>
                </a:ext>
              </a:extLst>
            </p:cNvPr>
            <p:cNvSpPr/>
            <p:nvPr/>
          </p:nvSpPr>
          <p:spPr>
            <a:xfrm rot="5400000" flipH="1">
              <a:off x="3178562" y="824267"/>
              <a:ext cx="131653" cy="141780"/>
            </a:xfrm>
            <a:prstGeom prst="roundRect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2" name="TextBox 111">
            <a:extLst>
              <a:ext uri="{FF2B5EF4-FFF2-40B4-BE49-F238E27FC236}">
                <a16:creationId xmlns:a16="http://schemas.microsoft.com/office/drawing/2014/main" id="{B91CB847-8CBA-4D3A-5D0C-F5AF5C6B64C7}"/>
              </a:ext>
            </a:extLst>
          </p:cNvPr>
          <p:cNvSpPr txBox="1"/>
          <p:nvPr/>
        </p:nvSpPr>
        <p:spPr>
          <a:xfrm>
            <a:off x="2789437" y="1522271"/>
            <a:ext cx="238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endParaRPr lang="en-US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48" name="Group 547">
            <a:extLst>
              <a:ext uri="{FF2B5EF4-FFF2-40B4-BE49-F238E27FC236}">
                <a16:creationId xmlns:a16="http://schemas.microsoft.com/office/drawing/2014/main" id="{541636DC-3666-646D-FDCE-03E07F5FDF0A}"/>
              </a:ext>
            </a:extLst>
          </p:cNvPr>
          <p:cNvGrpSpPr/>
          <p:nvPr/>
        </p:nvGrpSpPr>
        <p:grpSpPr>
          <a:xfrm rot="5400000">
            <a:off x="4616068" y="818588"/>
            <a:ext cx="930879" cy="283777"/>
            <a:chOff x="4632498" y="454382"/>
            <a:chExt cx="930879" cy="283777"/>
          </a:xfrm>
          <a:solidFill>
            <a:srgbClr val="D4EDCB"/>
          </a:solidFill>
        </p:grpSpPr>
        <p:grpSp>
          <p:nvGrpSpPr>
            <p:cNvPr id="447" name="Group 446">
              <a:extLst>
                <a:ext uri="{FF2B5EF4-FFF2-40B4-BE49-F238E27FC236}">
                  <a16:creationId xmlns:a16="http://schemas.microsoft.com/office/drawing/2014/main" id="{672E9176-0853-DD73-2D16-299470F67D17}"/>
                </a:ext>
              </a:extLst>
            </p:cNvPr>
            <p:cNvGrpSpPr/>
            <p:nvPr/>
          </p:nvGrpSpPr>
          <p:grpSpPr>
            <a:xfrm rot="5400000" flipH="1">
              <a:off x="4873865" y="216329"/>
              <a:ext cx="131653" cy="614387"/>
              <a:chOff x="4254776" y="1845232"/>
              <a:chExt cx="140214" cy="654340"/>
            </a:xfrm>
            <a:grpFill/>
          </p:grpSpPr>
          <p:sp>
            <p:nvSpPr>
              <p:cNvPr id="448" name="Rounded Rectangle 447">
                <a:extLst>
                  <a:ext uri="{FF2B5EF4-FFF2-40B4-BE49-F238E27FC236}">
                    <a16:creationId xmlns:a16="http://schemas.microsoft.com/office/drawing/2014/main" id="{731125B6-0BF4-9531-DE8D-1F27C3EAD5BA}"/>
                  </a:ext>
                </a:extLst>
              </p:cNvPr>
              <p:cNvSpPr/>
              <p:nvPr/>
            </p:nvSpPr>
            <p:spPr>
              <a:xfrm>
                <a:off x="4254776" y="1845232"/>
                <a:ext cx="140214" cy="151000"/>
              </a:xfrm>
              <a:prstGeom prst="roundRect">
                <a:avLst/>
              </a:prstGeom>
              <a:grp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9" name="Rounded Rectangle 448">
                <a:extLst>
                  <a:ext uri="{FF2B5EF4-FFF2-40B4-BE49-F238E27FC236}">
                    <a16:creationId xmlns:a16="http://schemas.microsoft.com/office/drawing/2014/main" id="{BA52DB00-DD4F-A1C4-9250-F5D5E5EAD968}"/>
                  </a:ext>
                </a:extLst>
              </p:cNvPr>
              <p:cNvSpPr/>
              <p:nvPr/>
            </p:nvSpPr>
            <p:spPr>
              <a:xfrm>
                <a:off x="4254776" y="2013012"/>
                <a:ext cx="140214" cy="151000"/>
              </a:xfrm>
              <a:prstGeom prst="roundRect">
                <a:avLst/>
              </a:prstGeom>
              <a:grp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0" name="Rounded Rectangle 449">
                <a:extLst>
                  <a:ext uri="{FF2B5EF4-FFF2-40B4-BE49-F238E27FC236}">
                    <a16:creationId xmlns:a16="http://schemas.microsoft.com/office/drawing/2014/main" id="{B87749F1-190B-3FC7-BCDE-864DCE766F2D}"/>
                  </a:ext>
                </a:extLst>
              </p:cNvPr>
              <p:cNvSpPr/>
              <p:nvPr/>
            </p:nvSpPr>
            <p:spPr>
              <a:xfrm>
                <a:off x="4254776" y="2180792"/>
                <a:ext cx="140214" cy="151000"/>
              </a:xfrm>
              <a:prstGeom prst="roundRect">
                <a:avLst/>
              </a:prstGeom>
              <a:grp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1" name="Rounded Rectangle 450">
                <a:extLst>
                  <a:ext uri="{FF2B5EF4-FFF2-40B4-BE49-F238E27FC236}">
                    <a16:creationId xmlns:a16="http://schemas.microsoft.com/office/drawing/2014/main" id="{5DDD601C-29B2-61C4-EE7C-09976BC266CE}"/>
                  </a:ext>
                </a:extLst>
              </p:cNvPr>
              <p:cNvSpPr/>
              <p:nvPr/>
            </p:nvSpPr>
            <p:spPr>
              <a:xfrm>
                <a:off x="4254776" y="2348572"/>
                <a:ext cx="140214" cy="151000"/>
              </a:xfrm>
              <a:prstGeom prst="roundRect">
                <a:avLst/>
              </a:prstGeom>
              <a:grp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2" name="Rounded Rectangle 451">
              <a:extLst>
                <a:ext uri="{FF2B5EF4-FFF2-40B4-BE49-F238E27FC236}">
                  <a16:creationId xmlns:a16="http://schemas.microsoft.com/office/drawing/2014/main" id="{0BE090A0-615E-FC72-3297-039B2A3C0631}"/>
                </a:ext>
              </a:extLst>
            </p:cNvPr>
            <p:cNvSpPr/>
            <p:nvPr/>
          </p:nvSpPr>
          <p:spPr>
            <a:xfrm rot="5400000" flipH="1">
              <a:off x="5426660" y="449319"/>
              <a:ext cx="131653" cy="141780"/>
            </a:xfrm>
            <a:prstGeom prst="roundRect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3" name="Rounded Rectangle 452">
              <a:extLst>
                <a:ext uri="{FF2B5EF4-FFF2-40B4-BE49-F238E27FC236}">
                  <a16:creationId xmlns:a16="http://schemas.microsoft.com/office/drawing/2014/main" id="{03D85BB8-8502-E8B5-7CCD-09885B9DF064}"/>
                </a:ext>
              </a:extLst>
            </p:cNvPr>
            <p:cNvSpPr/>
            <p:nvPr/>
          </p:nvSpPr>
          <p:spPr>
            <a:xfrm rot="5400000" flipH="1">
              <a:off x="5269289" y="449319"/>
              <a:ext cx="131653" cy="141780"/>
            </a:xfrm>
            <a:prstGeom prst="roundRect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54" name="Group 453">
              <a:extLst>
                <a:ext uri="{FF2B5EF4-FFF2-40B4-BE49-F238E27FC236}">
                  <a16:creationId xmlns:a16="http://schemas.microsoft.com/office/drawing/2014/main" id="{1BBC9A46-3B72-B167-FD3F-DC281CD94B3E}"/>
                </a:ext>
              </a:extLst>
            </p:cNvPr>
            <p:cNvGrpSpPr/>
            <p:nvPr/>
          </p:nvGrpSpPr>
          <p:grpSpPr>
            <a:xfrm rot="5400000" flipH="1">
              <a:off x="4873865" y="365139"/>
              <a:ext cx="131653" cy="614387"/>
              <a:chOff x="4254776" y="1845232"/>
              <a:chExt cx="140214" cy="654340"/>
            </a:xfrm>
            <a:grpFill/>
          </p:grpSpPr>
          <p:sp>
            <p:nvSpPr>
              <p:cNvPr id="455" name="Rounded Rectangle 454">
                <a:extLst>
                  <a:ext uri="{FF2B5EF4-FFF2-40B4-BE49-F238E27FC236}">
                    <a16:creationId xmlns:a16="http://schemas.microsoft.com/office/drawing/2014/main" id="{3EF1E677-A591-C510-7949-324A354B5452}"/>
                  </a:ext>
                </a:extLst>
              </p:cNvPr>
              <p:cNvSpPr/>
              <p:nvPr/>
            </p:nvSpPr>
            <p:spPr>
              <a:xfrm>
                <a:off x="4254776" y="1845232"/>
                <a:ext cx="140214" cy="151000"/>
              </a:xfrm>
              <a:prstGeom prst="roundRect">
                <a:avLst/>
              </a:prstGeom>
              <a:grp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6" name="Rounded Rectangle 455">
                <a:extLst>
                  <a:ext uri="{FF2B5EF4-FFF2-40B4-BE49-F238E27FC236}">
                    <a16:creationId xmlns:a16="http://schemas.microsoft.com/office/drawing/2014/main" id="{88D7D1E7-D631-C0E1-1A4F-711A0E733919}"/>
                  </a:ext>
                </a:extLst>
              </p:cNvPr>
              <p:cNvSpPr/>
              <p:nvPr/>
            </p:nvSpPr>
            <p:spPr>
              <a:xfrm>
                <a:off x="4254776" y="2013012"/>
                <a:ext cx="140214" cy="151000"/>
              </a:xfrm>
              <a:prstGeom prst="roundRect">
                <a:avLst/>
              </a:prstGeom>
              <a:grp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7" name="Rounded Rectangle 456">
                <a:extLst>
                  <a:ext uri="{FF2B5EF4-FFF2-40B4-BE49-F238E27FC236}">
                    <a16:creationId xmlns:a16="http://schemas.microsoft.com/office/drawing/2014/main" id="{D6C64E26-3448-D371-6724-364ADA564BAC}"/>
                  </a:ext>
                </a:extLst>
              </p:cNvPr>
              <p:cNvSpPr/>
              <p:nvPr/>
            </p:nvSpPr>
            <p:spPr>
              <a:xfrm>
                <a:off x="4254776" y="2180792"/>
                <a:ext cx="140214" cy="151000"/>
              </a:xfrm>
              <a:prstGeom prst="roundRect">
                <a:avLst/>
              </a:prstGeom>
              <a:grp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8" name="Rounded Rectangle 457">
                <a:extLst>
                  <a:ext uri="{FF2B5EF4-FFF2-40B4-BE49-F238E27FC236}">
                    <a16:creationId xmlns:a16="http://schemas.microsoft.com/office/drawing/2014/main" id="{14C8FF10-5AD1-EB36-8DE5-DAAA2CFD85B5}"/>
                  </a:ext>
                </a:extLst>
              </p:cNvPr>
              <p:cNvSpPr/>
              <p:nvPr/>
            </p:nvSpPr>
            <p:spPr>
              <a:xfrm>
                <a:off x="4254776" y="2348572"/>
                <a:ext cx="140214" cy="151000"/>
              </a:xfrm>
              <a:prstGeom prst="roundRect">
                <a:avLst/>
              </a:prstGeom>
              <a:grp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9" name="Rounded Rectangle 458">
              <a:extLst>
                <a:ext uri="{FF2B5EF4-FFF2-40B4-BE49-F238E27FC236}">
                  <a16:creationId xmlns:a16="http://schemas.microsoft.com/office/drawing/2014/main" id="{CF1A01B8-03C6-2C59-8C17-82C0EA30B22B}"/>
                </a:ext>
              </a:extLst>
            </p:cNvPr>
            <p:cNvSpPr/>
            <p:nvPr/>
          </p:nvSpPr>
          <p:spPr>
            <a:xfrm rot="5400000" flipH="1">
              <a:off x="5424263" y="599614"/>
              <a:ext cx="131653" cy="141780"/>
            </a:xfrm>
            <a:prstGeom prst="roundRect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0" name="Rounded Rectangle 459">
              <a:extLst>
                <a:ext uri="{FF2B5EF4-FFF2-40B4-BE49-F238E27FC236}">
                  <a16:creationId xmlns:a16="http://schemas.microsoft.com/office/drawing/2014/main" id="{E6A8258F-8A0D-8A60-25AD-FFD4028A2B19}"/>
                </a:ext>
              </a:extLst>
            </p:cNvPr>
            <p:cNvSpPr/>
            <p:nvPr/>
          </p:nvSpPr>
          <p:spPr>
            <a:xfrm rot="5400000" flipH="1">
              <a:off x="5266296" y="598510"/>
              <a:ext cx="131653" cy="141780"/>
            </a:xfrm>
            <a:prstGeom prst="roundRect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463" name="Straight Connector 462">
            <a:extLst>
              <a:ext uri="{FF2B5EF4-FFF2-40B4-BE49-F238E27FC236}">
                <a16:creationId xmlns:a16="http://schemas.microsoft.com/office/drawing/2014/main" id="{47C751C5-3760-FED8-CE26-B4BDFD3E1B27}"/>
              </a:ext>
            </a:extLst>
          </p:cNvPr>
          <p:cNvCxnSpPr/>
          <p:nvPr/>
        </p:nvCxnSpPr>
        <p:spPr>
          <a:xfrm>
            <a:off x="4241260" y="115063"/>
            <a:ext cx="0" cy="494332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57" name="Group 656">
            <a:extLst>
              <a:ext uri="{FF2B5EF4-FFF2-40B4-BE49-F238E27FC236}">
                <a16:creationId xmlns:a16="http://schemas.microsoft.com/office/drawing/2014/main" id="{372C8864-3490-F4ED-8262-C0E2EDE34C25}"/>
              </a:ext>
            </a:extLst>
          </p:cNvPr>
          <p:cNvGrpSpPr/>
          <p:nvPr/>
        </p:nvGrpSpPr>
        <p:grpSpPr>
          <a:xfrm rot="5400000">
            <a:off x="6193813" y="475930"/>
            <a:ext cx="284444" cy="930878"/>
            <a:chOff x="5963745" y="189633"/>
            <a:chExt cx="284444" cy="930878"/>
          </a:xfrm>
          <a:solidFill>
            <a:srgbClr val="FCDBC8"/>
          </a:solidFill>
        </p:grpSpPr>
        <p:grpSp>
          <p:nvGrpSpPr>
            <p:cNvPr id="472" name="Group 471">
              <a:extLst>
                <a:ext uri="{FF2B5EF4-FFF2-40B4-BE49-F238E27FC236}">
                  <a16:creationId xmlns:a16="http://schemas.microsoft.com/office/drawing/2014/main" id="{C3DF3793-79BB-E440-BABD-8F6EFCCC034C}"/>
                </a:ext>
              </a:extLst>
            </p:cNvPr>
            <p:cNvGrpSpPr/>
            <p:nvPr/>
          </p:nvGrpSpPr>
          <p:grpSpPr>
            <a:xfrm rot="10800000" flipH="1">
              <a:off x="6113223" y="189633"/>
              <a:ext cx="131653" cy="614387"/>
              <a:chOff x="4254776" y="1845232"/>
              <a:chExt cx="140214" cy="654340"/>
            </a:xfrm>
            <a:grpFill/>
          </p:grpSpPr>
          <p:sp>
            <p:nvSpPr>
              <p:cNvPr id="473" name="Rounded Rectangle 472">
                <a:extLst>
                  <a:ext uri="{FF2B5EF4-FFF2-40B4-BE49-F238E27FC236}">
                    <a16:creationId xmlns:a16="http://schemas.microsoft.com/office/drawing/2014/main" id="{C18012D0-AEF7-1D61-C296-450594A9F4E5}"/>
                  </a:ext>
                </a:extLst>
              </p:cNvPr>
              <p:cNvSpPr/>
              <p:nvPr/>
            </p:nvSpPr>
            <p:spPr>
              <a:xfrm>
                <a:off x="4254776" y="1845232"/>
                <a:ext cx="140214" cy="151000"/>
              </a:xfrm>
              <a:prstGeom prst="roundRect">
                <a:avLst/>
              </a:prstGeom>
              <a:grp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4" name="Rounded Rectangle 473">
                <a:extLst>
                  <a:ext uri="{FF2B5EF4-FFF2-40B4-BE49-F238E27FC236}">
                    <a16:creationId xmlns:a16="http://schemas.microsoft.com/office/drawing/2014/main" id="{75DE2AF2-C977-0B96-E7B8-B6DF2F84F931}"/>
                  </a:ext>
                </a:extLst>
              </p:cNvPr>
              <p:cNvSpPr/>
              <p:nvPr/>
            </p:nvSpPr>
            <p:spPr>
              <a:xfrm>
                <a:off x="4254776" y="2013012"/>
                <a:ext cx="140214" cy="151000"/>
              </a:xfrm>
              <a:prstGeom prst="roundRect">
                <a:avLst/>
              </a:prstGeom>
              <a:grp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5" name="Rounded Rectangle 474">
                <a:extLst>
                  <a:ext uri="{FF2B5EF4-FFF2-40B4-BE49-F238E27FC236}">
                    <a16:creationId xmlns:a16="http://schemas.microsoft.com/office/drawing/2014/main" id="{CAA9A460-D77E-9A8E-5C26-C3C072FBB1FB}"/>
                  </a:ext>
                </a:extLst>
              </p:cNvPr>
              <p:cNvSpPr/>
              <p:nvPr/>
            </p:nvSpPr>
            <p:spPr>
              <a:xfrm>
                <a:off x="4254776" y="2180792"/>
                <a:ext cx="140214" cy="151000"/>
              </a:xfrm>
              <a:prstGeom prst="roundRect">
                <a:avLst/>
              </a:prstGeom>
              <a:grp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6" name="Rounded Rectangle 475">
                <a:extLst>
                  <a:ext uri="{FF2B5EF4-FFF2-40B4-BE49-F238E27FC236}">
                    <a16:creationId xmlns:a16="http://schemas.microsoft.com/office/drawing/2014/main" id="{31E819C6-3A9C-4353-70B3-A2BDA78ACF32}"/>
                  </a:ext>
                </a:extLst>
              </p:cNvPr>
              <p:cNvSpPr/>
              <p:nvPr/>
            </p:nvSpPr>
            <p:spPr>
              <a:xfrm>
                <a:off x="4254776" y="2348572"/>
                <a:ext cx="140214" cy="151000"/>
              </a:xfrm>
              <a:prstGeom prst="roundRect">
                <a:avLst/>
              </a:prstGeom>
              <a:grp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7" name="Rounded Rectangle 476">
              <a:extLst>
                <a:ext uri="{FF2B5EF4-FFF2-40B4-BE49-F238E27FC236}">
                  <a16:creationId xmlns:a16="http://schemas.microsoft.com/office/drawing/2014/main" id="{482E2637-EA66-87DB-78B4-97AD42031E1B}"/>
                </a:ext>
              </a:extLst>
            </p:cNvPr>
            <p:cNvSpPr/>
            <p:nvPr/>
          </p:nvSpPr>
          <p:spPr>
            <a:xfrm rot="10800000" flipH="1">
              <a:off x="6116536" y="978731"/>
              <a:ext cx="131653" cy="141780"/>
            </a:xfrm>
            <a:prstGeom prst="roundRect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8" name="Rounded Rectangle 477">
              <a:extLst>
                <a:ext uri="{FF2B5EF4-FFF2-40B4-BE49-F238E27FC236}">
                  <a16:creationId xmlns:a16="http://schemas.microsoft.com/office/drawing/2014/main" id="{074E3754-03C1-064B-BA87-295F0538E854}"/>
                </a:ext>
              </a:extLst>
            </p:cNvPr>
            <p:cNvSpPr/>
            <p:nvPr/>
          </p:nvSpPr>
          <p:spPr>
            <a:xfrm rot="10800000" flipH="1">
              <a:off x="6116536" y="821360"/>
              <a:ext cx="131653" cy="141780"/>
            </a:xfrm>
            <a:prstGeom prst="roundRect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79" name="Group 478">
              <a:extLst>
                <a:ext uri="{FF2B5EF4-FFF2-40B4-BE49-F238E27FC236}">
                  <a16:creationId xmlns:a16="http://schemas.microsoft.com/office/drawing/2014/main" id="{557108E4-40EA-02FC-5614-07E63D358B8E}"/>
                </a:ext>
              </a:extLst>
            </p:cNvPr>
            <p:cNvGrpSpPr/>
            <p:nvPr/>
          </p:nvGrpSpPr>
          <p:grpSpPr>
            <a:xfrm rot="10800000" flipH="1">
              <a:off x="5964413" y="189633"/>
              <a:ext cx="131653" cy="614387"/>
              <a:chOff x="4254776" y="1845232"/>
              <a:chExt cx="140214" cy="654340"/>
            </a:xfrm>
            <a:grpFill/>
          </p:grpSpPr>
          <p:sp>
            <p:nvSpPr>
              <p:cNvPr id="480" name="Rounded Rectangle 479">
                <a:extLst>
                  <a:ext uri="{FF2B5EF4-FFF2-40B4-BE49-F238E27FC236}">
                    <a16:creationId xmlns:a16="http://schemas.microsoft.com/office/drawing/2014/main" id="{1369F305-AD02-68E8-8A67-BDCFF241DD9A}"/>
                  </a:ext>
                </a:extLst>
              </p:cNvPr>
              <p:cNvSpPr/>
              <p:nvPr/>
            </p:nvSpPr>
            <p:spPr>
              <a:xfrm>
                <a:off x="4254776" y="1845232"/>
                <a:ext cx="140214" cy="151000"/>
              </a:xfrm>
              <a:prstGeom prst="roundRect">
                <a:avLst/>
              </a:prstGeom>
              <a:grp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1" name="Rounded Rectangle 480">
                <a:extLst>
                  <a:ext uri="{FF2B5EF4-FFF2-40B4-BE49-F238E27FC236}">
                    <a16:creationId xmlns:a16="http://schemas.microsoft.com/office/drawing/2014/main" id="{F70D816C-9E3E-5B6F-358B-8C38D7F19A6D}"/>
                  </a:ext>
                </a:extLst>
              </p:cNvPr>
              <p:cNvSpPr/>
              <p:nvPr/>
            </p:nvSpPr>
            <p:spPr>
              <a:xfrm>
                <a:off x="4254776" y="2013012"/>
                <a:ext cx="140214" cy="151000"/>
              </a:xfrm>
              <a:prstGeom prst="roundRect">
                <a:avLst/>
              </a:prstGeom>
              <a:grp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2" name="Rounded Rectangle 481">
                <a:extLst>
                  <a:ext uri="{FF2B5EF4-FFF2-40B4-BE49-F238E27FC236}">
                    <a16:creationId xmlns:a16="http://schemas.microsoft.com/office/drawing/2014/main" id="{F98AED32-BFE6-5A23-0921-8BF84590107F}"/>
                  </a:ext>
                </a:extLst>
              </p:cNvPr>
              <p:cNvSpPr/>
              <p:nvPr/>
            </p:nvSpPr>
            <p:spPr>
              <a:xfrm>
                <a:off x="4254776" y="2180792"/>
                <a:ext cx="140214" cy="151000"/>
              </a:xfrm>
              <a:prstGeom prst="roundRect">
                <a:avLst/>
              </a:prstGeom>
              <a:grp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3" name="Rounded Rectangle 482">
                <a:extLst>
                  <a:ext uri="{FF2B5EF4-FFF2-40B4-BE49-F238E27FC236}">
                    <a16:creationId xmlns:a16="http://schemas.microsoft.com/office/drawing/2014/main" id="{4C0B50B2-FF2F-BA13-9EAE-9535FEE76FEA}"/>
                  </a:ext>
                </a:extLst>
              </p:cNvPr>
              <p:cNvSpPr/>
              <p:nvPr/>
            </p:nvSpPr>
            <p:spPr>
              <a:xfrm>
                <a:off x="4254776" y="2348572"/>
                <a:ext cx="140214" cy="151000"/>
              </a:xfrm>
              <a:prstGeom prst="roundRect">
                <a:avLst/>
              </a:prstGeom>
              <a:grp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84" name="Rounded Rectangle 483">
              <a:extLst>
                <a:ext uri="{FF2B5EF4-FFF2-40B4-BE49-F238E27FC236}">
                  <a16:creationId xmlns:a16="http://schemas.microsoft.com/office/drawing/2014/main" id="{68A9A8FB-B3B5-F219-BF19-A985364E09E7}"/>
                </a:ext>
              </a:extLst>
            </p:cNvPr>
            <p:cNvSpPr/>
            <p:nvPr/>
          </p:nvSpPr>
          <p:spPr>
            <a:xfrm rot="10800000" flipH="1">
              <a:off x="5966241" y="976334"/>
              <a:ext cx="131653" cy="141780"/>
            </a:xfrm>
            <a:prstGeom prst="roundRect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5" name="Rounded Rectangle 484">
              <a:extLst>
                <a:ext uri="{FF2B5EF4-FFF2-40B4-BE49-F238E27FC236}">
                  <a16:creationId xmlns:a16="http://schemas.microsoft.com/office/drawing/2014/main" id="{A47E9367-E117-6ADA-B158-98DCB880A98F}"/>
                </a:ext>
              </a:extLst>
            </p:cNvPr>
            <p:cNvSpPr/>
            <p:nvPr/>
          </p:nvSpPr>
          <p:spPr>
            <a:xfrm rot="10800000" flipH="1">
              <a:off x="5963745" y="818367"/>
              <a:ext cx="131653" cy="141780"/>
            </a:xfrm>
            <a:prstGeom prst="roundRect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88" name="TextBox 487">
            <a:extLst>
              <a:ext uri="{FF2B5EF4-FFF2-40B4-BE49-F238E27FC236}">
                <a16:creationId xmlns:a16="http://schemas.microsoft.com/office/drawing/2014/main" id="{8DE5C79D-9D0B-45AD-06BA-2F2907B82621}"/>
              </a:ext>
            </a:extLst>
          </p:cNvPr>
          <p:cNvSpPr txBox="1"/>
          <p:nvPr/>
        </p:nvSpPr>
        <p:spPr>
          <a:xfrm>
            <a:off x="5435342" y="778438"/>
            <a:ext cx="2389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489" name="TextBox 488">
            <a:extLst>
              <a:ext uri="{FF2B5EF4-FFF2-40B4-BE49-F238E27FC236}">
                <a16:creationId xmlns:a16="http://schemas.microsoft.com/office/drawing/2014/main" id="{DAE900C9-862B-0E31-61F8-7F99C8E6EE12}"/>
              </a:ext>
            </a:extLst>
          </p:cNvPr>
          <p:cNvSpPr txBox="1"/>
          <p:nvPr/>
        </p:nvSpPr>
        <p:spPr>
          <a:xfrm>
            <a:off x="6906903" y="748644"/>
            <a:ext cx="238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</a:p>
        </p:txBody>
      </p:sp>
      <p:sp>
        <p:nvSpPr>
          <p:cNvPr id="490" name="TextBox 489">
            <a:extLst>
              <a:ext uri="{FF2B5EF4-FFF2-40B4-BE49-F238E27FC236}">
                <a16:creationId xmlns:a16="http://schemas.microsoft.com/office/drawing/2014/main" id="{333B204F-F374-79AA-E977-5E7982AF7460}"/>
              </a:ext>
            </a:extLst>
          </p:cNvPr>
          <p:cNvSpPr txBox="1"/>
          <p:nvPr/>
        </p:nvSpPr>
        <p:spPr>
          <a:xfrm>
            <a:off x="4902741" y="1525033"/>
            <a:ext cx="238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endParaRPr lang="en-US" sz="24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1" name="TextBox 490">
            <a:extLst>
              <a:ext uri="{FF2B5EF4-FFF2-40B4-BE49-F238E27FC236}">
                <a16:creationId xmlns:a16="http://schemas.microsoft.com/office/drawing/2014/main" id="{D875991E-B4EA-D512-48C5-5807DCBA1F06}"/>
              </a:ext>
            </a:extLst>
          </p:cNvPr>
          <p:cNvSpPr txBox="1"/>
          <p:nvPr/>
        </p:nvSpPr>
        <p:spPr>
          <a:xfrm>
            <a:off x="6147803" y="1499674"/>
            <a:ext cx="5544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US" sz="2400" baseline="3000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</a:p>
        </p:txBody>
      </p:sp>
      <p:sp>
        <p:nvSpPr>
          <p:cNvPr id="546" name="TextBox 545">
            <a:extLst>
              <a:ext uri="{FF2B5EF4-FFF2-40B4-BE49-F238E27FC236}">
                <a16:creationId xmlns:a16="http://schemas.microsoft.com/office/drawing/2014/main" id="{ACBA80E9-373F-9C2C-E53A-A8509832644B}"/>
              </a:ext>
            </a:extLst>
          </p:cNvPr>
          <p:cNvSpPr txBox="1"/>
          <p:nvPr/>
        </p:nvSpPr>
        <p:spPr>
          <a:xfrm>
            <a:off x="-17541" y="594077"/>
            <a:ext cx="687663" cy="1000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160"/>
              </a:lnSpc>
            </a:pPr>
            <a:r>
              <a:rPr lang="en-US" sz="800" i="1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</a:p>
          <a:p>
            <a:pPr algn="r">
              <a:lnSpc>
                <a:spcPts val="1160"/>
              </a:lnSpc>
            </a:pPr>
            <a:r>
              <a:rPr lang="en-US" sz="800" i="1" dirty="0">
                <a:latin typeface="Arial" panose="020B0604020202020204" pitchFamily="34" charset="0"/>
                <a:cs typeface="Arial" panose="020B0604020202020204" pitchFamily="34" charset="0"/>
              </a:rPr>
              <a:t>main</a:t>
            </a:r>
          </a:p>
          <a:p>
            <a:pPr algn="r">
              <a:lnSpc>
                <a:spcPts val="1160"/>
              </a:lnSpc>
            </a:pPr>
            <a:r>
              <a:rPr lang="en-US" sz="800" i="1" dirty="0">
                <a:latin typeface="Arial" panose="020B0604020202020204" pitchFamily="34" charset="0"/>
                <a:cs typeface="Arial" panose="020B0604020202020204" pitchFamily="34" charset="0"/>
              </a:rPr>
              <a:t>course</a:t>
            </a:r>
          </a:p>
          <a:p>
            <a:pPr algn="r">
              <a:lnSpc>
                <a:spcPts val="1160"/>
              </a:lnSpc>
            </a:pPr>
            <a:r>
              <a:rPr lang="en-US" sz="800" i="1" dirty="0">
                <a:latin typeface="Arial" panose="020B0604020202020204" pitchFamily="34" charset="0"/>
                <a:cs typeface="Arial" panose="020B0604020202020204" pitchFamily="34" charset="0"/>
              </a:rPr>
              <a:t>was</a:t>
            </a:r>
          </a:p>
          <a:p>
            <a:pPr algn="r">
              <a:lnSpc>
                <a:spcPts val="1160"/>
              </a:lnSpc>
            </a:pPr>
            <a:r>
              <a:rPr lang="en-US" sz="800" i="1" dirty="0">
                <a:latin typeface="Arial" panose="020B0604020202020204" pitchFamily="34" charset="0"/>
                <a:cs typeface="Arial" panose="020B0604020202020204" pitchFamily="34" charset="0"/>
              </a:rPr>
              <a:t>truly</a:t>
            </a:r>
          </a:p>
          <a:p>
            <a:pPr algn="r">
              <a:lnSpc>
                <a:spcPts val="1160"/>
              </a:lnSpc>
            </a:pPr>
            <a:r>
              <a:rPr lang="en-US" sz="800" i="1" dirty="0">
                <a:latin typeface="Arial" panose="020B0604020202020204" pitchFamily="34" charset="0"/>
                <a:cs typeface="Arial" panose="020B0604020202020204" pitchFamily="34" charset="0"/>
              </a:rPr>
              <a:t>delicious</a:t>
            </a:r>
          </a:p>
        </p:txBody>
      </p:sp>
      <p:sp>
        <p:nvSpPr>
          <p:cNvPr id="547" name="TextBox 546">
            <a:extLst>
              <a:ext uri="{FF2B5EF4-FFF2-40B4-BE49-F238E27FC236}">
                <a16:creationId xmlns:a16="http://schemas.microsoft.com/office/drawing/2014/main" id="{E772B72D-6F2F-11D5-B435-3519F10C0C37}"/>
              </a:ext>
            </a:extLst>
          </p:cNvPr>
          <p:cNvSpPr txBox="1"/>
          <p:nvPr/>
        </p:nvSpPr>
        <p:spPr>
          <a:xfrm>
            <a:off x="3063322" y="482687"/>
            <a:ext cx="687663" cy="1000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160"/>
              </a:lnSpc>
            </a:pPr>
            <a:r>
              <a:rPr lang="en-US" sz="800" i="1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</a:p>
          <a:p>
            <a:pPr>
              <a:lnSpc>
                <a:spcPts val="1160"/>
              </a:lnSpc>
            </a:pPr>
            <a:r>
              <a:rPr lang="en-US" sz="800" i="1" dirty="0">
                <a:latin typeface="Arial" panose="020B0604020202020204" pitchFamily="34" charset="0"/>
                <a:cs typeface="Arial" panose="020B0604020202020204" pitchFamily="34" charset="0"/>
              </a:rPr>
              <a:t>main</a:t>
            </a:r>
          </a:p>
          <a:p>
            <a:pPr>
              <a:lnSpc>
                <a:spcPts val="1160"/>
              </a:lnSpc>
            </a:pPr>
            <a:r>
              <a:rPr lang="en-US" sz="800" i="1" dirty="0">
                <a:latin typeface="Arial" panose="020B0604020202020204" pitchFamily="34" charset="0"/>
                <a:cs typeface="Arial" panose="020B0604020202020204" pitchFamily="34" charset="0"/>
              </a:rPr>
              <a:t>course</a:t>
            </a:r>
          </a:p>
          <a:p>
            <a:pPr>
              <a:lnSpc>
                <a:spcPts val="1160"/>
              </a:lnSpc>
            </a:pPr>
            <a:r>
              <a:rPr lang="en-US" sz="800" i="1" dirty="0">
                <a:latin typeface="Arial" panose="020B0604020202020204" pitchFamily="34" charset="0"/>
                <a:cs typeface="Arial" panose="020B0604020202020204" pitchFamily="34" charset="0"/>
              </a:rPr>
              <a:t>was</a:t>
            </a:r>
          </a:p>
          <a:p>
            <a:pPr>
              <a:lnSpc>
                <a:spcPts val="1160"/>
              </a:lnSpc>
            </a:pPr>
            <a:r>
              <a:rPr lang="en-US" sz="800" i="1" dirty="0">
                <a:latin typeface="Arial" panose="020B0604020202020204" pitchFamily="34" charset="0"/>
                <a:cs typeface="Arial" panose="020B0604020202020204" pitchFamily="34" charset="0"/>
              </a:rPr>
              <a:t>truly</a:t>
            </a:r>
          </a:p>
          <a:p>
            <a:pPr>
              <a:lnSpc>
                <a:spcPts val="1160"/>
              </a:lnSpc>
            </a:pPr>
            <a:r>
              <a:rPr lang="en-US" sz="800" i="1" dirty="0">
                <a:latin typeface="Arial" panose="020B0604020202020204" pitchFamily="34" charset="0"/>
                <a:cs typeface="Arial" panose="020B0604020202020204" pitchFamily="34" charset="0"/>
              </a:rPr>
              <a:t>delicious</a:t>
            </a:r>
          </a:p>
        </p:txBody>
      </p:sp>
      <p:grpSp>
        <p:nvGrpSpPr>
          <p:cNvPr id="549" name="Group 548">
            <a:extLst>
              <a:ext uri="{FF2B5EF4-FFF2-40B4-BE49-F238E27FC236}">
                <a16:creationId xmlns:a16="http://schemas.microsoft.com/office/drawing/2014/main" id="{72A569A0-4B7D-46D1-78DD-E5FB8195EB5D}"/>
              </a:ext>
            </a:extLst>
          </p:cNvPr>
          <p:cNvGrpSpPr/>
          <p:nvPr/>
        </p:nvGrpSpPr>
        <p:grpSpPr>
          <a:xfrm rot="5400000">
            <a:off x="499750" y="2355709"/>
            <a:ext cx="885634" cy="614917"/>
            <a:chOff x="377773" y="541673"/>
            <a:chExt cx="885634" cy="614917"/>
          </a:xfrm>
          <a:solidFill>
            <a:srgbClr val="D8D8D8"/>
          </a:solidFill>
        </p:grpSpPr>
        <p:sp>
          <p:nvSpPr>
            <p:cNvPr id="550" name="Rounded Rectangle 549">
              <a:extLst>
                <a:ext uri="{FF2B5EF4-FFF2-40B4-BE49-F238E27FC236}">
                  <a16:creationId xmlns:a16="http://schemas.microsoft.com/office/drawing/2014/main" id="{60FBB76B-238A-2D26-0959-D0C2448D88E6}"/>
                </a:ext>
              </a:extLst>
            </p:cNvPr>
            <p:cNvSpPr/>
            <p:nvPr/>
          </p:nvSpPr>
          <p:spPr>
            <a:xfrm flipH="1">
              <a:off x="379852" y="542468"/>
              <a:ext cx="131653" cy="141780"/>
            </a:xfrm>
            <a:prstGeom prst="roundRect">
              <a:avLst/>
            </a:prstGeom>
            <a:grp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1" name="Rounded Rectangle 550">
              <a:extLst>
                <a:ext uri="{FF2B5EF4-FFF2-40B4-BE49-F238E27FC236}">
                  <a16:creationId xmlns:a16="http://schemas.microsoft.com/office/drawing/2014/main" id="{8274BC68-7466-5B75-E60B-EC74A1CBC9A5}"/>
                </a:ext>
              </a:extLst>
            </p:cNvPr>
            <p:cNvSpPr/>
            <p:nvPr/>
          </p:nvSpPr>
          <p:spPr>
            <a:xfrm flipH="1">
              <a:off x="379852" y="699209"/>
              <a:ext cx="131653" cy="141780"/>
            </a:xfrm>
            <a:prstGeom prst="roundRect">
              <a:avLst/>
            </a:prstGeom>
            <a:grp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2" name="Rounded Rectangle 551">
              <a:extLst>
                <a:ext uri="{FF2B5EF4-FFF2-40B4-BE49-F238E27FC236}">
                  <a16:creationId xmlns:a16="http://schemas.microsoft.com/office/drawing/2014/main" id="{4D3FE8AE-A309-80FB-7E56-403A34970B62}"/>
                </a:ext>
              </a:extLst>
            </p:cNvPr>
            <p:cNvSpPr/>
            <p:nvPr/>
          </p:nvSpPr>
          <p:spPr>
            <a:xfrm flipH="1">
              <a:off x="377773" y="856744"/>
              <a:ext cx="131653" cy="141780"/>
            </a:xfrm>
            <a:prstGeom prst="roundRect">
              <a:avLst/>
            </a:prstGeom>
            <a:grp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3" name="Rounded Rectangle 552">
              <a:extLst>
                <a:ext uri="{FF2B5EF4-FFF2-40B4-BE49-F238E27FC236}">
                  <a16:creationId xmlns:a16="http://schemas.microsoft.com/office/drawing/2014/main" id="{8FEC1E13-D33C-616A-29E4-554B021FBE7C}"/>
                </a:ext>
              </a:extLst>
            </p:cNvPr>
            <p:cNvSpPr/>
            <p:nvPr/>
          </p:nvSpPr>
          <p:spPr>
            <a:xfrm flipH="1">
              <a:off x="379629" y="1014280"/>
              <a:ext cx="131653" cy="141780"/>
            </a:xfrm>
            <a:prstGeom prst="roundRect">
              <a:avLst/>
            </a:prstGeom>
            <a:grp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4" name="Rounded Rectangle 553">
              <a:extLst>
                <a:ext uri="{FF2B5EF4-FFF2-40B4-BE49-F238E27FC236}">
                  <a16:creationId xmlns:a16="http://schemas.microsoft.com/office/drawing/2014/main" id="{124223BC-BD58-F048-6489-6FD3D3AE347C}"/>
                </a:ext>
              </a:extLst>
            </p:cNvPr>
            <p:cNvSpPr/>
            <p:nvPr/>
          </p:nvSpPr>
          <p:spPr>
            <a:xfrm flipH="1">
              <a:off x="529727" y="541673"/>
              <a:ext cx="131654" cy="141780"/>
            </a:xfrm>
            <a:prstGeom prst="roundRect">
              <a:avLst/>
            </a:prstGeom>
            <a:grp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5" name="Rounded Rectangle 554">
              <a:extLst>
                <a:ext uri="{FF2B5EF4-FFF2-40B4-BE49-F238E27FC236}">
                  <a16:creationId xmlns:a16="http://schemas.microsoft.com/office/drawing/2014/main" id="{53E8535C-030B-3F55-90C9-852539FC3E05}"/>
                </a:ext>
              </a:extLst>
            </p:cNvPr>
            <p:cNvSpPr/>
            <p:nvPr/>
          </p:nvSpPr>
          <p:spPr>
            <a:xfrm flipH="1">
              <a:off x="529698" y="699209"/>
              <a:ext cx="131654" cy="141780"/>
            </a:xfrm>
            <a:prstGeom prst="roundRect">
              <a:avLst/>
            </a:prstGeom>
            <a:grp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6" name="Rounded Rectangle 555">
              <a:extLst>
                <a:ext uri="{FF2B5EF4-FFF2-40B4-BE49-F238E27FC236}">
                  <a16:creationId xmlns:a16="http://schemas.microsoft.com/office/drawing/2014/main" id="{2F160104-FC1C-50D5-CA01-5B8E8354F2CD}"/>
                </a:ext>
              </a:extLst>
            </p:cNvPr>
            <p:cNvSpPr/>
            <p:nvPr/>
          </p:nvSpPr>
          <p:spPr>
            <a:xfrm flipH="1">
              <a:off x="529712" y="856744"/>
              <a:ext cx="131654" cy="141780"/>
            </a:xfrm>
            <a:prstGeom prst="roundRect">
              <a:avLst/>
            </a:prstGeom>
            <a:grp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7" name="Rounded Rectangle 556">
              <a:extLst>
                <a:ext uri="{FF2B5EF4-FFF2-40B4-BE49-F238E27FC236}">
                  <a16:creationId xmlns:a16="http://schemas.microsoft.com/office/drawing/2014/main" id="{A66054F4-ADA0-3A8D-2336-D8FB3F6905C6}"/>
                </a:ext>
              </a:extLst>
            </p:cNvPr>
            <p:cNvSpPr/>
            <p:nvPr/>
          </p:nvSpPr>
          <p:spPr>
            <a:xfrm flipH="1">
              <a:off x="529721" y="1014280"/>
              <a:ext cx="131654" cy="141780"/>
            </a:xfrm>
            <a:prstGeom prst="roundRect">
              <a:avLst/>
            </a:prstGeom>
            <a:grp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8" name="Rounded Rectangle 557">
              <a:extLst>
                <a:ext uri="{FF2B5EF4-FFF2-40B4-BE49-F238E27FC236}">
                  <a16:creationId xmlns:a16="http://schemas.microsoft.com/office/drawing/2014/main" id="{A3E9BAFA-BCB8-E349-5F91-FAFAE6C2D8A3}"/>
                </a:ext>
              </a:extLst>
            </p:cNvPr>
            <p:cNvSpPr/>
            <p:nvPr/>
          </p:nvSpPr>
          <p:spPr>
            <a:xfrm flipH="1">
              <a:off x="681031" y="542203"/>
              <a:ext cx="131653" cy="141780"/>
            </a:xfrm>
            <a:prstGeom prst="roundRect">
              <a:avLst/>
            </a:prstGeom>
            <a:grp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9" name="Rounded Rectangle 558">
              <a:extLst>
                <a:ext uri="{FF2B5EF4-FFF2-40B4-BE49-F238E27FC236}">
                  <a16:creationId xmlns:a16="http://schemas.microsoft.com/office/drawing/2014/main" id="{EAF169AD-979B-1835-6647-382C02BE16C3}"/>
                </a:ext>
              </a:extLst>
            </p:cNvPr>
            <p:cNvSpPr/>
            <p:nvPr/>
          </p:nvSpPr>
          <p:spPr>
            <a:xfrm flipH="1">
              <a:off x="681031" y="699739"/>
              <a:ext cx="131653" cy="141780"/>
            </a:xfrm>
            <a:prstGeom prst="roundRect">
              <a:avLst/>
            </a:prstGeom>
            <a:grp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0" name="Rounded Rectangle 559">
              <a:extLst>
                <a:ext uri="{FF2B5EF4-FFF2-40B4-BE49-F238E27FC236}">
                  <a16:creationId xmlns:a16="http://schemas.microsoft.com/office/drawing/2014/main" id="{B08BC76B-E7FA-57A1-C99D-D226E5172644}"/>
                </a:ext>
              </a:extLst>
            </p:cNvPr>
            <p:cNvSpPr/>
            <p:nvPr/>
          </p:nvSpPr>
          <p:spPr>
            <a:xfrm flipH="1">
              <a:off x="681031" y="857274"/>
              <a:ext cx="131653" cy="141780"/>
            </a:xfrm>
            <a:prstGeom prst="roundRect">
              <a:avLst/>
            </a:prstGeom>
            <a:grp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1" name="Rounded Rectangle 560">
              <a:extLst>
                <a:ext uri="{FF2B5EF4-FFF2-40B4-BE49-F238E27FC236}">
                  <a16:creationId xmlns:a16="http://schemas.microsoft.com/office/drawing/2014/main" id="{F7AB2CA2-E718-04A1-A80B-7179B4D42582}"/>
                </a:ext>
              </a:extLst>
            </p:cNvPr>
            <p:cNvSpPr/>
            <p:nvPr/>
          </p:nvSpPr>
          <p:spPr>
            <a:xfrm flipH="1">
              <a:off x="681031" y="1014810"/>
              <a:ext cx="131653" cy="141780"/>
            </a:xfrm>
            <a:prstGeom prst="roundRect">
              <a:avLst/>
            </a:prstGeom>
            <a:grp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2" name="Rounded Rectangle 561">
              <a:extLst>
                <a:ext uri="{FF2B5EF4-FFF2-40B4-BE49-F238E27FC236}">
                  <a16:creationId xmlns:a16="http://schemas.microsoft.com/office/drawing/2014/main" id="{90357AF9-7021-2668-2F0B-0B6D8F9082A8}"/>
                </a:ext>
              </a:extLst>
            </p:cNvPr>
            <p:cNvSpPr/>
            <p:nvPr/>
          </p:nvSpPr>
          <p:spPr>
            <a:xfrm flipH="1">
              <a:off x="831237" y="541673"/>
              <a:ext cx="131653" cy="141780"/>
            </a:xfrm>
            <a:prstGeom prst="roundRect">
              <a:avLst/>
            </a:prstGeom>
            <a:grp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3" name="Rounded Rectangle 562">
              <a:extLst>
                <a:ext uri="{FF2B5EF4-FFF2-40B4-BE49-F238E27FC236}">
                  <a16:creationId xmlns:a16="http://schemas.microsoft.com/office/drawing/2014/main" id="{45111062-5051-5EFB-AADA-34D14D159DB4}"/>
                </a:ext>
              </a:extLst>
            </p:cNvPr>
            <p:cNvSpPr/>
            <p:nvPr/>
          </p:nvSpPr>
          <p:spPr>
            <a:xfrm flipH="1">
              <a:off x="831237" y="699209"/>
              <a:ext cx="131653" cy="141780"/>
            </a:xfrm>
            <a:prstGeom prst="roundRect">
              <a:avLst/>
            </a:prstGeom>
            <a:grp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4" name="Rounded Rectangle 563">
              <a:extLst>
                <a:ext uri="{FF2B5EF4-FFF2-40B4-BE49-F238E27FC236}">
                  <a16:creationId xmlns:a16="http://schemas.microsoft.com/office/drawing/2014/main" id="{19E9732C-1E79-01E4-1E47-E5F90A5A4FEB}"/>
                </a:ext>
              </a:extLst>
            </p:cNvPr>
            <p:cNvSpPr/>
            <p:nvPr/>
          </p:nvSpPr>
          <p:spPr>
            <a:xfrm flipH="1">
              <a:off x="831237" y="856744"/>
              <a:ext cx="131653" cy="141780"/>
            </a:xfrm>
            <a:prstGeom prst="roundRect">
              <a:avLst/>
            </a:prstGeom>
            <a:grp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5" name="Rounded Rectangle 564">
              <a:extLst>
                <a:ext uri="{FF2B5EF4-FFF2-40B4-BE49-F238E27FC236}">
                  <a16:creationId xmlns:a16="http://schemas.microsoft.com/office/drawing/2014/main" id="{D3F74F2E-7DC9-CCCA-2E33-EC7A5B61AF61}"/>
                </a:ext>
              </a:extLst>
            </p:cNvPr>
            <p:cNvSpPr/>
            <p:nvPr/>
          </p:nvSpPr>
          <p:spPr>
            <a:xfrm flipH="1">
              <a:off x="831237" y="1014280"/>
              <a:ext cx="131653" cy="141780"/>
            </a:xfrm>
            <a:prstGeom prst="roundRect">
              <a:avLst/>
            </a:prstGeom>
            <a:grp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6" name="Rounded Rectangle 565">
              <a:extLst>
                <a:ext uri="{FF2B5EF4-FFF2-40B4-BE49-F238E27FC236}">
                  <a16:creationId xmlns:a16="http://schemas.microsoft.com/office/drawing/2014/main" id="{6EAF7E4A-C17C-95B5-B5B0-A94738C9B60F}"/>
                </a:ext>
              </a:extLst>
            </p:cNvPr>
            <p:cNvSpPr/>
            <p:nvPr/>
          </p:nvSpPr>
          <p:spPr>
            <a:xfrm flipH="1">
              <a:off x="981494" y="541673"/>
              <a:ext cx="131653" cy="141780"/>
            </a:xfrm>
            <a:prstGeom prst="roundRect">
              <a:avLst/>
            </a:prstGeom>
            <a:grp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7" name="Rounded Rectangle 566">
              <a:extLst>
                <a:ext uri="{FF2B5EF4-FFF2-40B4-BE49-F238E27FC236}">
                  <a16:creationId xmlns:a16="http://schemas.microsoft.com/office/drawing/2014/main" id="{FEED5C63-CEDD-BDDE-6175-2626DE573D4F}"/>
                </a:ext>
              </a:extLst>
            </p:cNvPr>
            <p:cNvSpPr/>
            <p:nvPr/>
          </p:nvSpPr>
          <p:spPr>
            <a:xfrm flipH="1">
              <a:off x="981494" y="699209"/>
              <a:ext cx="131653" cy="141780"/>
            </a:xfrm>
            <a:prstGeom prst="roundRect">
              <a:avLst/>
            </a:prstGeom>
            <a:grp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8" name="Rounded Rectangle 567">
              <a:extLst>
                <a:ext uri="{FF2B5EF4-FFF2-40B4-BE49-F238E27FC236}">
                  <a16:creationId xmlns:a16="http://schemas.microsoft.com/office/drawing/2014/main" id="{F1C6E2C8-18AF-74BF-D521-D5B6A61BA4BF}"/>
                </a:ext>
              </a:extLst>
            </p:cNvPr>
            <p:cNvSpPr/>
            <p:nvPr/>
          </p:nvSpPr>
          <p:spPr>
            <a:xfrm flipH="1">
              <a:off x="981494" y="856744"/>
              <a:ext cx="131653" cy="141780"/>
            </a:xfrm>
            <a:prstGeom prst="roundRect">
              <a:avLst/>
            </a:prstGeom>
            <a:grp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9" name="Rounded Rectangle 568">
              <a:extLst>
                <a:ext uri="{FF2B5EF4-FFF2-40B4-BE49-F238E27FC236}">
                  <a16:creationId xmlns:a16="http://schemas.microsoft.com/office/drawing/2014/main" id="{7043E93D-E468-3310-3D10-D0D1B2848EF2}"/>
                </a:ext>
              </a:extLst>
            </p:cNvPr>
            <p:cNvSpPr/>
            <p:nvPr/>
          </p:nvSpPr>
          <p:spPr>
            <a:xfrm flipH="1">
              <a:off x="981494" y="1014280"/>
              <a:ext cx="131653" cy="141780"/>
            </a:xfrm>
            <a:prstGeom prst="roundRect">
              <a:avLst/>
            </a:prstGeom>
            <a:grp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0" name="Rounded Rectangle 569">
              <a:extLst>
                <a:ext uri="{FF2B5EF4-FFF2-40B4-BE49-F238E27FC236}">
                  <a16:creationId xmlns:a16="http://schemas.microsoft.com/office/drawing/2014/main" id="{98D675E4-0D75-BC30-DA98-5B050EF99B7F}"/>
                </a:ext>
              </a:extLst>
            </p:cNvPr>
            <p:cNvSpPr/>
            <p:nvPr/>
          </p:nvSpPr>
          <p:spPr>
            <a:xfrm flipH="1">
              <a:off x="1131754" y="541673"/>
              <a:ext cx="131653" cy="141780"/>
            </a:xfrm>
            <a:prstGeom prst="roundRect">
              <a:avLst/>
            </a:prstGeom>
            <a:grp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1" name="Rounded Rectangle 570">
              <a:extLst>
                <a:ext uri="{FF2B5EF4-FFF2-40B4-BE49-F238E27FC236}">
                  <a16:creationId xmlns:a16="http://schemas.microsoft.com/office/drawing/2014/main" id="{FE2513ED-86F2-209E-3090-74B415468288}"/>
                </a:ext>
              </a:extLst>
            </p:cNvPr>
            <p:cNvSpPr/>
            <p:nvPr/>
          </p:nvSpPr>
          <p:spPr>
            <a:xfrm flipH="1">
              <a:off x="1131754" y="699209"/>
              <a:ext cx="131653" cy="141780"/>
            </a:xfrm>
            <a:prstGeom prst="roundRect">
              <a:avLst/>
            </a:prstGeom>
            <a:grp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2" name="Rounded Rectangle 571">
              <a:extLst>
                <a:ext uri="{FF2B5EF4-FFF2-40B4-BE49-F238E27FC236}">
                  <a16:creationId xmlns:a16="http://schemas.microsoft.com/office/drawing/2014/main" id="{45FF8475-05ED-EFB3-E1B0-32170840781C}"/>
                </a:ext>
              </a:extLst>
            </p:cNvPr>
            <p:cNvSpPr/>
            <p:nvPr/>
          </p:nvSpPr>
          <p:spPr>
            <a:xfrm flipH="1">
              <a:off x="1131754" y="856744"/>
              <a:ext cx="131653" cy="141780"/>
            </a:xfrm>
            <a:prstGeom prst="roundRect">
              <a:avLst/>
            </a:prstGeom>
            <a:grp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3" name="Rounded Rectangle 572">
              <a:extLst>
                <a:ext uri="{FF2B5EF4-FFF2-40B4-BE49-F238E27FC236}">
                  <a16:creationId xmlns:a16="http://schemas.microsoft.com/office/drawing/2014/main" id="{6BFA85CB-151E-F0F7-637B-BB1F3FAB2F77}"/>
                </a:ext>
              </a:extLst>
            </p:cNvPr>
            <p:cNvSpPr/>
            <p:nvPr/>
          </p:nvSpPr>
          <p:spPr>
            <a:xfrm flipH="1">
              <a:off x="1131754" y="1014280"/>
              <a:ext cx="131653" cy="141780"/>
            </a:xfrm>
            <a:prstGeom prst="roundRect">
              <a:avLst/>
            </a:prstGeom>
            <a:grp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74" name="TextBox 573">
            <a:extLst>
              <a:ext uri="{FF2B5EF4-FFF2-40B4-BE49-F238E27FC236}">
                <a16:creationId xmlns:a16="http://schemas.microsoft.com/office/drawing/2014/main" id="{AEFBCE56-D51B-0360-4E5C-CAEF62D74885}"/>
              </a:ext>
            </a:extLst>
          </p:cNvPr>
          <p:cNvSpPr txBox="1"/>
          <p:nvPr/>
        </p:nvSpPr>
        <p:spPr>
          <a:xfrm>
            <a:off x="769705" y="3106758"/>
            <a:ext cx="238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grpSp>
        <p:nvGrpSpPr>
          <p:cNvPr id="575" name="Group 574">
            <a:extLst>
              <a:ext uri="{FF2B5EF4-FFF2-40B4-BE49-F238E27FC236}">
                <a16:creationId xmlns:a16="http://schemas.microsoft.com/office/drawing/2014/main" id="{3580B013-B4DC-1488-743C-265E22563CEF}"/>
              </a:ext>
            </a:extLst>
          </p:cNvPr>
          <p:cNvGrpSpPr/>
          <p:nvPr/>
        </p:nvGrpSpPr>
        <p:grpSpPr>
          <a:xfrm rot="5400000">
            <a:off x="1628073" y="2482370"/>
            <a:ext cx="614386" cy="280463"/>
            <a:chOff x="1618647" y="673052"/>
            <a:chExt cx="614386" cy="280463"/>
          </a:xfrm>
          <a:solidFill>
            <a:srgbClr val="D4836A"/>
          </a:solidFill>
        </p:grpSpPr>
        <p:sp>
          <p:nvSpPr>
            <p:cNvPr id="576" name="Rounded Rectangle 575">
              <a:extLst>
                <a:ext uri="{FF2B5EF4-FFF2-40B4-BE49-F238E27FC236}">
                  <a16:creationId xmlns:a16="http://schemas.microsoft.com/office/drawing/2014/main" id="{BC1177A7-6A8B-250B-9BCF-D42BDD348E74}"/>
                </a:ext>
              </a:extLst>
            </p:cNvPr>
            <p:cNvSpPr/>
            <p:nvPr/>
          </p:nvSpPr>
          <p:spPr>
            <a:xfrm rot="5400000" flipH="1">
              <a:off x="2096316" y="667989"/>
              <a:ext cx="131653" cy="141780"/>
            </a:xfrm>
            <a:prstGeom prst="roundRect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7" name="Rounded Rectangle 576">
              <a:extLst>
                <a:ext uri="{FF2B5EF4-FFF2-40B4-BE49-F238E27FC236}">
                  <a16:creationId xmlns:a16="http://schemas.microsoft.com/office/drawing/2014/main" id="{9E16A511-BDEB-E9A3-24C3-43D1BFFA4131}"/>
                </a:ext>
              </a:extLst>
            </p:cNvPr>
            <p:cNvSpPr/>
            <p:nvPr/>
          </p:nvSpPr>
          <p:spPr>
            <a:xfrm rot="5400000" flipH="1">
              <a:off x="2096316" y="816799"/>
              <a:ext cx="131653" cy="141780"/>
            </a:xfrm>
            <a:prstGeom prst="roundRect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78" name="Group 577">
              <a:extLst>
                <a:ext uri="{FF2B5EF4-FFF2-40B4-BE49-F238E27FC236}">
                  <a16:creationId xmlns:a16="http://schemas.microsoft.com/office/drawing/2014/main" id="{CB651750-907D-7DF9-7936-1CC2E5C2F68F}"/>
                </a:ext>
              </a:extLst>
            </p:cNvPr>
            <p:cNvGrpSpPr/>
            <p:nvPr/>
          </p:nvGrpSpPr>
          <p:grpSpPr>
            <a:xfrm>
              <a:off x="1618647" y="673052"/>
              <a:ext cx="456851" cy="280463"/>
              <a:chOff x="1618647" y="673052"/>
              <a:chExt cx="456851" cy="280463"/>
            </a:xfrm>
            <a:grpFill/>
          </p:grpSpPr>
          <p:sp>
            <p:nvSpPr>
              <p:cNvPr id="579" name="Rounded Rectangle 578">
                <a:extLst>
                  <a:ext uri="{FF2B5EF4-FFF2-40B4-BE49-F238E27FC236}">
                    <a16:creationId xmlns:a16="http://schemas.microsoft.com/office/drawing/2014/main" id="{31C45A39-2F80-3262-53B6-DE4FAC0E4368}"/>
                  </a:ext>
                </a:extLst>
              </p:cNvPr>
              <p:cNvSpPr/>
              <p:nvPr/>
            </p:nvSpPr>
            <p:spPr>
              <a:xfrm rot="5400000" flipH="1">
                <a:off x="1938781" y="667989"/>
                <a:ext cx="131653" cy="141780"/>
              </a:xfrm>
              <a:prstGeom prst="roundRect">
                <a:avLst/>
              </a:prstGeom>
              <a:grp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0" name="Rounded Rectangle 579">
                <a:extLst>
                  <a:ext uri="{FF2B5EF4-FFF2-40B4-BE49-F238E27FC236}">
                    <a16:creationId xmlns:a16="http://schemas.microsoft.com/office/drawing/2014/main" id="{4DA1F40A-47E3-6821-C2F3-AB5E9E1D87C9}"/>
                  </a:ext>
                </a:extLst>
              </p:cNvPr>
              <p:cNvSpPr/>
              <p:nvPr/>
            </p:nvSpPr>
            <p:spPr>
              <a:xfrm rot="5400000" flipH="1">
                <a:off x="1781245" y="667989"/>
                <a:ext cx="131653" cy="141780"/>
              </a:xfrm>
              <a:prstGeom prst="roundRect">
                <a:avLst/>
              </a:prstGeom>
              <a:grp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1" name="Rounded Rectangle 580">
                <a:extLst>
                  <a:ext uri="{FF2B5EF4-FFF2-40B4-BE49-F238E27FC236}">
                    <a16:creationId xmlns:a16="http://schemas.microsoft.com/office/drawing/2014/main" id="{F5133831-FBCF-781C-E73A-62C6B0301CCF}"/>
                  </a:ext>
                </a:extLst>
              </p:cNvPr>
              <p:cNvSpPr/>
              <p:nvPr/>
            </p:nvSpPr>
            <p:spPr>
              <a:xfrm rot="5400000" flipH="1">
                <a:off x="1623710" y="667989"/>
                <a:ext cx="131653" cy="141780"/>
              </a:xfrm>
              <a:prstGeom prst="roundRect">
                <a:avLst/>
              </a:prstGeom>
              <a:grp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2" name="Rounded Rectangle 581">
                <a:extLst>
                  <a:ext uri="{FF2B5EF4-FFF2-40B4-BE49-F238E27FC236}">
                    <a16:creationId xmlns:a16="http://schemas.microsoft.com/office/drawing/2014/main" id="{6DEEDDA2-FCA1-A473-FBF3-F116D826FD0C}"/>
                  </a:ext>
                </a:extLst>
              </p:cNvPr>
              <p:cNvSpPr/>
              <p:nvPr/>
            </p:nvSpPr>
            <p:spPr>
              <a:xfrm rot="5400000" flipH="1">
                <a:off x="1938781" y="816799"/>
                <a:ext cx="131653" cy="141780"/>
              </a:xfrm>
              <a:prstGeom prst="roundRect">
                <a:avLst/>
              </a:prstGeom>
              <a:grp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3" name="Rounded Rectangle 582">
                <a:extLst>
                  <a:ext uri="{FF2B5EF4-FFF2-40B4-BE49-F238E27FC236}">
                    <a16:creationId xmlns:a16="http://schemas.microsoft.com/office/drawing/2014/main" id="{67C9B9EE-CFAD-1509-B53F-F752BD4BE8E9}"/>
                  </a:ext>
                </a:extLst>
              </p:cNvPr>
              <p:cNvSpPr/>
              <p:nvPr/>
            </p:nvSpPr>
            <p:spPr>
              <a:xfrm rot="5400000" flipH="1">
                <a:off x="1781245" y="816799"/>
                <a:ext cx="131653" cy="141780"/>
              </a:xfrm>
              <a:prstGeom prst="roundRect">
                <a:avLst/>
              </a:prstGeom>
              <a:grp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4" name="Rounded Rectangle 583">
                <a:extLst>
                  <a:ext uri="{FF2B5EF4-FFF2-40B4-BE49-F238E27FC236}">
                    <a16:creationId xmlns:a16="http://schemas.microsoft.com/office/drawing/2014/main" id="{4AFD5E5A-25BE-8A77-367F-18E3FFBD7A9B}"/>
                  </a:ext>
                </a:extLst>
              </p:cNvPr>
              <p:cNvSpPr/>
              <p:nvPr/>
            </p:nvSpPr>
            <p:spPr>
              <a:xfrm rot="5400000" flipH="1">
                <a:off x="1623710" y="816799"/>
                <a:ext cx="131653" cy="141780"/>
              </a:xfrm>
              <a:prstGeom prst="roundRect">
                <a:avLst/>
              </a:prstGeom>
              <a:grp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585" name="TextBox 584">
            <a:extLst>
              <a:ext uri="{FF2B5EF4-FFF2-40B4-BE49-F238E27FC236}">
                <a16:creationId xmlns:a16="http://schemas.microsoft.com/office/drawing/2014/main" id="{4FC9817F-3B73-2FA7-4A94-9CB95B1CCBCE}"/>
              </a:ext>
            </a:extLst>
          </p:cNvPr>
          <p:cNvSpPr txBox="1"/>
          <p:nvPr/>
        </p:nvSpPr>
        <p:spPr>
          <a:xfrm>
            <a:off x="1697295" y="3093639"/>
            <a:ext cx="687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</a:p>
        </p:txBody>
      </p:sp>
      <p:sp>
        <p:nvSpPr>
          <p:cNvPr id="586" name="TextBox 585">
            <a:extLst>
              <a:ext uri="{FF2B5EF4-FFF2-40B4-BE49-F238E27FC236}">
                <a16:creationId xmlns:a16="http://schemas.microsoft.com/office/drawing/2014/main" id="{53138C02-8FD2-6C3C-AFF9-BBD7E111B26C}"/>
              </a:ext>
            </a:extLst>
          </p:cNvPr>
          <p:cNvSpPr txBox="1"/>
          <p:nvPr/>
        </p:nvSpPr>
        <p:spPr>
          <a:xfrm>
            <a:off x="1347159" y="2459560"/>
            <a:ext cx="2389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587" name="TextBox 586">
            <a:extLst>
              <a:ext uri="{FF2B5EF4-FFF2-40B4-BE49-F238E27FC236}">
                <a16:creationId xmlns:a16="http://schemas.microsoft.com/office/drawing/2014/main" id="{43248004-3B38-BC01-9D91-5783252A3AEB}"/>
              </a:ext>
            </a:extLst>
          </p:cNvPr>
          <p:cNvSpPr txBox="1"/>
          <p:nvPr/>
        </p:nvSpPr>
        <p:spPr>
          <a:xfrm>
            <a:off x="2265492" y="2437935"/>
            <a:ext cx="238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</a:p>
        </p:txBody>
      </p:sp>
      <p:grpSp>
        <p:nvGrpSpPr>
          <p:cNvPr id="588" name="Group 587">
            <a:extLst>
              <a:ext uri="{FF2B5EF4-FFF2-40B4-BE49-F238E27FC236}">
                <a16:creationId xmlns:a16="http://schemas.microsoft.com/office/drawing/2014/main" id="{2CE8909F-AD53-B386-16ED-DD0FC538BF95}"/>
              </a:ext>
            </a:extLst>
          </p:cNvPr>
          <p:cNvGrpSpPr/>
          <p:nvPr/>
        </p:nvGrpSpPr>
        <p:grpSpPr>
          <a:xfrm rot="5400000">
            <a:off x="2482882" y="2410629"/>
            <a:ext cx="930878" cy="283776"/>
            <a:chOff x="2544765" y="680139"/>
            <a:chExt cx="930878" cy="283776"/>
          </a:xfrm>
          <a:solidFill>
            <a:srgbClr val="FCDBC8"/>
          </a:solidFill>
        </p:grpSpPr>
        <p:sp>
          <p:nvSpPr>
            <p:cNvPr id="589" name="Rounded Rectangle 588">
              <a:extLst>
                <a:ext uri="{FF2B5EF4-FFF2-40B4-BE49-F238E27FC236}">
                  <a16:creationId xmlns:a16="http://schemas.microsoft.com/office/drawing/2014/main" id="{9A16849C-38A0-1DCA-694D-EEBFCEEE8162}"/>
                </a:ext>
              </a:extLst>
            </p:cNvPr>
            <p:cNvSpPr/>
            <p:nvPr/>
          </p:nvSpPr>
          <p:spPr>
            <a:xfrm rot="5400000" flipH="1">
              <a:off x="3022434" y="678389"/>
              <a:ext cx="131653" cy="141780"/>
            </a:xfrm>
            <a:prstGeom prst="roundRect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0" name="Rounded Rectangle 589">
              <a:extLst>
                <a:ext uri="{FF2B5EF4-FFF2-40B4-BE49-F238E27FC236}">
                  <a16:creationId xmlns:a16="http://schemas.microsoft.com/office/drawing/2014/main" id="{D73DF8B8-B97D-ECBC-76E6-4220F8CF0D4F}"/>
                </a:ext>
              </a:extLst>
            </p:cNvPr>
            <p:cNvSpPr/>
            <p:nvPr/>
          </p:nvSpPr>
          <p:spPr>
            <a:xfrm rot="5400000" flipH="1">
              <a:off x="2864899" y="678389"/>
              <a:ext cx="131653" cy="141780"/>
            </a:xfrm>
            <a:prstGeom prst="roundRect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1" name="Rounded Rectangle 590">
              <a:extLst>
                <a:ext uri="{FF2B5EF4-FFF2-40B4-BE49-F238E27FC236}">
                  <a16:creationId xmlns:a16="http://schemas.microsoft.com/office/drawing/2014/main" id="{54641E65-6DA8-70D3-A725-341762FEDE4E}"/>
                </a:ext>
              </a:extLst>
            </p:cNvPr>
            <p:cNvSpPr/>
            <p:nvPr/>
          </p:nvSpPr>
          <p:spPr>
            <a:xfrm rot="5400000" flipH="1">
              <a:off x="2707363" y="678389"/>
              <a:ext cx="131653" cy="141780"/>
            </a:xfrm>
            <a:prstGeom prst="roundRect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2" name="Rounded Rectangle 591">
              <a:extLst>
                <a:ext uri="{FF2B5EF4-FFF2-40B4-BE49-F238E27FC236}">
                  <a16:creationId xmlns:a16="http://schemas.microsoft.com/office/drawing/2014/main" id="{6D85FC98-DE75-CB21-5258-61F7B9695E2F}"/>
                </a:ext>
              </a:extLst>
            </p:cNvPr>
            <p:cNvSpPr/>
            <p:nvPr/>
          </p:nvSpPr>
          <p:spPr>
            <a:xfrm rot="5400000" flipH="1">
              <a:off x="2549828" y="678389"/>
              <a:ext cx="131653" cy="141780"/>
            </a:xfrm>
            <a:prstGeom prst="roundRect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3" name="Rounded Rectangle 592">
              <a:extLst>
                <a:ext uri="{FF2B5EF4-FFF2-40B4-BE49-F238E27FC236}">
                  <a16:creationId xmlns:a16="http://schemas.microsoft.com/office/drawing/2014/main" id="{D4EA9EA6-0B6B-661C-8D67-55861349AEBE}"/>
                </a:ext>
              </a:extLst>
            </p:cNvPr>
            <p:cNvSpPr/>
            <p:nvPr/>
          </p:nvSpPr>
          <p:spPr>
            <a:xfrm rot="5400000" flipH="1">
              <a:off x="3338926" y="675076"/>
              <a:ext cx="131653" cy="141780"/>
            </a:xfrm>
            <a:prstGeom prst="roundRect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4" name="Rounded Rectangle 593">
              <a:extLst>
                <a:ext uri="{FF2B5EF4-FFF2-40B4-BE49-F238E27FC236}">
                  <a16:creationId xmlns:a16="http://schemas.microsoft.com/office/drawing/2014/main" id="{5930CC43-69AC-29C9-4264-1231716A36B1}"/>
                </a:ext>
              </a:extLst>
            </p:cNvPr>
            <p:cNvSpPr/>
            <p:nvPr/>
          </p:nvSpPr>
          <p:spPr>
            <a:xfrm rot="5400000" flipH="1">
              <a:off x="3181555" y="675076"/>
              <a:ext cx="131653" cy="141780"/>
            </a:xfrm>
            <a:prstGeom prst="roundRect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5" name="Rounded Rectangle 594">
              <a:extLst>
                <a:ext uri="{FF2B5EF4-FFF2-40B4-BE49-F238E27FC236}">
                  <a16:creationId xmlns:a16="http://schemas.microsoft.com/office/drawing/2014/main" id="{0DDB0E2E-8E52-6B54-28A3-8D9779083A35}"/>
                </a:ext>
              </a:extLst>
            </p:cNvPr>
            <p:cNvSpPr/>
            <p:nvPr/>
          </p:nvSpPr>
          <p:spPr>
            <a:xfrm rot="5400000" flipH="1">
              <a:off x="3022434" y="827199"/>
              <a:ext cx="131653" cy="141780"/>
            </a:xfrm>
            <a:prstGeom prst="roundRect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6" name="Rounded Rectangle 595">
              <a:extLst>
                <a:ext uri="{FF2B5EF4-FFF2-40B4-BE49-F238E27FC236}">
                  <a16:creationId xmlns:a16="http://schemas.microsoft.com/office/drawing/2014/main" id="{0D1C4E4C-918D-6CD4-74D2-4872FF8D4040}"/>
                </a:ext>
              </a:extLst>
            </p:cNvPr>
            <p:cNvSpPr/>
            <p:nvPr/>
          </p:nvSpPr>
          <p:spPr>
            <a:xfrm rot="5400000" flipH="1">
              <a:off x="2864899" y="827199"/>
              <a:ext cx="131653" cy="141780"/>
            </a:xfrm>
            <a:prstGeom prst="roundRect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7" name="Rounded Rectangle 596">
              <a:extLst>
                <a:ext uri="{FF2B5EF4-FFF2-40B4-BE49-F238E27FC236}">
                  <a16:creationId xmlns:a16="http://schemas.microsoft.com/office/drawing/2014/main" id="{F4D4E972-4859-7FA4-47DF-EE08868F2FA1}"/>
                </a:ext>
              </a:extLst>
            </p:cNvPr>
            <p:cNvSpPr/>
            <p:nvPr/>
          </p:nvSpPr>
          <p:spPr>
            <a:xfrm rot="5400000" flipH="1">
              <a:off x="2707363" y="827199"/>
              <a:ext cx="131653" cy="141780"/>
            </a:xfrm>
            <a:prstGeom prst="roundRect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8" name="Rounded Rectangle 597">
              <a:extLst>
                <a:ext uri="{FF2B5EF4-FFF2-40B4-BE49-F238E27FC236}">
                  <a16:creationId xmlns:a16="http://schemas.microsoft.com/office/drawing/2014/main" id="{922742E7-461D-2147-0F1B-324E301471DB}"/>
                </a:ext>
              </a:extLst>
            </p:cNvPr>
            <p:cNvSpPr/>
            <p:nvPr/>
          </p:nvSpPr>
          <p:spPr>
            <a:xfrm rot="5400000" flipH="1">
              <a:off x="2549828" y="827199"/>
              <a:ext cx="131653" cy="141780"/>
            </a:xfrm>
            <a:prstGeom prst="roundRect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9" name="Rounded Rectangle 598">
              <a:extLst>
                <a:ext uri="{FF2B5EF4-FFF2-40B4-BE49-F238E27FC236}">
                  <a16:creationId xmlns:a16="http://schemas.microsoft.com/office/drawing/2014/main" id="{7657BEA6-533E-EC60-B194-2A52F34E7DEB}"/>
                </a:ext>
              </a:extLst>
            </p:cNvPr>
            <p:cNvSpPr/>
            <p:nvPr/>
          </p:nvSpPr>
          <p:spPr>
            <a:xfrm rot="5400000" flipH="1">
              <a:off x="3336529" y="825371"/>
              <a:ext cx="131653" cy="141780"/>
            </a:xfrm>
            <a:prstGeom prst="roundRect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0" name="Rounded Rectangle 599">
              <a:extLst>
                <a:ext uri="{FF2B5EF4-FFF2-40B4-BE49-F238E27FC236}">
                  <a16:creationId xmlns:a16="http://schemas.microsoft.com/office/drawing/2014/main" id="{A05C140F-9D57-BAFF-6077-D03D4F2D2893}"/>
                </a:ext>
              </a:extLst>
            </p:cNvPr>
            <p:cNvSpPr/>
            <p:nvPr/>
          </p:nvSpPr>
          <p:spPr>
            <a:xfrm rot="5400000" flipH="1">
              <a:off x="3178562" y="824267"/>
              <a:ext cx="131653" cy="141780"/>
            </a:xfrm>
            <a:prstGeom prst="roundRect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01" name="TextBox 600">
            <a:extLst>
              <a:ext uri="{FF2B5EF4-FFF2-40B4-BE49-F238E27FC236}">
                <a16:creationId xmlns:a16="http://schemas.microsoft.com/office/drawing/2014/main" id="{AE8EC81D-69EF-0E8D-A962-42B01A58176A}"/>
              </a:ext>
            </a:extLst>
          </p:cNvPr>
          <p:cNvSpPr txBox="1"/>
          <p:nvPr/>
        </p:nvSpPr>
        <p:spPr>
          <a:xfrm>
            <a:off x="2805340" y="3069785"/>
            <a:ext cx="238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endParaRPr lang="en-US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2" name="TextBox 601">
            <a:extLst>
              <a:ext uri="{FF2B5EF4-FFF2-40B4-BE49-F238E27FC236}">
                <a16:creationId xmlns:a16="http://schemas.microsoft.com/office/drawing/2014/main" id="{72B741FB-ECC5-2A50-6FB2-B5174ED6498B}"/>
              </a:ext>
            </a:extLst>
          </p:cNvPr>
          <p:cNvSpPr txBox="1"/>
          <p:nvPr/>
        </p:nvSpPr>
        <p:spPr>
          <a:xfrm>
            <a:off x="3063322" y="2046103"/>
            <a:ext cx="687663" cy="1000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160"/>
              </a:lnSpc>
            </a:pPr>
            <a:r>
              <a:rPr lang="en-US" sz="800" i="1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</a:p>
          <a:p>
            <a:pPr>
              <a:lnSpc>
                <a:spcPts val="1160"/>
              </a:lnSpc>
            </a:pPr>
            <a:r>
              <a:rPr lang="en-US" sz="800" i="1" dirty="0">
                <a:latin typeface="Arial" panose="020B0604020202020204" pitchFamily="34" charset="0"/>
                <a:cs typeface="Arial" panose="020B0604020202020204" pitchFamily="34" charset="0"/>
              </a:rPr>
              <a:t>main</a:t>
            </a:r>
          </a:p>
          <a:p>
            <a:pPr>
              <a:lnSpc>
                <a:spcPts val="1160"/>
              </a:lnSpc>
            </a:pPr>
            <a:r>
              <a:rPr lang="en-US" sz="800" i="1" dirty="0">
                <a:latin typeface="Arial" panose="020B0604020202020204" pitchFamily="34" charset="0"/>
                <a:cs typeface="Arial" panose="020B0604020202020204" pitchFamily="34" charset="0"/>
              </a:rPr>
              <a:t>course</a:t>
            </a:r>
          </a:p>
          <a:p>
            <a:pPr>
              <a:lnSpc>
                <a:spcPts val="1160"/>
              </a:lnSpc>
            </a:pPr>
            <a:r>
              <a:rPr lang="en-US" sz="800" i="1" dirty="0">
                <a:latin typeface="Arial" panose="020B0604020202020204" pitchFamily="34" charset="0"/>
                <a:cs typeface="Arial" panose="020B0604020202020204" pitchFamily="34" charset="0"/>
              </a:rPr>
              <a:t>was</a:t>
            </a:r>
          </a:p>
          <a:p>
            <a:pPr>
              <a:lnSpc>
                <a:spcPts val="1160"/>
              </a:lnSpc>
            </a:pPr>
            <a:r>
              <a:rPr lang="en-US" sz="800" i="1" dirty="0">
                <a:latin typeface="Arial" panose="020B0604020202020204" pitchFamily="34" charset="0"/>
                <a:cs typeface="Arial" panose="020B0604020202020204" pitchFamily="34" charset="0"/>
              </a:rPr>
              <a:t>truly</a:t>
            </a:r>
          </a:p>
          <a:p>
            <a:pPr>
              <a:lnSpc>
                <a:spcPts val="1160"/>
              </a:lnSpc>
            </a:pPr>
            <a:r>
              <a:rPr lang="en-US" sz="800" i="1" dirty="0">
                <a:latin typeface="Arial" panose="020B0604020202020204" pitchFamily="34" charset="0"/>
                <a:cs typeface="Arial" panose="020B0604020202020204" pitchFamily="34" charset="0"/>
              </a:rPr>
              <a:t>delicious</a:t>
            </a:r>
          </a:p>
        </p:txBody>
      </p:sp>
      <p:grpSp>
        <p:nvGrpSpPr>
          <p:cNvPr id="603" name="Group 602">
            <a:extLst>
              <a:ext uri="{FF2B5EF4-FFF2-40B4-BE49-F238E27FC236}">
                <a16:creationId xmlns:a16="http://schemas.microsoft.com/office/drawing/2014/main" id="{7B21727A-59C6-F043-FB0D-F4C03225A334}"/>
              </a:ext>
            </a:extLst>
          </p:cNvPr>
          <p:cNvGrpSpPr/>
          <p:nvPr/>
        </p:nvGrpSpPr>
        <p:grpSpPr>
          <a:xfrm rot="5400000">
            <a:off x="500323" y="3927843"/>
            <a:ext cx="885634" cy="614917"/>
            <a:chOff x="377773" y="541673"/>
            <a:chExt cx="885634" cy="614917"/>
          </a:xfrm>
          <a:solidFill>
            <a:srgbClr val="D8D8D8"/>
          </a:solidFill>
        </p:grpSpPr>
        <p:sp>
          <p:nvSpPr>
            <p:cNvPr id="604" name="Rounded Rectangle 603">
              <a:extLst>
                <a:ext uri="{FF2B5EF4-FFF2-40B4-BE49-F238E27FC236}">
                  <a16:creationId xmlns:a16="http://schemas.microsoft.com/office/drawing/2014/main" id="{A325645B-C6C0-361C-2D32-B42F645E9492}"/>
                </a:ext>
              </a:extLst>
            </p:cNvPr>
            <p:cNvSpPr/>
            <p:nvPr/>
          </p:nvSpPr>
          <p:spPr>
            <a:xfrm flipH="1">
              <a:off x="379852" y="542468"/>
              <a:ext cx="131653" cy="141780"/>
            </a:xfrm>
            <a:prstGeom prst="roundRect">
              <a:avLst/>
            </a:prstGeom>
            <a:grp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5" name="Rounded Rectangle 604">
              <a:extLst>
                <a:ext uri="{FF2B5EF4-FFF2-40B4-BE49-F238E27FC236}">
                  <a16:creationId xmlns:a16="http://schemas.microsoft.com/office/drawing/2014/main" id="{6B4246FD-AA48-03EF-5D76-0DB4B62AD331}"/>
                </a:ext>
              </a:extLst>
            </p:cNvPr>
            <p:cNvSpPr/>
            <p:nvPr/>
          </p:nvSpPr>
          <p:spPr>
            <a:xfrm flipH="1">
              <a:off x="379852" y="699209"/>
              <a:ext cx="131653" cy="141780"/>
            </a:xfrm>
            <a:prstGeom prst="roundRect">
              <a:avLst/>
            </a:prstGeom>
            <a:grp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6" name="Rounded Rectangle 605">
              <a:extLst>
                <a:ext uri="{FF2B5EF4-FFF2-40B4-BE49-F238E27FC236}">
                  <a16:creationId xmlns:a16="http://schemas.microsoft.com/office/drawing/2014/main" id="{FB48118E-4C07-F56B-00F1-AB61065BE3CD}"/>
                </a:ext>
              </a:extLst>
            </p:cNvPr>
            <p:cNvSpPr/>
            <p:nvPr/>
          </p:nvSpPr>
          <p:spPr>
            <a:xfrm flipH="1">
              <a:off x="377773" y="856744"/>
              <a:ext cx="131653" cy="141780"/>
            </a:xfrm>
            <a:prstGeom prst="roundRect">
              <a:avLst/>
            </a:prstGeom>
            <a:grp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7" name="Rounded Rectangle 606">
              <a:extLst>
                <a:ext uri="{FF2B5EF4-FFF2-40B4-BE49-F238E27FC236}">
                  <a16:creationId xmlns:a16="http://schemas.microsoft.com/office/drawing/2014/main" id="{12774066-9236-6695-F810-8696744C1DC0}"/>
                </a:ext>
              </a:extLst>
            </p:cNvPr>
            <p:cNvSpPr/>
            <p:nvPr/>
          </p:nvSpPr>
          <p:spPr>
            <a:xfrm flipH="1">
              <a:off x="379629" y="1014280"/>
              <a:ext cx="131653" cy="141780"/>
            </a:xfrm>
            <a:prstGeom prst="roundRect">
              <a:avLst/>
            </a:prstGeom>
            <a:grp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8" name="Rounded Rectangle 607">
              <a:extLst>
                <a:ext uri="{FF2B5EF4-FFF2-40B4-BE49-F238E27FC236}">
                  <a16:creationId xmlns:a16="http://schemas.microsoft.com/office/drawing/2014/main" id="{37400D4D-A211-728C-B852-5E3AB40BD00F}"/>
                </a:ext>
              </a:extLst>
            </p:cNvPr>
            <p:cNvSpPr/>
            <p:nvPr/>
          </p:nvSpPr>
          <p:spPr>
            <a:xfrm flipH="1">
              <a:off x="529727" y="541673"/>
              <a:ext cx="131654" cy="141780"/>
            </a:xfrm>
            <a:prstGeom prst="roundRect">
              <a:avLst/>
            </a:prstGeom>
            <a:grp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9" name="Rounded Rectangle 608">
              <a:extLst>
                <a:ext uri="{FF2B5EF4-FFF2-40B4-BE49-F238E27FC236}">
                  <a16:creationId xmlns:a16="http://schemas.microsoft.com/office/drawing/2014/main" id="{2A912C70-94F5-FFD8-587B-BB239B069C5D}"/>
                </a:ext>
              </a:extLst>
            </p:cNvPr>
            <p:cNvSpPr/>
            <p:nvPr/>
          </p:nvSpPr>
          <p:spPr>
            <a:xfrm flipH="1">
              <a:off x="529698" y="699209"/>
              <a:ext cx="131654" cy="141780"/>
            </a:xfrm>
            <a:prstGeom prst="roundRect">
              <a:avLst/>
            </a:prstGeom>
            <a:grp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0" name="Rounded Rectangle 609">
              <a:extLst>
                <a:ext uri="{FF2B5EF4-FFF2-40B4-BE49-F238E27FC236}">
                  <a16:creationId xmlns:a16="http://schemas.microsoft.com/office/drawing/2014/main" id="{36CF1E35-CA85-159F-BE4B-D8EFB2FD0478}"/>
                </a:ext>
              </a:extLst>
            </p:cNvPr>
            <p:cNvSpPr/>
            <p:nvPr/>
          </p:nvSpPr>
          <p:spPr>
            <a:xfrm flipH="1">
              <a:off x="529712" y="856744"/>
              <a:ext cx="131654" cy="141780"/>
            </a:xfrm>
            <a:prstGeom prst="roundRect">
              <a:avLst/>
            </a:prstGeom>
            <a:grp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1" name="Rounded Rectangle 610">
              <a:extLst>
                <a:ext uri="{FF2B5EF4-FFF2-40B4-BE49-F238E27FC236}">
                  <a16:creationId xmlns:a16="http://schemas.microsoft.com/office/drawing/2014/main" id="{BF561954-DFDE-F78A-15AA-078EBBF27F72}"/>
                </a:ext>
              </a:extLst>
            </p:cNvPr>
            <p:cNvSpPr/>
            <p:nvPr/>
          </p:nvSpPr>
          <p:spPr>
            <a:xfrm flipH="1">
              <a:off x="529721" y="1014280"/>
              <a:ext cx="131654" cy="141780"/>
            </a:xfrm>
            <a:prstGeom prst="roundRect">
              <a:avLst/>
            </a:prstGeom>
            <a:grp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2" name="Rounded Rectangle 611">
              <a:extLst>
                <a:ext uri="{FF2B5EF4-FFF2-40B4-BE49-F238E27FC236}">
                  <a16:creationId xmlns:a16="http://schemas.microsoft.com/office/drawing/2014/main" id="{E0B5F32E-83F1-48BA-0B2C-BC8ABD6EAFA3}"/>
                </a:ext>
              </a:extLst>
            </p:cNvPr>
            <p:cNvSpPr/>
            <p:nvPr/>
          </p:nvSpPr>
          <p:spPr>
            <a:xfrm flipH="1">
              <a:off x="681031" y="542203"/>
              <a:ext cx="131653" cy="141780"/>
            </a:xfrm>
            <a:prstGeom prst="roundRect">
              <a:avLst/>
            </a:prstGeom>
            <a:grp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3" name="Rounded Rectangle 612">
              <a:extLst>
                <a:ext uri="{FF2B5EF4-FFF2-40B4-BE49-F238E27FC236}">
                  <a16:creationId xmlns:a16="http://schemas.microsoft.com/office/drawing/2014/main" id="{C9510079-6E89-FBD6-E817-719E37430282}"/>
                </a:ext>
              </a:extLst>
            </p:cNvPr>
            <p:cNvSpPr/>
            <p:nvPr/>
          </p:nvSpPr>
          <p:spPr>
            <a:xfrm flipH="1">
              <a:off x="681031" y="699739"/>
              <a:ext cx="131653" cy="141780"/>
            </a:xfrm>
            <a:prstGeom prst="roundRect">
              <a:avLst/>
            </a:prstGeom>
            <a:grp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4" name="Rounded Rectangle 613">
              <a:extLst>
                <a:ext uri="{FF2B5EF4-FFF2-40B4-BE49-F238E27FC236}">
                  <a16:creationId xmlns:a16="http://schemas.microsoft.com/office/drawing/2014/main" id="{71904E5B-AF4C-3997-8C1F-106F32314720}"/>
                </a:ext>
              </a:extLst>
            </p:cNvPr>
            <p:cNvSpPr/>
            <p:nvPr/>
          </p:nvSpPr>
          <p:spPr>
            <a:xfrm flipH="1">
              <a:off x="681031" y="857274"/>
              <a:ext cx="131653" cy="141780"/>
            </a:xfrm>
            <a:prstGeom prst="roundRect">
              <a:avLst/>
            </a:prstGeom>
            <a:grp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5" name="Rounded Rectangle 614">
              <a:extLst>
                <a:ext uri="{FF2B5EF4-FFF2-40B4-BE49-F238E27FC236}">
                  <a16:creationId xmlns:a16="http://schemas.microsoft.com/office/drawing/2014/main" id="{F651FA74-FD1B-B72D-93A3-2F36555FEE55}"/>
                </a:ext>
              </a:extLst>
            </p:cNvPr>
            <p:cNvSpPr/>
            <p:nvPr/>
          </p:nvSpPr>
          <p:spPr>
            <a:xfrm flipH="1">
              <a:off x="681031" y="1014810"/>
              <a:ext cx="131653" cy="141780"/>
            </a:xfrm>
            <a:prstGeom prst="roundRect">
              <a:avLst/>
            </a:prstGeom>
            <a:grp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6" name="Rounded Rectangle 615">
              <a:extLst>
                <a:ext uri="{FF2B5EF4-FFF2-40B4-BE49-F238E27FC236}">
                  <a16:creationId xmlns:a16="http://schemas.microsoft.com/office/drawing/2014/main" id="{3BDBDC95-4229-D1DB-6A5D-F543598EFC61}"/>
                </a:ext>
              </a:extLst>
            </p:cNvPr>
            <p:cNvSpPr/>
            <p:nvPr/>
          </p:nvSpPr>
          <p:spPr>
            <a:xfrm flipH="1">
              <a:off x="831237" y="541673"/>
              <a:ext cx="131653" cy="141780"/>
            </a:xfrm>
            <a:prstGeom prst="roundRect">
              <a:avLst/>
            </a:prstGeom>
            <a:grp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7" name="Rounded Rectangle 616">
              <a:extLst>
                <a:ext uri="{FF2B5EF4-FFF2-40B4-BE49-F238E27FC236}">
                  <a16:creationId xmlns:a16="http://schemas.microsoft.com/office/drawing/2014/main" id="{FD760630-9B1D-0330-B1C7-A3C8DAFE8337}"/>
                </a:ext>
              </a:extLst>
            </p:cNvPr>
            <p:cNvSpPr/>
            <p:nvPr/>
          </p:nvSpPr>
          <p:spPr>
            <a:xfrm flipH="1">
              <a:off x="831237" y="699209"/>
              <a:ext cx="131653" cy="141780"/>
            </a:xfrm>
            <a:prstGeom prst="roundRect">
              <a:avLst/>
            </a:prstGeom>
            <a:grp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8" name="Rounded Rectangle 617">
              <a:extLst>
                <a:ext uri="{FF2B5EF4-FFF2-40B4-BE49-F238E27FC236}">
                  <a16:creationId xmlns:a16="http://schemas.microsoft.com/office/drawing/2014/main" id="{7E1D7106-76FF-CD62-D31A-29EFE856AF3B}"/>
                </a:ext>
              </a:extLst>
            </p:cNvPr>
            <p:cNvSpPr/>
            <p:nvPr/>
          </p:nvSpPr>
          <p:spPr>
            <a:xfrm flipH="1">
              <a:off x="831237" y="856744"/>
              <a:ext cx="131653" cy="141780"/>
            </a:xfrm>
            <a:prstGeom prst="roundRect">
              <a:avLst/>
            </a:prstGeom>
            <a:grp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9" name="Rounded Rectangle 618">
              <a:extLst>
                <a:ext uri="{FF2B5EF4-FFF2-40B4-BE49-F238E27FC236}">
                  <a16:creationId xmlns:a16="http://schemas.microsoft.com/office/drawing/2014/main" id="{753A2E95-8047-363D-7587-C2B16C958340}"/>
                </a:ext>
              </a:extLst>
            </p:cNvPr>
            <p:cNvSpPr/>
            <p:nvPr/>
          </p:nvSpPr>
          <p:spPr>
            <a:xfrm flipH="1">
              <a:off x="831237" y="1014280"/>
              <a:ext cx="131653" cy="141780"/>
            </a:xfrm>
            <a:prstGeom prst="roundRect">
              <a:avLst/>
            </a:prstGeom>
            <a:grp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0" name="Rounded Rectangle 619">
              <a:extLst>
                <a:ext uri="{FF2B5EF4-FFF2-40B4-BE49-F238E27FC236}">
                  <a16:creationId xmlns:a16="http://schemas.microsoft.com/office/drawing/2014/main" id="{9B5FE31E-FE1E-502D-957C-C4AECC18D059}"/>
                </a:ext>
              </a:extLst>
            </p:cNvPr>
            <p:cNvSpPr/>
            <p:nvPr/>
          </p:nvSpPr>
          <p:spPr>
            <a:xfrm flipH="1">
              <a:off x="981494" y="541673"/>
              <a:ext cx="131653" cy="141780"/>
            </a:xfrm>
            <a:prstGeom prst="roundRect">
              <a:avLst/>
            </a:prstGeom>
            <a:grp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1" name="Rounded Rectangle 620">
              <a:extLst>
                <a:ext uri="{FF2B5EF4-FFF2-40B4-BE49-F238E27FC236}">
                  <a16:creationId xmlns:a16="http://schemas.microsoft.com/office/drawing/2014/main" id="{577A9AB2-1CC6-3E23-DDDE-3BAA81CEB502}"/>
                </a:ext>
              </a:extLst>
            </p:cNvPr>
            <p:cNvSpPr/>
            <p:nvPr/>
          </p:nvSpPr>
          <p:spPr>
            <a:xfrm flipH="1">
              <a:off x="981494" y="699209"/>
              <a:ext cx="131653" cy="141780"/>
            </a:xfrm>
            <a:prstGeom prst="roundRect">
              <a:avLst/>
            </a:prstGeom>
            <a:grp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2" name="Rounded Rectangle 621">
              <a:extLst>
                <a:ext uri="{FF2B5EF4-FFF2-40B4-BE49-F238E27FC236}">
                  <a16:creationId xmlns:a16="http://schemas.microsoft.com/office/drawing/2014/main" id="{A2DABD00-3898-855D-CEA3-B68B215ACB1E}"/>
                </a:ext>
              </a:extLst>
            </p:cNvPr>
            <p:cNvSpPr/>
            <p:nvPr/>
          </p:nvSpPr>
          <p:spPr>
            <a:xfrm flipH="1">
              <a:off x="981494" y="856744"/>
              <a:ext cx="131653" cy="141780"/>
            </a:xfrm>
            <a:prstGeom prst="roundRect">
              <a:avLst/>
            </a:prstGeom>
            <a:grp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3" name="Rounded Rectangle 622">
              <a:extLst>
                <a:ext uri="{FF2B5EF4-FFF2-40B4-BE49-F238E27FC236}">
                  <a16:creationId xmlns:a16="http://schemas.microsoft.com/office/drawing/2014/main" id="{8163331A-1AC3-8538-9906-766366E8904A}"/>
                </a:ext>
              </a:extLst>
            </p:cNvPr>
            <p:cNvSpPr/>
            <p:nvPr/>
          </p:nvSpPr>
          <p:spPr>
            <a:xfrm flipH="1">
              <a:off x="981494" y="1014280"/>
              <a:ext cx="131653" cy="141780"/>
            </a:xfrm>
            <a:prstGeom prst="roundRect">
              <a:avLst/>
            </a:prstGeom>
            <a:grp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4" name="Rounded Rectangle 623">
              <a:extLst>
                <a:ext uri="{FF2B5EF4-FFF2-40B4-BE49-F238E27FC236}">
                  <a16:creationId xmlns:a16="http://schemas.microsoft.com/office/drawing/2014/main" id="{384FDCD4-60CC-06BC-EDCD-BB50D1A4CEBB}"/>
                </a:ext>
              </a:extLst>
            </p:cNvPr>
            <p:cNvSpPr/>
            <p:nvPr/>
          </p:nvSpPr>
          <p:spPr>
            <a:xfrm flipH="1">
              <a:off x="1131754" y="541673"/>
              <a:ext cx="131653" cy="141780"/>
            </a:xfrm>
            <a:prstGeom prst="roundRect">
              <a:avLst/>
            </a:prstGeom>
            <a:grp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5" name="Rounded Rectangle 624">
              <a:extLst>
                <a:ext uri="{FF2B5EF4-FFF2-40B4-BE49-F238E27FC236}">
                  <a16:creationId xmlns:a16="http://schemas.microsoft.com/office/drawing/2014/main" id="{CD3EE369-BBF5-447E-3804-7C3A309A4F7C}"/>
                </a:ext>
              </a:extLst>
            </p:cNvPr>
            <p:cNvSpPr/>
            <p:nvPr/>
          </p:nvSpPr>
          <p:spPr>
            <a:xfrm flipH="1">
              <a:off x="1131754" y="699209"/>
              <a:ext cx="131653" cy="141780"/>
            </a:xfrm>
            <a:prstGeom prst="roundRect">
              <a:avLst/>
            </a:prstGeom>
            <a:grp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6" name="Rounded Rectangle 625">
              <a:extLst>
                <a:ext uri="{FF2B5EF4-FFF2-40B4-BE49-F238E27FC236}">
                  <a16:creationId xmlns:a16="http://schemas.microsoft.com/office/drawing/2014/main" id="{D041E8B8-5F70-7523-5D2F-8CE68AC1C1CC}"/>
                </a:ext>
              </a:extLst>
            </p:cNvPr>
            <p:cNvSpPr/>
            <p:nvPr/>
          </p:nvSpPr>
          <p:spPr>
            <a:xfrm flipH="1">
              <a:off x="1131754" y="856744"/>
              <a:ext cx="131653" cy="141780"/>
            </a:xfrm>
            <a:prstGeom prst="roundRect">
              <a:avLst/>
            </a:prstGeom>
            <a:grp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7" name="Rounded Rectangle 626">
              <a:extLst>
                <a:ext uri="{FF2B5EF4-FFF2-40B4-BE49-F238E27FC236}">
                  <a16:creationId xmlns:a16="http://schemas.microsoft.com/office/drawing/2014/main" id="{EC3236FB-40C1-1346-F85D-2CBDFD7C2452}"/>
                </a:ext>
              </a:extLst>
            </p:cNvPr>
            <p:cNvSpPr/>
            <p:nvPr/>
          </p:nvSpPr>
          <p:spPr>
            <a:xfrm flipH="1">
              <a:off x="1131754" y="1014280"/>
              <a:ext cx="131653" cy="141780"/>
            </a:xfrm>
            <a:prstGeom prst="roundRect">
              <a:avLst/>
            </a:prstGeom>
            <a:grp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28" name="TextBox 627">
            <a:extLst>
              <a:ext uri="{FF2B5EF4-FFF2-40B4-BE49-F238E27FC236}">
                <a16:creationId xmlns:a16="http://schemas.microsoft.com/office/drawing/2014/main" id="{1CECC6F6-9599-272E-3B8A-0392776828AF}"/>
              </a:ext>
            </a:extLst>
          </p:cNvPr>
          <p:cNvSpPr txBox="1"/>
          <p:nvPr/>
        </p:nvSpPr>
        <p:spPr>
          <a:xfrm>
            <a:off x="799184" y="4699926"/>
            <a:ext cx="238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grpSp>
        <p:nvGrpSpPr>
          <p:cNvPr id="629" name="Group 628">
            <a:extLst>
              <a:ext uri="{FF2B5EF4-FFF2-40B4-BE49-F238E27FC236}">
                <a16:creationId xmlns:a16="http://schemas.microsoft.com/office/drawing/2014/main" id="{570F802A-2B9D-ABFC-DBF5-78CBE641E1BF}"/>
              </a:ext>
            </a:extLst>
          </p:cNvPr>
          <p:cNvGrpSpPr/>
          <p:nvPr/>
        </p:nvGrpSpPr>
        <p:grpSpPr>
          <a:xfrm rot="5400000">
            <a:off x="1594776" y="4075538"/>
            <a:ext cx="614386" cy="280463"/>
            <a:chOff x="1618647" y="673052"/>
            <a:chExt cx="614386" cy="280463"/>
          </a:xfrm>
          <a:solidFill>
            <a:srgbClr val="9A85B5"/>
          </a:solidFill>
        </p:grpSpPr>
        <p:sp>
          <p:nvSpPr>
            <p:cNvPr id="630" name="Rounded Rectangle 629">
              <a:extLst>
                <a:ext uri="{FF2B5EF4-FFF2-40B4-BE49-F238E27FC236}">
                  <a16:creationId xmlns:a16="http://schemas.microsoft.com/office/drawing/2014/main" id="{614679F9-D002-4931-69B1-5282588FF1AF}"/>
                </a:ext>
              </a:extLst>
            </p:cNvPr>
            <p:cNvSpPr/>
            <p:nvPr/>
          </p:nvSpPr>
          <p:spPr>
            <a:xfrm rot="5400000" flipH="1">
              <a:off x="2096316" y="667989"/>
              <a:ext cx="131653" cy="141780"/>
            </a:xfrm>
            <a:prstGeom prst="roundRect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1" name="Rounded Rectangle 630">
              <a:extLst>
                <a:ext uri="{FF2B5EF4-FFF2-40B4-BE49-F238E27FC236}">
                  <a16:creationId xmlns:a16="http://schemas.microsoft.com/office/drawing/2014/main" id="{8D4EF952-9A25-9DC1-1A4D-1C97652A9CBA}"/>
                </a:ext>
              </a:extLst>
            </p:cNvPr>
            <p:cNvSpPr/>
            <p:nvPr/>
          </p:nvSpPr>
          <p:spPr>
            <a:xfrm rot="5400000" flipH="1">
              <a:off x="2096316" y="816799"/>
              <a:ext cx="131653" cy="141780"/>
            </a:xfrm>
            <a:prstGeom prst="roundRect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32" name="Group 631">
              <a:extLst>
                <a:ext uri="{FF2B5EF4-FFF2-40B4-BE49-F238E27FC236}">
                  <a16:creationId xmlns:a16="http://schemas.microsoft.com/office/drawing/2014/main" id="{7AD65176-07AC-10C5-B784-A38AC87D13ED}"/>
                </a:ext>
              </a:extLst>
            </p:cNvPr>
            <p:cNvGrpSpPr/>
            <p:nvPr/>
          </p:nvGrpSpPr>
          <p:grpSpPr>
            <a:xfrm>
              <a:off x="1618647" y="673052"/>
              <a:ext cx="456851" cy="280463"/>
              <a:chOff x="1618647" y="673052"/>
              <a:chExt cx="456851" cy="280463"/>
            </a:xfrm>
            <a:grpFill/>
          </p:grpSpPr>
          <p:sp>
            <p:nvSpPr>
              <p:cNvPr id="633" name="Rounded Rectangle 632">
                <a:extLst>
                  <a:ext uri="{FF2B5EF4-FFF2-40B4-BE49-F238E27FC236}">
                    <a16:creationId xmlns:a16="http://schemas.microsoft.com/office/drawing/2014/main" id="{27765C9C-09D0-1BD4-52A6-E833F6F1756E}"/>
                  </a:ext>
                </a:extLst>
              </p:cNvPr>
              <p:cNvSpPr/>
              <p:nvPr/>
            </p:nvSpPr>
            <p:spPr>
              <a:xfrm rot="5400000" flipH="1">
                <a:off x="1938781" y="667989"/>
                <a:ext cx="131653" cy="141780"/>
              </a:xfrm>
              <a:prstGeom prst="roundRect">
                <a:avLst/>
              </a:prstGeom>
              <a:grp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4" name="Rounded Rectangle 633">
                <a:extLst>
                  <a:ext uri="{FF2B5EF4-FFF2-40B4-BE49-F238E27FC236}">
                    <a16:creationId xmlns:a16="http://schemas.microsoft.com/office/drawing/2014/main" id="{0105E724-93C4-C33C-F9C9-2519375772B3}"/>
                  </a:ext>
                </a:extLst>
              </p:cNvPr>
              <p:cNvSpPr/>
              <p:nvPr/>
            </p:nvSpPr>
            <p:spPr>
              <a:xfrm rot="5400000" flipH="1">
                <a:off x="1781245" y="667989"/>
                <a:ext cx="131653" cy="141780"/>
              </a:xfrm>
              <a:prstGeom prst="roundRect">
                <a:avLst/>
              </a:prstGeom>
              <a:grp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5" name="Rounded Rectangle 634">
                <a:extLst>
                  <a:ext uri="{FF2B5EF4-FFF2-40B4-BE49-F238E27FC236}">
                    <a16:creationId xmlns:a16="http://schemas.microsoft.com/office/drawing/2014/main" id="{5F6476F0-DC99-BAA8-8A83-9FBAA114ECAB}"/>
                  </a:ext>
                </a:extLst>
              </p:cNvPr>
              <p:cNvSpPr/>
              <p:nvPr/>
            </p:nvSpPr>
            <p:spPr>
              <a:xfrm rot="5400000" flipH="1">
                <a:off x="1623710" y="667989"/>
                <a:ext cx="131653" cy="141780"/>
              </a:xfrm>
              <a:prstGeom prst="roundRect">
                <a:avLst/>
              </a:prstGeom>
              <a:grp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6" name="Rounded Rectangle 635">
                <a:extLst>
                  <a:ext uri="{FF2B5EF4-FFF2-40B4-BE49-F238E27FC236}">
                    <a16:creationId xmlns:a16="http://schemas.microsoft.com/office/drawing/2014/main" id="{7FD2C8A3-5CF5-E92D-CE9C-AE0A050B25B8}"/>
                  </a:ext>
                </a:extLst>
              </p:cNvPr>
              <p:cNvSpPr/>
              <p:nvPr/>
            </p:nvSpPr>
            <p:spPr>
              <a:xfrm rot="5400000" flipH="1">
                <a:off x="1938781" y="816799"/>
                <a:ext cx="131653" cy="141780"/>
              </a:xfrm>
              <a:prstGeom prst="roundRect">
                <a:avLst/>
              </a:prstGeom>
              <a:grp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7" name="Rounded Rectangle 636">
                <a:extLst>
                  <a:ext uri="{FF2B5EF4-FFF2-40B4-BE49-F238E27FC236}">
                    <a16:creationId xmlns:a16="http://schemas.microsoft.com/office/drawing/2014/main" id="{19585B39-3D91-F2A2-2D4A-B9E824B3CE79}"/>
                  </a:ext>
                </a:extLst>
              </p:cNvPr>
              <p:cNvSpPr/>
              <p:nvPr/>
            </p:nvSpPr>
            <p:spPr>
              <a:xfrm rot="5400000" flipH="1">
                <a:off x="1781245" y="816799"/>
                <a:ext cx="131653" cy="141780"/>
              </a:xfrm>
              <a:prstGeom prst="roundRect">
                <a:avLst/>
              </a:prstGeom>
              <a:grp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8" name="Rounded Rectangle 637">
                <a:extLst>
                  <a:ext uri="{FF2B5EF4-FFF2-40B4-BE49-F238E27FC236}">
                    <a16:creationId xmlns:a16="http://schemas.microsoft.com/office/drawing/2014/main" id="{329143F1-BAA4-BA26-3666-818BF6047AEE}"/>
                  </a:ext>
                </a:extLst>
              </p:cNvPr>
              <p:cNvSpPr/>
              <p:nvPr/>
            </p:nvSpPr>
            <p:spPr>
              <a:xfrm rot="5400000" flipH="1">
                <a:off x="1623710" y="816799"/>
                <a:ext cx="131653" cy="141780"/>
              </a:xfrm>
              <a:prstGeom prst="roundRect">
                <a:avLst/>
              </a:prstGeom>
              <a:grp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639" name="TextBox 638">
            <a:extLst>
              <a:ext uri="{FF2B5EF4-FFF2-40B4-BE49-F238E27FC236}">
                <a16:creationId xmlns:a16="http://schemas.microsoft.com/office/drawing/2014/main" id="{7D20D3B7-8FD4-A7D2-C70B-A529D44B54E0}"/>
              </a:ext>
            </a:extLst>
          </p:cNvPr>
          <p:cNvSpPr txBox="1"/>
          <p:nvPr/>
        </p:nvSpPr>
        <p:spPr>
          <a:xfrm>
            <a:off x="1663998" y="4686807"/>
            <a:ext cx="687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</a:p>
        </p:txBody>
      </p:sp>
      <p:sp>
        <p:nvSpPr>
          <p:cNvPr id="640" name="TextBox 639">
            <a:extLst>
              <a:ext uri="{FF2B5EF4-FFF2-40B4-BE49-F238E27FC236}">
                <a16:creationId xmlns:a16="http://schemas.microsoft.com/office/drawing/2014/main" id="{E69256EE-5399-DA31-45C4-94E26A091B6A}"/>
              </a:ext>
            </a:extLst>
          </p:cNvPr>
          <p:cNvSpPr txBox="1"/>
          <p:nvPr/>
        </p:nvSpPr>
        <p:spPr>
          <a:xfrm>
            <a:off x="1398083" y="4052728"/>
            <a:ext cx="2389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641" name="TextBox 640">
            <a:extLst>
              <a:ext uri="{FF2B5EF4-FFF2-40B4-BE49-F238E27FC236}">
                <a16:creationId xmlns:a16="http://schemas.microsoft.com/office/drawing/2014/main" id="{7EE9F527-6BEF-9575-608D-22B502AA96F9}"/>
              </a:ext>
            </a:extLst>
          </p:cNvPr>
          <p:cNvSpPr txBox="1"/>
          <p:nvPr/>
        </p:nvSpPr>
        <p:spPr>
          <a:xfrm>
            <a:off x="2304385" y="4031103"/>
            <a:ext cx="238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</a:p>
        </p:txBody>
      </p:sp>
      <p:grpSp>
        <p:nvGrpSpPr>
          <p:cNvPr id="642" name="Group 641">
            <a:extLst>
              <a:ext uri="{FF2B5EF4-FFF2-40B4-BE49-F238E27FC236}">
                <a16:creationId xmlns:a16="http://schemas.microsoft.com/office/drawing/2014/main" id="{784FFC18-7179-EC13-E81E-7BB92C72AA73}"/>
              </a:ext>
            </a:extLst>
          </p:cNvPr>
          <p:cNvGrpSpPr/>
          <p:nvPr/>
        </p:nvGrpSpPr>
        <p:grpSpPr>
          <a:xfrm rot="5400000">
            <a:off x="5602680" y="4159424"/>
            <a:ext cx="930878" cy="283776"/>
            <a:chOff x="2544765" y="680139"/>
            <a:chExt cx="930878" cy="283776"/>
          </a:xfrm>
          <a:solidFill>
            <a:srgbClr val="DDD4EB"/>
          </a:solidFill>
        </p:grpSpPr>
        <p:sp>
          <p:nvSpPr>
            <p:cNvPr id="643" name="Rounded Rectangle 642">
              <a:extLst>
                <a:ext uri="{FF2B5EF4-FFF2-40B4-BE49-F238E27FC236}">
                  <a16:creationId xmlns:a16="http://schemas.microsoft.com/office/drawing/2014/main" id="{30AC9104-B775-DE16-DE4A-341429BE0F79}"/>
                </a:ext>
              </a:extLst>
            </p:cNvPr>
            <p:cNvSpPr/>
            <p:nvPr/>
          </p:nvSpPr>
          <p:spPr>
            <a:xfrm rot="5400000" flipH="1">
              <a:off x="3022434" y="678389"/>
              <a:ext cx="131653" cy="141780"/>
            </a:xfrm>
            <a:prstGeom prst="roundRect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4" name="Rounded Rectangle 643">
              <a:extLst>
                <a:ext uri="{FF2B5EF4-FFF2-40B4-BE49-F238E27FC236}">
                  <a16:creationId xmlns:a16="http://schemas.microsoft.com/office/drawing/2014/main" id="{98C947B7-2CC7-6E97-7678-BF7E76740C62}"/>
                </a:ext>
              </a:extLst>
            </p:cNvPr>
            <p:cNvSpPr/>
            <p:nvPr/>
          </p:nvSpPr>
          <p:spPr>
            <a:xfrm rot="5400000" flipH="1">
              <a:off x="2864899" y="678389"/>
              <a:ext cx="131653" cy="141780"/>
            </a:xfrm>
            <a:prstGeom prst="roundRect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5" name="Rounded Rectangle 644">
              <a:extLst>
                <a:ext uri="{FF2B5EF4-FFF2-40B4-BE49-F238E27FC236}">
                  <a16:creationId xmlns:a16="http://schemas.microsoft.com/office/drawing/2014/main" id="{7A743394-9730-B369-C2D3-46DD17539CB6}"/>
                </a:ext>
              </a:extLst>
            </p:cNvPr>
            <p:cNvSpPr/>
            <p:nvPr/>
          </p:nvSpPr>
          <p:spPr>
            <a:xfrm rot="5400000" flipH="1">
              <a:off x="2707363" y="678389"/>
              <a:ext cx="131653" cy="141780"/>
            </a:xfrm>
            <a:prstGeom prst="roundRect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6" name="Rounded Rectangle 645">
              <a:extLst>
                <a:ext uri="{FF2B5EF4-FFF2-40B4-BE49-F238E27FC236}">
                  <a16:creationId xmlns:a16="http://schemas.microsoft.com/office/drawing/2014/main" id="{334215CA-A655-25C3-0BC7-64B334A1D77A}"/>
                </a:ext>
              </a:extLst>
            </p:cNvPr>
            <p:cNvSpPr/>
            <p:nvPr/>
          </p:nvSpPr>
          <p:spPr>
            <a:xfrm rot="5400000" flipH="1">
              <a:off x="2549828" y="678389"/>
              <a:ext cx="131653" cy="141780"/>
            </a:xfrm>
            <a:prstGeom prst="roundRect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7" name="Rounded Rectangle 646">
              <a:extLst>
                <a:ext uri="{FF2B5EF4-FFF2-40B4-BE49-F238E27FC236}">
                  <a16:creationId xmlns:a16="http://schemas.microsoft.com/office/drawing/2014/main" id="{7966C745-1E59-A574-6F48-D40EA89FDA23}"/>
                </a:ext>
              </a:extLst>
            </p:cNvPr>
            <p:cNvSpPr/>
            <p:nvPr/>
          </p:nvSpPr>
          <p:spPr>
            <a:xfrm rot="5400000" flipH="1">
              <a:off x="3338926" y="675076"/>
              <a:ext cx="131653" cy="141780"/>
            </a:xfrm>
            <a:prstGeom prst="roundRect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8" name="Rounded Rectangle 647">
              <a:extLst>
                <a:ext uri="{FF2B5EF4-FFF2-40B4-BE49-F238E27FC236}">
                  <a16:creationId xmlns:a16="http://schemas.microsoft.com/office/drawing/2014/main" id="{8D5653BC-9509-5C2F-109F-CC840D4A4E16}"/>
                </a:ext>
              </a:extLst>
            </p:cNvPr>
            <p:cNvSpPr/>
            <p:nvPr/>
          </p:nvSpPr>
          <p:spPr>
            <a:xfrm rot="5400000" flipH="1">
              <a:off x="3181555" y="675076"/>
              <a:ext cx="131653" cy="141780"/>
            </a:xfrm>
            <a:prstGeom prst="roundRect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9" name="Rounded Rectangle 648">
              <a:extLst>
                <a:ext uri="{FF2B5EF4-FFF2-40B4-BE49-F238E27FC236}">
                  <a16:creationId xmlns:a16="http://schemas.microsoft.com/office/drawing/2014/main" id="{A3B9ED8E-6C94-0707-91EA-D690EA84DE25}"/>
                </a:ext>
              </a:extLst>
            </p:cNvPr>
            <p:cNvSpPr/>
            <p:nvPr/>
          </p:nvSpPr>
          <p:spPr>
            <a:xfrm rot="5400000" flipH="1">
              <a:off x="3022434" y="827199"/>
              <a:ext cx="131653" cy="141780"/>
            </a:xfrm>
            <a:prstGeom prst="roundRect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0" name="Rounded Rectangle 649">
              <a:extLst>
                <a:ext uri="{FF2B5EF4-FFF2-40B4-BE49-F238E27FC236}">
                  <a16:creationId xmlns:a16="http://schemas.microsoft.com/office/drawing/2014/main" id="{A33148F0-6D06-B4DC-8BD4-376B963BE106}"/>
                </a:ext>
              </a:extLst>
            </p:cNvPr>
            <p:cNvSpPr/>
            <p:nvPr/>
          </p:nvSpPr>
          <p:spPr>
            <a:xfrm rot="5400000" flipH="1">
              <a:off x="2864899" y="827199"/>
              <a:ext cx="131653" cy="141780"/>
            </a:xfrm>
            <a:prstGeom prst="roundRect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1" name="Rounded Rectangle 650">
              <a:extLst>
                <a:ext uri="{FF2B5EF4-FFF2-40B4-BE49-F238E27FC236}">
                  <a16:creationId xmlns:a16="http://schemas.microsoft.com/office/drawing/2014/main" id="{75638FB0-C0AA-0974-D46E-2DC923405297}"/>
                </a:ext>
              </a:extLst>
            </p:cNvPr>
            <p:cNvSpPr/>
            <p:nvPr/>
          </p:nvSpPr>
          <p:spPr>
            <a:xfrm rot="5400000" flipH="1">
              <a:off x="2707363" y="827199"/>
              <a:ext cx="131653" cy="141780"/>
            </a:xfrm>
            <a:prstGeom prst="roundRect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2" name="Rounded Rectangle 651">
              <a:extLst>
                <a:ext uri="{FF2B5EF4-FFF2-40B4-BE49-F238E27FC236}">
                  <a16:creationId xmlns:a16="http://schemas.microsoft.com/office/drawing/2014/main" id="{EE827CF0-0661-F853-F84C-0EDC9148BEA9}"/>
                </a:ext>
              </a:extLst>
            </p:cNvPr>
            <p:cNvSpPr/>
            <p:nvPr/>
          </p:nvSpPr>
          <p:spPr>
            <a:xfrm rot="5400000" flipH="1">
              <a:off x="2549828" y="827199"/>
              <a:ext cx="131653" cy="141780"/>
            </a:xfrm>
            <a:prstGeom prst="roundRect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3" name="Rounded Rectangle 652">
              <a:extLst>
                <a:ext uri="{FF2B5EF4-FFF2-40B4-BE49-F238E27FC236}">
                  <a16:creationId xmlns:a16="http://schemas.microsoft.com/office/drawing/2014/main" id="{4C37441C-288D-8063-ADE5-7A2D1ECA76B0}"/>
                </a:ext>
              </a:extLst>
            </p:cNvPr>
            <p:cNvSpPr/>
            <p:nvPr/>
          </p:nvSpPr>
          <p:spPr>
            <a:xfrm rot="5400000" flipH="1">
              <a:off x="3336529" y="825371"/>
              <a:ext cx="131653" cy="141780"/>
            </a:xfrm>
            <a:prstGeom prst="roundRect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4" name="Rounded Rectangle 653">
              <a:extLst>
                <a:ext uri="{FF2B5EF4-FFF2-40B4-BE49-F238E27FC236}">
                  <a16:creationId xmlns:a16="http://schemas.microsoft.com/office/drawing/2014/main" id="{6C2F9F77-9CF0-4877-1CC6-080A89A91846}"/>
                </a:ext>
              </a:extLst>
            </p:cNvPr>
            <p:cNvSpPr/>
            <p:nvPr/>
          </p:nvSpPr>
          <p:spPr>
            <a:xfrm rot="5400000" flipH="1">
              <a:off x="3178562" y="824267"/>
              <a:ext cx="131653" cy="141780"/>
            </a:xfrm>
            <a:prstGeom prst="roundRect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55" name="TextBox 654">
            <a:extLst>
              <a:ext uri="{FF2B5EF4-FFF2-40B4-BE49-F238E27FC236}">
                <a16:creationId xmlns:a16="http://schemas.microsoft.com/office/drawing/2014/main" id="{FB633053-77F6-065F-948F-7C23DAD640BB}"/>
              </a:ext>
            </a:extLst>
          </p:cNvPr>
          <p:cNvSpPr txBox="1"/>
          <p:nvPr/>
        </p:nvSpPr>
        <p:spPr>
          <a:xfrm>
            <a:off x="2801210" y="4691974"/>
            <a:ext cx="238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endParaRPr lang="en-US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6" name="TextBox 655">
            <a:extLst>
              <a:ext uri="{FF2B5EF4-FFF2-40B4-BE49-F238E27FC236}">
                <a16:creationId xmlns:a16="http://schemas.microsoft.com/office/drawing/2014/main" id="{D9ED8534-50F5-3FD3-B94B-01F15C5540C6}"/>
              </a:ext>
            </a:extLst>
          </p:cNvPr>
          <p:cNvSpPr txBox="1"/>
          <p:nvPr/>
        </p:nvSpPr>
        <p:spPr>
          <a:xfrm>
            <a:off x="3089222" y="3657559"/>
            <a:ext cx="687663" cy="1000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160"/>
              </a:lnSpc>
            </a:pPr>
            <a:r>
              <a:rPr lang="en-US" sz="800" i="1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</a:p>
          <a:p>
            <a:pPr>
              <a:lnSpc>
                <a:spcPts val="1160"/>
              </a:lnSpc>
            </a:pPr>
            <a:r>
              <a:rPr lang="en-US" sz="800" i="1" dirty="0">
                <a:latin typeface="Arial" panose="020B0604020202020204" pitchFamily="34" charset="0"/>
                <a:cs typeface="Arial" panose="020B0604020202020204" pitchFamily="34" charset="0"/>
              </a:rPr>
              <a:t>main</a:t>
            </a:r>
          </a:p>
          <a:p>
            <a:pPr>
              <a:lnSpc>
                <a:spcPts val="1160"/>
              </a:lnSpc>
            </a:pPr>
            <a:r>
              <a:rPr lang="en-US" sz="800" i="1" dirty="0">
                <a:latin typeface="Arial" panose="020B0604020202020204" pitchFamily="34" charset="0"/>
                <a:cs typeface="Arial" panose="020B0604020202020204" pitchFamily="34" charset="0"/>
              </a:rPr>
              <a:t>course</a:t>
            </a:r>
          </a:p>
          <a:p>
            <a:pPr>
              <a:lnSpc>
                <a:spcPts val="1160"/>
              </a:lnSpc>
            </a:pPr>
            <a:r>
              <a:rPr lang="en-US" sz="800" i="1" dirty="0">
                <a:latin typeface="Arial" panose="020B0604020202020204" pitchFamily="34" charset="0"/>
                <a:cs typeface="Arial" panose="020B0604020202020204" pitchFamily="34" charset="0"/>
              </a:rPr>
              <a:t>was</a:t>
            </a:r>
          </a:p>
          <a:p>
            <a:pPr>
              <a:lnSpc>
                <a:spcPts val="1160"/>
              </a:lnSpc>
            </a:pPr>
            <a:r>
              <a:rPr lang="en-US" sz="800" i="1" dirty="0">
                <a:latin typeface="Arial" panose="020B0604020202020204" pitchFamily="34" charset="0"/>
                <a:cs typeface="Arial" panose="020B0604020202020204" pitchFamily="34" charset="0"/>
              </a:rPr>
              <a:t>truly</a:t>
            </a:r>
          </a:p>
          <a:p>
            <a:pPr>
              <a:lnSpc>
                <a:spcPts val="1160"/>
              </a:lnSpc>
            </a:pPr>
            <a:r>
              <a:rPr lang="en-US" sz="800" i="1" dirty="0">
                <a:latin typeface="Arial" panose="020B0604020202020204" pitchFamily="34" charset="0"/>
                <a:cs typeface="Arial" panose="020B0604020202020204" pitchFamily="34" charset="0"/>
              </a:rPr>
              <a:t>delicious</a:t>
            </a:r>
          </a:p>
        </p:txBody>
      </p:sp>
      <p:grpSp>
        <p:nvGrpSpPr>
          <p:cNvPr id="703" name="Group 702">
            <a:extLst>
              <a:ext uri="{FF2B5EF4-FFF2-40B4-BE49-F238E27FC236}">
                <a16:creationId xmlns:a16="http://schemas.microsoft.com/office/drawing/2014/main" id="{0E36DCF1-AFBC-BA8C-E0F5-800D1CF907AA}"/>
              </a:ext>
            </a:extLst>
          </p:cNvPr>
          <p:cNvGrpSpPr/>
          <p:nvPr/>
        </p:nvGrpSpPr>
        <p:grpSpPr>
          <a:xfrm rot="5400000">
            <a:off x="7329751" y="503423"/>
            <a:ext cx="885721" cy="933838"/>
            <a:chOff x="5871542" y="3043138"/>
            <a:chExt cx="885721" cy="933838"/>
          </a:xfrm>
          <a:solidFill>
            <a:srgbClr val="D4BE91"/>
          </a:solidFill>
        </p:grpSpPr>
        <p:grpSp>
          <p:nvGrpSpPr>
            <p:cNvPr id="658" name="Group 657">
              <a:extLst>
                <a:ext uri="{FF2B5EF4-FFF2-40B4-BE49-F238E27FC236}">
                  <a16:creationId xmlns:a16="http://schemas.microsoft.com/office/drawing/2014/main" id="{994BA52A-7742-E1CA-24BA-07E7F76B62D7}"/>
                </a:ext>
              </a:extLst>
            </p:cNvPr>
            <p:cNvGrpSpPr/>
            <p:nvPr/>
          </p:nvGrpSpPr>
          <p:grpSpPr>
            <a:xfrm rot="5400000">
              <a:off x="5547991" y="3369648"/>
              <a:ext cx="930879" cy="283777"/>
              <a:chOff x="4632498" y="454382"/>
              <a:chExt cx="930879" cy="283777"/>
            </a:xfrm>
            <a:grpFill/>
          </p:grpSpPr>
          <p:grpSp>
            <p:nvGrpSpPr>
              <p:cNvPr id="659" name="Group 658">
                <a:extLst>
                  <a:ext uri="{FF2B5EF4-FFF2-40B4-BE49-F238E27FC236}">
                    <a16:creationId xmlns:a16="http://schemas.microsoft.com/office/drawing/2014/main" id="{D462FBAD-4105-A4E6-3D3A-D19F569120E0}"/>
                  </a:ext>
                </a:extLst>
              </p:cNvPr>
              <p:cNvGrpSpPr/>
              <p:nvPr/>
            </p:nvGrpSpPr>
            <p:grpSpPr>
              <a:xfrm rot="5400000" flipH="1">
                <a:off x="4873865" y="216329"/>
                <a:ext cx="131653" cy="614387"/>
                <a:chOff x="4254776" y="1845232"/>
                <a:chExt cx="140214" cy="654340"/>
              </a:xfrm>
              <a:grpFill/>
            </p:grpSpPr>
            <p:sp>
              <p:nvSpPr>
                <p:cNvPr id="669" name="Rounded Rectangle 668">
                  <a:extLst>
                    <a:ext uri="{FF2B5EF4-FFF2-40B4-BE49-F238E27FC236}">
                      <a16:creationId xmlns:a16="http://schemas.microsoft.com/office/drawing/2014/main" id="{DD685415-9FE3-5DFA-5138-D47CFEEE667A}"/>
                    </a:ext>
                  </a:extLst>
                </p:cNvPr>
                <p:cNvSpPr/>
                <p:nvPr/>
              </p:nvSpPr>
              <p:spPr>
                <a:xfrm>
                  <a:off x="4254776" y="1845232"/>
                  <a:ext cx="140214" cy="151000"/>
                </a:xfrm>
                <a:prstGeom prst="roundRect">
                  <a:avLst/>
                </a:prstGeom>
                <a:grpFill/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70" name="Rounded Rectangle 669">
                  <a:extLst>
                    <a:ext uri="{FF2B5EF4-FFF2-40B4-BE49-F238E27FC236}">
                      <a16:creationId xmlns:a16="http://schemas.microsoft.com/office/drawing/2014/main" id="{E204F695-AC41-E2E7-B4F1-8FADE223E1F6}"/>
                    </a:ext>
                  </a:extLst>
                </p:cNvPr>
                <p:cNvSpPr/>
                <p:nvPr/>
              </p:nvSpPr>
              <p:spPr>
                <a:xfrm>
                  <a:off x="4254776" y="2013012"/>
                  <a:ext cx="140214" cy="151000"/>
                </a:xfrm>
                <a:prstGeom prst="roundRect">
                  <a:avLst/>
                </a:prstGeom>
                <a:grpFill/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71" name="Rounded Rectangle 670">
                  <a:extLst>
                    <a:ext uri="{FF2B5EF4-FFF2-40B4-BE49-F238E27FC236}">
                      <a16:creationId xmlns:a16="http://schemas.microsoft.com/office/drawing/2014/main" id="{1B049B38-7EFF-44C9-6940-9CDE1E2B13CA}"/>
                    </a:ext>
                  </a:extLst>
                </p:cNvPr>
                <p:cNvSpPr/>
                <p:nvPr/>
              </p:nvSpPr>
              <p:spPr>
                <a:xfrm>
                  <a:off x="4254776" y="2180792"/>
                  <a:ext cx="140214" cy="151000"/>
                </a:xfrm>
                <a:prstGeom prst="roundRect">
                  <a:avLst/>
                </a:prstGeom>
                <a:grpFill/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72" name="Rounded Rectangle 671">
                  <a:extLst>
                    <a:ext uri="{FF2B5EF4-FFF2-40B4-BE49-F238E27FC236}">
                      <a16:creationId xmlns:a16="http://schemas.microsoft.com/office/drawing/2014/main" id="{0F1B1A1E-1DCB-2275-5B5C-F8F32711EC6F}"/>
                    </a:ext>
                  </a:extLst>
                </p:cNvPr>
                <p:cNvSpPr/>
                <p:nvPr/>
              </p:nvSpPr>
              <p:spPr>
                <a:xfrm>
                  <a:off x="4254776" y="2348572"/>
                  <a:ext cx="140214" cy="151000"/>
                </a:xfrm>
                <a:prstGeom prst="roundRect">
                  <a:avLst/>
                </a:prstGeom>
                <a:grpFill/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660" name="Rounded Rectangle 659">
                <a:extLst>
                  <a:ext uri="{FF2B5EF4-FFF2-40B4-BE49-F238E27FC236}">
                    <a16:creationId xmlns:a16="http://schemas.microsoft.com/office/drawing/2014/main" id="{5FE6B5AE-44A5-748D-7790-AA965DF8B93C}"/>
                  </a:ext>
                </a:extLst>
              </p:cNvPr>
              <p:cNvSpPr/>
              <p:nvPr/>
            </p:nvSpPr>
            <p:spPr>
              <a:xfrm rot="5400000" flipH="1">
                <a:off x="5426660" y="449319"/>
                <a:ext cx="131653" cy="141780"/>
              </a:xfrm>
              <a:prstGeom prst="roundRect">
                <a:avLst/>
              </a:prstGeom>
              <a:grp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1" name="Rounded Rectangle 660">
                <a:extLst>
                  <a:ext uri="{FF2B5EF4-FFF2-40B4-BE49-F238E27FC236}">
                    <a16:creationId xmlns:a16="http://schemas.microsoft.com/office/drawing/2014/main" id="{BC236710-F721-CEFC-3DF4-15603F66B233}"/>
                  </a:ext>
                </a:extLst>
              </p:cNvPr>
              <p:cNvSpPr/>
              <p:nvPr/>
            </p:nvSpPr>
            <p:spPr>
              <a:xfrm rot="5400000" flipH="1">
                <a:off x="5269289" y="449319"/>
                <a:ext cx="131653" cy="141780"/>
              </a:xfrm>
              <a:prstGeom prst="roundRect">
                <a:avLst/>
              </a:prstGeom>
              <a:grp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662" name="Group 661">
                <a:extLst>
                  <a:ext uri="{FF2B5EF4-FFF2-40B4-BE49-F238E27FC236}">
                    <a16:creationId xmlns:a16="http://schemas.microsoft.com/office/drawing/2014/main" id="{173F7AEC-7FF9-2983-6EB9-A6A51193C106}"/>
                  </a:ext>
                </a:extLst>
              </p:cNvPr>
              <p:cNvGrpSpPr/>
              <p:nvPr/>
            </p:nvGrpSpPr>
            <p:grpSpPr>
              <a:xfrm rot="5400000" flipH="1">
                <a:off x="4873865" y="365139"/>
                <a:ext cx="131653" cy="614387"/>
                <a:chOff x="4254776" y="1845232"/>
                <a:chExt cx="140214" cy="654340"/>
              </a:xfrm>
              <a:grpFill/>
            </p:grpSpPr>
            <p:sp>
              <p:nvSpPr>
                <p:cNvPr id="665" name="Rounded Rectangle 664">
                  <a:extLst>
                    <a:ext uri="{FF2B5EF4-FFF2-40B4-BE49-F238E27FC236}">
                      <a16:creationId xmlns:a16="http://schemas.microsoft.com/office/drawing/2014/main" id="{1736D250-72A5-77EF-868E-D5EB24463138}"/>
                    </a:ext>
                  </a:extLst>
                </p:cNvPr>
                <p:cNvSpPr/>
                <p:nvPr/>
              </p:nvSpPr>
              <p:spPr>
                <a:xfrm>
                  <a:off x="4254776" y="1845232"/>
                  <a:ext cx="140214" cy="151000"/>
                </a:xfrm>
                <a:prstGeom prst="roundRect">
                  <a:avLst/>
                </a:prstGeom>
                <a:grpFill/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66" name="Rounded Rectangle 665">
                  <a:extLst>
                    <a:ext uri="{FF2B5EF4-FFF2-40B4-BE49-F238E27FC236}">
                      <a16:creationId xmlns:a16="http://schemas.microsoft.com/office/drawing/2014/main" id="{46AE52F8-405B-9906-6B30-590B1CFBD299}"/>
                    </a:ext>
                  </a:extLst>
                </p:cNvPr>
                <p:cNvSpPr/>
                <p:nvPr/>
              </p:nvSpPr>
              <p:spPr>
                <a:xfrm>
                  <a:off x="4254776" y="2013012"/>
                  <a:ext cx="140214" cy="151000"/>
                </a:xfrm>
                <a:prstGeom prst="roundRect">
                  <a:avLst/>
                </a:prstGeom>
                <a:grpFill/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67" name="Rounded Rectangle 666">
                  <a:extLst>
                    <a:ext uri="{FF2B5EF4-FFF2-40B4-BE49-F238E27FC236}">
                      <a16:creationId xmlns:a16="http://schemas.microsoft.com/office/drawing/2014/main" id="{DAA9E1B1-8D3B-309D-6D6E-0C4B402AFEC4}"/>
                    </a:ext>
                  </a:extLst>
                </p:cNvPr>
                <p:cNvSpPr/>
                <p:nvPr/>
              </p:nvSpPr>
              <p:spPr>
                <a:xfrm>
                  <a:off x="4254776" y="2180792"/>
                  <a:ext cx="140214" cy="151000"/>
                </a:xfrm>
                <a:prstGeom prst="roundRect">
                  <a:avLst/>
                </a:prstGeom>
                <a:grpFill/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68" name="Rounded Rectangle 667">
                  <a:extLst>
                    <a:ext uri="{FF2B5EF4-FFF2-40B4-BE49-F238E27FC236}">
                      <a16:creationId xmlns:a16="http://schemas.microsoft.com/office/drawing/2014/main" id="{1E35D250-400C-5FE7-FC2C-988E24D89621}"/>
                    </a:ext>
                  </a:extLst>
                </p:cNvPr>
                <p:cNvSpPr/>
                <p:nvPr/>
              </p:nvSpPr>
              <p:spPr>
                <a:xfrm>
                  <a:off x="4254776" y="2348572"/>
                  <a:ext cx="140214" cy="151000"/>
                </a:xfrm>
                <a:prstGeom prst="roundRect">
                  <a:avLst/>
                </a:prstGeom>
                <a:grpFill/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663" name="Rounded Rectangle 662">
                <a:extLst>
                  <a:ext uri="{FF2B5EF4-FFF2-40B4-BE49-F238E27FC236}">
                    <a16:creationId xmlns:a16="http://schemas.microsoft.com/office/drawing/2014/main" id="{EE36E539-4CB0-39B5-DF23-AA5A40AE2FAA}"/>
                  </a:ext>
                </a:extLst>
              </p:cNvPr>
              <p:cNvSpPr/>
              <p:nvPr/>
            </p:nvSpPr>
            <p:spPr>
              <a:xfrm rot="5400000" flipH="1">
                <a:off x="5424263" y="599614"/>
                <a:ext cx="131653" cy="141780"/>
              </a:xfrm>
              <a:prstGeom prst="roundRect">
                <a:avLst/>
              </a:prstGeom>
              <a:grp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4" name="Rounded Rectangle 663">
                <a:extLst>
                  <a:ext uri="{FF2B5EF4-FFF2-40B4-BE49-F238E27FC236}">
                    <a16:creationId xmlns:a16="http://schemas.microsoft.com/office/drawing/2014/main" id="{A026F32C-4153-405D-0752-21F2254B5E89}"/>
                  </a:ext>
                </a:extLst>
              </p:cNvPr>
              <p:cNvSpPr/>
              <p:nvPr/>
            </p:nvSpPr>
            <p:spPr>
              <a:xfrm rot="5400000" flipH="1">
                <a:off x="5266296" y="598510"/>
                <a:ext cx="131653" cy="141780"/>
              </a:xfrm>
              <a:prstGeom prst="roundRect">
                <a:avLst/>
              </a:prstGeom>
              <a:grp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73" name="Group 672">
              <a:extLst>
                <a:ext uri="{FF2B5EF4-FFF2-40B4-BE49-F238E27FC236}">
                  <a16:creationId xmlns:a16="http://schemas.microsoft.com/office/drawing/2014/main" id="{2FB9D541-43A5-08CC-7A54-B1C0CA7DEAE4}"/>
                </a:ext>
              </a:extLst>
            </p:cNvPr>
            <p:cNvGrpSpPr/>
            <p:nvPr/>
          </p:nvGrpSpPr>
          <p:grpSpPr>
            <a:xfrm rot="5400000">
              <a:off x="5847404" y="3369648"/>
              <a:ext cx="930879" cy="283777"/>
              <a:chOff x="4632498" y="454382"/>
              <a:chExt cx="930879" cy="283777"/>
            </a:xfrm>
            <a:grpFill/>
          </p:grpSpPr>
          <p:grpSp>
            <p:nvGrpSpPr>
              <p:cNvPr id="674" name="Group 673">
                <a:extLst>
                  <a:ext uri="{FF2B5EF4-FFF2-40B4-BE49-F238E27FC236}">
                    <a16:creationId xmlns:a16="http://schemas.microsoft.com/office/drawing/2014/main" id="{FBFD1021-F191-6581-061B-23F0F08163A8}"/>
                  </a:ext>
                </a:extLst>
              </p:cNvPr>
              <p:cNvGrpSpPr/>
              <p:nvPr/>
            </p:nvGrpSpPr>
            <p:grpSpPr>
              <a:xfrm rot="5400000" flipH="1">
                <a:off x="4873865" y="216329"/>
                <a:ext cx="131653" cy="614387"/>
                <a:chOff x="4254776" y="1845232"/>
                <a:chExt cx="140214" cy="654340"/>
              </a:xfrm>
              <a:grpFill/>
            </p:grpSpPr>
            <p:sp>
              <p:nvSpPr>
                <p:cNvPr id="684" name="Rounded Rectangle 683">
                  <a:extLst>
                    <a:ext uri="{FF2B5EF4-FFF2-40B4-BE49-F238E27FC236}">
                      <a16:creationId xmlns:a16="http://schemas.microsoft.com/office/drawing/2014/main" id="{90BC2BA2-2518-B6E7-B377-9B6AD2BC87D1}"/>
                    </a:ext>
                  </a:extLst>
                </p:cNvPr>
                <p:cNvSpPr/>
                <p:nvPr/>
              </p:nvSpPr>
              <p:spPr>
                <a:xfrm>
                  <a:off x="4254776" y="1845232"/>
                  <a:ext cx="140214" cy="151000"/>
                </a:xfrm>
                <a:prstGeom prst="roundRect">
                  <a:avLst/>
                </a:prstGeom>
                <a:grpFill/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85" name="Rounded Rectangle 684">
                  <a:extLst>
                    <a:ext uri="{FF2B5EF4-FFF2-40B4-BE49-F238E27FC236}">
                      <a16:creationId xmlns:a16="http://schemas.microsoft.com/office/drawing/2014/main" id="{D14F0C56-322B-BEDE-314B-3B312E9C4637}"/>
                    </a:ext>
                  </a:extLst>
                </p:cNvPr>
                <p:cNvSpPr/>
                <p:nvPr/>
              </p:nvSpPr>
              <p:spPr>
                <a:xfrm>
                  <a:off x="4254776" y="2013012"/>
                  <a:ext cx="140214" cy="151000"/>
                </a:xfrm>
                <a:prstGeom prst="roundRect">
                  <a:avLst/>
                </a:prstGeom>
                <a:grpFill/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86" name="Rounded Rectangle 685">
                  <a:extLst>
                    <a:ext uri="{FF2B5EF4-FFF2-40B4-BE49-F238E27FC236}">
                      <a16:creationId xmlns:a16="http://schemas.microsoft.com/office/drawing/2014/main" id="{31DA04E3-2B25-3BE3-539E-0BF5E8BE37AF}"/>
                    </a:ext>
                  </a:extLst>
                </p:cNvPr>
                <p:cNvSpPr/>
                <p:nvPr/>
              </p:nvSpPr>
              <p:spPr>
                <a:xfrm>
                  <a:off x="4254776" y="2180792"/>
                  <a:ext cx="140214" cy="151000"/>
                </a:xfrm>
                <a:prstGeom prst="roundRect">
                  <a:avLst/>
                </a:prstGeom>
                <a:grpFill/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87" name="Rounded Rectangle 686">
                  <a:extLst>
                    <a:ext uri="{FF2B5EF4-FFF2-40B4-BE49-F238E27FC236}">
                      <a16:creationId xmlns:a16="http://schemas.microsoft.com/office/drawing/2014/main" id="{DEE81FBF-DFA4-2982-DFA9-DF914F37ECDB}"/>
                    </a:ext>
                  </a:extLst>
                </p:cNvPr>
                <p:cNvSpPr/>
                <p:nvPr/>
              </p:nvSpPr>
              <p:spPr>
                <a:xfrm>
                  <a:off x="4254776" y="2348572"/>
                  <a:ext cx="140214" cy="151000"/>
                </a:xfrm>
                <a:prstGeom prst="roundRect">
                  <a:avLst/>
                </a:prstGeom>
                <a:grpFill/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675" name="Rounded Rectangle 674">
                <a:extLst>
                  <a:ext uri="{FF2B5EF4-FFF2-40B4-BE49-F238E27FC236}">
                    <a16:creationId xmlns:a16="http://schemas.microsoft.com/office/drawing/2014/main" id="{D75B3CEF-FC13-BC87-5BDE-AE9F8DDAFA4F}"/>
                  </a:ext>
                </a:extLst>
              </p:cNvPr>
              <p:cNvSpPr/>
              <p:nvPr/>
            </p:nvSpPr>
            <p:spPr>
              <a:xfrm rot="5400000" flipH="1">
                <a:off x="5426660" y="449319"/>
                <a:ext cx="131653" cy="141780"/>
              </a:xfrm>
              <a:prstGeom prst="roundRect">
                <a:avLst/>
              </a:prstGeom>
              <a:grp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6" name="Rounded Rectangle 675">
                <a:extLst>
                  <a:ext uri="{FF2B5EF4-FFF2-40B4-BE49-F238E27FC236}">
                    <a16:creationId xmlns:a16="http://schemas.microsoft.com/office/drawing/2014/main" id="{1D2C7322-3CCE-E897-768E-2EF86EDB641B}"/>
                  </a:ext>
                </a:extLst>
              </p:cNvPr>
              <p:cNvSpPr/>
              <p:nvPr/>
            </p:nvSpPr>
            <p:spPr>
              <a:xfrm rot="5400000" flipH="1">
                <a:off x="5269289" y="449319"/>
                <a:ext cx="131653" cy="141780"/>
              </a:xfrm>
              <a:prstGeom prst="roundRect">
                <a:avLst/>
              </a:prstGeom>
              <a:grp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677" name="Group 676">
                <a:extLst>
                  <a:ext uri="{FF2B5EF4-FFF2-40B4-BE49-F238E27FC236}">
                    <a16:creationId xmlns:a16="http://schemas.microsoft.com/office/drawing/2014/main" id="{F8A6E115-B0EE-42FB-2574-79460A449F9F}"/>
                  </a:ext>
                </a:extLst>
              </p:cNvPr>
              <p:cNvGrpSpPr/>
              <p:nvPr/>
            </p:nvGrpSpPr>
            <p:grpSpPr>
              <a:xfrm rot="5400000" flipH="1">
                <a:off x="4873865" y="365139"/>
                <a:ext cx="131653" cy="614387"/>
                <a:chOff x="4254776" y="1845232"/>
                <a:chExt cx="140214" cy="654340"/>
              </a:xfrm>
              <a:grpFill/>
            </p:grpSpPr>
            <p:sp>
              <p:nvSpPr>
                <p:cNvPr id="680" name="Rounded Rectangle 679">
                  <a:extLst>
                    <a:ext uri="{FF2B5EF4-FFF2-40B4-BE49-F238E27FC236}">
                      <a16:creationId xmlns:a16="http://schemas.microsoft.com/office/drawing/2014/main" id="{84FA5A71-9D05-812A-7B71-807DF1C0FFFD}"/>
                    </a:ext>
                  </a:extLst>
                </p:cNvPr>
                <p:cNvSpPr/>
                <p:nvPr/>
              </p:nvSpPr>
              <p:spPr>
                <a:xfrm>
                  <a:off x="4254776" y="1845232"/>
                  <a:ext cx="140214" cy="151000"/>
                </a:xfrm>
                <a:prstGeom prst="roundRect">
                  <a:avLst/>
                </a:prstGeom>
                <a:grpFill/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81" name="Rounded Rectangle 680">
                  <a:extLst>
                    <a:ext uri="{FF2B5EF4-FFF2-40B4-BE49-F238E27FC236}">
                      <a16:creationId xmlns:a16="http://schemas.microsoft.com/office/drawing/2014/main" id="{43111553-7EC0-4A31-AADF-5A05C1508ACB}"/>
                    </a:ext>
                  </a:extLst>
                </p:cNvPr>
                <p:cNvSpPr/>
                <p:nvPr/>
              </p:nvSpPr>
              <p:spPr>
                <a:xfrm>
                  <a:off x="4254776" y="2013012"/>
                  <a:ext cx="140214" cy="151000"/>
                </a:xfrm>
                <a:prstGeom prst="roundRect">
                  <a:avLst/>
                </a:prstGeom>
                <a:grpFill/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82" name="Rounded Rectangle 681">
                  <a:extLst>
                    <a:ext uri="{FF2B5EF4-FFF2-40B4-BE49-F238E27FC236}">
                      <a16:creationId xmlns:a16="http://schemas.microsoft.com/office/drawing/2014/main" id="{25559E0E-1961-A628-747C-8F4F119D9C01}"/>
                    </a:ext>
                  </a:extLst>
                </p:cNvPr>
                <p:cNvSpPr/>
                <p:nvPr/>
              </p:nvSpPr>
              <p:spPr>
                <a:xfrm>
                  <a:off x="4254776" y="2180792"/>
                  <a:ext cx="140214" cy="151000"/>
                </a:xfrm>
                <a:prstGeom prst="roundRect">
                  <a:avLst/>
                </a:prstGeom>
                <a:grpFill/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83" name="Rounded Rectangle 682">
                  <a:extLst>
                    <a:ext uri="{FF2B5EF4-FFF2-40B4-BE49-F238E27FC236}">
                      <a16:creationId xmlns:a16="http://schemas.microsoft.com/office/drawing/2014/main" id="{7BD2AB8D-9DEE-3009-5876-EF94C131C082}"/>
                    </a:ext>
                  </a:extLst>
                </p:cNvPr>
                <p:cNvSpPr/>
                <p:nvPr/>
              </p:nvSpPr>
              <p:spPr>
                <a:xfrm>
                  <a:off x="4254776" y="2348572"/>
                  <a:ext cx="140214" cy="151000"/>
                </a:xfrm>
                <a:prstGeom prst="roundRect">
                  <a:avLst/>
                </a:prstGeom>
                <a:grpFill/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678" name="Rounded Rectangle 677">
                <a:extLst>
                  <a:ext uri="{FF2B5EF4-FFF2-40B4-BE49-F238E27FC236}">
                    <a16:creationId xmlns:a16="http://schemas.microsoft.com/office/drawing/2014/main" id="{4B498D79-BDBA-9DE1-2AFD-A12EDF2FE883}"/>
                  </a:ext>
                </a:extLst>
              </p:cNvPr>
              <p:cNvSpPr/>
              <p:nvPr/>
            </p:nvSpPr>
            <p:spPr>
              <a:xfrm rot="5400000" flipH="1">
                <a:off x="5424263" y="599614"/>
                <a:ext cx="131653" cy="141780"/>
              </a:xfrm>
              <a:prstGeom prst="roundRect">
                <a:avLst/>
              </a:prstGeom>
              <a:grp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9" name="Rounded Rectangle 678">
                <a:extLst>
                  <a:ext uri="{FF2B5EF4-FFF2-40B4-BE49-F238E27FC236}">
                    <a16:creationId xmlns:a16="http://schemas.microsoft.com/office/drawing/2014/main" id="{2C7CF0F5-7381-BBE2-7211-88BFDBC61E82}"/>
                  </a:ext>
                </a:extLst>
              </p:cNvPr>
              <p:cNvSpPr/>
              <p:nvPr/>
            </p:nvSpPr>
            <p:spPr>
              <a:xfrm rot="5400000" flipH="1">
                <a:off x="5266296" y="598510"/>
                <a:ext cx="131653" cy="141780"/>
              </a:xfrm>
              <a:prstGeom prst="roundRect">
                <a:avLst/>
              </a:prstGeom>
              <a:grp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88" name="Group 687">
              <a:extLst>
                <a:ext uri="{FF2B5EF4-FFF2-40B4-BE49-F238E27FC236}">
                  <a16:creationId xmlns:a16="http://schemas.microsoft.com/office/drawing/2014/main" id="{B63120DD-1584-CEBC-83B9-BD2D43037A7B}"/>
                </a:ext>
              </a:extLst>
            </p:cNvPr>
            <p:cNvGrpSpPr/>
            <p:nvPr/>
          </p:nvGrpSpPr>
          <p:grpSpPr>
            <a:xfrm rot="5400000">
              <a:off x="6149935" y="3366689"/>
              <a:ext cx="930879" cy="283777"/>
              <a:chOff x="4632498" y="454382"/>
              <a:chExt cx="930879" cy="283777"/>
            </a:xfrm>
            <a:grpFill/>
          </p:grpSpPr>
          <p:grpSp>
            <p:nvGrpSpPr>
              <p:cNvPr id="689" name="Group 688">
                <a:extLst>
                  <a:ext uri="{FF2B5EF4-FFF2-40B4-BE49-F238E27FC236}">
                    <a16:creationId xmlns:a16="http://schemas.microsoft.com/office/drawing/2014/main" id="{4FB57FE5-A3A1-03DC-3F6A-2DA9AA29C0BE}"/>
                  </a:ext>
                </a:extLst>
              </p:cNvPr>
              <p:cNvGrpSpPr/>
              <p:nvPr/>
            </p:nvGrpSpPr>
            <p:grpSpPr>
              <a:xfrm rot="5400000" flipH="1">
                <a:off x="4873865" y="216329"/>
                <a:ext cx="131653" cy="614387"/>
                <a:chOff x="4254776" y="1845232"/>
                <a:chExt cx="140214" cy="654340"/>
              </a:xfrm>
              <a:grpFill/>
            </p:grpSpPr>
            <p:sp>
              <p:nvSpPr>
                <p:cNvPr id="699" name="Rounded Rectangle 698">
                  <a:extLst>
                    <a:ext uri="{FF2B5EF4-FFF2-40B4-BE49-F238E27FC236}">
                      <a16:creationId xmlns:a16="http://schemas.microsoft.com/office/drawing/2014/main" id="{8F101ABE-2D93-8B48-9C86-DC9794ADDE30}"/>
                    </a:ext>
                  </a:extLst>
                </p:cNvPr>
                <p:cNvSpPr/>
                <p:nvPr/>
              </p:nvSpPr>
              <p:spPr>
                <a:xfrm>
                  <a:off x="4254776" y="1845232"/>
                  <a:ext cx="140214" cy="151000"/>
                </a:xfrm>
                <a:prstGeom prst="roundRect">
                  <a:avLst/>
                </a:prstGeom>
                <a:grpFill/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00" name="Rounded Rectangle 699">
                  <a:extLst>
                    <a:ext uri="{FF2B5EF4-FFF2-40B4-BE49-F238E27FC236}">
                      <a16:creationId xmlns:a16="http://schemas.microsoft.com/office/drawing/2014/main" id="{41578734-BBC5-0609-3030-BB5074E10C26}"/>
                    </a:ext>
                  </a:extLst>
                </p:cNvPr>
                <p:cNvSpPr/>
                <p:nvPr/>
              </p:nvSpPr>
              <p:spPr>
                <a:xfrm>
                  <a:off x="4254776" y="2013012"/>
                  <a:ext cx="140214" cy="151000"/>
                </a:xfrm>
                <a:prstGeom prst="roundRect">
                  <a:avLst/>
                </a:prstGeom>
                <a:grpFill/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01" name="Rounded Rectangle 700">
                  <a:extLst>
                    <a:ext uri="{FF2B5EF4-FFF2-40B4-BE49-F238E27FC236}">
                      <a16:creationId xmlns:a16="http://schemas.microsoft.com/office/drawing/2014/main" id="{7F14E648-D9D1-AD16-3A5F-3AD10A114A8A}"/>
                    </a:ext>
                  </a:extLst>
                </p:cNvPr>
                <p:cNvSpPr/>
                <p:nvPr/>
              </p:nvSpPr>
              <p:spPr>
                <a:xfrm>
                  <a:off x="4254776" y="2180792"/>
                  <a:ext cx="140214" cy="151000"/>
                </a:xfrm>
                <a:prstGeom prst="roundRect">
                  <a:avLst/>
                </a:prstGeom>
                <a:grpFill/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02" name="Rounded Rectangle 701">
                  <a:extLst>
                    <a:ext uri="{FF2B5EF4-FFF2-40B4-BE49-F238E27FC236}">
                      <a16:creationId xmlns:a16="http://schemas.microsoft.com/office/drawing/2014/main" id="{DD346B30-034D-D83F-F1AD-40951866B05C}"/>
                    </a:ext>
                  </a:extLst>
                </p:cNvPr>
                <p:cNvSpPr/>
                <p:nvPr/>
              </p:nvSpPr>
              <p:spPr>
                <a:xfrm>
                  <a:off x="4254776" y="2348572"/>
                  <a:ext cx="140214" cy="151000"/>
                </a:xfrm>
                <a:prstGeom prst="roundRect">
                  <a:avLst/>
                </a:prstGeom>
                <a:grpFill/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690" name="Rounded Rectangle 689">
                <a:extLst>
                  <a:ext uri="{FF2B5EF4-FFF2-40B4-BE49-F238E27FC236}">
                    <a16:creationId xmlns:a16="http://schemas.microsoft.com/office/drawing/2014/main" id="{FF213AF5-CE0B-2459-6034-4235F213E2FB}"/>
                  </a:ext>
                </a:extLst>
              </p:cNvPr>
              <p:cNvSpPr/>
              <p:nvPr/>
            </p:nvSpPr>
            <p:spPr>
              <a:xfrm rot="5400000" flipH="1">
                <a:off x="5426660" y="449319"/>
                <a:ext cx="131653" cy="141780"/>
              </a:xfrm>
              <a:prstGeom prst="roundRect">
                <a:avLst/>
              </a:prstGeom>
              <a:grp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1" name="Rounded Rectangle 690">
                <a:extLst>
                  <a:ext uri="{FF2B5EF4-FFF2-40B4-BE49-F238E27FC236}">
                    <a16:creationId xmlns:a16="http://schemas.microsoft.com/office/drawing/2014/main" id="{B9181370-4046-76A5-DE5F-22700F5C4113}"/>
                  </a:ext>
                </a:extLst>
              </p:cNvPr>
              <p:cNvSpPr/>
              <p:nvPr/>
            </p:nvSpPr>
            <p:spPr>
              <a:xfrm rot="5400000" flipH="1">
                <a:off x="5269289" y="449319"/>
                <a:ext cx="131653" cy="141780"/>
              </a:xfrm>
              <a:prstGeom prst="roundRect">
                <a:avLst/>
              </a:prstGeom>
              <a:grp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692" name="Group 691">
                <a:extLst>
                  <a:ext uri="{FF2B5EF4-FFF2-40B4-BE49-F238E27FC236}">
                    <a16:creationId xmlns:a16="http://schemas.microsoft.com/office/drawing/2014/main" id="{0B4A22CA-9AD7-1B1F-627F-E1502C2547FA}"/>
                  </a:ext>
                </a:extLst>
              </p:cNvPr>
              <p:cNvGrpSpPr/>
              <p:nvPr/>
            </p:nvGrpSpPr>
            <p:grpSpPr>
              <a:xfrm rot="5400000" flipH="1">
                <a:off x="4873865" y="365139"/>
                <a:ext cx="131653" cy="614387"/>
                <a:chOff x="4254776" y="1845232"/>
                <a:chExt cx="140214" cy="654340"/>
              </a:xfrm>
              <a:grpFill/>
            </p:grpSpPr>
            <p:sp>
              <p:nvSpPr>
                <p:cNvPr id="695" name="Rounded Rectangle 694">
                  <a:extLst>
                    <a:ext uri="{FF2B5EF4-FFF2-40B4-BE49-F238E27FC236}">
                      <a16:creationId xmlns:a16="http://schemas.microsoft.com/office/drawing/2014/main" id="{EE5B0112-6B80-DD19-074D-6A791FA6F659}"/>
                    </a:ext>
                  </a:extLst>
                </p:cNvPr>
                <p:cNvSpPr/>
                <p:nvPr/>
              </p:nvSpPr>
              <p:spPr>
                <a:xfrm>
                  <a:off x="4254776" y="1845232"/>
                  <a:ext cx="140214" cy="151000"/>
                </a:xfrm>
                <a:prstGeom prst="roundRect">
                  <a:avLst/>
                </a:prstGeom>
                <a:grpFill/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96" name="Rounded Rectangle 695">
                  <a:extLst>
                    <a:ext uri="{FF2B5EF4-FFF2-40B4-BE49-F238E27FC236}">
                      <a16:creationId xmlns:a16="http://schemas.microsoft.com/office/drawing/2014/main" id="{DE19D3BB-1E59-92FC-C670-39C2516249F8}"/>
                    </a:ext>
                  </a:extLst>
                </p:cNvPr>
                <p:cNvSpPr/>
                <p:nvPr/>
              </p:nvSpPr>
              <p:spPr>
                <a:xfrm>
                  <a:off x="4254776" y="2013012"/>
                  <a:ext cx="140214" cy="151000"/>
                </a:xfrm>
                <a:prstGeom prst="roundRect">
                  <a:avLst/>
                </a:prstGeom>
                <a:grpFill/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97" name="Rounded Rectangle 696">
                  <a:extLst>
                    <a:ext uri="{FF2B5EF4-FFF2-40B4-BE49-F238E27FC236}">
                      <a16:creationId xmlns:a16="http://schemas.microsoft.com/office/drawing/2014/main" id="{9FB2539C-8766-07D8-7E46-F0CAB0224CC3}"/>
                    </a:ext>
                  </a:extLst>
                </p:cNvPr>
                <p:cNvSpPr/>
                <p:nvPr/>
              </p:nvSpPr>
              <p:spPr>
                <a:xfrm>
                  <a:off x="4254776" y="2180792"/>
                  <a:ext cx="140214" cy="151000"/>
                </a:xfrm>
                <a:prstGeom prst="roundRect">
                  <a:avLst/>
                </a:prstGeom>
                <a:grpFill/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98" name="Rounded Rectangle 697">
                  <a:extLst>
                    <a:ext uri="{FF2B5EF4-FFF2-40B4-BE49-F238E27FC236}">
                      <a16:creationId xmlns:a16="http://schemas.microsoft.com/office/drawing/2014/main" id="{1279F2F7-52D9-B32A-A6B6-83B3C291AFB9}"/>
                    </a:ext>
                  </a:extLst>
                </p:cNvPr>
                <p:cNvSpPr/>
                <p:nvPr/>
              </p:nvSpPr>
              <p:spPr>
                <a:xfrm>
                  <a:off x="4254776" y="2348572"/>
                  <a:ext cx="140214" cy="151000"/>
                </a:xfrm>
                <a:prstGeom prst="roundRect">
                  <a:avLst/>
                </a:prstGeom>
                <a:grpFill/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693" name="Rounded Rectangle 692">
                <a:extLst>
                  <a:ext uri="{FF2B5EF4-FFF2-40B4-BE49-F238E27FC236}">
                    <a16:creationId xmlns:a16="http://schemas.microsoft.com/office/drawing/2014/main" id="{A82A1E6A-B729-5A7F-FFBC-5CD257C3112D}"/>
                  </a:ext>
                </a:extLst>
              </p:cNvPr>
              <p:cNvSpPr/>
              <p:nvPr/>
            </p:nvSpPr>
            <p:spPr>
              <a:xfrm rot="5400000" flipH="1">
                <a:off x="5424263" y="599614"/>
                <a:ext cx="131653" cy="141780"/>
              </a:xfrm>
              <a:prstGeom prst="roundRect">
                <a:avLst/>
              </a:prstGeom>
              <a:grp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4" name="Rounded Rectangle 693">
                <a:extLst>
                  <a:ext uri="{FF2B5EF4-FFF2-40B4-BE49-F238E27FC236}">
                    <a16:creationId xmlns:a16="http://schemas.microsoft.com/office/drawing/2014/main" id="{8B62BACE-8755-EE2A-BF17-ED31FE0E55C9}"/>
                  </a:ext>
                </a:extLst>
              </p:cNvPr>
              <p:cNvSpPr/>
              <p:nvPr/>
            </p:nvSpPr>
            <p:spPr>
              <a:xfrm rot="5400000" flipH="1">
                <a:off x="5266296" y="598510"/>
                <a:ext cx="131653" cy="141780"/>
              </a:xfrm>
              <a:prstGeom prst="roundRect">
                <a:avLst/>
              </a:prstGeom>
              <a:grp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706" name="TextBox 705">
            <a:extLst>
              <a:ext uri="{FF2B5EF4-FFF2-40B4-BE49-F238E27FC236}">
                <a16:creationId xmlns:a16="http://schemas.microsoft.com/office/drawing/2014/main" id="{FCD16153-E9E9-176C-5394-9A787E3F165F}"/>
              </a:ext>
            </a:extLst>
          </p:cNvPr>
          <p:cNvSpPr txBox="1"/>
          <p:nvPr/>
        </p:nvSpPr>
        <p:spPr>
          <a:xfrm>
            <a:off x="7430275" y="1499674"/>
            <a:ext cx="11729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QK</a:t>
            </a:r>
            <a:r>
              <a:rPr lang="en-US" sz="2400" baseline="3000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</a:p>
        </p:txBody>
      </p:sp>
      <p:sp>
        <p:nvSpPr>
          <p:cNvPr id="707" name="TextBox 706">
            <a:extLst>
              <a:ext uri="{FF2B5EF4-FFF2-40B4-BE49-F238E27FC236}">
                <a16:creationId xmlns:a16="http://schemas.microsoft.com/office/drawing/2014/main" id="{1B85F6F0-CD95-FCC8-E168-F443EDE1C655}"/>
              </a:ext>
            </a:extLst>
          </p:cNvPr>
          <p:cNvSpPr txBox="1"/>
          <p:nvPr/>
        </p:nvSpPr>
        <p:spPr>
          <a:xfrm>
            <a:off x="8239044" y="461431"/>
            <a:ext cx="687663" cy="1000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160"/>
              </a:lnSpc>
            </a:pPr>
            <a:r>
              <a:rPr lang="en-US" sz="800" i="1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</a:p>
          <a:p>
            <a:pPr>
              <a:lnSpc>
                <a:spcPts val="1160"/>
              </a:lnSpc>
            </a:pPr>
            <a:r>
              <a:rPr lang="en-US" sz="800" i="1" dirty="0">
                <a:latin typeface="Arial" panose="020B0604020202020204" pitchFamily="34" charset="0"/>
                <a:cs typeface="Arial" panose="020B0604020202020204" pitchFamily="34" charset="0"/>
              </a:rPr>
              <a:t>main</a:t>
            </a:r>
          </a:p>
          <a:p>
            <a:pPr>
              <a:lnSpc>
                <a:spcPts val="1160"/>
              </a:lnSpc>
            </a:pPr>
            <a:r>
              <a:rPr lang="en-US" sz="800" i="1" dirty="0">
                <a:latin typeface="Arial" panose="020B0604020202020204" pitchFamily="34" charset="0"/>
                <a:cs typeface="Arial" panose="020B0604020202020204" pitchFamily="34" charset="0"/>
              </a:rPr>
              <a:t>course</a:t>
            </a:r>
          </a:p>
          <a:p>
            <a:pPr>
              <a:lnSpc>
                <a:spcPts val="1160"/>
              </a:lnSpc>
            </a:pPr>
            <a:r>
              <a:rPr lang="en-US" sz="800" i="1" dirty="0">
                <a:latin typeface="Arial" panose="020B0604020202020204" pitchFamily="34" charset="0"/>
                <a:cs typeface="Arial" panose="020B0604020202020204" pitchFamily="34" charset="0"/>
              </a:rPr>
              <a:t>was</a:t>
            </a:r>
          </a:p>
          <a:p>
            <a:pPr>
              <a:lnSpc>
                <a:spcPts val="1160"/>
              </a:lnSpc>
            </a:pPr>
            <a:r>
              <a:rPr lang="en-US" sz="800" i="1" dirty="0">
                <a:latin typeface="Arial" panose="020B0604020202020204" pitchFamily="34" charset="0"/>
                <a:cs typeface="Arial" panose="020B0604020202020204" pitchFamily="34" charset="0"/>
              </a:rPr>
              <a:t>truly</a:t>
            </a:r>
          </a:p>
          <a:p>
            <a:pPr>
              <a:lnSpc>
                <a:spcPts val="1160"/>
              </a:lnSpc>
            </a:pPr>
            <a:r>
              <a:rPr lang="en-US" sz="800" i="1" dirty="0">
                <a:latin typeface="Arial" panose="020B0604020202020204" pitchFamily="34" charset="0"/>
                <a:cs typeface="Arial" panose="020B0604020202020204" pitchFamily="34" charset="0"/>
              </a:rPr>
              <a:t>delicious</a:t>
            </a:r>
          </a:p>
        </p:txBody>
      </p:sp>
      <p:sp>
        <p:nvSpPr>
          <p:cNvPr id="708" name="TextBox 707">
            <a:extLst>
              <a:ext uri="{FF2B5EF4-FFF2-40B4-BE49-F238E27FC236}">
                <a16:creationId xmlns:a16="http://schemas.microsoft.com/office/drawing/2014/main" id="{6BC6BDA8-BE35-4AF9-8901-B47773700517}"/>
              </a:ext>
            </a:extLst>
          </p:cNvPr>
          <p:cNvSpPr txBox="1"/>
          <p:nvPr/>
        </p:nvSpPr>
        <p:spPr>
          <a:xfrm rot="18878246">
            <a:off x="7168977" y="155995"/>
            <a:ext cx="687663" cy="231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160"/>
              </a:lnSpc>
            </a:pPr>
            <a:r>
              <a:rPr lang="en-US" sz="800" i="1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</a:p>
        </p:txBody>
      </p:sp>
      <p:sp>
        <p:nvSpPr>
          <p:cNvPr id="709" name="TextBox 708">
            <a:extLst>
              <a:ext uri="{FF2B5EF4-FFF2-40B4-BE49-F238E27FC236}">
                <a16:creationId xmlns:a16="http://schemas.microsoft.com/office/drawing/2014/main" id="{C4DA3E0F-017F-F87F-0F36-3372DDB1F6F3}"/>
              </a:ext>
            </a:extLst>
          </p:cNvPr>
          <p:cNvSpPr txBox="1"/>
          <p:nvPr/>
        </p:nvSpPr>
        <p:spPr>
          <a:xfrm rot="18878246">
            <a:off x="7326198" y="168333"/>
            <a:ext cx="687663" cy="231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160"/>
              </a:lnSpc>
            </a:pPr>
            <a:r>
              <a:rPr lang="en-US" sz="800" i="1" dirty="0">
                <a:latin typeface="Arial" panose="020B0604020202020204" pitchFamily="34" charset="0"/>
                <a:cs typeface="Arial" panose="020B0604020202020204" pitchFamily="34" charset="0"/>
              </a:rPr>
              <a:t>main</a:t>
            </a:r>
          </a:p>
        </p:txBody>
      </p:sp>
      <p:sp>
        <p:nvSpPr>
          <p:cNvPr id="710" name="TextBox 709">
            <a:extLst>
              <a:ext uri="{FF2B5EF4-FFF2-40B4-BE49-F238E27FC236}">
                <a16:creationId xmlns:a16="http://schemas.microsoft.com/office/drawing/2014/main" id="{20B7D5DE-979E-BF2D-DB5B-9DE46AA69F25}"/>
              </a:ext>
            </a:extLst>
          </p:cNvPr>
          <p:cNvSpPr txBox="1"/>
          <p:nvPr/>
        </p:nvSpPr>
        <p:spPr>
          <a:xfrm rot="18878246">
            <a:off x="7491298" y="171507"/>
            <a:ext cx="687663" cy="231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160"/>
              </a:lnSpc>
            </a:pPr>
            <a:r>
              <a:rPr lang="en-US" sz="800" i="1" dirty="0">
                <a:latin typeface="Arial" panose="020B0604020202020204" pitchFamily="34" charset="0"/>
                <a:cs typeface="Arial" panose="020B0604020202020204" pitchFamily="34" charset="0"/>
              </a:rPr>
              <a:t>course</a:t>
            </a:r>
          </a:p>
        </p:txBody>
      </p:sp>
      <p:sp>
        <p:nvSpPr>
          <p:cNvPr id="711" name="TextBox 710">
            <a:extLst>
              <a:ext uri="{FF2B5EF4-FFF2-40B4-BE49-F238E27FC236}">
                <a16:creationId xmlns:a16="http://schemas.microsoft.com/office/drawing/2014/main" id="{D70A5954-3CCA-28C5-02A5-881C1FCEB03A}"/>
              </a:ext>
            </a:extLst>
          </p:cNvPr>
          <p:cNvSpPr txBox="1"/>
          <p:nvPr/>
        </p:nvSpPr>
        <p:spPr>
          <a:xfrm rot="18878246">
            <a:off x="7670185" y="168333"/>
            <a:ext cx="687663" cy="231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160"/>
              </a:lnSpc>
            </a:pPr>
            <a:r>
              <a:rPr lang="en-US" sz="800" i="1" dirty="0">
                <a:latin typeface="Arial" panose="020B0604020202020204" pitchFamily="34" charset="0"/>
                <a:cs typeface="Arial" panose="020B0604020202020204" pitchFamily="34" charset="0"/>
              </a:rPr>
              <a:t>was</a:t>
            </a:r>
          </a:p>
        </p:txBody>
      </p:sp>
      <p:sp>
        <p:nvSpPr>
          <p:cNvPr id="712" name="TextBox 711">
            <a:extLst>
              <a:ext uri="{FF2B5EF4-FFF2-40B4-BE49-F238E27FC236}">
                <a16:creationId xmlns:a16="http://schemas.microsoft.com/office/drawing/2014/main" id="{8CAE6765-36AC-1AF6-7E16-B6950A97FC06}"/>
              </a:ext>
            </a:extLst>
          </p:cNvPr>
          <p:cNvSpPr txBox="1"/>
          <p:nvPr/>
        </p:nvSpPr>
        <p:spPr>
          <a:xfrm rot="18878246">
            <a:off x="7828884" y="161419"/>
            <a:ext cx="687663" cy="231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160"/>
              </a:lnSpc>
            </a:pPr>
            <a:r>
              <a:rPr lang="en-US" sz="800" i="1" dirty="0">
                <a:latin typeface="Arial" panose="020B0604020202020204" pitchFamily="34" charset="0"/>
                <a:cs typeface="Arial" panose="020B0604020202020204" pitchFamily="34" charset="0"/>
              </a:rPr>
              <a:t>truly</a:t>
            </a:r>
          </a:p>
        </p:txBody>
      </p:sp>
      <p:sp>
        <p:nvSpPr>
          <p:cNvPr id="713" name="TextBox 712">
            <a:extLst>
              <a:ext uri="{FF2B5EF4-FFF2-40B4-BE49-F238E27FC236}">
                <a16:creationId xmlns:a16="http://schemas.microsoft.com/office/drawing/2014/main" id="{2169F7CC-CF22-3EEE-C037-6CA5F9365336}"/>
              </a:ext>
            </a:extLst>
          </p:cNvPr>
          <p:cNvSpPr txBox="1"/>
          <p:nvPr/>
        </p:nvSpPr>
        <p:spPr>
          <a:xfrm rot="18878246">
            <a:off x="8006290" y="154503"/>
            <a:ext cx="687663" cy="231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160"/>
              </a:lnSpc>
            </a:pPr>
            <a:r>
              <a:rPr lang="en-US" sz="800" i="1" dirty="0">
                <a:latin typeface="Arial" panose="020B0604020202020204" pitchFamily="34" charset="0"/>
                <a:cs typeface="Arial" panose="020B0604020202020204" pitchFamily="34" charset="0"/>
              </a:rPr>
              <a:t>delicious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B201D16-9208-4973-54EB-1139B5FE0EC0}"/>
              </a:ext>
            </a:extLst>
          </p:cNvPr>
          <p:cNvGrpSpPr/>
          <p:nvPr/>
        </p:nvGrpSpPr>
        <p:grpSpPr>
          <a:xfrm>
            <a:off x="4319402" y="1766682"/>
            <a:ext cx="4731112" cy="1976698"/>
            <a:chOff x="4319402" y="1766682"/>
            <a:chExt cx="4731112" cy="1976698"/>
          </a:xfrm>
        </p:grpSpPr>
        <p:sp>
          <p:nvSpPr>
            <p:cNvPr id="714" name="TextBox 713">
              <a:extLst>
                <a:ext uri="{FF2B5EF4-FFF2-40B4-BE49-F238E27FC236}">
                  <a16:creationId xmlns:a16="http://schemas.microsoft.com/office/drawing/2014/main" id="{05B8AD91-16DB-2DDF-85F3-306F166AC810}"/>
                </a:ext>
              </a:extLst>
            </p:cNvPr>
            <p:cNvSpPr txBox="1"/>
            <p:nvPr/>
          </p:nvSpPr>
          <p:spPr>
            <a:xfrm>
              <a:off x="4319402" y="2579862"/>
              <a:ext cx="1056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softmax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</a:p>
          </p:txBody>
        </p:sp>
        <p:sp>
          <p:nvSpPr>
            <p:cNvPr id="716" name="TextBox 715">
              <a:extLst>
                <a:ext uri="{FF2B5EF4-FFF2-40B4-BE49-F238E27FC236}">
                  <a16:creationId xmlns:a16="http://schemas.microsoft.com/office/drawing/2014/main" id="{B967BC52-A6C9-DE79-ED63-45ECCA42088E}"/>
                </a:ext>
              </a:extLst>
            </p:cNvPr>
            <p:cNvSpPr txBox="1"/>
            <p:nvPr/>
          </p:nvSpPr>
          <p:spPr>
            <a:xfrm>
              <a:off x="5127057" y="2232505"/>
              <a:ext cx="3056369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0" dirty="0">
                  <a:latin typeface="+mj-lt"/>
                  <a:cs typeface="Arial Narrow" panose="020B0604020202020204" pitchFamily="34" charset="0"/>
                </a:rPr>
                <a:t>(      )</a:t>
              </a:r>
            </a:p>
          </p:txBody>
        </p:sp>
        <p:grpSp>
          <p:nvGrpSpPr>
            <p:cNvPr id="763" name="Group 762">
              <a:extLst>
                <a:ext uri="{FF2B5EF4-FFF2-40B4-BE49-F238E27FC236}">
                  <a16:creationId xmlns:a16="http://schemas.microsoft.com/office/drawing/2014/main" id="{CB34C294-0488-EE2B-6752-F3C581C42A97}"/>
                </a:ext>
              </a:extLst>
            </p:cNvPr>
            <p:cNvGrpSpPr/>
            <p:nvPr/>
          </p:nvGrpSpPr>
          <p:grpSpPr>
            <a:xfrm rot="5400000">
              <a:off x="5513237" y="2323540"/>
              <a:ext cx="885721" cy="933838"/>
              <a:chOff x="5871542" y="3043138"/>
              <a:chExt cx="885721" cy="933838"/>
            </a:xfrm>
            <a:solidFill>
              <a:srgbClr val="D4BE91"/>
            </a:solidFill>
          </p:grpSpPr>
          <p:grpSp>
            <p:nvGrpSpPr>
              <p:cNvPr id="764" name="Group 763">
                <a:extLst>
                  <a:ext uri="{FF2B5EF4-FFF2-40B4-BE49-F238E27FC236}">
                    <a16:creationId xmlns:a16="http://schemas.microsoft.com/office/drawing/2014/main" id="{69ED993D-A3C6-970A-B934-A1D07F37076F}"/>
                  </a:ext>
                </a:extLst>
              </p:cNvPr>
              <p:cNvGrpSpPr/>
              <p:nvPr/>
            </p:nvGrpSpPr>
            <p:grpSpPr>
              <a:xfrm rot="5400000">
                <a:off x="5547991" y="3369648"/>
                <a:ext cx="930879" cy="283777"/>
                <a:chOff x="4632498" y="454382"/>
                <a:chExt cx="930879" cy="283777"/>
              </a:xfrm>
              <a:grpFill/>
            </p:grpSpPr>
            <p:grpSp>
              <p:nvGrpSpPr>
                <p:cNvPr id="795" name="Group 794">
                  <a:extLst>
                    <a:ext uri="{FF2B5EF4-FFF2-40B4-BE49-F238E27FC236}">
                      <a16:creationId xmlns:a16="http://schemas.microsoft.com/office/drawing/2014/main" id="{6DBC36B3-26CF-465E-57FA-F5E10A40ACA2}"/>
                    </a:ext>
                  </a:extLst>
                </p:cNvPr>
                <p:cNvGrpSpPr/>
                <p:nvPr/>
              </p:nvGrpSpPr>
              <p:grpSpPr>
                <a:xfrm rot="5400000" flipH="1">
                  <a:off x="4873865" y="216329"/>
                  <a:ext cx="131653" cy="614387"/>
                  <a:chOff x="4254776" y="1845232"/>
                  <a:chExt cx="140214" cy="654340"/>
                </a:xfrm>
                <a:grpFill/>
              </p:grpSpPr>
              <p:sp>
                <p:nvSpPr>
                  <p:cNvPr id="805" name="Rounded Rectangle 804">
                    <a:extLst>
                      <a:ext uri="{FF2B5EF4-FFF2-40B4-BE49-F238E27FC236}">
                        <a16:creationId xmlns:a16="http://schemas.microsoft.com/office/drawing/2014/main" id="{8089323F-D701-C395-35F1-4FD8105AA2F8}"/>
                      </a:ext>
                    </a:extLst>
                  </p:cNvPr>
                  <p:cNvSpPr/>
                  <p:nvPr/>
                </p:nvSpPr>
                <p:spPr>
                  <a:xfrm>
                    <a:off x="4254776" y="1845232"/>
                    <a:ext cx="140214" cy="151000"/>
                  </a:xfrm>
                  <a:prstGeom prst="roundRect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06" name="Rounded Rectangle 805">
                    <a:extLst>
                      <a:ext uri="{FF2B5EF4-FFF2-40B4-BE49-F238E27FC236}">
                        <a16:creationId xmlns:a16="http://schemas.microsoft.com/office/drawing/2014/main" id="{BEDB3473-9A25-82A9-B8E9-B7AA8A5E5AEA}"/>
                      </a:ext>
                    </a:extLst>
                  </p:cNvPr>
                  <p:cNvSpPr/>
                  <p:nvPr/>
                </p:nvSpPr>
                <p:spPr>
                  <a:xfrm>
                    <a:off x="4254776" y="2013012"/>
                    <a:ext cx="140214" cy="151000"/>
                  </a:xfrm>
                  <a:prstGeom prst="roundRect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07" name="Rounded Rectangle 806">
                    <a:extLst>
                      <a:ext uri="{FF2B5EF4-FFF2-40B4-BE49-F238E27FC236}">
                        <a16:creationId xmlns:a16="http://schemas.microsoft.com/office/drawing/2014/main" id="{E4EECCFB-0017-A7D3-ADF4-6BB040B35EBE}"/>
                      </a:ext>
                    </a:extLst>
                  </p:cNvPr>
                  <p:cNvSpPr/>
                  <p:nvPr/>
                </p:nvSpPr>
                <p:spPr>
                  <a:xfrm>
                    <a:off x="4254776" y="2180792"/>
                    <a:ext cx="140214" cy="151000"/>
                  </a:xfrm>
                  <a:prstGeom prst="roundRect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08" name="Rounded Rectangle 807">
                    <a:extLst>
                      <a:ext uri="{FF2B5EF4-FFF2-40B4-BE49-F238E27FC236}">
                        <a16:creationId xmlns:a16="http://schemas.microsoft.com/office/drawing/2014/main" id="{6CE5D238-1B87-F419-E860-ACD572A0C153}"/>
                      </a:ext>
                    </a:extLst>
                  </p:cNvPr>
                  <p:cNvSpPr/>
                  <p:nvPr/>
                </p:nvSpPr>
                <p:spPr>
                  <a:xfrm>
                    <a:off x="4254776" y="2348572"/>
                    <a:ext cx="140214" cy="151000"/>
                  </a:xfrm>
                  <a:prstGeom prst="roundRect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796" name="Rounded Rectangle 795">
                  <a:extLst>
                    <a:ext uri="{FF2B5EF4-FFF2-40B4-BE49-F238E27FC236}">
                      <a16:creationId xmlns:a16="http://schemas.microsoft.com/office/drawing/2014/main" id="{3DF50B6B-FB08-2443-FE2F-75954C3C0271}"/>
                    </a:ext>
                  </a:extLst>
                </p:cNvPr>
                <p:cNvSpPr/>
                <p:nvPr/>
              </p:nvSpPr>
              <p:spPr>
                <a:xfrm rot="5400000" flipH="1">
                  <a:off x="5426660" y="449319"/>
                  <a:ext cx="131653" cy="141780"/>
                </a:xfrm>
                <a:prstGeom prst="roundRect">
                  <a:avLst/>
                </a:prstGeom>
                <a:grpFill/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7" name="Rounded Rectangle 796">
                  <a:extLst>
                    <a:ext uri="{FF2B5EF4-FFF2-40B4-BE49-F238E27FC236}">
                      <a16:creationId xmlns:a16="http://schemas.microsoft.com/office/drawing/2014/main" id="{6179ABEA-7BE3-347B-B9D7-BFAC22B62902}"/>
                    </a:ext>
                  </a:extLst>
                </p:cNvPr>
                <p:cNvSpPr/>
                <p:nvPr/>
              </p:nvSpPr>
              <p:spPr>
                <a:xfrm rot="5400000" flipH="1">
                  <a:off x="5269289" y="449319"/>
                  <a:ext cx="131653" cy="141780"/>
                </a:xfrm>
                <a:prstGeom prst="roundRect">
                  <a:avLst/>
                </a:prstGeom>
                <a:grpFill/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798" name="Group 797">
                  <a:extLst>
                    <a:ext uri="{FF2B5EF4-FFF2-40B4-BE49-F238E27FC236}">
                      <a16:creationId xmlns:a16="http://schemas.microsoft.com/office/drawing/2014/main" id="{B895EC41-6ECD-5932-FA78-EEF31025BAF3}"/>
                    </a:ext>
                  </a:extLst>
                </p:cNvPr>
                <p:cNvGrpSpPr/>
                <p:nvPr/>
              </p:nvGrpSpPr>
              <p:grpSpPr>
                <a:xfrm rot="5400000" flipH="1">
                  <a:off x="4873865" y="365139"/>
                  <a:ext cx="131653" cy="614387"/>
                  <a:chOff x="4254776" y="1845232"/>
                  <a:chExt cx="140214" cy="654340"/>
                </a:xfrm>
                <a:grpFill/>
              </p:grpSpPr>
              <p:sp>
                <p:nvSpPr>
                  <p:cNvPr id="801" name="Rounded Rectangle 800">
                    <a:extLst>
                      <a:ext uri="{FF2B5EF4-FFF2-40B4-BE49-F238E27FC236}">
                        <a16:creationId xmlns:a16="http://schemas.microsoft.com/office/drawing/2014/main" id="{0484A958-7928-F344-4F46-18130ACD0678}"/>
                      </a:ext>
                    </a:extLst>
                  </p:cNvPr>
                  <p:cNvSpPr/>
                  <p:nvPr/>
                </p:nvSpPr>
                <p:spPr>
                  <a:xfrm>
                    <a:off x="4254776" y="1845232"/>
                    <a:ext cx="140214" cy="151000"/>
                  </a:xfrm>
                  <a:prstGeom prst="roundRect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02" name="Rounded Rectangle 801">
                    <a:extLst>
                      <a:ext uri="{FF2B5EF4-FFF2-40B4-BE49-F238E27FC236}">
                        <a16:creationId xmlns:a16="http://schemas.microsoft.com/office/drawing/2014/main" id="{F7330CD5-4E61-891A-82D3-C24273A68AFC}"/>
                      </a:ext>
                    </a:extLst>
                  </p:cNvPr>
                  <p:cNvSpPr/>
                  <p:nvPr/>
                </p:nvSpPr>
                <p:spPr>
                  <a:xfrm>
                    <a:off x="4254776" y="2013012"/>
                    <a:ext cx="140214" cy="151000"/>
                  </a:xfrm>
                  <a:prstGeom prst="roundRect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03" name="Rounded Rectangle 802">
                    <a:extLst>
                      <a:ext uri="{FF2B5EF4-FFF2-40B4-BE49-F238E27FC236}">
                        <a16:creationId xmlns:a16="http://schemas.microsoft.com/office/drawing/2014/main" id="{90FDE3EA-E606-6FC4-579D-20885E71965B}"/>
                      </a:ext>
                    </a:extLst>
                  </p:cNvPr>
                  <p:cNvSpPr/>
                  <p:nvPr/>
                </p:nvSpPr>
                <p:spPr>
                  <a:xfrm>
                    <a:off x="4254776" y="2180792"/>
                    <a:ext cx="140214" cy="151000"/>
                  </a:xfrm>
                  <a:prstGeom prst="roundRect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04" name="Rounded Rectangle 803">
                    <a:extLst>
                      <a:ext uri="{FF2B5EF4-FFF2-40B4-BE49-F238E27FC236}">
                        <a16:creationId xmlns:a16="http://schemas.microsoft.com/office/drawing/2014/main" id="{A18BED06-6DFA-600A-1872-F172D438A158}"/>
                      </a:ext>
                    </a:extLst>
                  </p:cNvPr>
                  <p:cNvSpPr/>
                  <p:nvPr/>
                </p:nvSpPr>
                <p:spPr>
                  <a:xfrm>
                    <a:off x="4254776" y="2348572"/>
                    <a:ext cx="140214" cy="151000"/>
                  </a:xfrm>
                  <a:prstGeom prst="roundRect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799" name="Rounded Rectangle 798">
                  <a:extLst>
                    <a:ext uri="{FF2B5EF4-FFF2-40B4-BE49-F238E27FC236}">
                      <a16:creationId xmlns:a16="http://schemas.microsoft.com/office/drawing/2014/main" id="{B8958015-AE70-5D5F-4C48-FA1364C86746}"/>
                    </a:ext>
                  </a:extLst>
                </p:cNvPr>
                <p:cNvSpPr/>
                <p:nvPr/>
              </p:nvSpPr>
              <p:spPr>
                <a:xfrm rot="5400000" flipH="1">
                  <a:off x="5424263" y="599614"/>
                  <a:ext cx="131653" cy="141780"/>
                </a:xfrm>
                <a:prstGeom prst="roundRect">
                  <a:avLst/>
                </a:prstGeom>
                <a:grpFill/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0" name="Rounded Rectangle 799">
                  <a:extLst>
                    <a:ext uri="{FF2B5EF4-FFF2-40B4-BE49-F238E27FC236}">
                      <a16:creationId xmlns:a16="http://schemas.microsoft.com/office/drawing/2014/main" id="{7B9D3F38-6AE1-E44E-B66C-20815B64652B}"/>
                    </a:ext>
                  </a:extLst>
                </p:cNvPr>
                <p:cNvSpPr/>
                <p:nvPr/>
              </p:nvSpPr>
              <p:spPr>
                <a:xfrm rot="5400000" flipH="1">
                  <a:off x="5266296" y="598510"/>
                  <a:ext cx="131653" cy="141780"/>
                </a:xfrm>
                <a:prstGeom prst="roundRect">
                  <a:avLst/>
                </a:prstGeom>
                <a:grpFill/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5" name="Group 764">
                <a:extLst>
                  <a:ext uri="{FF2B5EF4-FFF2-40B4-BE49-F238E27FC236}">
                    <a16:creationId xmlns:a16="http://schemas.microsoft.com/office/drawing/2014/main" id="{15A26CD5-E26F-582F-3C81-AC54F7A10FAE}"/>
                  </a:ext>
                </a:extLst>
              </p:cNvPr>
              <p:cNvGrpSpPr/>
              <p:nvPr/>
            </p:nvGrpSpPr>
            <p:grpSpPr>
              <a:xfrm rot="5400000">
                <a:off x="5847404" y="3369648"/>
                <a:ext cx="930879" cy="283777"/>
                <a:chOff x="4632498" y="454382"/>
                <a:chExt cx="930879" cy="283777"/>
              </a:xfrm>
              <a:grpFill/>
            </p:grpSpPr>
            <p:grpSp>
              <p:nvGrpSpPr>
                <p:cNvPr id="781" name="Group 780">
                  <a:extLst>
                    <a:ext uri="{FF2B5EF4-FFF2-40B4-BE49-F238E27FC236}">
                      <a16:creationId xmlns:a16="http://schemas.microsoft.com/office/drawing/2014/main" id="{460367F6-FBC2-6B67-02E6-1F8045355C54}"/>
                    </a:ext>
                  </a:extLst>
                </p:cNvPr>
                <p:cNvGrpSpPr/>
                <p:nvPr/>
              </p:nvGrpSpPr>
              <p:grpSpPr>
                <a:xfrm rot="5400000" flipH="1">
                  <a:off x="4873865" y="216329"/>
                  <a:ext cx="131653" cy="614387"/>
                  <a:chOff x="4254776" y="1845232"/>
                  <a:chExt cx="140214" cy="654340"/>
                </a:xfrm>
                <a:grpFill/>
              </p:grpSpPr>
              <p:sp>
                <p:nvSpPr>
                  <p:cNvPr id="791" name="Rounded Rectangle 790">
                    <a:extLst>
                      <a:ext uri="{FF2B5EF4-FFF2-40B4-BE49-F238E27FC236}">
                        <a16:creationId xmlns:a16="http://schemas.microsoft.com/office/drawing/2014/main" id="{B4D0F00D-C0E7-FE71-0B85-12DD5B4E4E85}"/>
                      </a:ext>
                    </a:extLst>
                  </p:cNvPr>
                  <p:cNvSpPr/>
                  <p:nvPr/>
                </p:nvSpPr>
                <p:spPr>
                  <a:xfrm>
                    <a:off x="4254776" y="1845232"/>
                    <a:ext cx="140214" cy="151000"/>
                  </a:xfrm>
                  <a:prstGeom prst="roundRect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92" name="Rounded Rectangle 791">
                    <a:extLst>
                      <a:ext uri="{FF2B5EF4-FFF2-40B4-BE49-F238E27FC236}">
                        <a16:creationId xmlns:a16="http://schemas.microsoft.com/office/drawing/2014/main" id="{2CBC6DBC-679A-4558-537C-C62720C937C9}"/>
                      </a:ext>
                    </a:extLst>
                  </p:cNvPr>
                  <p:cNvSpPr/>
                  <p:nvPr/>
                </p:nvSpPr>
                <p:spPr>
                  <a:xfrm>
                    <a:off x="4254776" y="2013012"/>
                    <a:ext cx="140214" cy="151000"/>
                  </a:xfrm>
                  <a:prstGeom prst="roundRect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93" name="Rounded Rectangle 792">
                    <a:extLst>
                      <a:ext uri="{FF2B5EF4-FFF2-40B4-BE49-F238E27FC236}">
                        <a16:creationId xmlns:a16="http://schemas.microsoft.com/office/drawing/2014/main" id="{1C5EC2C1-931F-CD3D-420E-28F60D2738A3}"/>
                      </a:ext>
                    </a:extLst>
                  </p:cNvPr>
                  <p:cNvSpPr/>
                  <p:nvPr/>
                </p:nvSpPr>
                <p:spPr>
                  <a:xfrm>
                    <a:off x="4254776" y="2180792"/>
                    <a:ext cx="140214" cy="151000"/>
                  </a:xfrm>
                  <a:prstGeom prst="roundRect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94" name="Rounded Rectangle 793">
                    <a:extLst>
                      <a:ext uri="{FF2B5EF4-FFF2-40B4-BE49-F238E27FC236}">
                        <a16:creationId xmlns:a16="http://schemas.microsoft.com/office/drawing/2014/main" id="{1E65005B-C832-54B0-4FFF-FBEEC8B062D2}"/>
                      </a:ext>
                    </a:extLst>
                  </p:cNvPr>
                  <p:cNvSpPr/>
                  <p:nvPr/>
                </p:nvSpPr>
                <p:spPr>
                  <a:xfrm>
                    <a:off x="4254776" y="2348572"/>
                    <a:ext cx="140214" cy="151000"/>
                  </a:xfrm>
                  <a:prstGeom prst="roundRect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782" name="Rounded Rectangle 781">
                  <a:extLst>
                    <a:ext uri="{FF2B5EF4-FFF2-40B4-BE49-F238E27FC236}">
                      <a16:creationId xmlns:a16="http://schemas.microsoft.com/office/drawing/2014/main" id="{5C5F387C-552D-53D8-A762-BE382A28D8C0}"/>
                    </a:ext>
                  </a:extLst>
                </p:cNvPr>
                <p:cNvSpPr/>
                <p:nvPr/>
              </p:nvSpPr>
              <p:spPr>
                <a:xfrm rot="5400000" flipH="1">
                  <a:off x="5426660" y="449319"/>
                  <a:ext cx="131653" cy="141780"/>
                </a:xfrm>
                <a:prstGeom prst="roundRect">
                  <a:avLst/>
                </a:prstGeom>
                <a:grpFill/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83" name="Rounded Rectangle 782">
                  <a:extLst>
                    <a:ext uri="{FF2B5EF4-FFF2-40B4-BE49-F238E27FC236}">
                      <a16:creationId xmlns:a16="http://schemas.microsoft.com/office/drawing/2014/main" id="{5DE2EFB5-8233-259E-3F1F-9C2A6B3C1C02}"/>
                    </a:ext>
                  </a:extLst>
                </p:cNvPr>
                <p:cNvSpPr/>
                <p:nvPr/>
              </p:nvSpPr>
              <p:spPr>
                <a:xfrm rot="5400000" flipH="1">
                  <a:off x="5269289" y="449319"/>
                  <a:ext cx="131653" cy="141780"/>
                </a:xfrm>
                <a:prstGeom prst="roundRect">
                  <a:avLst/>
                </a:prstGeom>
                <a:grpFill/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784" name="Group 783">
                  <a:extLst>
                    <a:ext uri="{FF2B5EF4-FFF2-40B4-BE49-F238E27FC236}">
                      <a16:creationId xmlns:a16="http://schemas.microsoft.com/office/drawing/2014/main" id="{75DF6238-BF14-0ACD-938C-09696A2C74C1}"/>
                    </a:ext>
                  </a:extLst>
                </p:cNvPr>
                <p:cNvGrpSpPr/>
                <p:nvPr/>
              </p:nvGrpSpPr>
              <p:grpSpPr>
                <a:xfrm rot="5400000" flipH="1">
                  <a:off x="4873865" y="365139"/>
                  <a:ext cx="131653" cy="614387"/>
                  <a:chOff x="4254776" y="1845232"/>
                  <a:chExt cx="140214" cy="654340"/>
                </a:xfrm>
                <a:grpFill/>
              </p:grpSpPr>
              <p:sp>
                <p:nvSpPr>
                  <p:cNvPr id="787" name="Rounded Rectangle 786">
                    <a:extLst>
                      <a:ext uri="{FF2B5EF4-FFF2-40B4-BE49-F238E27FC236}">
                        <a16:creationId xmlns:a16="http://schemas.microsoft.com/office/drawing/2014/main" id="{090F5C40-FEA7-BCD0-7CB7-A659C1F68905}"/>
                      </a:ext>
                    </a:extLst>
                  </p:cNvPr>
                  <p:cNvSpPr/>
                  <p:nvPr/>
                </p:nvSpPr>
                <p:spPr>
                  <a:xfrm>
                    <a:off x="4254776" y="1845232"/>
                    <a:ext cx="140214" cy="151000"/>
                  </a:xfrm>
                  <a:prstGeom prst="roundRect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88" name="Rounded Rectangle 787">
                    <a:extLst>
                      <a:ext uri="{FF2B5EF4-FFF2-40B4-BE49-F238E27FC236}">
                        <a16:creationId xmlns:a16="http://schemas.microsoft.com/office/drawing/2014/main" id="{1FA5D020-BF14-994F-B9DF-E94F0CB60994}"/>
                      </a:ext>
                    </a:extLst>
                  </p:cNvPr>
                  <p:cNvSpPr/>
                  <p:nvPr/>
                </p:nvSpPr>
                <p:spPr>
                  <a:xfrm>
                    <a:off x="4254776" y="2013012"/>
                    <a:ext cx="140214" cy="151000"/>
                  </a:xfrm>
                  <a:prstGeom prst="roundRect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89" name="Rounded Rectangle 788">
                    <a:extLst>
                      <a:ext uri="{FF2B5EF4-FFF2-40B4-BE49-F238E27FC236}">
                        <a16:creationId xmlns:a16="http://schemas.microsoft.com/office/drawing/2014/main" id="{8CDE0CD0-9D7A-3612-2339-0FDE497F5A07}"/>
                      </a:ext>
                    </a:extLst>
                  </p:cNvPr>
                  <p:cNvSpPr/>
                  <p:nvPr/>
                </p:nvSpPr>
                <p:spPr>
                  <a:xfrm>
                    <a:off x="4254776" y="2180792"/>
                    <a:ext cx="140214" cy="151000"/>
                  </a:xfrm>
                  <a:prstGeom prst="roundRect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90" name="Rounded Rectangle 789">
                    <a:extLst>
                      <a:ext uri="{FF2B5EF4-FFF2-40B4-BE49-F238E27FC236}">
                        <a16:creationId xmlns:a16="http://schemas.microsoft.com/office/drawing/2014/main" id="{ED4F29E9-EF8B-549A-A100-190338A3F53C}"/>
                      </a:ext>
                    </a:extLst>
                  </p:cNvPr>
                  <p:cNvSpPr/>
                  <p:nvPr/>
                </p:nvSpPr>
                <p:spPr>
                  <a:xfrm>
                    <a:off x="4254776" y="2348572"/>
                    <a:ext cx="140214" cy="151000"/>
                  </a:xfrm>
                  <a:prstGeom prst="roundRect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785" name="Rounded Rectangle 784">
                  <a:extLst>
                    <a:ext uri="{FF2B5EF4-FFF2-40B4-BE49-F238E27FC236}">
                      <a16:creationId xmlns:a16="http://schemas.microsoft.com/office/drawing/2014/main" id="{D0979E5E-1DAB-870C-01E1-19BF94EFC883}"/>
                    </a:ext>
                  </a:extLst>
                </p:cNvPr>
                <p:cNvSpPr/>
                <p:nvPr/>
              </p:nvSpPr>
              <p:spPr>
                <a:xfrm rot="5400000" flipH="1">
                  <a:off x="5424263" y="599614"/>
                  <a:ext cx="131653" cy="141780"/>
                </a:xfrm>
                <a:prstGeom prst="roundRect">
                  <a:avLst/>
                </a:prstGeom>
                <a:grpFill/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86" name="Rounded Rectangle 785">
                  <a:extLst>
                    <a:ext uri="{FF2B5EF4-FFF2-40B4-BE49-F238E27FC236}">
                      <a16:creationId xmlns:a16="http://schemas.microsoft.com/office/drawing/2014/main" id="{F78C2683-B5B6-769B-8D45-31EDD42D92FF}"/>
                    </a:ext>
                  </a:extLst>
                </p:cNvPr>
                <p:cNvSpPr/>
                <p:nvPr/>
              </p:nvSpPr>
              <p:spPr>
                <a:xfrm rot="5400000" flipH="1">
                  <a:off x="5266296" y="598510"/>
                  <a:ext cx="131653" cy="141780"/>
                </a:xfrm>
                <a:prstGeom prst="roundRect">
                  <a:avLst/>
                </a:prstGeom>
                <a:grpFill/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6" name="Group 765">
                <a:extLst>
                  <a:ext uri="{FF2B5EF4-FFF2-40B4-BE49-F238E27FC236}">
                    <a16:creationId xmlns:a16="http://schemas.microsoft.com/office/drawing/2014/main" id="{428E4E6A-1A17-1F86-BEB7-1EB25DE47842}"/>
                  </a:ext>
                </a:extLst>
              </p:cNvPr>
              <p:cNvGrpSpPr/>
              <p:nvPr/>
            </p:nvGrpSpPr>
            <p:grpSpPr>
              <a:xfrm rot="5400000">
                <a:off x="6149935" y="3366689"/>
                <a:ext cx="930879" cy="283777"/>
                <a:chOff x="4632498" y="454382"/>
                <a:chExt cx="930879" cy="283777"/>
              </a:xfrm>
              <a:grpFill/>
            </p:grpSpPr>
            <p:grpSp>
              <p:nvGrpSpPr>
                <p:cNvPr id="767" name="Group 766">
                  <a:extLst>
                    <a:ext uri="{FF2B5EF4-FFF2-40B4-BE49-F238E27FC236}">
                      <a16:creationId xmlns:a16="http://schemas.microsoft.com/office/drawing/2014/main" id="{DE7B0716-CF40-0F9A-AE7F-0AEA36C503D7}"/>
                    </a:ext>
                  </a:extLst>
                </p:cNvPr>
                <p:cNvGrpSpPr/>
                <p:nvPr/>
              </p:nvGrpSpPr>
              <p:grpSpPr>
                <a:xfrm rot="5400000" flipH="1">
                  <a:off x="4873865" y="216329"/>
                  <a:ext cx="131653" cy="614387"/>
                  <a:chOff x="4254776" y="1845232"/>
                  <a:chExt cx="140214" cy="654340"/>
                </a:xfrm>
                <a:grpFill/>
              </p:grpSpPr>
              <p:sp>
                <p:nvSpPr>
                  <p:cNvPr id="777" name="Rounded Rectangle 776">
                    <a:extLst>
                      <a:ext uri="{FF2B5EF4-FFF2-40B4-BE49-F238E27FC236}">
                        <a16:creationId xmlns:a16="http://schemas.microsoft.com/office/drawing/2014/main" id="{26A58B67-0958-72AD-B82C-5DF216189954}"/>
                      </a:ext>
                    </a:extLst>
                  </p:cNvPr>
                  <p:cNvSpPr/>
                  <p:nvPr/>
                </p:nvSpPr>
                <p:spPr>
                  <a:xfrm>
                    <a:off x="4254776" y="1845232"/>
                    <a:ext cx="140214" cy="151000"/>
                  </a:xfrm>
                  <a:prstGeom prst="roundRect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78" name="Rounded Rectangle 777">
                    <a:extLst>
                      <a:ext uri="{FF2B5EF4-FFF2-40B4-BE49-F238E27FC236}">
                        <a16:creationId xmlns:a16="http://schemas.microsoft.com/office/drawing/2014/main" id="{C666646B-74A9-FA5B-13FB-D5A6A29C6024}"/>
                      </a:ext>
                    </a:extLst>
                  </p:cNvPr>
                  <p:cNvSpPr/>
                  <p:nvPr/>
                </p:nvSpPr>
                <p:spPr>
                  <a:xfrm>
                    <a:off x="4254776" y="2013012"/>
                    <a:ext cx="140214" cy="151000"/>
                  </a:xfrm>
                  <a:prstGeom prst="roundRect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79" name="Rounded Rectangle 778">
                    <a:extLst>
                      <a:ext uri="{FF2B5EF4-FFF2-40B4-BE49-F238E27FC236}">
                        <a16:creationId xmlns:a16="http://schemas.microsoft.com/office/drawing/2014/main" id="{BC3F0B59-1B56-88B2-CDCC-2DACD5C4863E}"/>
                      </a:ext>
                    </a:extLst>
                  </p:cNvPr>
                  <p:cNvSpPr/>
                  <p:nvPr/>
                </p:nvSpPr>
                <p:spPr>
                  <a:xfrm>
                    <a:off x="4254776" y="2180792"/>
                    <a:ext cx="140214" cy="151000"/>
                  </a:xfrm>
                  <a:prstGeom prst="roundRect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80" name="Rounded Rectangle 779">
                    <a:extLst>
                      <a:ext uri="{FF2B5EF4-FFF2-40B4-BE49-F238E27FC236}">
                        <a16:creationId xmlns:a16="http://schemas.microsoft.com/office/drawing/2014/main" id="{69E0DF49-4C08-D014-C9D5-742A8EEBD8DB}"/>
                      </a:ext>
                    </a:extLst>
                  </p:cNvPr>
                  <p:cNvSpPr/>
                  <p:nvPr/>
                </p:nvSpPr>
                <p:spPr>
                  <a:xfrm>
                    <a:off x="4254776" y="2348572"/>
                    <a:ext cx="140214" cy="151000"/>
                  </a:xfrm>
                  <a:prstGeom prst="roundRect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768" name="Rounded Rectangle 767">
                  <a:extLst>
                    <a:ext uri="{FF2B5EF4-FFF2-40B4-BE49-F238E27FC236}">
                      <a16:creationId xmlns:a16="http://schemas.microsoft.com/office/drawing/2014/main" id="{BF5927AA-7152-EE46-8A26-3982BBDC83D0}"/>
                    </a:ext>
                  </a:extLst>
                </p:cNvPr>
                <p:cNvSpPr/>
                <p:nvPr/>
              </p:nvSpPr>
              <p:spPr>
                <a:xfrm rot="5400000" flipH="1">
                  <a:off x="5426660" y="449319"/>
                  <a:ext cx="131653" cy="141780"/>
                </a:xfrm>
                <a:prstGeom prst="roundRect">
                  <a:avLst/>
                </a:prstGeom>
                <a:grpFill/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69" name="Rounded Rectangle 768">
                  <a:extLst>
                    <a:ext uri="{FF2B5EF4-FFF2-40B4-BE49-F238E27FC236}">
                      <a16:creationId xmlns:a16="http://schemas.microsoft.com/office/drawing/2014/main" id="{93E65FE2-78A8-284A-1CBB-4DFB1416D3A5}"/>
                    </a:ext>
                  </a:extLst>
                </p:cNvPr>
                <p:cNvSpPr/>
                <p:nvPr/>
              </p:nvSpPr>
              <p:spPr>
                <a:xfrm rot="5400000" flipH="1">
                  <a:off x="5269289" y="449319"/>
                  <a:ext cx="131653" cy="141780"/>
                </a:xfrm>
                <a:prstGeom prst="roundRect">
                  <a:avLst/>
                </a:prstGeom>
                <a:grpFill/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770" name="Group 769">
                  <a:extLst>
                    <a:ext uri="{FF2B5EF4-FFF2-40B4-BE49-F238E27FC236}">
                      <a16:creationId xmlns:a16="http://schemas.microsoft.com/office/drawing/2014/main" id="{3E439227-CD4C-41FC-487A-9279B8DC0025}"/>
                    </a:ext>
                  </a:extLst>
                </p:cNvPr>
                <p:cNvGrpSpPr/>
                <p:nvPr/>
              </p:nvGrpSpPr>
              <p:grpSpPr>
                <a:xfrm rot="5400000" flipH="1">
                  <a:off x="4873865" y="365139"/>
                  <a:ext cx="131653" cy="614387"/>
                  <a:chOff x="4254776" y="1845232"/>
                  <a:chExt cx="140214" cy="654340"/>
                </a:xfrm>
                <a:grpFill/>
              </p:grpSpPr>
              <p:sp>
                <p:nvSpPr>
                  <p:cNvPr id="773" name="Rounded Rectangle 772">
                    <a:extLst>
                      <a:ext uri="{FF2B5EF4-FFF2-40B4-BE49-F238E27FC236}">
                        <a16:creationId xmlns:a16="http://schemas.microsoft.com/office/drawing/2014/main" id="{E5204ED7-5D46-B0FA-7B8E-EAEDC5A87042}"/>
                      </a:ext>
                    </a:extLst>
                  </p:cNvPr>
                  <p:cNvSpPr/>
                  <p:nvPr/>
                </p:nvSpPr>
                <p:spPr>
                  <a:xfrm>
                    <a:off x="4254776" y="1845232"/>
                    <a:ext cx="140214" cy="151000"/>
                  </a:xfrm>
                  <a:prstGeom prst="roundRect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74" name="Rounded Rectangle 773">
                    <a:extLst>
                      <a:ext uri="{FF2B5EF4-FFF2-40B4-BE49-F238E27FC236}">
                        <a16:creationId xmlns:a16="http://schemas.microsoft.com/office/drawing/2014/main" id="{D666ABFA-DB95-20C8-2242-08D67551B447}"/>
                      </a:ext>
                    </a:extLst>
                  </p:cNvPr>
                  <p:cNvSpPr/>
                  <p:nvPr/>
                </p:nvSpPr>
                <p:spPr>
                  <a:xfrm>
                    <a:off x="4254776" y="2013012"/>
                    <a:ext cx="140214" cy="151000"/>
                  </a:xfrm>
                  <a:prstGeom prst="roundRect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75" name="Rounded Rectangle 774">
                    <a:extLst>
                      <a:ext uri="{FF2B5EF4-FFF2-40B4-BE49-F238E27FC236}">
                        <a16:creationId xmlns:a16="http://schemas.microsoft.com/office/drawing/2014/main" id="{820131EA-0562-EB73-4C77-675B2046475E}"/>
                      </a:ext>
                    </a:extLst>
                  </p:cNvPr>
                  <p:cNvSpPr/>
                  <p:nvPr/>
                </p:nvSpPr>
                <p:spPr>
                  <a:xfrm>
                    <a:off x="4254776" y="2180792"/>
                    <a:ext cx="140214" cy="151000"/>
                  </a:xfrm>
                  <a:prstGeom prst="roundRect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76" name="Rounded Rectangle 775">
                    <a:extLst>
                      <a:ext uri="{FF2B5EF4-FFF2-40B4-BE49-F238E27FC236}">
                        <a16:creationId xmlns:a16="http://schemas.microsoft.com/office/drawing/2014/main" id="{7E2E0834-5428-2B96-63B1-8D96F8861AA8}"/>
                      </a:ext>
                    </a:extLst>
                  </p:cNvPr>
                  <p:cNvSpPr/>
                  <p:nvPr/>
                </p:nvSpPr>
                <p:spPr>
                  <a:xfrm>
                    <a:off x="4254776" y="2348572"/>
                    <a:ext cx="140214" cy="151000"/>
                  </a:xfrm>
                  <a:prstGeom prst="roundRect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771" name="Rounded Rectangle 770">
                  <a:extLst>
                    <a:ext uri="{FF2B5EF4-FFF2-40B4-BE49-F238E27FC236}">
                      <a16:creationId xmlns:a16="http://schemas.microsoft.com/office/drawing/2014/main" id="{1FBF9EBF-A007-9C65-63E7-899402A45712}"/>
                    </a:ext>
                  </a:extLst>
                </p:cNvPr>
                <p:cNvSpPr/>
                <p:nvPr/>
              </p:nvSpPr>
              <p:spPr>
                <a:xfrm rot="5400000" flipH="1">
                  <a:off x="5424263" y="599614"/>
                  <a:ext cx="131653" cy="141780"/>
                </a:xfrm>
                <a:prstGeom prst="roundRect">
                  <a:avLst/>
                </a:prstGeom>
                <a:grpFill/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72" name="Rounded Rectangle 771">
                  <a:extLst>
                    <a:ext uri="{FF2B5EF4-FFF2-40B4-BE49-F238E27FC236}">
                      <a16:creationId xmlns:a16="http://schemas.microsoft.com/office/drawing/2014/main" id="{8B95A95B-279A-C02D-462B-E838CDF93839}"/>
                    </a:ext>
                  </a:extLst>
                </p:cNvPr>
                <p:cNvSpPr/>
                <p:nvPr/>
              </p:nvSpPr>
              <p:spPr>
                <a:xfrm rot="5400000" flipH="1">
                  <a:off x="5266296" y="598510"/>
                  <a:ext cx="131653" cy="141780"/>
                </a:xfrm>
                <a:prstGeom prst="roundRect">
                  <a:avLst/>
                </a:prstGeom>
                <a:grpFill/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809" name="Group 808">
              <a:extLst>
                <a:ext uri="{FF2B5EF4-FFF2-40B4-BE49-F238E27FC236}">
                  <a16:creationId xmlns:a16="http://schemas.microsoft.com/office/drawing/2014/main" id="{644315C6-2650-8EF7-97D5-856694F83A32}"/>
                </a:ext>
              </a:extLst>
            </p:cNvPr>
            <p:cNvGrpSpPr/>
            <p:nvPr/>
          </p:nvGrpSpPr>
          <p:grpSpPr>
            <a:xfrm rot="5400000">
              <a:off x="7273646" y="2338389"/>
              <a:ext cx="885721" cy="933838"/>
              <a:chOff x="5871542" y="3043138"/>
              <a:chExt cx="885721" cy="933838"/>
            </a:xfrm>
            <a:solidFill>
              <a:srgbClr val="FFC000"/>
            </a:solidFill>
          </p:grpSpPr>
          <p:grpSp>
            <p:nvGrpSpPr>
              <p:cNvPr id="810" name="Group 809">
                <a:extLst>
                  <a:ext uri="{FF2B5EF4-FFF2-40B4-BE49-F238E27FC236}">
                    <a16:creationId xmlns:a16="http://schemas.microsoft.com/office/drawing/2014/main" id="{9C0900F2-FCF9-A4A0-432A-E4B4AB06993F}"/>
                  </a:ext>
                </a:extLst>
              </p:cNvPr>
              <p:cNvGrpSpPr/>
              <p:nvPr/>
            </p:nvGrpSpPr>
            <p:grpSpPr>
              <a:xfrm rot="5400000">
                <a:off x="5547991" y="3369648"/>
                <a:ext cx="930879" cy="283777"/>
                <a:chOff x="4632498" y="454382"/>
                <a:chExt cx="930879" cy="283777"/>
              </a:xfrm>
              <a:grpFill/>
            </p:grpSpPr>
            <p:grpSp>
              <p:nvGrpSpPr>
                <p:cNvPr id="841" name="Group 840">
                  <a:extLst>
                    <a:ext uri="{FF2B5EF4-FFF2-40B4-BE49-F238E27FC236}">
                      <a16:creationId xmlns:a16="http://schemas.microsoft.com/office/drawing/2014/main" id="{E79AB5A5-4F2A-17BB-9031-87F136A839DA}"/>
                    </a:ext>
                  </a:extLst>
                </p:cNvPr>
                <p:cNvGrpSpPr/>
                <p:nvPr/>
              </p:nvGrpSpPr>
              <p:grpSpPr>
                <a:xfrm rot="5400000" flipH="1">
                  <a:off x="4873865" y="216329"/>
                  <a:ext cx="131653" cy="614387"/>
                  <a:chOff x="4254776" y="1845232"/>
                  <a:chExt cx="140214" cy="654340"/>
                </a:xfrm>
                <a:grpFill/>
              </p:grpSpPr>
              <p:sp>
                <p:nvSpPr>
                  <p:cNvPr id="851" name="Rounded Rectangle 850">
                    <a:extLst>
                      <a:ext uri="{FF2B5EF4-FFF2-40B4-BE49-F238E27FC236}">
                        <a16:creationId xmlns:a16="http://schemas.microsoft.com/office/drawing/2014/main" id="{7AF2246B-49E6-B736-B73C-3581FD56572A}"/>
                      </a:ext>
                    </a:extLst>
                  </p:cNvPr>
                  <p:cNvSpPr/>
                  <p:nvPr/>
                </p:nvSpPr>
                <p:spPr>
                  <a:xfrm>
                    <a:off x="4254776" y="1845232"/>
                    <a:ext cx="140214" cy="151000"/>
                  </a:xfrm>
                  <a:prstGeom prst="roundRect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52" name="Rounded Rectangle 851">
                    <a:extLst>
                      <a:ext uri="{FF2B5EF4-FFF2-40B4-BE49-F238E27FC236}">
                        <a16:creationId xmlns:a16="http://schemas.microsoft.com/office/drawing/2014/main" id="{EE6BDF81-AB2C-D11E-CDB8-40A23D879AA0}"/>
                      </a:ext>
                    </a:extLst>
                  </p:cNvPr>
                  <p:cNvSpPr/>
                  <p:nvPr/>
                </p:nvSpPr>
                <p:spPr>
                  <a:xfrm>
                    <a:off x="4254776" y="2013012"/>
                    <a:ext cx="140214" cy="151000"/>
                  </a:xfrm>
                  <a:prstGeom prst="roundRect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53" name="Rounded Rectangle 852">
                    <a:extLst>
                      <a:ext uri="{FF2B5EF4-FFF2-40B4-BE49-F238E27FC236}">
                        <a16:creationId xmlns:a16="http://schemas.microsoft.com/office/drawing/2014/main" id="{2632FB4A-63AF-B6EC-F9B7-ACA475AFAF32}"/>
                      </a:ext>
                    </a:extLst>
                  </p:cNvPr>
                  <p:cNvSpPr/>
                  <p:nvPr/>
                </p:nvSpPr>
                <p:spPr>
                  <a:xfrm>
                    <a:off x="4254776" y="2180792"/>
                    <a:ext cx="140214" cy="151000"/>
                  </a:xfrm>
                  <a:prstGeom prst="roundRect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54" name="Rounded Rectangle 853">
                    <a:extLst>
                      <a:ext uri="{FF2B5EF4-FFF2-40B4-BE49-F238E27FC236}">
                        <a16:creationId xmlns:a16="http://schemas.microsoft.com/office/drawing/2014/main" id="{091646DA-84DA-2B70-F9EA-00F13B5E3557}"/>
                      </a:ext>
                    </a:extLst>
                  </p:cNvPr>
                  <p:cNvSpPr/>
                  <p:nvPr/>
                </p:nvSpPr>
                <p:spPr>
                  <a:xfrm>
                    <a:off x="4254776" y="2348572"/>
                    <a:ext cx="140214" cy="151000"/>
                  </a:xfrm>
                  <a:prstGeom prst="roundRect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842" name="Rounded Rectangle 841">
                  <a:extLst>
                    <a:ext uri="{FF2B5EF4-FFF2-40B4-BE49-F238E27FC236}">
                      <a16:creationId xmlns:a16="http://schemas.microsoft.com/office/drawing/2014/main" id="{F46F3F74-6FF7-011B-852D-254DFD55BE33}"/>
                    </a:ext>
                  </a:extLst>
                </p:cNvPr>
                <p:cNvSpPr/>
                <p:nvPr/>
              </p:nvSpPr>
              <p:spPr>
                <a:xfrm rot="5400000" flipH="1">
                  <a:off x="5426660" y="449319"/>
                  <a:ext cx="131653" cy="141780"/>
                </a:xfrm>
                <a:prstGeom prst="roundRect">
                  <a:avLst/>
                </a:prstGeom>
                <a:grpFill/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43" name="Rounded Rectangle 842">
                  <a:extLst>
                    <a:ext uri="{FF2B5EF4-FFF2-40B4-BE49-F238E27FC236}">
                      <a16:creationId xmlns:a16="http://schemas.microsoft.com/office/drawing/2014/main" id="{C9F8F595-078B-589F-5078-B1EC5334D2A1}"/>
                    </a:ext>
                  </a:extLst>
                </p:cNvPr>
                <p:cNvSpPr/>
                <p:nvPr/>
              </p:nvSpPr>
              <p:spPr>
                <a:xfrm rot="5400000" flipH="1">
                  <a:off x="5269289" y="449319"/>
                  <a:ext cx="131653" cy="141780"/>
                </a:xfrm>
                <a:prstGeom prst="roundRect">
                  <a:avLst/>
                </a:prstGeom>
                <a:grpFill/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844" name="Group 843">
                  <a:extLst>
                    <a:ext uri="{FF2B5EF4-FFF2-40B4-BE49-F238E27FC236}">
                      <a16:creationId xmlns:a16="http://schemas.microsoft.com/office/drawing/2014/main" id="{2D3D34E8-EE94-BE76-44C9-06B9ADBDC584}"/>
                    </a:ext>
                  </a:extLst>
                </p:cNvPr>
                <p:cNvGrpSpPr/>
                <p:nvPr/>
              </p:nvGrpSpPr>
              <p:grpSpPr>
                <a:xfrm rot="5400000" flipH="1">
                  <a:off x="4873865" y="365139"/>
                  <a:ext cx="131653" cy="614387"/>
                  <a:chOff x="4254776" y="1845232"/>
                  <a:chExt cx="140214" cy="654340"/>
                </a:xfrm>
                <a:grpFill/>
              </p:grpSpPr>
              <p:sp>
                <p:nvSpPr>
                  <p:cNvPr id="847" name="Rounded Rectangle 846">
                    <a:extLst>
                      <a:ext uri="{FF2B5EF4-FFF2-40B4-BE49-F238E27FC236}">
                        <a16:creationId xmlns:a16="http://schemas.microsoft.com/office/drawing/2014/main" id="{2C63B988-03AF-79F6-DB89-DEC840C1B936}"/>
                      </a:ext>
                    </a:extLst>
                  </p:cNvPr>
                  <p:cNvSpPr/>
                  <p:nvPr/>
                </p:nvSpPr>
                <p:spPr>
                  <a:xfrm>
                    <a:off x="4254776" y="1845232"/>
                    <a:ext cx="140214" cy="151000"/>
                  </a:xfrm>
                  <a:prstGeom prst="roundRect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48" name="Rounded Rectangle 847">
                    <a:extLst>
                      <a:ext uri="{FF2B5EF4-FFF2-40B4-BE49-F238E27FC236}">
                        <a16:creationId xmlns:a16="http://schemas.microsoft.com/office/drawing/2014/main" id="{D9D2220E-1746-66F0-3021-6D9BC9E47A2D}"/>
                      </a:ext>
                    </a:extLst>
                  </p:cNvPr>
                  <p:cNvSpPr/>
                  <p:nvPr/>
                </p:nvSpPr>
                <p:spPr>
                  <a:xfrm>
                    <a:off x="4254776" y="2013012"/>
                    <a:ext cx="140214" cy="151000"/>
                  </a:xfrm>
                  <a:prstGeom prst="roundRect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49" name="Rounded Rectangle 848">
                    <a:extLst>
                      <a:ext uri="{FF2B5EF4-FFF2-40B4-BE49-F238E27FC236}">
                        <a16:creationId xmlns:a16="http://schemas.microsoft.com/office/drawing/2014/main" id="{4C0D7120-2187-00FA-8EF4-6CDDFDAE03EA}"/>
                      </a:ext>
                    </a:extLst>
                  </p:cNvPr>
                  <p:cNvSpPr/>
                  <p:nvPr/>
                </p:nvSpPr>
                <p:spPr>
                  <a:xfrm>
                    <a:off x="4254776" y="2180792"/>
                    <a:ext cx="140214" cy="151000"/>
                  </a:xfrm>
                  <a:prstGeom prst="roundRect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50" name="Rounded Rectangle 849">
                    <a:extLst>
                      <a:ext uri="{FF2B5EF4-FFF2-40B4-BE49-F238E27FC236}">
                        <a16:creationId xmlns:a16="http://schemas.microsoft.com/office/drawing/2014/main" id="{9F76E653-ABE1-2BC5-0940-1C130D5C19B1}"/>
                      </a:ext>
                    </a:extLst>
                  </p:cNvPr>
                  <p:cNvSpPr/>
                  <p:nvPr/>
                </p:nvSpPr>
                <p:spPr>
                  <a:xfrm>
                    <a:off x="4254776" y="2348572"/>
                    <a:ext cx="140214" cy="151000"/>
                  </a:xfrm>
                  <a:prstGeom prst="roundRect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845" name="Rounded Rectangle 844">
                  <a:extLst>
                    <a:ext uri="{FF2B5EF4-FFF2-40B4-BE49-F238E27FC236}">
                      <a16:creationId xmlns:a16="http://schemas.microsoft.com/office/drawing/2014/main" id="{B8A0D417-6237-1751-EE31-8CF04F925A11}"/>
                    </a:ext>
                  </a:extLst>
                </p:cNvPr>
                <p:cNvSpPr/>
                <p:nvPr/>
              </p:nvSpPr>
              <p:spPr>
                <a:xfrm rot="5400000" flipH="1">
                  <a:off x="5424263" y="599614"/>
                  <a:ext cx="131653" cy="141780"/>
                </a:xfrm>
                <a:prstGeom prst="roundRect">
                  <a:avLst/>
                </a:prstGeom>
                <a:grpFill/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46" name="Rounded Rectangle 845">
                  <a:extLst>
                    <a:ext uri="{FF2B5EF4-FFF2-40B4-BE49-F238E27FC236}">
                      <a16:creationId xmlns:a16="http://schemas.microsoft.com/office/drawing/2014/main" id="{D445F5DB-E82E-D53B-F7E9-6280AF59DC0F}"/>
                    </a:ext>
                  </a:extLst>
                </p:cNvPr>
                <p:cNvSpPr/>
                <p:nvPr/>
              </p:nvSpPr>
              <p:spPr>
                <a:xfrm rot="5400000" flipH="1">
                  <a:off x="5266296" y="598510"/>
                  <a:ext cx="131653" cy="141780"/>
                </a:xfrm>
                <a:prstGeom prst="roundRect">
                  <a:avLst/>
                </a:prstGeom>
                <a:grpFill/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811" name="Group 810">
                <a:extLst>
                  <a:ext uri="{FF2B5EF4-FFF2-40B4-BE49-F238E27FC236}">
                    <a16:creationId xmlns:a16="http://schemas.microsoft.com/office/drawing/2014/main" id="{B5BC285D-6ED4-AD4B-D794-AD27867D47E4}"/>
                  </a:ext>
                </a:extLst>
              </p:cNvPr>
              <p:cNvGrpSpPr/>
              <p:nvPr/>
            </p:nvGrpSpPr>
            <p:grpSpPr>
              <a:xfrm rot="5400000">
                <a:off x="5847404" y="3369648"/>
                <a:ext cx="930879" cy="283777"/>
                <a:chOff x="4632498" y="454382"/>
                <a:chExt cx="930879" cy="283777"/>
              </a:xfrm>
              <a:grpFill/>
            </p:grpSpPr>
            <p:grpSp>
              <p:nvGrpSpPr>
                <p:cNvPr id="827" name="Group 826">
                  <a:extLst>
                    <a:ext uri="{FF2B5EF4-FFF2-40B4-BE49-F238E27FC236}">
                      <a16:creationId xmlns:a16="http://schemas.microsoft.com/office/drawing/2014/main" id="{F63532DE-B09A-A055-7873-12B6334F16C1}"/>
                    </a:ext>
                  </a:extLst>
                </p:cNvPr>
                <p:cNvGrpSpPr/>
                <p:nvPr/>
              </p:nvGrpSpPr>
              <p:grpSpPr>
                <a:xfrm rot="5400000" flipH="1">
                  <a:off x="4873865" y="216329"/>
                  <a:ext cx="131653" cy="614387"/>
                  <a:chOff x="4254776" y="1845232"/>
                  <a:chExt cx="140214" cy="654340"/>
                </a:xfrm>
                <a:grpFill/>
              </p:grpSpPr>
              <p:sp>
                <p:nvSpPr>
                  <p:cNvPr id="837" name="Rounded Rectangle 836">
                    <a:extLst>
                      <a:ext uri="{FF2B5EF4-FFF2-40B4-BE49-F238E27FC236}">
                        <a16:creationId xmlns:a16="http://schemas.microsoft.com/office/drawing/2014/main" id="{0A9E82C4-6FA1-76E7-D421-D2F9B56EF3F1}"/>
                      </a:ext>
                    </a:extLst>
                  </p:cNvPr>
                  <p:cNvSpPr/>
                  <p:nvPr/>
                </p:nvSpPr>
                <p:spPr>
                  <a:xfrm>
                    <a:off x="4254776" y="1845232"/>
                    <a:ext cx="140214" cy="151000"/>
                  </a:xfrm>
                  <a:prstGeom prst="roundRect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38" name="Rounded Rectangle 837">
                    <a:extLst>
                      <a:ext uri="{FF2B5EF4-FFF2-40B4-BE49-F238E27FC236}">
                        <a16:creationId xmlns:a16="http://schemas.microsoft.com/office/drawing/2014/main" id="{1B9A22E9-E409-346B-2232-C4320F4132AF}"/>
                      </a:ext>
                    </a:extLst>
                  </p:cNvPr>
                  <p:cNvSpPr/>
                  <p:nvPr/>
                </p:nvSpPr>
                <p:spPr>
                  <a:xfrm>
                    <a:off x="4254776" y="2013012"/>
                    <a:ext cx="140214" cy="151000"/>
                  </a:xfrm>
                  <a:prstGeom prst="roundRect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39" name="Rounded Rectangle 838">
                    <a:extLst>
                      <a:ext uri="{FF2B5EF4-FFF2-40B4-BE49-F238E27FC236}">
                        <a16:creationId xmlns:a16="http://schemas.microsoft.com/office/drawing/2014/main" id="{9CF33772-2BCC-FA13-1F1A-9D90D68FBCC5}"/>
                      </a:ext>
                    </a:extLst>
                  </p:cNvPr>
                  <p:cNvSpPr/>
                  <p:nvPr/>
                </p:nvSpPr>
                <p:spPr>
                  <a:xfrm>
                    <a:off x="4254776" y="2180792"/>
                    <a:ext cx="140214" cy="151000"/>
                  </a:xfrm>
                  <a:prstGeom prst="roundRect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40" name="Rounded Rectangle 839">
                    <a:extLst>
                      <a:ext uri="{FF2B5EF4-FFF2-40B4-BE49-F238E27FC236}">
                        <a16:creationId xmlns:a16="http://schemas.microsoft.com/office/drawing/2014/main" id="{7BDF74C9-1E03-C055-2A61-68BC7B0FB96F}"/>
                      </a:ext>
                    </a:extLst>
                  </p:cNvPr>
                  <p:cNvSpPr/>
                  <p:nvPr/>
                </p:nvSpPr>
                <p:spPr>
                  <a:xfrm>
                    <a:off x="4254776" y="2348572"/>
                    <a:ext cx="140214" cy="151000"/>
                  </a:xfrm>
                  <a:prstGeom prst="roundRect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828" name="Rounded Rectangle 827">
                  <a:extLst>
                    <a:ext uri="{FF2B5EF4-FFF2-40B4-BE49-F238E27FC236}">
                      <a16:creationId xmlns:a16="http://schemas.microsoft.com/office/drawing/2014/main" id="{EE2DDBE9-03DA-D8FF-015E-E4B06DC0201B}"/>
                    </a:ext>
                  </a:extLst>
                </p:cNvPr>
                <p:cNvSpPr/>
                <p:nvPr/>
              </p:nvSpPr>
              <p:spPr>
                <a:xfrm rot="5400000" flipH="1">
                  <a:off x="5426660" y="449319"/>
                  <a:ext cx="131653" cy="141780"/>
                </a:xfrm>
                <a:prstGeom prst="roundRect">
                  <a:avLst/>
                </a:prstGeom>
                <a:grpFill/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9" name="Rounded Rectangle 828">
                  <a:extLst>
                    <a:ext uri="{FF2B5EF4-FFF2-40B4-BE49-F238E27FC236}">
                      <a16:creationId xmlns:a16="http://schemas.microsoft.com/office/drawing/2014/main" id="{B2AA0A9C-7FA6-5363-5122-74818AF2811A}"/>
                    </a:ext>
                  </a:extLst>
                </p:cNvPr>
                <p:cNvSpPr/>
                <p:nvPr/>
              </p:nvSpPr>
              <p:spPr>
                <a:xfrm rot="5400000" flipH="1">
                  <a:off x="5269289" y="449319"/>
                  <a:ext cx="131653" cy="141780"/>
                </a:xfrm>
                <a:prstGeom prst="roundRect">
                  <a:avLst/>
                </a:prstGeom>
                <a:grpFill/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830" name="Group 829">
                  <a:extLst>
                    <a:ext uri="{FF2B5EF4-FFF2-40B4-BE49-F238E27FC236}">
                      <a16:creationId xmlns:a16="http://schemas.microsoft.com/office/drawing/2014/main" id="{5C062086-FA9D-A233-BE3D-666D18416A22}"/>
                    </a:ext>
                  </a:extLst>
                </p:cNvPr>
                <p:cNvGrpSpPr/>
                <p:nvPr/>
              </p:nvGrpSpPr>
              <p:grpSpPr>
                <a:xfrm rot="5400000" flipH="1">
                  <a:off x="4873865" y="365139"/>
                  <a:ext cx="131653" cy="614387"/>
                  <a:chOff x="4254776" y="1845232"/>
                  <a:chExt cx="140214" cy="654340"/>
                </a:xfrm>
                <a:grpFill/>
              </p:grpSpPr>
              <p:sp>
                <p:nvSpPr>
                  <p:cNvPr id="833" name="Rounded Rectangle 832">
                    <a:extLst>
                      <a:ext uri="{FF2B5EF4-FFF2-40B4-BE49-F238E27FC236}">
                        <a16:creationId xmlns:a16="http://schemas.microsoft.com/office/drawing/2014/main" id="{843B25D2-3E9A-4ABF-3381-3C7F52551D63}"/>
                      </a:ext>
                    </a:extLst>
                  </p:cNvPr>
                  <p:cNvSpPr/>
                  <p:nvPr/>
                </p:nvSpPr>
                <p:spPr>
                  <a:xfrm>
                    <a:off x="4254776" y="1845232"/>
                    <a:ext cx="140214" cy="151000"/>
                  </a:xfrm>
                  <a:prstGeom prst="roundRect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34" name="Rounded Rectangle 833">
                    <a:extLst>
                      <a:ext uri="{FF2B5EF4-FFF2-40B4-BE49-F238E27FC236}">
                        <a16:creationId xmlns:a16="http://schemas.microsoft.com/office/drawing/2014/main" id="{22CD78F6-45E0-32E3-23C3-C537C801805B}"/>
                      </a:ext>
                    </a:extLst>
                  </p:cNvPr>
                  <p:cNvSpPr/>
                  <p:nvPr/>
                </p:nvSpPr>
                <p:spPr>
                  <a:xfrm>
                    <a:off x="4254776" y="2013012"/>
                    <a:ext cx="140214" cy="151000"/>
                  </a:xfrm>
                  <a:prstGeom prst="roundRect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35" name="Rounded Rectangle 834">
                    <a:extLst>
                      <a:ext uri="{FF2B5EF4-FFF2-40B4-BE49-F238E27FC236}">
                        <a16:creationId xmlns:a16="http://schemas.microsoft.com/office/drawing/2014/main" id="{1B3BA3D6-0F41-0FC2-B644-18CAF4B55C5B}"/>
                      </a:ext>
                    </a:extLst>
                  </p:cNvPr>
                  <p:cNvSpPr/>
                  <p:nvPr/>
                </p:nvSpPr>
                <p:spPr>
                  <a:xfrm>
                    <a:off x="4254776" y="2180792"/>
                    <a:ext cx="140214" cy="151000"/>
                  </a:xfrm>
                  <a:prstGeom prst="roundRect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36" name="Rounded Rectangle 835">
                    <a:extLst>
                      <a:ext uri="{FF2B5EF4-FFF2-40B4-BE49-F238E27FC236}">
                        <a16:creationId xmlns:a16="http://schemas.microsoft.com/office/drawing/2014/main" id="{5ACEAEA8-3678-236A-4F4A-66D73D97AF96}"/>
                      </a:ext>
                    </a:extLst>
                  </p:cNvPr>
                  <p:cNvSpPr/>
                  <p:nvPr/>
                </p:nvSpPr>
                <p:spPr>
                  <a:xfrm>
                    <a:off x="4254776" y="2348572"/>
                    <a:ext cx="140214" cy="151000"/>
                  </a:xfrm>
                  <a:prstGeom prst="roundRect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831" name="Rounded Rectangle 830">
                  <a:extLst>
                    <a:ext uri="{FF2B5EF4-FFF2-40B4-BE49-F238E27FC236}">
                      <a16:creationId xmlns:a16="http://schemas.microsoft.com/office/drawing/2014/main" id="{73E158E8-4BF1-CE1E-66A9-CD5652753E12}"/>
                    </a:ext>
                  </a:extLst>
                </p:cNvPr>
                <p:cNvSpPr/>
                <p:nvPr/>
              </p:nvSpPr>
              <p:spPr>
                <a:xfrm rot="5400000" flipH="1">
                  <a:off x="5424263" y="599614"/>
                  <a:ext cx="131653" cy="141780"/>
                </a:xfrm>
                <a:prstGeom prst="roundRect">
                  <a:avLst/>
                </a:prstGeom>
                <a:grpFill/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2" name="Rounded Rectangle 831">
                  <a:extLst>
                    <a:ext uri="{FF2B5EF4-FFF2-40B4-BE49-F238E27FC236}">
                      <a16:creationId xmlns:a16="http://schemas.microsoft.com/office/drawing/2014/main" id="{A10B4F08-EFC2-0467-0CCD-4F31D44CE376}"/>
                    </a:ext>
                  </a:extLst>
                </p:cNvPr>
                <p:cNvSpPr/>
                <p:nvPr/>
              </p:nvSpPr>
              <p:spPr>
                <a:xfrm rot="5400000" flipH="1">
                  <a:off x="5266296" y="598510"/>
                  <a:ext cx="131653" cy="141780"/>
                </a:xfrm>
                <a:prstGeom prst="roundRect">
                  <a:avLst/>
                </a:prstGeom>
                <a:grpFill/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812" name="Group 811">
                <a:extLst>
                  <a:ext uri="{FF2B5EF4-FFF2-40B4-BE49-F238E27FC236}">
                    <a16:creationId xmlns:a16="http://schemas.microsoft.com/office/drawing/2014/main" id="{50FAC898-D991-7F12-0EE8-B06F914E990D}"/>
                  </a:ext>
                </a:extLst>
              </p:cNvPr>
              <p:cNvGrpSpPr/>
              <p:nvPr/>
            </p:nvGrpSpPr>
            <p:grpSpPr>
              <a:xfrm rot="5400000">
                <a:off x="6149935" y="3366689"/>
                <a:ext cx="930879" cy="283777"/>
                <a:chOff x="4632498" y="454382"/>
                <a:chExt cx="930879" cy="283777"/>
              </a:xfrm>
              <a:grpFill/>
            </p:grpSpPr>
            <p:grpSp>
              <p:nvGrpSpPr>
                <p:cNvPr id="813" name="Group 812">
                  <a:extLst>
                    <a:ext uri="{FF2B5EF4-FFF2-40B4-BE49-F238E27FC236}">
                      <a16:creationId xmlns:a16="http://schemas.microsoft.com/office/drawing/2014/main" id="{EFBC39D5-ED20-D57A-D509-8CF85FA48EB6}"/>
                    </a:ext>
                  </a:extLst>
                </p:cNvPr>
                <p:cNvGrpSpPr/>
                <p:nvPr/>
              </p:nvGrpSpPr>
              <p:grpSpPr>
                <a:xfrm rot="5400000" flipH="1">
                  <a:off x="4873865" y="216329"/>
                  <a:ext cx="131653" cy="614387"/>
                  <a:chOff x="4254776" y="1845232"/>
                  <a:chExt cx="140214" cy="654340"/>
                </a:xfrm>
                <a:grpFill/>
              </p:grpSpPr>
              <p:sp>
                <p:nvSpPr>
                  <p:cNvPr id="823" name="Rounded Rectangle 822">
                    <a:extLst>
                      <a:ext uri="{FF2B5EF4-FFF2-40B4-BE49-F238E27FC236}">
                        <a16:creationId xmlns:a16="http://schemas.microsoft.com/office/drawing/2014/main" id="{BAFEE19A-A193-0A21-9F6A-636E733D02B8}"/>
                      </a:ext>
                    </a:extLst>
                  </p:cNvPr>
                  <p:cNvSpPr/>
                  <p:nvPr/>
                </p:nvSpPr>
                <p:spPr>
                  <a:xfrm>
                    <a:off x="4254776" y="1845232"/>
                    <a:ext cx="140214" cy="151000"/>
                  </a:xfrm>
                  <a:prstGeom prst="roundRect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24" name="Rounded Rectangle 823">
                    <a:extLst>
                      <a:ext uri="{FF2B5EF4-FFF2-40B4-BE49-F238E27FC236}">
                        <a16:creationId xmlns:a16="http://schemas.microsoft.com/office/drawing/2014/main" id="{13D1E017-3964-258C-C966-447EEC36DA68}"/>
                      </a:ext>
                    </a:extLst>
                  </p:cNvPr>
                  <p:cNvSpPr/>
                  <p:nvPr/>
                </p:nvSpPr>
                <p:spPr>
                  <a:xfrm>
                    <a:off x="4254776" y="2013012"/>
                    <a:ext cx="140214" cy="151000"/>
                  </a:xfrm>
                  <a:prstGeom prst="roundRect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25" name="Rounded Rectangle 824">
                    <a:extLst>
                      <a:ext uri="{FF2B5EF4-FFF2-40B4-BE49-F238E27FC236}">
                        <a16:creationId xmlns:a16="http://schemas.microsoft.com/office/drawing/2014/main" id="{50FB8417-F931-3913-645B-C7374232A79E}"/>
                      </a:ext>
                    </a:extLst>
                  </p:cNvPr>
                  <p:cNvSpPr/>
                  <p:nvPr/>
                </p:nvSpPr>
                <p:spPr>
                  <a:xfrm>
                    <a:off x="4254776" y="2180792"/>
                    <a:ext cx="140214" cy="151000"/>
                  </a:xfrm>
                  <a:prstGeom prst="roundRect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26" name="Rounded Rectangle 825">
                    <a:extLst>
                      <a:ext uri="{FF2B5EF4-FFF2-40B4-BE49-F238E27FC236}">
                        <a16:creationId xmlns:a16="http://schemas.microsoft.com/office/drawing/2014/main" id="{96C27FF4-B83F-E396-98E9-6CFCF1E32720}"/>
                      </a:ext>
                    </a:extLst>
                  </p:cNvPr>
                  <p:cNvSpPr/>
                  <p:nvPr/>
                </p:nvSpPr>
                <p:spPr>
                  <a:xfrm>
                    <a:off x="4254776" y="2348572"/>
                    <a:ext cx="140214" cy="151000"/>
                  </a:xfrm>
                  <a:prstGeom prst="roundRect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814" name="Rounded Rectangle 813">
                  <a:extLst>
                    <a:ext uri="{FF2B5EF4-FFF2-40B4-BE49-F238E27FC236}">
                      <a16:creationId xmlns:a16="http://schemas.microsoft.com/office/drawing/2014/main" id="{F3109791-16F2-4619-791E-FCB3826939D7}"/>
                    </a:ext>
                  </a:extLst>
                </p:cNvPr>
                <p:cNvSpPr/>
                <p:nvPr/>
              </p:nvSpPr>
              <p:spPr>
                <a:xfrm rot="5400000" flipH="1">
                  <a:off x="5426660" y="449319"/>
                  <a:ext cx="131653" cy="141780"/>
                </a:xfrm>
                <a:prstGeom prst="roundRect">
                  <a:avLst/>
                </a:prstGeom>
                <a:grpFill/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5" name="Rounded Rectangle 814">
                  <a:extLst>
                    <a:ext uri="{FF2B5EF4-FFF2-40B4-BE49-F238E27FC236}">
                      <a16:creationId xmlns:a16="http://schemas.microsoft.com/office/drawing/2014/main" id="{54654A76-105E-6404-BBA5-00E15DA63609}"/>
                    </a:ext>
                  </a:extLst>
                </p:cNvPr>
                <p:cNvSpPr/>
                <p:nvPr/>
              </p:nvSpPr>
              <p:spPr>
                <a:xfrm rot="5400000" flipH="1">
                  <a:off x="5269289" y="449319"/>
                  <a:ext cx="131653" cy="141780"/>
                </a:xfrm>
                <a:prstGeom prst="roundRect">
                  <a:avLst/>
                </a:prstGeom>
                <a:grpFill/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816" name="Group 815">
                  <a:extLst>
                    <a:ext uri="{FF2B5EF4-FFF2-40B4-BE49-F238E27FC236}">
                      <a16:creationId xmlns:a16="http://schemas.microsoft.com/office/drawing/2014/main" id="{10A679A8-0F66-0BD3-0ABE-A055262ECE1B}"/>
                    </a:ext>
                  </a:extLst>
                </p:cNvPr>
                <p:cNvGrpSpPr/>
                <p:nvPr/>
              </p:nvGrpSpPr>
              <p:grpSpPr>
                <a:xfrm rot="5400000" flipH="1">
                  <a:off x="4873865" y="365139"/>
                  <a:ext cx="131653" cy="614387"/>
                  <a:chOff x="4254776" y="1845232"/>
                  <a:chExt cx="140214" cy="654340"/>
                </a:xfrm>
                <a:grpFill/>
              </p:grpSpPr>
              <p:sp>
                <p:nvSpPr>
                  <p:cNvPr id="819" name="Rounded Rectangle 818">
                    <a:extLst>
                      <a:ext uri="{FF2B5EF4-FFF2-40B4-BE49-F238E27FC236}">
                        <a16:creationId xmlns:a16="http://schemas.microsoft.com/office/drawing/2014/main" id="{4D45578E-F435-E93A-E023-39DE9F86120D}"/>
                      </a:ext>
                    </a:extLst>
                  </p:cNvPr>
                  <p:cNvSpPr/>
                  <p:nvPr/>
                </p:nvSpPr>
                <p:spPr>
                  <a:xfrm>
                    <a:off x="4254776" y="1845232"/>
                    <a:ext cx="140214" cy="151000"/>
                  </a:xfrm>
                  <a:prstGeom prst="roundRect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20" name="Rounded Rectangle 819">
                    <a:extLst>
                      <a:ext uri="{FF2B5EF4-FFF2-40B4-BE49-F238E27FC236}">
                        <a16:creationId xmlns:a16="http://schemas.microsoft.com/office/drawing/2014/main" id="{FBC073CC-7442-7AB6-E55A-B4F167041276}"/>
                      </a:ext>
                    </a:extLst>
                  </p:cNvPr>
                  <p:cNvSpPr/>
                  <p:nvPr/>
                </p:nvSpPr>
                <p:spPr>
                  <a:xfrm>
                    <a:off x="4254776" y="2013012"/>
                    <a:ext cx="140214" cy="151000"/>
                  </a:xfrm>
                  <a:prstGeom prst="roundRect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21" name="Rounded Rectangle 820">
                    <a:extLst>
                      <a:ext uri="{FF2B5EF4-FFF2-40B4-BE49-F238E27FC236}">
                        <a16:creationId xmlns:a16="http://schemas.microsoft.com/office/drawing/2014/main" id="{53B6DFFD-E583-D8AF-CFD2-B29B379E6BB8}"/>
                      </a:ext>
                    </a:extLst>
                  </p:cNvPr>
                  <p:cNvSpPr/>
                  <p:nvPr/>
                </p:nvSpPr>
                <p:spPr>
                  <a:xfrm>
                    <a:off x="4254776" y="2180792"/>
                    <a:ext cx="140214" cy="151000"/>
                  </a:xfrm>
                  <a:prstGeom prst="roundRect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22" name="Rounded Rectangle 821">
                    <a:extLst>
                      <a:ext uri="{FF2B5EF4-FFF2-40B4-BE49-F238E27FC236}">
                        <a16:creationId xmlns:a16="http://schemas.microsoft.com/office/drawing/2014/main" id="{8012E7CA-8509-61BD-1CF8-6700D9F9F32E}"/>
                      </a:ext>
                    </a:extLst>
                  </p:cNvPr>
                  <p:cNvSpPr/>
                  <p:nvPr/>
                </p:nvSpPr>
                <p:spPr>
                  <a:xfrm>
                    <a:off x="4254776" y="2348572"/>
                    <a:ext cx="140214" cy="151000"/>
                  </a:xfrm>
                  <a:prstGeom prst="roundRect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817" name="Rounded Rectangle 816">
                  <a:extLst>
                    <a:ext uri="{FF2B5EF4-FFF2-40B4-BE49-F238E27FC236}">
                      <a16:creationId xmlns:a16="http://schemas.microsoft.com/office/drawing/2014/main" id="{E006C4AF-DFDE-106E-8E7D-FDD8971383F3}"/>
                    </a:ext>
                  </a:extLst>
                </p:cNvPr>
                <p:cNvSpPr/>
                <p:nvPr/>
              </p:nvSpPr>
              <p:spPr>
                <a:xfrm rot="5400000" flipH="1">
                  <a:off x="5424263" y="599614"/>
                  <a:ext cx="131653" cy="141780"/>
                </a:xfrm>
                <a:prstGeom prst="roundRect">
                  <a:avLst/>
                </a:prstGeom>
                <a:grpFill/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8" name="Rounded Rectangle 817">
                  <a:extLst>
                    <a:ext uri="{FF2B5EF4-FFF2-40B4-BE49-F238E27FC236}">
                      <a16:creationId xmlns:a16="http://schemas.microsoft.com/office/drawing/2014/main" id="{53385DE0-2599-BA1F-5447-3088320053D8}"/>
                    </a:ext>
                  </a:extLst>
                </p:cNvPr>
                <p:cNvSpPr/>
                <p:nvPr/>
              </p:nvSpPr>
              <p:spPr>
                <a:xfrm rot="5400000" flipH="1">
                  <a:off x="5266296" y="598510"/>
                  <a:ext cx="131653" cy="141780"/>
                </a:xfrm>
                <a:prstGeom prst="roundRect">
                  <a:avLst/>
                </a:prstGeom>
                <a:grpFill/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855" name="TextBox 854">
              <a:extLst>
                <a:ext uri="{FF2B5EF4-FFF2-40B4-BE49-F238E27FC236}">
                  <a16:creationId xmlns:a16="http://schemas.microsoft.com/office/drawing/2014/main" id="{79463CBA-7AC8-A155-0458-8427811BF4EE}"/>
                </a:ext>
              </a:extLst>
            </p:cNvPr>
            <p:cNvSpPr txBox="1"/>
            <p:nvPr/>
          </p:nvSpPr>
          <p:spPr>
            <a:xfrm>
              <a:off x="6830763" y="2555670"/>
              <a:ext cx="2389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=</a:t>
              </a:r>
            </a:p>
          </p:txBody>
        </p:sp>
        <p:sp>
          <p:nvSpPr>
            <p:cNvPr id="856" name="TextBox 855">
              <a:extLst>
                <a:ext uri="{FF2B5EF4-FFF2-40B4-BE49-F238E27FC236}">
                  <a16:creationId xmlns:a16="http://schemas.microsoft.com/office/drawing/2014/main" id="{606CBAE4-2069-F4C1-0FCD-DD3A6F5200CC}"/>
                </a:ext>
              </a:extLst>
            </p:cNvPr>
            <p:cNvSpPr txBox="1"/>
            <p:nvPr/>
          </p:nvSpPr>
          <p:spPr>
            <a:xfrm>
              <a:off x="7155095" y="3310977"/>
              <a:ext cx="189541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b="1" i="1" dirty="0">
                  <a:latin typeface="Arial" panose="020B0604020202020204" pitchFamily="34" charset="0"/>
                  <a:cs typeface="Arial" panose="020B0604020202020204" pitchFamily="34" charset="0"/>
                </a:rPr>
                <a:t>new attention weights</a:t>
              </a:r>
              <a:endParaRPr lang="en-US" sz="800" b="1" i="1" baseline="30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7" name="TextBox 856">
              <a:extLst>
                <a:ext uri="{FF2B5EF4-FFF2-40B4-BE49-F238E27FC236}">
                  <a16:creationId xmlns:a16="http://schemas.microsoft.com/office/drawing/2014/main" id="{5C44AB9C-172A-35CC-55E0-52722CD913D2}"/>
                </a:ext>
              </a:extLst>
            </p:cNvPr>
            <p:cNvSpPr txBox="1"/>
            <p:nvPr/>
          </p:nvSpPr>
          <p:spPr>
            <a:xfrm>
              <a:off x="8158930" y="2304458"/>
              <a:ext cx="687663" cy="10005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160"/>
                </a:lnSpc>
              </a:pPr>
              <a:r>
                <a:rPr lang="en-US" sz="800" i="1" dirty="0">
                  <a:latin typeface="Arial" panose="020B0604020202020204" pitchFamily="34" charset="0"/>
                  <a:cs typeface="Arial" panose="020B0604020202020204" pitchFamily="34" charset="0"/>
                </a:rPr>
                <a:t>the</a:t>
              </a:r>
            </a:p>
            <a:p>
              <a:pPr>
                <a:lnSpc>
                  <a:spcPts val="1160"/>
                </a:lnSpc>
              </a:pPr>
              <a:r>
                <a:rPr lang="en-US" sz="800" i="1" dirty="0">
                  <a:latin typeface="Arial" panose="020B0604020202020204" pitchFamily="34" charset="0"/>
                  <a:cs typeface="Arial" panose="020B0604020202020204" pitchFamily="34" charset="0"/>
                </a:rPr>
                <a:t>main</a:t>
              </a:r>
            </a:p>
            <a:p>
              <a:pPr>
                <a:lnSpc>
                  <a:spcPts val="1160"/>
                </a:lnSpc>
              </a:pPr>
              <a:r>
                <a:rPr lang="en-US" sz="800" i="1" dirty="0">
                  <a:latin typeface="Arial" panose="020B0604020202020204" pitchFamily="34" charset="0"/>
                  <a:cs typeface="Arial" panose="020B0604020202020204" pitchFamily="34" charset="0"/>
                </a:rPr>
                <a:t>course</a:t>
              </a:r>
            </a:p>
            <a:p>
              <a:pPr>
                <a:lnSpc>
                  <a:spcPts val="1160"/>
                </a:lnSpc>
              </a:pPr>
              <a:r>
                <a:rPr lang="en-US" sz="800" i="1" dirty="0">
                  <a:latin typeface="Arial" panose="020B0604020202020204" pitchFamily="34" charset="0"/>
                  <a:cs typeface="Arial" panose="020B0604020202020204" pitchFamily="34" charset="0"/>
                </a:rPr>
                <a:t>was</a:t>
              </a:r>
            </a:p>
            <a:p>
              <a:pPr>
                <a:lnSpc>
                  <a:spcPts val="1160"/>
                </a:lnSpc>
              </a:pPr>
              <a:r>
                <a:rPr lang="en-US" sz="800" i="1" dirty="0">
                  <a:latin typeface="Arial" panose="020B0604020202020204" pitchFamily="34" charset="0"/>
                  <a:cs typeface="Arial" panose="020B0604020202020204" pitchFamily="34" charset="0"/>
                </a:rPr>
                <a:t>truly</a:t>
              </a:r>
            </a:p>
            <a:p>
              <a:pPr>
                <a:lnSpc>
                  <a:spcPts val="1160"/>
                </a:lnSpc>
              </a:pPr>
              <a:r>
                <a:rPr lang="en-US" sz="800" i="1" dirty="0">
                  <a:latin typeface="Arial" panose="020B0604020202020204" pitchFamily="34" charset="0"/>
                  <a:cs typeface="Arial" panose="020B0604020202020204" pitchFamily="34" charset="0"/>
                </a:rPr>
                <a:t>delicious</a:t>
              </a:r>
            </a:p>
          </p:txBody>
        </p:sp>
        <p:sp>
          <p:nvSpPr>
            <p:cNvPr id="858" name="TextBox 857">
              <a:extLst>
                <a:ext uri="{FF2B5EF4-FFF2-40B4-BE49-F238E27FC236}">
                  <a16:creationId xmlns:a16="http://schemas.microsoft.com/office/drawing/2014/main" id="{7B662184-34B1-9067-4A47-1C2973843387}"/>
                </a:ext>
              </a:extLst>
            </p:cNvPr>
            <p:cNvSpPr txBox="1"/>
            <p:nvPr/>
          </p:nvSpPr>
          <p:spPr>
            <a:xfrm>
              <a:off x="5615860" y="3281715"/>
              <a:ext cx="7566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QK</a:t>
              </a:r>
              <a:r>
                <a:rPr lang="en-US" sz="240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</a:p>
          </p:txBody>
        </p:sp>
        <p:sp>
          <p:nvSpPr>
            <p:cNvPr id="859" name="TextBox 858">
              <a:extLst>
                <a:ext uri="{FF2B5EF4-FFF2-40B4-BE49-F238E27FC236}">
                  <a16:creationId xmlns:a16="http://schemas.microsoft.com/office/drawing/2014/main" id="{FD967087-8D7B-E8EA-FADD-9686A3E26260}"/>
                </a:ext>
              </a:extLst>
            </p:cNvPr>
            <p:cNvSpPr txBox="1"/>
            <p:nvPr/>
          </p:nvSpPr>
          <p:spPr>
            <a:xfrm rot="18878246">
              <a:off x="7103456" y="1999848"/>
              <a:ext cx="687663" cy="2310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160"/>
                </a:lnSpc>
              </a:pPr>
              <a:r>
                <a:rPr lang="en-US" sz="800" i="1" dirty="0">
                  <a:latin typeface="Arial" panose="020B0604020202020204" pitchFamily="34" charset="0"/>
                  <a:cs typeface="Arial" panose="020B0604020202020204" pitchFamily="34" charset="0"/>
                </a:rPr>
                <a:t>the</a:t>
              </a:r>
            </a:p>
          </p:txBody>
        </p:sp>
        <p:sp>
          <p:nvSpPr>
            <p:cNvPr id="860" name="TextBox 859">
              <a:extLst>
                <a:ext uri="{FF2B5EF4-FFF2-40B4-BE49-F238E27FC236}">
                  <a16:creationId xmlns:a16="http://schemas.microsoft.com/office/drawing/2014/main" id="{FC3DC385-F281-DFD7-F6A7-1D510BC1281B}"/>
                </a:ext>
              </a:extLst>
            </p:cNvPr>
            <p:cNvSpPr txBox="1"/>
            <p:nvPr/>
          </p:nvSpPr>
          <p:spPr>
            <a:xfrm rot="18878246">
              <a:off x="7260677" y="2008799"/>
              <a:ext cx="687663" cy="2310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160"/>
                </a:lnSpc>
              </a:pPr>
              <a:r>
                <a:rPr lang="en-US" sz="800" i="1" dirty="0">
                  <a:latin typeface="Arial" panose="020B0604020202020204" pitchFamily="34" charset="0"/>
                  <a:cs typeface="Arial" panose="020B0604020202020204" pitchFamily="34" charset="0"/>
                </a:rPr>
                <a:t>main</a:t>
              </a:r>
            </a:p>
          </p:txBody>
        </p:sp>
        <p:sp>
          <p:nvSpPr>
            <p:cNvPr id="861" name="TextBox 860">
              <a:extLst>
                <a:ext uri="{FF2B5EF4-FFF2-40B4-BE49-F238E27FC236}">
                  <a16:creationId xmlns:a16="http://schemas.microsoft.com/office/drawing/2014/main" id="{C73D2936-EEDA-EF49-85C1-5D8A571F9952}"/>
                </a:ext>
              </a:extLst>
            </p:cNvPr>
            <p:cNvSpPr txBox="1"/>
            <p:nvPr/>
          </p:nvSpPr>
          <p:spPr>
            <a:xfrm rot="18878246">
              <a:off x="7425777" y="2011973"/>
              <a:ext cx="687663" cy="2310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160"/>
                </a:lnSpc>
              </a:pPr>
              <a:r>
                <a:rPr lang="en-US" sz="800" i="1" dirty="0">
                  <a:latin typeface="Arial" panose="020B0604020202020204" pitchFamily="34" charset="0"/>
                  <a:cs typeface="Arial" panose="020B0604020202020204" pitchFamily="34" charset="0"/>
                </a:rPr>
                <a:t>course</a:t>
              </a:r>
            </a:p>
          </p:txBody>
        </p:sp>
        <p:sp>
          <p:nvSpPr>
            <p:cNvPr id="862" name="TextBox 861">
              <a:extLst>
                <a:ext uri="{FF2B5EF4-FFF2-40B4-BE49-F238E27FC236}">
                  <a16:creationId xmlns:a16="http://schemas.microsoft.com/office/drawing/2014/main" id="{03CA954A-011D-AEBA-D0E4-EF26116A78F0}"/>
                </a:ext>
              </a:extLst>
            </p:cNvPr>
            <p:cNvSpPr txBox="1"/>
            <p:nvPr/>
          </p:nvSpPr>
          <p:spPr>
            <a:xfrm rot="18878246">
              <a:off x="7604664" y="2008799"/>
              <a:ext cx="687663" cy="2310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160"/>
                </a:lnSpc>
              </a:pPr>
              <a:r>
                <a:rPr lang="en-US" sz="800" i="1" dirty="0">
                  <a:latin typeface="Arial" panose="020B0604020202020204" pitchFamily="34" charset="0"/>
                  <a:cs typeface="Arial" panose="020B0604020202020204" pitchFamily="34" charset="0"/>
                </a:rPr>
                <a:t>was</a:t>
              </a:r>
            </a:p>
          </p:txBody>
        </p:sp>
        <p:sp>
          <p:nvSpPr>
            <p:cNvPr id="863" name="TextBox 862">
              <a:extLst>
                <a:ext uri="{FF2B5EF4-FFF2-40B4-BE49-F238E27FC236}">
                  <a16:creationId xmlns:a16="http://schemas.microsoft.com/office/drawing/2014/main" id="{2463C86F-E0BF-62F7-84C8-56FCFAD9D158}"/>
                </a:ext>
              </a:extLst>
            </p:cNvPr>
            <p:cNvSpPr txBox="1"/>
            <p:nvPr/>
          </p:nvSpPr>
          <p:spPr>
            <a:xfrm rot="18878246">
              <a:off x="7763363" y="2001885"/>
              <a:ext cx="687663" cy="2310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160"/>
                </a:lnSpc>
              </a:pPr>
              <a:r>
                <a:rPr lang="en-US" sz="800" i="1" dirty="0">
                  <a:latin typeface="Arial" panose="020B0604020202020204" pitchFamily="34" charset="0"/>
                  <a:cs typeface="Arial" panose="020B0604020202020204" pitchFamily="34" charset="0"/>
                </a:rPr>
                <a:t>truly</a:t>
              </a:r>
            </a:p>
          </p:txBody>
        </p:sp>
        <p:sp>
          <p:nvSpPr>
            <p:cNvPr id="864" name="TextBox 863">
              <a:extLst>
                <a:ext uri="{FF2B5EF4-FFF2-40B4-BE49-F238E27FC236}">
                  <a16:creationId xmlns:a16="http://schemas.microsoft.com/office/drawing/2014/main" id="{3909B792-935F-EE12-C5E3-5E6793656F0E}"/>
                </a:ext>
              </a:extLst>
            </p:cNvPr>
            <p:cNvSpPr txBox="1"/>
            <p:nvPr/>
          </p:nvSpPr>
          <p:spPr>
            <a:xfrm rot="18878246">
              <a:off x="7940769" y="1994969"/>
              <a:ext cx="687663" cy="2310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160"/>
                </a:lnSpc>
              </a:pPr>
              <a:r>
                <a:rPr lang="en-US" sz="800" i="1" dirty="0">
                  <a:latin typeface="Arial" panose="020B0604020202020204" pitchFamily="34" charset="0"/>
                  <a:cs typeface="Arial" panose="020B0604020202020204" pitchFamily="34" charset="0"/>
                </a:rPr>
                <a:t>delicious</a:t>
              </a:r>
            </a:p>
          </p:txBody>
        </p:sp>
      </p:grpSp>
      <p:grpSp>
        <p:nvGrpSpPr>
          <p:cNvPr id="865" name="Group 864">
            <a:extLst>
              <a:ext uri="{FF2B5EF4-FFF2-40B4-BE49-F238E27FC236}">
                <a16:creationId xmlns:a16="http://schemas.microsoft.com/office/drawing/2014/main" id="{A916E3C6-1BDA-0932-104A-3F5E12D8C219}"/>
              </a:ext>
            </a:extLst>
          </p:cNvPr>
          <p:cNvGrpSpPr/>
          <p:nvPr/>
        </p:nvGrpSpPr>
        <p:grpSpPr>
          <a:xfrm rot="5400000">
            <a:off x="4614969" y="3813562"/>
            <a:ext cx="885721" cy="933838"/>
            <a:chOff x="5871542" y="3043138"/>
            <a:chExt cx="885721" cy="933838"/>
          </a:xfrm>
          <a:solidFill>
            <a:srgbClr val="FFC000"/>
          </a:solidFill>
        </p:grpSpPr>
        <p:grpSp>
          <p:nvGrpSpPr>
            <p:cNvPr id="866" name="Group 865">
              <a:extLst>
                <a:ext uri="{FF2B5EF4-FFF2-40B4-BE49-F238E27FC236}">
                  <a16:creationId xmlns:a16="http://schemas.microsoft.com/office/drawing/2014/main" id="{9C9A41F0-153A-FC6B-6683-B43E69F27979}"/>
                </a:ext>
              </a:extLst>
            </p:cNvPr>
            <p:cNvGrpSpPr/>
            <p:nvPr/>
          </p:nvGrpSpPr>
          <p:grpSpPr>
            <a:xfrm rot="5400000">
              <a:off x="5547991" y="3369648"/>
              <a:ext cx="930879" cy="283777"/>
              <a:chOff x="4632498" y="454382"/>
              <a:chExt cx="930879" cy="283777"/>
            </a:xfrm>
            <a:grpFill/>
          </p:grpSpPr>
          <p:grpSp>
            <p:nvGrpSpPr>
              <p:cNvPr id="897" name="Group 896">
                <a:extLst>
                  <a:ext uri="{FF2B5EF4-FFF2-40B4-BE49-F238E27FC236}">
                    <a16:creationId xmlns:a16="http://schemas.microsoft.com/office/drawing/2014/main" id="{7BADF5EA-B6C9-5BF0-8E71-071EC3E4AA28}"/>
                  </a:ext>
                </a:extLst>
              </p:cNvPr>
              <p:cNvGrpSpPr/>
              <p:nvPr/>
            </p:nvGrpSpPr>
            <p:grpSpPr>
              <a:xfrm rot="5400000" flipH="1">
                <a:off x="4873865" y="216329"/>
                <a:ext cx="131653" cy="614387"/>
                <a:chOff x="4254776" y="1845232"/>
                <a:chExt cx="140214" cy="654340"/>
              </a:xfrm>
              <a:grpFill/>
            </p:grpSpPr>
            <p:sp>
              <p:nvSpPr>
                <p:cNvPr id="907" name="Rounded Rectangle 906">
                  <a:extLst>
                    <a:ext uri="{FF2B5EF4-FFF2-40B4-BE49-F238E27FC236}">
                      <a16:creationId xmlns:a16="http://schemas.microsoft.com/office/drawing/2014/main" id="{E41BB025-1DC5-D2B1-C212-FACF13054E1C}"/>
                    </a:ext>
                  </a:extLst>
                </p:cNvPr>
                <p:cNvSpPr/>
                <p:nvPr/>
              </p:nvSpPr>
              <p:spPr>
                <a:xfrm>
                  <a:off x="4254776" y="1845232"/>
                  <a:ext cx="140214" cy="151000"/>
                </a:xfrm>
                <a:prstGeom prst="roundRect">
                  <a:avLst/>
                </a:prstGeom>
                <a:grpFill/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08" name="Rounded Rectangle 907">
                  <a:extLst>
                    <a:ext uri="{FF2B5EF4-FFF2-40B4-BE49-F238E27FC236}">
                      <a16:creationId xmlns:a16="http://schemas.microsoft.com/office/drawing/2014/main" id="{D490DE50-6224-D56B-B243-657DDFCFF186}"/>
                    </a:ext>
                  </a:extLst>
                </p:cNvPr>
                <p:cNvSpPr/>
                <p:nvPr/>
              </p:nvSpPr>
              <p:spPr>
                <a:xfrm>
                  <a:off x="4254776" y="2013012"/>
                  <a:ext cx="140214" cy="151000"/>
                </a:xfrm>
                <a:prstGeom prst="roundRect">
                  <a:avLst/>
                </a:prstGeom>
                <a:grpFill/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09" name="Rounded Rectangle 908">
                  <a:extLst>
                    <a:ext uri="{FF2B5EF4-FFF2-40B4-BE49-F238E27FC236}">
                      <a16:creationId xmlns:a16="http://schemas.microsoft.com/office/drawing/2014/main" id="{E2F6A47E-9CD4-E80C-EC14-3547B698AEDC}"/>
                    </a:ext>
                  </a:extLst>
                </p:cNvPr>
                <p:cNvSpPr/>
                <p:nvPr/>
              </p:nvSpPr>
              <p:spPr>
                <a:xfrm>
                  <a:off x="4254776" y="2180792"/>
                  <a:ext cx="140214" cy="151000"/>
                </a:xfrm>
                <a:prstGeom prst="roundRect">
                  <a:avLst/>
                </a:prstGeom>
                <a:grpFill/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10" name="Rounded Rectangle 909">
                  <a:extLst>
                    <a:ext uri="{FF2B5EF4-FFF2-40B4-BE49-F238E27FC236}">
                      <a16:creationId xmlns:a16="http://schemas.microsoft.com/office/drawing/2014/main" id="{2CFCCC7D-3679-2C6B-14A8-307A9ACD27C3}"/>
                    </a:ext>
                  </a:extLst>
                </p:cNvPr>
                <p:cNvSpPr/>
                <p:nvPr/>
              </p:nvSpPr>
              <p:spPr>
                <a:xfrm>
                  <a:off x="4254776" y="2348572"/>
                  <a:ext cx="140214" cy="151000"/>
                </a:xfrm>
                <a:prstGeom prst="roundRect">
                  <a:avLst/>
                </a:prstGeom>
                <a:grpFill/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898" name="Rounded Rectangle 897">
                <a:extLst>
                  <a:ext uri="{FF2B5EF4-FFF2-40B4-BE49-F238E27FC236}">
                    <a16:creationId xmlns:a16="http://schemas.microsoft.com/office/drawing/2014/main" id="{682D6811-5E8B-819A-DF3A-97333FEEE29C}"/>
                  </a:ext>
                </a:extLst>
              </p:cNvPr>
              <p:cNvSpPr/>
              <p:nvPr/>
            </p:nvSpPr>
            <p:spPr>
              <a:xfrm rot="5400000" flipH="1">
                <a:off x="5426660" y="449319"/>
                <a:ext cx="131653" cy="141780"/>
              </a:xfrm>
              <a:prstGeom prst="roundRect">
                <a:avLst/>
              </a:prstGeom>
              <a:grp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9" name="Rounded Rectangle 898">
                <a:extLst>
                  <a:ext uri="{FF2B5EF4-FFF2-40B4-BE49-F238E27FC236}">
                    <a16:creationId xmlns:a16="http://schemas.microsoft.com/office/drawing/2014/main" id="{F63409C8-565C-2680-0CBC-C1279EF39B24}"/>
                  </a:ext>
                </a:extLst>
              </p:cNvPr>
              <p:cNvSpPr/>
              <p:nvPr/>
            </p:nvSpPr>
            <p:spPr>
              <a:xfrm rot="5400000" flipH="1">
                <a:off x="5269289" y="449319"/>
                <a:ext cx="131653" cy="141780"/>
              </a:xfrm>
              <a:prstGeom prst="roundRect">
                <a:avLst/>
              </a:prstGeom>
              <a:grp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900" name="Group 899">
                <a:extLst>
                  <a:ext uri="{FF2B5EF4-FFF2-40B4-BE49-F238E27FC236}">
                    <a16:creationId xmlns:a16="http://schemas.microsoft.com/office/drawing/2014/main" id="{42882414-AF8B-AD68-7D0E-2121A0139F82}"/>
                  </a:ext>
                </a:extLst>
              </p:cNvPr>
              <p:cNvGrpSpPr/>
              <p:nvPr/>
            </p:nvGrpSpPr>
            <p:grpSpPr>
              <a:xfrm rot="5400000" flipH="1">
                <a:off x="4873865" y="365139"/>
                <a:ext cx="131653" cy="614387"/>
                <a:chOff x="4254776" y="1845232"/>
                <a:chExt cx="140214" cy="654340"/>
              </a:xfrm>
              <a:grpFill/>
            </p:grpSpPr>
            <p:sp>
              <p:nvSpPr>
                <p:cNvPr id="903" name="Rounded Rectangle 902">
                  <a:extLst>
                    <a:ext uri="{FF2B5EF4-FFF2-40B4-BE49-F238E27FC236}">
                      <a16:creationId xmlns:a16="http://schemas.microsoft.com/office/drawing/2014/main" id="{C2FD9B17-CA71-59F3-3E54-1B36CB660982}"/>
                    </a:ext>
                  </a:extLst>
                </p:cNvPr>
                <p:cNvSpPr/>
                <p:nvPr/>
              </p:nvSpPr>
              <p:spPr>
                <a:xfrm>
                  <a:off x="4254776" y="1845232"/>
                  <a:ext cx="140214" cy="151000"/>
                </a:xfrm>
                <a:prstGeom prst="roundRect">
                  <a:avLst/>
                </a:prstGeom>
                <a:grpFill/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04" name="Rounded Rectangle 903">
                  <a:extLst>
                    <a:ext uri="{FF2B5EF4-FFF2-40B4-BE49-F238E27FC236}">
                      <a16:creationId xmlns:a16="http://schemas.microsoft.com/office/drawing/2014/main" id="{F696FFDB-36CC-399F-3424-2AD7E1E11F62}"/>
                    </a:ext>
                  </a:extLst>
                </p:cNvPr>
                <p:cNvSpPr/>
                <p:nvPr/>
              </p:nvSpPr>
              <p:spPr>
                <a:xfrm>
                  <a:off x="4254776" y="2013012"/>
                  <a:ext cx="140214" cy="151000"/>
                </a:xfrm>
                <a:prstGeom prst="roundRect">
                  <a:avLst/>
                </a:prstGeom>
                <a:grpFill/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05" name="Rounded Rectangle 904">
                  <a:extLst>
                    <a:ext uri="{FF2B5EF4-FFF2-40B4-BE49-F238E27FC236}">
                      <a16:creationId xmlns:a16="http://schemas.microsoft.com/office/drawing/2014/main" id="{23206DCD-7EE4-FE59-BB16-CAF38224F859}"/>
                    </a:ext>
                  </a:extLst>
                </p:cNvPr>
                <p:cNvSpPr/>
                <p:nvPr/>
              </p:nvSpPr>
              <p:spPr>
                <a:xfrm>
                  <a:off x="4254776" y="2180792"/>
                  <a:ext cx="140214" cy="151000"/>
                </a:xfrm>
                <a:prstGeom prst="roundRect">
                  <a:avLst/>
                </a:prstGeom>
                <a:grpFill/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06" name="Rounded Rectangle 905">
                  <a:extLst>
                    <a:ext uri="{FF2B5EF4-FFF2-40B4-BE49-F238E27FC236}">
                      <a16:creationId xmlns:a16="http://schemas.microsoft.com/office/drawing/2014/main" id="{83CE6DB0-5CAE-2C04-6F6C-65FD576F64DB}"/>
                    </a:ext>
                  </a:extLst>
                </p:cNvPr>
                <p:cNvSpPr/>
                <p:nvPr/>
              </p:nvSpPr>
              <p:spPr>
                <a:xfrm>
                  <a:off x="4254776" y="2348572"/>
                  <a:ext cx="140214" cy="151000"/>
                </a:xfrm>
                <a:prstGeom prst="roundRect">
                  <a:avLst/>
                </a:prstGeom>
                <a:grpFill/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901" name="Rounded Rectangle 900">
                <a:extLst>
                  <a:ext uri="{FF2B5EF4-FFF2-40B4-BE49-F238E27FC236}">
                    <a16:creationId xmlns:a16="http://schemas.microsoft.com/office/drawing/2014/main" id="{D7D61400-A924-A6CE-9AA0-852E79881555}"/>
                  </a:ext>
                </a:extLst>
              </p:cNvPr>
              <p:cNvSpPr/>
              <p:nvPr/>
            </p:nvSpPr>
            <p:spPr>
              <a:xfrm rot="5400000" flipH="1">
                <a:off x="5424263" y="599614"/>
                <a:ext cx="131653" cy="141780"/>
              </a:xfrm>
              <a:prstGeom prst="roundRect">
                <a:avLst/>
              </a:prstGeom>
              <a:grp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2" name="Rounded Rectangle 901">
                <a:extLst>
                  <a:ext uri="{FF2B5EF4-FFF2-40B4-BE49-F238E27FC236}">
                    <a16:creationId xmlns:a16="http://schemas.microsoft.com/office/drawing/2014/main" id="{6E99C517-656F-BD59-B0BD-9CF9E47FDE1E}"/>
                  </a:ext>
                </a:extLst>
              </p:cNvPr>
              <p:cNvSpPr/>
              <p:nvPr/>
            </p:nvSpPr>
            <p:spPr>
              <a:xfrm rot="5400000" flipH="1">
                <a:off x="5266296" y="598510"/>
                <a:ext cx="131653" cy="141780"/>
              </a:xfrm>
              <a:prstGeom prst="roundRect">
                <a:avLst/>
              </a:prstGeom>
              <a:grp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67" name="Group 866">
              <a:extLst>
                <a:ext uri="{FF2B5EF4-FFF2-40B4-BE49-F238E27FC236}">
                  <a16:creationId xmlns:a16="http://schemas.microsoft.com/office/drawing/2014/main" id="{50BF6965-E4EC-E7B4-F72B-B5F3EE762224}"/>
                </a:ext>
              </a:extLst>
            </p:cNvPr>
            <p:cNvGrpSpPr/>
            <p:nvPr/>
          </p:nvGrpSpPr>
          <p:grpSpPr>
            <a:xfrm rot="5400000">
              <a:off x="5847404" y="3369648"/>
              <a:ext cx="930879" cy="283777"/>
              <a:chOff x="4632498" y="454382"/>
              <a:chExt cx="930879" cy="283777"/>
            </a:xfrm>
            <a:grpFill/>
          </p:grpSpPr>
          <p:grpSp>
            <p:nvGrpSpPr>
              <p:cNvPr id="883" name="Group 882">
                <a:extLst>
                  <a:ext uri="{FF2B5EF4-FFF2-40B4-BE49-F238E27FC236}">
                    <a16:creationId xmlns:a16="http://schemas.microsoft.com/office/drawing/2014/main" id="{EF6E0B2F-6895-65E5-0C1D-97C6791D26D0}"/>
                  </a:ext>
                </a:extLst>
              </p:cNvPr>
              <p:cNvGrpSpPr/>
              <p:nvPr/>
            </p:nvGrpSpPr>
            <p:grpSpPr>
              <a:xfrm rot="5400000" flipH="1">
                <a:off x="4873865" y="216329"/>
                <a:ext cx="131653" cy="614387"/>
                <a:chOff x="4254776" y="1845232"/>
                <a:chExt cx="140214" cy="654340"/>
              </a:xfrm>
              <a:grpFill/>
            </p:grpSpPr>
            <p:sp>
              <p:nvSpPr>
                <p:cNvPr id="893" name="Rounded Rectangle 892">
                  <a:extLst>
                    <a:ext uri="{FF2B5EF4-FFF2-40B4-BE49-F238E27FC236}">
                      <a16:creationId xmlns:a16="http://schemas.microsoft.com/office/drawing/2014/main" id="{E10A28EB-32E7-6CF8-E39F-6223040D7CD8}"/>
                    </a:ext>
                  </a:extLst>
                </p:cNvPr>
                <p:cNvSpPr/>
                <p:nvPr/>
              </p:nvSpPr>
              <p:spPr>
                <a:xfrm>
                  <a:off x="4254776" y="1845232"/>
                  <a:ext cx="140214" cy="151000"/>
                </a:xfrm>
                <a:prstGeom prst="roundRect">
                  <a:avLst/>
                </a:prstGeom>
                <a:grpFill/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4" name="Rounded Rectangle 893">
                  <a:extLst>
                    <a:ext uri="{FF2B5EF4-FFF2-40B4-BE49-F238E27FC236}">
                      <a16:creationId xmlns:a16="http://schemas.microsoft.com/office/drawing/2014/main" id="{388ADB07-CC62-78FE-5C0E-D207D218F5C3}"/>
                    </a:ext>
                  </a:extLst>
                </p:cNvPr>
                <p:cNvSpPr/>
                <p:nvPr/>
              </p:nvSpPr>
              <p:spPr>
                <a:xfrm>
                  <a:off x="4254776" y="2013012"/>
                  <a:ext cx="140214" cy="151000"/>
                </a:xfrm>
                <a:prstGeom prst="roundRect">
                  <a:avLst/>
                </a:prstGeom>
                <a:grpFill/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5" name="Rounded Rectangle 894">
                  <a:extLst>
                    <a:ext uri="{FF2B5EF4-FFF2-40B4-BE49-F238E27FC236}">
                      <a16:creationId xmlns:a16="http://schemas.microsoft.com/office/drawing/2014/main" id="{E358E5DD-4EB5-A61D-C9D3-2CA3EE00005D}"/>
                    </a:ext>
                  </a:extLst>
                </p:cNvPr>
                <p:cNvSpPr/>
                <p:nvPr/>
              </p:nvSpPr>
              <p:spPr>
                <a:xfrm>
                  <a:off x="4254776" y="2180792"/>
                  <a:ext cx="140214" cy="151000"/>
                </a:xfrm>
                <a:prstGeom prst="roundRect">
                  <a:avLst/>
                </a:prstGeom>
                <a:grpFill/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6" name="Rounded Rectangle 895">
                  <a:extLst>
                    <a:ext uri="{FF2B5EF4-FFF2-40B4-BE49-F238E27FC236}">
                      <a16:creationId xmlns:a16="http://schemas.microsoft.com/office/drawing/2014/main" id="{C669B2E5-9ED9-E8EA-444B-03F4F6455175}"/>
                    </a:ext>
                  </a:extLst>
                </p:cNvPr>
                <p:cNvSpPr/>
                <p:nvPr/>
              </p:nvSpPr>
              <p:spPr>
                <a:xfrm>
                  <a:off x="4254776" y="2348572"/>
                  <a:ext cx="140214" cy="151000"/>
                </a:xfrm>
                <a:prstGeom prst="roundRect">
                  <a:avLst/>
                </a:prstGeom>
                <a:grpFill/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884" name="Rounded Rectangle 883">
                <a:extLst>
                  <a:ext uri="{FF2B5EF4-FFF2-40B4-BE49-F238E27FC236}">
                    <a16:creationId xmlns:a16="http://schemas.microsoft.com/office/drawing/2014/main" id="{D3DA7510-F95A-02FC-80D6-5AAC1FE05F72}"/>
                  </a:ext>
                </a:extLst>
              </p:cNvPr>
              <p:cNvSpPr/>
              <p:nvPr/>
            </p:nvSpPr>
            <p:spPr>
              <a:xfrm rot="5400000" flipH="1">
                <a:off x="5426660" y="449319"/>
                <a:ext cx="131653" cy="141780"/>
              </a:xfrm>
              <a:prstGeom prst="roundRect">
                <a:avLst/>
              </a:prstGeom>
              <a:grp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5" name="Rounded Rectangle 884">
                <a:extLst>
                  <a:ext uri="{FF2B5EF4-FFF2-40B4-BE49-F238E27FC236}">
                    <a16:creationId xmlns:a16="http://schemas.microsoft.com/office/drawing/2014/main" id="{ABC0189E-D367-D02B-F385-11811B770F92}"/>
                  </a:ext>
                </a:extLst>
              </p:cNvPr>
              <p:cNvSpPr/>
              <p:nvPr/>
            </p:nvSpPr>
            <p:spPr>
              <a:xfrm rot="5400000" flipH="1">
                <a:off x="5269289" y="449319"/>
                <a:ext cx="131653" cy="141780"/>
              </a:xfrm>
              <a:prstGeom prst="roundRect">
                <a:avLst/>
              </a:prstGeom>
              <a:grp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886" name="Group 885">
                <a:extLst>
                  <a:ext uri="{FF2B5EF4-FFF2-40B4-BE49-F238E27FC236}">
                    <a16:creationId xmlns:a16="http://schemas.microsoft.com/office/drawing/2014/main" id="{CAC853AC-502D-24CA-65F5-09225FE784ED}"/>
                  </a:ext>
                </a:extLst>
              </p:cNvPr>
              <p:cNvGrpSpPr/>
              <p:nvPr/>
            </p:nvGrpSpPr>
            <p:grpSpPr>
              <a:xfrm rot="5400000" flipH="1">
                <a:off x="4873865" y="365139"/>
                <a:ext cx="131653" cy="614387"/>
                <a:chOff x="4254776" y="1845232"/>
                <a:chExt cx="140214" cy="654340"/>
              </a:xfrm>
              <a:grpFill/>
            </p:grpSpPr>
            <p:sp>
              <p:nvSpPr>
                <p:cNvPr id="889" name="Rounded Rectangle 888">
                  <a:extLst>
                    <a:ext uri="{FF2B5EF4-FFF2-40B4-BE49-F238E27FC236}">
                      <a16:creationId xmlns:a16="http://schemas.microsoft.com/office/drawing/2014/main" id="{7E8CBE84-1D05-6F45-0F85-9694BC44C05D}"/>
                    </a:ext>
                  </a:extLst>
                </p:cNvPr>
                <p:cNvSpPr/>
                <p:nvPr/>
              </p:nvSpPr>
              <p:spPr>
                <a:xfrm>
                  <a:off x="4254776" y="1845232"/>
                  <a:ext cx="140214" cy="151000"/>
                </a:xfrm>
                <a:prstGeom prst="roundRect">
                  <a:avLst/>
                </a:prstGeom>
                <a:grpFill/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0" name="Rounded Rectangle 889">
                  <a:extLst>
                    <a:ext uri="{FF2B5EF4-FFF2-40B4-BE49-F238E27FC236}">
                      <a16:creationId xmlns:a16="http://schemas.microsoft.com/office/drawing/2014/main" id="{70AC9764-8136-25BB-D795-5B3AAFC76BAA}"/>
                    </a:ext>
                  </a:extLst>
                </p:cNvPr>
                <p:cNvSpPr/>
                <p:nvPr/>
              </p:nvSpPr>
              <p:spPr>
                <a:xfrm>
                  <a:off x="4254776" y="2013012"/>
                  <a:ext cx="140214" cy="151000"/>
                </a:xfrm>
                <a:prstGeom prst="roundRect">
                  <a:avLst/>
                </a:prstGeom>
                <a:grpFill/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1" name="Rounded Rectangle 890">
                  <a:extLst>
                    <a:ext uri="{FF2B5EF4-FFF2-40B4-BE49-F238E27FC236}">
                      <a16:creationId xmlns:a16="http://schemas.microsoft.com/office/drawing/2014/main" id="{4475AFB6-A481-B5CB-7B7A-3D82DA452A94}"/>
                    </a:ext>
                  </a:extLst>
                </p:cNvPr>
                <p:cNvSpPr/>
                <p:nvPr/>
              </p:nvSpPr>
              <p:spPr>
                <a:xfrm>
                  <a:off x="4254776" y="2180792"/>
                  <a:ext cx="140214" cy="151000"/>
                </a:xfrm>
                <a:prstGeom prst="roundRect">
                  <a:avLst/>
                </a:prstGeom>
                <a:grpFill/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2" name="Rounded Rectangle 891">
                  <a:extLst>
                    <a:ext uri="{FF2B5EF4-FFF2-40B4-BE49-F238E27FC236}">
                      <a16:creationId xmlns:a16="http://schemas.microsoft.com/office/drawing/2014/main" id="{926402E8-94DE-59C4-C079-D3EC1F2FB1E9}"/>
                    </a:ext>
                  </a:extLst>
                </p:cNvPr>
                <p:cNvSpPr/>
                <p:nvPr/>
              </p:nvSpPr>
              <p:spPr>
                <a:xfrm>
                  <a:off x="4254776" y="2348572"/>
                  <a:ext cx="140214" cy="151000"/>
                </a:xfrm>
                <a:prstGeom prst="roundRect">
                  <a:avLst/>
                </a:prstGeom>
                <a:grpFill/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887" name="Rounded Rectangle 886">
                <a:extLst>
                  <a:ext uri="{FF2B5EF4-FFF2-40B4-BE49-F238E27FC236}">
                    <a16:creationId xmlns:a16="http://schemas.microsoft.com/office/drawing/2014/main" id="{A47DF430-42F3-F950-061A-0A074251F555}"/>
                  </a:ext>
                </a:extLst>
              </p:cNvPr>
              <p:cNvSpPr/>
              <p:nvPr/>
            </p:nvSpPr>
            <p:spPr>
              <a:xfrm rot="5400000" flipH="1">
                <a:off x="5424263" y="599614"/>
                <a:ext cx="131653" cy="141780"/>
              </a:xfrm>
              <a:prstGeom prst="roundRect">
                <a:avLst/>
              </a:prstGeom>
              <a:grp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8" name="Rounded Rectangle 887">
                <a:extLst>
                  <a:ext uri="{FF2B5EF4-FFF2-40B4-BE49-F238E27FC236}">
                    <a16:creationId xmlns:a16="http://schemas.microsoft.com/office/drawing/2014/main" id="{5003B6F5-A2B8-1210-0657-007DC4CFB5A3}"/>
                  </a:ext>
                </a:extLst>
              </p:cNvPr>
              <p:cNvSpPr/>
              <p:nvPr/>
            </p:nvSpPr>
            <p:spPr>
              <a:xfrm rot="5400000" flipH="1">
                <a:off x="5266296" y="598510"/>
                <a:ext cx="131653" cy="141780"/>
              </a:xfrm>
              <a:prstGeom prst="roundRect">
                <a:avLst/>
              </a:prstGeom>
              <a:grp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68" name="Group 867">
              <a:extLst>
                <a:ext uri="{FF2B5EF4-FFF2-40B4-BE49-F238E27FC236}">
                  <a16:creationId xmlns:a16="http://schemas.microsoft.com/office/drawing/2014/main" id="{4775FD46-AA35-4125-9B87-2E20B546CF37}"/>
                </a:ext>
              </a:extLst>
            </p:cNvPr>
            <p:cNvGrpSpPr/>
            <p:nvPr/>
          </p:nvGrpSpPr>
          <p:grpSpPr>
            <a:xfrm rot="5400000">
              <a:off x="6149935" y="3366689"/>
              <a:ext cx="930879" cy="283777"/>
              <a:chOff x="4632498" y="454382"/>
              <a:chExt cx="930879" cy="283777"/>
            </a:xfrm>
            <a:grpFill/>
          </p:grpSpPr>
          <p:grpSp>
            <p:nvGrpSpPr>
              <p:cNvPr id="869" name="Group 868">
                <a:extLst>
                  <a:ext uri="{FF2B5EF4-FFF2-40B4-BE49-F238E27FC236}">
                    <a16:creationId xmlns:a16="http://schemas.microsoft.com/office/drawing/2014/main" id="{973E1159-F145-9854-CBB4-BB0952DA23C5}"/>
                  </a:ext>
                </a:extLst>
              </p:cNvPr>
              <p:cNvGrpSpPr/>
              <p:nvPr/>
            </p:nvGrpSpPr>
            <p:grpSpPr>
              <a:xfrm rot="5400000" flipH="1">
                <a:off x="4873865" y="216329"/>
                <a:ext cx="131653" cy="614387"/>
                <a:chOff x="4254776" y="1845232"/>
                <a:chExt cx="140214" cy="654340"/>
              </a:xfrm>
              <a:grpFill/>
            </p:grpSpPr>
            <p:sp>
              <p:nvSpPr>
                <p:cNvPr id="879" name="Rounded Rectangle 878">
                  <a:extLst>
                    <a:ext uri="{FF2B5EF4-FFF2-40B4-BE49-F238E27FC236}">
                      <a16:creationId xmlns:a16="http://schemas.microsoft.com/office/drawing/2014/main" id="{0494206A-ACE2-7029-CA0A-613516E48B05}"/>
                    </a:ext>
                  </a:extLst>
                </p:cNvPr>
                <p:cNvSpPr/>
                <p:nvPr/>
              </p:nvSpPr>
              <p:spPr>
                <a:xfrm>
                  <a:off x="4254776" y="1845232"/>
                  <a:ext cx="140214" cy="151000"/>
                </a:xfrm>
                <a:prstGeom prst="roundRect">
                  <a:avLst/>
                </a:prstGeom>
                <a:grpFill/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0" name="Rounded Rectangle 879">
                  <a:extLst>
                    <a:ext uri="{FF2B5EF4-FFF2-40B4-BE49-F238E27FC236}">
                      <a16:creationId xmlns:a16="http://schemas.microsoft.com/office/drawing/2014/main" id="{CF74DB32-DAEC-0A85-AD9D-2F4F73A76C43}"/>
                    </a:ext>
                  </a:extLst>
                </p:cNvPr>
                <p:cNvSpPr/>
                <p:nvPr/>
              </p:nvSpPr>
              <p:spPr>
                <a:xfrm>
                  <a:off x="4254776" y="2013012"/>
                  <a:ext cx="140214" cy="151000"/>
                </a:xfrm>
                <a:prstGeom prst="roundRect">
                  <a:avLst/>
                </a:prstGeom>
                <a:grpFill/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1" name="Rounded Rectangle 880">
                  <a:extLst>
                    <a:ext uri="{FF2B5EF4-FFF2-40B4-BE49-F238E27FC236}">
                      <a16:creationId xmlns:a16="http://schemas.microsoft.com/office/drawing/2014/main" id="{CC36271C-D93D-903A-401A-523024A52091}"/>
                    </a:ext>
                  </a:extLst>
                </p:cNvPr>
                <p:cNvSpPr/>
                <p:nvPr/>
              </p:nvSpPr>
              <p:spPr>
                <a:xfrm>
                  <a:off x="4254776" y="2180792"/>
                  <a:ext cx="140214" cy="151000"/>
                </a:xfrm>
                <a:prstGeom prst="roundRect">
                  <a:avLst/>
                </a:prstGeom>
                <a:grpFill/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2" name="Rounded Rectangle 881">
                  <a:extLst>
                    <a:ext uri="{FF2B5EF4-FFF2-40B4-BE49-F238E27FC236}">
                      <a16:creationId xmlns:a16="http://schemas.microsoft.com/office/drawing/2014/main" id="{89A4EDCA-E0A1-18D8-DB50-49A42CEC9CE9}"/>
                    </a:ext>
                  </a:extLst>
                </p:cNvPr>
                <p:cNvSpPr/>
                <p:nvPr/>
              </p:nvSpPr>
              <p:spPr>
                <a:xfrm>
                  <a:off x="4254776" y="2348572"/>
                  <a:ext cx="140214" cy="151000"/>
                </a:xfrm>
                <a:prstGeom prst="roundRect">
                  <a:avLst/>
                </a:prstGeom>
                <a:grpFill/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870" name="Rounded Rectangle 869">
                <a:extLst>
                  <a:ext uri="{FF2B5EF4-FFF2-40B4-BE49-F238E27FC236}">
                    <a16:creationId xmlns:a16="http://schemas.microsoft.com/office/drawing/2014/main" id="{13B8E4F5-D121-7E57-D6EF-878DE8174CF8}"/>
                  </a:ext>
                </a:extLst>
              </p:cNvPr>
              <p:cNvSpPr/>
              <p:nvPr/>
            </p:nvSpPr>
            <p:spPr>
              <a:xfrm rot="5400000" flipH="1">
                <a:off x="5426660" y="449319"/>
                <a:ext cx="131653" cy="141780"/>
              </a:xfrm>
              <a:prstGeom prst="roundRect">
                <a:avLst/>
              </a:prstGeom>
              <a:grp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71" name="Rounded Rectangle 870">
                <a:extLst>
                  <a:ext uri="{FF2B5EF4-FFF2-40B4-BE49-F238E27FC236}">
                    <a16:creationId xmlns:a16="http://schemas.microsoft.com/office/drawing/2014/main" id="{2FB21EDA-C7E3-AF8A-912F-8585931D093F}"/>
                  </a:ext>
                </a:extLst>
              </p:cNvPr>
              <p:cNvSpPr/>
              <p:nvPr/>
            </p:nvSpPr>
            <p:spPr>
              <a:xfrm rot="5400000" flipH="1">
                <a:off x="5269289" y="449319"/>
                <a:ext cx="131653" cy="141780"/>
              </a:xfrm>
              <a:prstGeom prst="roundRect">
                <a:avLst/>
              </a:prstGeom>
              <a:grp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872" name="Group 871">
                <a:extLst>
                  <a:ext uri="{FF2B5EF4-FFF2-40B4-BE49-F238E27FC236}">
                    <a16:creationId xmlns:a16="http://schemas.microsoft.com/office/drawing/2014/main" id="{FB7A2984-5385-513B-DBD7-5AE6C2AA1F6A}"/>
                  </a:ext>
                </a:extLst>
              </p:cNvPr>
              <p:cNvGrpSpPr/>
              <p:nvPr/>
            </p:nvGrpSpPr>
            <p:grpSpPr>
              <a:xfrm rot="5400000" flipH="1">
                <a:off x="4873865" y="365139"/>
                <a:ext cx="131653" cy="614387"/>
                <a:chOff x="4254776" y="1845232"/>
                <a:chExt cx="140214" cy="654340"/>
              </a:xfrm>
              <a:grpFill/>
            </p:grpSpPr>
            <p:sp>
              <p:nvSpPr>
                <p:cNvPr id="875" name="Rounded Rectangle 874">
                  <a:extLst>
                    <a:ext uri="{FF2B5EF4-FFF2-40B4-BE49-F238E27FC236}">
                      <a16:creationId xmlns:a16="http://schemas.microsoft.com/office/drawing/2014/main" id="{0CA0C750-C3AD-D2C0-7791-1E2D9D14AEDB}"/>
                    </a:ext>
                  </a:extLst>
                </p:cNvPr>
                <p:cNvSpPr/>
                <p:nvPr/>
              </p:nvSpPr>
              <p:spPr>
                <a:xfrm>
                  <a:off x="4254776" y="1845232"/>
                  <a:ext cx="140214" cy="151000"/>
                </a:xfrm>
                <a:prstGeom prst="roundRect">
                  <a:avLst/>
                </a:prstGeom>
                <a:grpFill/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76" name="Rounded Rectangle 875">
                  <a:extLst>
                    <a:ext uri="{FF2B5EF4-FFF2-40B4-BE49-F238E27FC236}">
                      <a16:creationId xmlns:a16="http://schemas.microsoft.com/office/drawing/2014/main" id="{9A2D9AA9-A7D8-EC72-F14C-67A3AEB94700}"/>
                    </a:ext>
                  </a:extLst>
                </p:cNvPr>
                <p:cNvSpPr/>
                <p:nvPr/>
              </p:nvSpPr>
              <p:spPr>
                <a:xfrm>
                  <a:off x="4254776" y="2013012"/>
                  <a:ext cx="140214" cy="151000"/>
                </a:xfrm>
                <a:prstGeom prst="roundRect">
                  <a:avLst/>
                </a:prstGeom>
                <a:grpFill/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77" name="Rounded Rectangle 876">
                  <a:extLst>
                    <a:ext uri="{FF2B5EF4-FFF2-40B4-BE49-F238E27FC236}">
                      <a16:creationId xmlns:a16="http://schemas.microsoft.com/office/drawing/2014/main" id="{6C2B9CD7-E26C-0B7D-DD46-6BA49E3B57B2}"/>
                    </a:ext>
                  </a:extLst>
                </p:cNvPr>
                <p:cNvSpPr/>
                <p:nvPr/>
              </p:nvSpPr>
              <p:spPr>
                <a:xfrm>
                  <a:off x="4254776" y="2180792"/>
                  <a:ext cx="140214" cy="151000"/>
                </a:xfrm>
                <a:prstGeom prst="roundRect">
                  <a:avLst/>
                </a:prstGeom>
                <a:grpFill/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78" name="Rounded Rectangle 877">
                  <a:extLst>
                    <a:ext uri="{FF2B5EF4-FFF2-40B4-BE49-F238E27FC236}">
                      <a16:creationId xmlns:a16="http://schemas.microsoft.com/office/drawing/2014/main" id="{795AB810-8BF9-C0A2-6886-923B0197368E}"/>
                    </a:ext>
                  </a:extLst>
                </p:cNvPr>
                <p:cNvSpPr/>
                <p:nvPr/>
              </p:nvSpPr>
              <p:spPr>
                <a:xfrm>
                  <a:off x="4254776" y="2348572"/>
                  <a:ext cx="140214" cy="151000"/>
                </a:xfrm>
                <a:prstGeom prst="roundRect">
                  <a:avLst/>
                </a:prstGeom>
                <a:grpFill/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873" name="Rounded Rectangle 872">
                <a:extLst>
                  <a:ext uri="{FF2B5EF4-FFF2-40B4-BE49-F238E27FC236}">
                    <a16:creationId xmlns:a16="http://schemas.microsoft.com/office/drawing/2014/main" id="{A284BF9F-EF80-73D6-6305-9DE53E5F8410}"/>
                  </a:ext>
                </a:extLst>
              </p:cNvPr>
              <p:cNvSpPr/>
              <p:nvPr/>
            </p:nvSpPr>
            <p:spPr>
              <a:xfrm rot="5400000" flipH="1">
                <a:off x="5424263" y="599614"/>
                <a:ext cx="131653" cy="141780"/>
              </a:xfrm>
              <a:prstGeom prst="roundRect">
                <a:avLst/>
              </a:prstGeom>
              <a:grp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74" name="Rounded Rectangle 873">
                <a:extLst>
                  <a:ext uri="{FF2B5EF4-FFF2-40B4-BE49-F238E27FC236}">
                    <a16:creationId xmlns:a16="http://schemas.microsoft.com/office/drawing/2014/main" id="{A57330E5-4126-78A4-67AA-F1C85A9F670C}"/>
                  </a:ext>
                </a:extLst>
              </p:cNvPr>
              <p:cNvSpPr/>
              <p:nvPr/>
            </p:nvSpPr>
            <p:spPr>
              <a:xfrm rot="5400000" flipH="1">
                <a:off x="5266296" y="598510"/>
                <a:ext cx="131653" cy="141780"/>
              </a:xfrm>
              <a:prstGeom prst="roundRect">
                <a:avLst/>
              </a:prstGeom>
              <a:grp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911" name="TextBox 910">
            <a:extLst>
              <a:ext uri="{FF2B5EF4-FFF2-40B4-BE49-F238E27FC236}">
                <a16:creationId xmlns:a16="http://schemas.microsoft.com/office/drawing/2014/main" id="{4365F50F-4197-BF6D-1DD9-0428C7FE52D3}"/>
              </a:ext>
            </a:extLst>
          </p:cNvPr>
          <p:cNvSpPr txBox="1"/>
          <p:nvPr/>
        </p:nvSpPr>
        <p:spPr>
          <a:xfrm>
            <a:off x="5596832" y="4136778"/>
            <a:ext cx="2389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grpSp>
        <p:nvGrpSpPr>
          <p:cNvPr id="912" name="Group 911">
            <a:extLst>
              <a:ext uri="{FF2B5EF4-FFF2-40B4-BE49-F238E27FC236}">
                <a16:creationId xmlns:a16="http://schemas.microsoft.com/office/drawing/2014/main" id="{3AB928BC-8905-37EA-6E98-29EB7521AB95}"/>
              </a:ext>
            </a:extLst>
          </p:cNvPr>
          <p:cNvGrpSpPr/>
          <p:nvPr/>
        </p:nvGrpSpPr>
        <p:grpSpPr>
          <a:xfrm rot="5400000">
            <a:off x="2515026" y="4030401"/>
            <a:ext cx="930878" cy="283776"/>
            <a:chOff x="2544765" y="680139"/>
            <a:chExt cx="930878" cy="283776"/>
          </a:xfrm>
          <a:solidFill>
            <a:srgbClr val="DDD4EB"/>
          </a:solidFill>
        </p:grpSpPr>
        <p:sp>
          <p:nvSpPr>
            <p:cNvPr id="913" name="Rounded Rectangle 912">
              <a:extLst>
                <a:ext uri="{FF2B5EF4-FFF2-40B4-BE49-F238E27FC236}">
                  <a16:creationId xmlns:a16="http://schemas.microsoft.com/office/drawing/2014/main" id="{8ED7D772-D552-8DC5-703A-D066AF11B3A5}"/>
                </a:ext>
              </a:extLst>
            </p:cNvPr>
            <p:cNvSpPr/>
            <p:nvPr/>
          </p:nvSpPr>
          <p:spPr>
            <a:xfrm rot="5400000" flipH="1">
              <a:off x="3022434" y="678389"/>
              <a:ext cx="131653" cy="141780"/>
            </a:xfrm>
            <a:prstGeom prst="roundRect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4" name="Rounded Rectangle 913">
              <a:extLst>
                <a:ext uri="{FF2B5EF4-FFF2-40B4-BE49-F238E27FC236}">
                  <a16:creationId xmlns:a16="http://schemas.microsoft.com/office/drawing/2014/main" id="{76762635-0E92-3CC2-DA34-A2C6FCF885EC}"/>
                </a:ext>
              </a:extLst>
            </p:cNvPr>
            <p:cNvSpPr/>
            <p:nvPr/>
          </p:nvSpPr>
          <p:spPr>
            <a:xfrm rot="5400000" flipH="1">
              <a:off x="2864899" y="678389"/>
              <a:ext cx="131653" cy="141780"/>
            </a:xfrm>
            <a:prstGeom prst="roundRect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5" name="Rounded Rectangle 914">
              <a:extLst>
                <a:ext uri="{FF2B5EF4-FFF2-40B4-BE49-F238E27FC236}">
                  <a16:creationId xmlns:a16="http://schemas.microsoft.com/office/drawing/2014/main" id="{41478BE2-ED41-CC9C-832F-5619D7E1B1EC}"/>
                </a:ext>
              </a:extLst>
            </p:cNvPr>
            <p:cNvSpPr/>
            <p:nvPr/>
          </p:nvSpPr>
          <p:spPr>
            <a:xfrm rot="5400000" flipH="1">
              <a:off x="2707363" y="678389"/>
              <a:ext cx="131653" cy="141780"/>
            </a:xfrm>
            <a:prstGeom prst="roundRect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6" name="Rounded Rectangle 915">
              <a:extLst>
                <a:ext uri="{FF2B5EF4-FFF2-40B4-BE49-F238E27FC236}">
                  <a16:creationId xmlns:a16="http://schemas.microsoft.com/office/drawing/2014/main" id="{BD8BC166-E79A-892B-29B7-4A363915CF79}"/>
                </a:ext>
              </a:extLst>
            </p:cNvPr>
            <p:cNvSpPr/>
            <p:nvPr/>
          </p:nvSpPr>
          <p:spPr>
            <a:xfrm rot="5400000" flipH="1">
              <a:off x="2549828" y="678389"/>
              <a:ext cx="131653" cy="141780"/>
            </a:xfrm>
            <a:prstGeom prst="roundRect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7" name="Rounded Rectangle 916">
              <a:extLst>
                <a:ext uri="{FF2B5EF4-FFF2-40B4-BE49-F238E27FC236}">
                  <a16:creationId xmlns:a16="http://schemas.microsoft.com/office/drawing/2014/main" id="{C2D5CD89-76F7-F232-A23A-EFFD5579143E}"/>
                </a:ext>
              </a:extLst>
            </p:cNvPr>
            <p:cNvSpPr/>
            <p:nvPr/>
          </p:nvSpPr>
          <p:spPr>
            <a:xfrm rot="5400000" flipH="1">
              <a:off x="3338926" y="675076"/>
              <a:ext cx="131653" cy="141780"/>
            </a:xfrm>
            <a:prstGeom prst="roundRect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8" name="Rounded Rectangle 917">
              <a:extLst>
                <a:ext uri="{FF2B5EF4-FFF2-40B4-BE49-F238E27FC236}">
                  <a16:creationId xmlns:a16="http://schemas.microsoft.com/office/drawing/2014/main" id="{B2F6461B-EA22-437A-0CC9-B37E2509205A}"/>
                </a:ext>
              </a:extLst>
            </p:cNvPr>
            <p:cNvSpPr/>
            <p:nvPr/>
          </p:nvSpPr>
          <p:spPr>
            <a:xfrm rot="5400000" flipH="1">
              <a:off x="3181555" y="675076"/>
              <a:ext cx="131653" cy="141780"/>
            </a:xfrm>
            <a:prstGeom prst="roundRect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9" name="Rounded Rectangle 918">
              <a:extLst>
                <a:ext uri="{FF2B5EF4-FFF2-40B4-BE49-F238E27FC236}">
                  <a16:creationId xmlns:a16="http://schemas.microsoft.com/office/drawing/2014/main" id="{1EFBA7D4-BCB6-44E2-753C-C08C8C85E18D}"/>
                </a:ext>
              </a:extLst>
            </p:cNvPr>
            <p:cNvSpPr/>
            <p:nvPr/>
          </p:nvSpPr>
          <p:spPr>
            <a:xfrm rot="5400000" flipH="1">
              <a:off x="3022434" y="827199"/>
              <a:ext cx="131653" cy="141780"/>
            </a:xfrm>
            <a:prstGeom prst="roundRect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0" name="Rounded Rectangle 919">
              <a:extLst>
                <a:ext uri="{FF2B5EF4-FFF2-40B4-BE49-F238E27FC236}">
                  <a16:creationId xmlns:a16="http://schemas.microsoft.com/office/drawing/2014/main" id="{B49DAFBA-20A9-DF48-46C6-C2C5A34C2F31}"/>
                </a:ext>
              </a:extLst>
            </p:cNvPr>
            <p:cNvSpPr/>
            <p:nvPr/>
          </p:nvSpPr>
          <p:spPr>
            <a:xfrm rot="5400000" flipH="1">
              <a:off x="2864899" y="827199"/>
              <a:ext cx="131653" cy="141780"/>
            </a:xfrm>
            <a:prstGeom prst="roundRect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1" name="Rounded Rectangle 920">
              <a:extLst>
                <a:ext uri="{FF2B5EF4-FFF2-40B4-BE49-F238E27FC236}">
                  <a16:creationId xmlns:a16="http://schemas.microsoft.com/office/drawing/2014/main" id="{203A19C8-718A-FE90-2E7A-DA5C5F49B138}"/>
                </a:ext>
              </a:extLst>
            </p:cNvPr>
            <p:cNvSpPr/>
            <p:nvPr/>
          </p:nvSpPr>
          <p:spPr>
            <a:xfrm rot="5400000" flipH="1">
              <a:off x="2707363" y="827199"/>
              <a:ext cx="131653" cy="141780"/>
            </a:xfrm>
            <a:prstGeom prst="roundRect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2" name="Rounded Rectangle 921">
              <a:extLst>
                <a:ext uri="{FF2B5EF4-FFF2-40B4-BE49-F238E27FC236}">
                  <a16:creationId xmlns:a16="http://schemas.microsoft.com/office/drawing/2014/main" id="{92874AB5-0313-48E0-7326-7E37301D1931}"/>
                </a:ext>
              </a:extLst>
            </p:cNvPr>
            <p:cNvSpPr/>
            <p:nvPr/>
          </p:nvSpPr>
          <p:spPr>
            <a:xfrm rot="5400000" flipH="1">
              <a:off x="2549828" y="827199"/>
              <a:ext cx="131653" cy="141780"/>
            </a:xfrm>
            <a:prstGeom prst="roundRect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3" name="Rounded Rectangle 922">
              <a:extLst>
                <a:ext uri="{FF2B5EF4-FFF2-40B4-BE49-F238E27FC236}">
                  <a16:creationId xmlns:a16="http://schemas.microsoft.com/office/drawing/2014/main" id="{8A866DA3-491F-0B4B-B649-0A2A86F9E99A}"/>
                </a:ext>
              </a:extLst>
            </p:cNvPr>
            <p:cNvSpPr/>
            <p:nvPr/>
          </p:nvSpPr>
          <p:spPr>
            <a:xfrm rot="5400000" flipH="1">
              <a:off x="3336529" y="825371"/>
              <a:ext cx="131653" cy="141780"/>
            </a:xfrm>
            <a:prstGeom prst="roundRect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4" name="Rounded Rectangle 923">
              <a:extLst>
                <a:ext uri="{FF2B5EF4-FFF2-40B4-BE49-F238E27FC236}">
                  <a16:creationId xmlns:a16="http://schemas.microsoft.com/office/drawing/2014/main" id="{9F6CFA2E-DC8F-B0B8-7206-2861AE1CAC2C}"/>
                </a:ext>
              </a:extLst>
            </p:cNvPr>
            <p:cNvSpPr/>
            <p:nvPr/>
          </p:nvSpPr>
          <p:spPr>
            <a:xfrm rot="5400000" flipH="1">
              <a:off x="3178562" y="824267"/>
              <a:ext cx="131653" cy="141780"/>
            </a:xfrm>
            <a:prstGeom prst="roundRect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28" name="Rounded Rectangle 927">
            <a:extLst>
              <a:ext uri="{FF2B5EF4-FFF2-40B4-BE49-F238E27FC236}">
                <a16:creationId xmlns:a16="http://schemas.microsoft.com/office/drawing/2014/main" id="{D05E2E25-76BD-B185-00E5-5A1DEBC903E0}"/>
              </a:ext>
            </a:extLst>
          </p:cNvPr>
          <p:cNvSpPr/>
          <p:nvPr/>
        </p:nvSpPr>
        <p:spPr>
          <a:xfrm rot="5400000" flipH="1">
            <a:off x="6921466" y="3835775"/>
            <a:ext cx="131653" cy="141780"/>
          </a:xfrm>
          <a:prstGeom prst="roundRect">
            <a:avLst/>
          </a:prstGeom>
          <a:solidFill>
            <a:srgbClr val="EFCA9A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9" name="Rounded Rectangle 928">
            <a:extLst>
              <a:ext uri="{FF2B5EF4-FFF2-40B4-BE49-F238E27FC236}">
                <a16:creationId xmlns:a16="http://schemas.microsoft.com/office/drawing/2014/main" id="{9DEE70D0-0125-1DDE-B64A-2288F5ACDA6D}"/>
              </a:ext>
            </a:extLst>
          </p:cNvPr>
          <p:cNvSpPr/>
          <p:nvPr/>
        </p:nvSpPr>
        <p:spPr>
          <a:xfrm rot="5400000" flipH="1">
            <a:off x="6763930" y="3837631"/>
            <a:ext cx="131653" cy="141780"/>
          </a:xfrm>
          <a:prstGeom prst="roundRect">
            <a:avLst/>
          </a:prstGeom>
          <a:solidFill>
            <a:srgbClr val="EFCA9A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2" name="Rounded Rectangle 931">
            <a:extLst>
              <a:ext uri="{FF2B5EF4-FFF2-40B4-BE49-F238E27FC236}">
                <a16:creationId xmlns:a16="http://schemas.microsoft.com/office/drawing/2014/main" id="{A92C1B56-8DEF-97AA-AC7F-FA707A8E16A4}"/>
              </a:ext>
            </a:extLst>
          </p:cNvPr>
          <p:cNvSpPr/>
          <p:nvPr/>
        </p:nvSpPr>
        <p:spPr>
          <a:xfrm rot="5400000" flipH="1">
            <a:off x="6921466" y="3987715"/>
            <a:ext cx="131654" cy="141780"/>
          </a:xfrm>
          <a:prstGeom prst="roundRect">
            <a:avLst/>
          </a:prstGeom>
          <a:solidFill>
            <a:srgbClr val="EFCA9A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3" name="Rounded Rectangle 932">
            <a:extLst>
              <a:ext uri="{FF2B5EF4-FFF2-40B4-BE49-F238E27FC236}">
                <a16:creationId xmlns:a16="http://schemas.microsoft.com/office/drawing/2014/main" id="{E099DAC4-A053-E9AD-B5D0-C9FD04C18DBE}"/>
              </a:ext>
            </a:extLst>
          </p:cNvPr>
          <p:cNvSpPr/>
          <p:nvPr/>
        </p:nvSpPr>
        <p:spPr>
          <a:xfrm rot="5400000" flipH="1">
            <a:off x="6763930" y="3987724"/>
            <a:ext cx="131654" cy="141780"/>
          </a:xfrm>
          <a:prstGeom prst="roundRect">
            <a:avLst/>
          </a:prstGeom>
          <a:solidFill>
            <a:srgbClr val="EFCA9A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6" name="Rounded Rectangle 935">
            <a:extLst>
              <a:ext uri="{FF2B5EF4-FFF2-40B4-BE49-F238E27FC236}">
                <a16:creationId xmlns:a16="http://schemas.microsoft.com/office/drawing/2014/main" id="{CB217806-4F3D-2B46-80B9-58650877260B}"/>
              </a:ext>
            </a:extLst>
          </p:cNvPr>
          <p:cNvSpPr/>
          <p:nvPr/>
        </p:nvSpPr>
        <p:spPr>
          <a:xfrm rot="5400000" flipH="1">
            <a:off x="6920936" y="4139033"/>
            <a:ext cx="131653" cy="141780"/>
          </a:xfrm>
          <a:prstGeom prst="roundRect">
            <a:avLst/>
          </a:prstGeom>
          <a:solidFill>
            <a:srgbClr val="EFCA9A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7" name="Rounded Rectangle 936">
            <a:extLst>
              <a:ext uri="{FF2B5EF4-FFF2-40B4-BE49-F238E27FC236}">
                <a16:creationId xmlns:a16="http://schemas.microsoft.com/office/drawing/2014/main" id="{B92CCC94-66D4-2F11-25EC-5117967A3E4D}"/>
              </a:ext>
            </a:extLst>
          </p:cNvPr>
          <p:cNvSpPr/>
          <p:nvPr/>
        </p:nvSpPr>
        <p:spPr>
          <a:xfrm rot="5400000" flipH="1">
            <a:off x="6763400" y="4139033"/>
            <a:ext cx="131653" cy="141780"/>
          </a:xfrm>
          <a:prstGeom prst="roundRect">
            <a:avLst/>
          </a:prstGeom>
          <a:solidFill>
            <a:srgbClr val="EFCA9A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0" name="Rounded Rectangle 939">
            <a:extLst>
              <a:ext uri="{FF2B5EF4-FFF2-40B4-BE49-F238E27FC236}">
                <a16:creationId xmlns:a16="http://schemas.microsoft.com/office/drawing/2014/main" id="{5EDFF6A8-A82C-1CBB-5BF7-9DC718B56C59}"/>
              </a:ext>
            </a:extLst>
          </p:cNvPr>
          <p:cNvSpPr/>
          <p:nvPr/>
        </p:nvSpPr>
        <p:spPr>
          <a:xfrm rot="5400000" flipH="1">
            <a:off x="6921466" y="4289239"/>
            <a:ext cx="131653" cy="141780"/>
          </a:xfrm>
          <a:prstGeom prst="roundRect">
            <a:avLst/>
          </a:prstGeom>
          <a:solidFill>
            <a:srgbClr val="EFCA9A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1" name="Rounded Rectangle 940">
            <a:extLst>
              <a:ext uri="{FF2B5EF4-FFF2-40B4-BE49-F238E27FC236}">
                <a16:creationId xmlns:a16="http://schemas.microsoft.com/office/drawing/2014/main" id="{386C5925-A8D3-5CBE-730A-A2930335B8CC}"/>
              </a:ext>
            </a:extLst>
          </p:cNvPr>
          <p:cNvSpPr/>
          <p:nvPr/>
        </p:nvSpPr>
        <p:spPr>
          <a:xfrm rot="5400000" flipH="1">
            <a:off x="6763930" y="4289239"/>
            <a:ext cx="131653" cy="141780"/>
          </a:xfrm>
          <a:prstGeom prst="roundRect">
            <a:avLst/>
          </a:prstGeom>
          <a:solidFill>
            <a:srgbClr val="EFCA9A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4" name="Rounded Rectangle 943">
            <a:extLst>
              <a:ext uri="{FF2B5EF4-FFF2-40B4-BE49-F238E27FC236}">
                <a16:creationId xmlns:a16="http://schemas.microsoft.com/office/drawing/2014/main" id="{BD1D6A07-3E8E-06AC-1AC1-C3B2E2DEE06C}"/>
              </a:ext>
            </a:extLst>
          </p:cNvPr>
          <p:cNvSpPr/>
          <p:nvPr/>
        </p:nvSpPr>
        <p:spPr>
          <a:xfrm rot="5400000" flipH="1">
            <a:off x="6921466" y="4439496"/>
            <a:ext cx="131653" cy="141780"/>
          </a:xfrm>
          <a:prstGeom prst="roundRect">
            <a:avLst/>
          </a:prstGeom>
          <a:solidFill>
            <a:srgbClr val="EFCA9A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5" name="Rounded Rectangle 944">
            <a:extLst>
              <a:ext uri="{FF2B5EF4-FFF2-40B4-BE49-F238E27FC236}">
                <a16:creationId xmlns:a16="http://schemas.microsoft.com/office/drawing/2014/main" id="{28ECA9FC-5C7A-54B9-C037-602C5247A415}"/>
              </a:ext>
            </a:extLst>
          </p:cNvPr>
          <p:cNvSpPr/>
          <p:nvPr/>
        </p:nvSpPr>
        <p:spPr>
          <a:xfrm rot="5400000" flipH="1">
            <a:off x="6763930" y="4439496"/>
            <a:ext cx="131653" cy="141780"/>
          </a:xfrm>
          <a:prstGeom prst="roundRect">
            <a:avLst/>
          </a:prstGeom>
          <a:solidFill>
            <a:srgbClr val="EFCA9A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8" name="Rounded Rectangle 947">
            <a:extLst>
              <a:ext uri="{FF2B5EF4-FFF2-40B4-BE49-F238E27FC236}">
                <a16:creationId xmlns:a16="http://schemas.microsoft.com/office/drawing/2014/main" id="{3F4A6619-6FF3-BAA2-86C7-33072E8179CE}"/>
              </a:ext>
            </a:extLst>
          </p:cNvPr>
          <p:cNvSpPr/>
          <p:nvPr/>
        </p:nvSpPr>
        <p:spPr>
          <a:xfrm rot="5400000" flipH="1">
            <a:off x="6921466" y="4589756"/>
            <a:ext cx="131653" cy="141780"/>
          </a:xfrm>
          <a:prstGeom prst="roundRect">
            <a:avLst/>
          </a:prstGeom>
          <a:solidFill>
            <a:srgbClr val="EFCA9A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9" name="Rounded Rectangle 948">
            <a:extLst>
              <a:ext uri="{FF2B5EF4-FFF2-40B4-BE49-F238E27FC236}">
                <a16:creationId xmlns:a16="http://schemas.microsoft.com/office/drawing/2014/main" id="{C7B90A57-1675-EB56-6A64-E976BBFDE9E5}"/>
              </a:ext>
            </a:extLst>
          </p:cNvPr>
          <p:cNvSpPr/>
          <p:nvPr/>
        </p:nvSpPr>
        <p:spPr>
          <a:xfrm rot="5400000" flipH="1">
            <a:off x="6763930" y="4589756"/>
            <a:ext cx="131653" cy="141780"/>
          </a:xfrm>
          <a:prstGeom prst="roundRect">
            <a:avLst/>
          </a:prstGeom>
          <a:solidFill>
            <a:srgbClr val="EFCA9A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0" name="TextBox 949">
            <a:extLst>
              <a:ext uri="{FF2B5EF4-FFF2-40B4-BE49-F238E27FC236}">
                <a16:creationId xmlns:a16="http://schemas.microsoft.com/office/drawing/2014/main" id="{FF931B8A-72D3-4FAA-C51B-E80463B24048}"/>
              </a:ext>
            </a:extLst>
          </p:cNvPr>
          <p:cNvSpPr txBox="1"/>
          <p:nvPr/>
        </p:nvSpPr>
        <p:spPr>
          <a:xfrm>
            <a:off x="6278724" y="4098989"/>
            <a:ext cx="238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</a:p>
        </p:txBody>
      </p:sp>
      <p:sp>
        <p:nvSpPr>
          <p:cNvPr id="952" name="TextBox 951">
            <a:extLst>
              <a:ext uri="{FF2B5EF4-FFF2-40B4-BE49-F238E27FC236}">
                <a16:creationId xmlns:a16="http://schemas.microsoft.com/office/drawing/2014/main" id="{E433E6A9-4EA0-699C-0263-2846B2F04F65}"/>
              </a:ext>
            </a:extLst>
          </p:cNvPr>
          <p:cNvSpPr txBox="1"/>
          <p:nvPr/>
        </p:nvSpPr>
        <p:spPr>
          <a:xfrm>
            <a:off x="5886476" y="4760323"/>
            <a:ext cx="238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endParaRPr lang="en-US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53" name="TextBox 952">
            <a:extLst>
              <a:ext uri="{FF2B5EF4-FFF2-40B4-BE49-F238E27FC236}">
                <a16:creationId xmlns:a16="http://schemas.microsoft.com/office/drawing/2014/main" id="{0747F290-6BA1-74F7-14B1-E2B0E00C3D39}"/>
              </a:ext>
            </a:extLst>
          </p:cNvPr>
          <p:cNvSpPr txBox="1"/>
          <p:nvPr/>
        </p:nvSpPr>
        <p:spPr>
          <a:xfrm>
            <a:off x="7051146" y="3771059"/>
            <a:ext cx="687663" cy="1000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160"/>
              </a:lnSpc>
            </a:pPr>
            <a:r>
              <a:rPr lang="en-US" sz="800" i="1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</a:p>
          <a:p>
            <a:pPr>
              <a:lnSpc>
                <a:spcPts val="1160"/>
              </a:lnSpc>
            </a:pPr>
            <a:r>
              <a:rPr lang="en-US" sz="800" i="1" dirty="0">
                <a:latin typeface="Arial" panose="020B0604020202020204" pitchFamily="34" charset="0"/>
                <a:cs typeface="Arial" panose="020B0604020202020204" pitchFamily="34" charset="0"/>
              </a:rPr>
              <a:t>main</a:t>
            </a:r>
          </a:p>
          <a:p>
            <a:pPr>
              <a:lnSpc>
                <a:spcPts val="1160"/>
              </a:lnSpc>
            </a:pPr>
            <a:r>
              <a:rPr lang="en-US" sz="800" i="1" dirty="0">
                <a:latin typeface="Arial" panose="020B0604020202020204" pitchFamily="34" charset="0"/>
                <a:cs typeface="Arial" panose="020B0604020202020204" pitchFamily="34" charset="0"/>
              </a:rPr>
              <a:t>course</a:t>
            </a:r>
          </a:p>
          <a:p>
            <a:pPr>
              <a:lnSpc>
                <a:spcPts val="1160"/>
              </a:lnSpc>
            </a:pPr>
            <a:r>
              <a:rPr lang="en-US" sz="800" i="1" dirty="0">
                <a:latin typeface="Arial" panose="020B0604020202020204" pitchFamily="34" charset="0"/>
                <a:cs typeface="Arial" panose="020B0604020202020204" pitchFamily="34" charset="0"/>
              </a:rPr>
              <a:t>was</a:t>
            </a:r>
          </a:p>
          <a:p>
            <a:pPr>
              <a:lnSpc>
                <a:spcPts val="1160"/>
              </a:lnSpc>
            </a:pPr>
            <a:r>
              <a:rPr lang="en-US" sz="800" i="1" dirty="0">
                <a:latin typeface="Arial" panose="020B0604020202020204" pitchFamily="34" charset="0"/>
                <a:cs typeface="Arial" panose="020B0604020202020204" pitchFamily="34" charset="0"/>
              </a:rPr>
              <a:t>truly</a:t>
            </a:r>
          </a:p>
          <a:p>
            <a:pPr>
              <a:lnSpc>
                <a:spcPts val="1160"/>
              </a:lnSpc>
            </a:pPr>
            <a:r>
              <a:rPr lang="en-US" sz="800" i="1" dirty="0">
                <a:latin typeface="Arial" panose="020B0604020202020204" pitchFamily="34" charset="0"/>
                <a:cs typeface="Arial" panose="020B0604020202020204" pitchFamily="34" charset="0"/>
              </a:rPr>
              <a:t>delicious</a:t>
            </a:r>
          </a:p>
        </p:txBody>
      </p:sp>
      <p:sp>
        <p:nvSpPr>
          <p:cNvPr id="954" name="TextBox 953">
            <a:extLst>
              <a:ext uri="{FF2B5EF4-FFF2-40B4-BE49-F238E27FC236}">
                <a16:creationId xmlns:a16="http://schemas.microsoft.com/office/drawing/2014/main" id="{5B3E0BC2-FFDE-96B4-B173-AC4F1E51BE9C}"/>
              </a:ext>
            </a:extLst>
          </p:cNvPr>
          <p:cNvSpPr txBox="1"/>
          <p:nvPr/>
        </p:nvSpPr>
        <p:spPr>
          <a:xfrm>
            <a:off x="7632646" y="3993541"/>
            <a:ext cx="1403787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i="1" dirty="0">
                <a:latin typeface="Arial" panose="020B0604020202020204" pitchFamily="34" charset="0"/>
                <a:cs typeface="Arial" panose="020B0604020202020204" pitchFamily="34" charset="0"/>
              </a:rPr>
              <a:t>attention head output: new contextual embeddings</a:t>
            </a:r>
            <a:endParaRPr lang="en-US" sz="900" b="1" i="1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3BFF0E-643E-27FD-D55A-7A0A687E2E32}"/>
              </a:ext>
            </a:extLst>
          </p:cNvPr>
          <p:cNvSpPr txBox="1"/>
          <p:nvPr/>
        </p:nvSpPr>
        <p:spPr>
          <a:xfrm>
            <a:off x="252209" y="97179"/>
            <a:ext cx="37166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Make 3 copies of the input sequence and weight each one differently…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5D56C1-7478-2CC8-A697-1BCB12D91321}"/>
              </a:ext>
            </a:extLst>
          </p:cNvPr>
          <p:cNvSpPr txBox="1"/>
          <p:nvPr/>
        </p:nvSpPr>
        <p:spPr>
          <a:xfrm>
            <a:off x="4340215" y="46782"/>
            <a:ext cx="34721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…then combine all three for final embeddings.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6C68B5-60FC-401E-5546-4E1735025478}"/>
              </a:ext>
            </a:extLst>
          </p:cNvPr>
          <p:cNvSpPr txBox="1"/>
          <p:nvPr/>
        </p:nvSpPr>
        <p:spPr>
          <a:xfrm>
            <a:off x="-11049" y="2161252"/>
            <a:ext cx="687663" cy="1000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160"/>
              </a:lnSpc>
            </a:pPr>
            <a:r>
              <a:rPr lang="en-US" sz="800" i="1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</a:p>
          <a:p>
            <a:pPr algn="r">
              <a:lnSpc>
                <a:spcPts val="1160"/>
              </a:lnSpc>
            </a:pPr>
            <a:r>
              <a:rPr lang="en-US" sz="800" i="1" dirty="0">
                <a:latin typeface="Arial" panose="020B0604020202020204" pitchFamily="34" charset="0"/>
                <a:cs typeface="Arial" panose="020B0604020202020204" pitchFamily="34" charset="0"/>
              </a:rPr>
              <a:t>main</a:t>
            </a:r>
          </a:p>
          <a:p>
            <a:pPr algn="r">
              <a:lnSpc>
                <a:spcPts val="1160"/>
              </a:lnSpc>
            </a:pPr>
            <a:r>
              <a:rPr lang="en-US" sz="800" i="1" dirty="0">
                <a:latin typeface="Arial" panose="020B0604020202020204" pitchFamily="34" charset="0"/>
                <a:cs typeface="Arial" panose="020B0604020202020204" pitchFamily="34" charset="0"/>
              </a:rPr>
              <a:t>course</a:t>
            </a:r>
          </a:p>
          <a:p>
            <a:pPr algn="r">
              <a:lnSpc>
                <a:spcPts val="1160"/>
              </a:lnSpc>
            </a:pPr>
            <a:r>
              <a:rPr lang="en-US" sz="800" i="1" dirty="0">
                <a:latin typeface="Arial" panose="020B0604020202020204" pitchFamily="34" charset="0"/>
                <a:cs typeface="Arial" panose="020B0604020202020204" pitchFamily="34" charset="0"/>
              </a:rPr>
              <a:t>was</a:t>
            </a:r>
          </a:p>
          <a:p>
            <a:pPr algn="r">
              <a:lnSpc>
                <a:spcPts val="1160"/>
              </a:lnSpc>
            </a:pPr>
            <a:r>
              <a:rPr lang="en-US" sz="800" i="1" dirty="0">
                <a:latin typeface="Arial" panose="020B0604020202020204" pitchFamily="34" charset="0"/>
                <a:cs typeface="Arial" panose="020B0604020202020204" pitchFamily="34" charset="0"/>
              </a:rPr>
              <a:t>truly</a:t>
            </a:r>
          </a:p>
          <a:p>
            <a:pPr algn="r">
              <a:lnSpc>
                <a:spcPts val="1160"/>
              </a:lnSpc>
            </a:pPr>
            <a:r>
              <a:rPr lang="en-US" sz="800" i="1" dirty="0">
                <a:latin typeface="Arial" panose="020B0604020202020204" pitchFamily="34" charset="0"/>
                <a:cs typeface="Arial" panose="020B0604020202020204" pitchFamily="34" charset="0"/>
              </a:rPr>
              <a:t>delicious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40587E-00FD-7FBE-D0DE-2026D4D12EB2}"/>
              </a:ext>
            </a:extLst>
          </p:cNvPr>
          <p:cNvSpPr txBox="1"/>
          <p:nvPr/>
        </p:nvSpPr>
        <p:spPr>
          <a:xfrm>
            <a:off x="-13775" y="3738047"/>
            <a:ext cx="687663" cy="1000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160"/>
              </a:lnSpc>
            </a:pPr>
            <a:r>
              <a:rPr lang="en-US" sz="800" i="1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</a:p>
          <a:p>
            <a:pPr algn="r">
              <a:lnSpc>
                <a:spcPts val="1160"/>
              </a:lnSpc>
            </a:pPr>
            <a:r>
              <a:rPr lang="en-US" sz="800" i="1" dirty="0">
                <a:latin typeface="Arial" panose="020B0604020202020204" pitchFamily="34" charset="0"/>
                <a:cs typeface="Arial" panose="020B0604020202020204" pitchFamily="34" charset="0"/>
              </a:rPr>
              <a:t>main</a:t>
            </a:r>
          </a:p>
          <a:p>
            <a:pPr algn="r">
              <a:lnSpc>
                <a:spcPts val="1160"/>
              </a:lnSpc>
            </a:pPr>
            <a:r>
              <a:rPr lang="en-US" sz="800" i="1" dirty="0">
                <a:latin typeface="Arial" panose="020B0604020202020204" pitchFamily="34" charset="0"/>
                <a:cs typeface="Arial" panose="020B0604020202020204" pitchFamily="34" charset="0"/>
              </a:rPr>
              <a:t>course</a:t>
            </a:r>
          </a:p>
          <a:p>
            <a:pPr algn="r">
              <a:lnSpc>
                <a:spcPts val="1160"/>
              </a:lnSpc>
            </a:pPr>
            <a:r>
              <a:rPr lang="en-US" sz="800" i="1" dirty="0">
                <a:latin typeface="Arial" panose="020B0604020202020204" pitchFamily="34" charset="0"/>
                <a:cs typeface="Arial" panose="020B0604020202020204" pitchFamily="34" charset="0"/>
              </a:rPr>
              <a:t>was</a:t>
            </a:r>
          </a:p>
          <a:p>
            <a:pPr algn="r">
              <a:lnSpc>
                <a:spcPts val="1160"/>
              </a:lnSpc>
            </a:pPr>
            <a:r>
              <a:rPr lang="en-US" sz="800" i="1" dirty="0">
                <a:latin typeface="Arial" panose="020B0604020202020204" pitchFamily="34" charset="0"/>
                <a:cs typeface="Arial" panose="020B0604020202020204" pitchFamily="34" charset="0"/>
              </a:rPr>
              <a:t>truly</a:t>
            </a:r>
          </a:p>
          <a:p>
            <a:pPr algn="r">
              <a:lnSpc>
                <a:spcPts val="1160"/>
              </a:lnSpc>
            </a:pPr>
            <a:r>
              <a:rPr lang="en-US" sz="800" i="1" dirty="0">
                <a:latin typeface="Arial" panose="020B0604020202020204" pitchFamily="34" charset="0"/>
                <a:cs typeface="Arial" panose="020B0604020202020204" pitchFamily="34" charset="0"/>
              </a:rPr>
              <a:t>delicious</a:t>
            </a:r>
          </a:p>
        </p:txBody>
      </p:sp>
    </p:spTree>
    <p:extLst>
      <p:ext uri="{BB962C8B-B14F-4D97-AF65-F5344CB8AC3E}">
        <p14:creationId xmlns:p14="http://schemas.microsoft.com/office/powerpoint/2010/main" val="3118427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" grpId="0"/>
      <p:bldP spid="93" grpId="0"/>
      <p:bldP spid="94" grpId="0"/>
      <p:bldP spid="112" grpId="0"/>
      <p:bldP spid="488" grpId="0"/>
      <p:bldP spid="489" grpId="0"/>
      <p:bldP spid="490" grpId="0"/>
      <p:bldP spid="491" grpId="0"/>
      <p:bldP spid="547" grpId="0"/>
      <p:bldP spid="585" grpId="0"/>
      <p:bldP spid="586" grpId="0"/>
      <p:bldP spid="587" grpId="0"/>
      <p:bldP spid="601" grpId="0"/>
      <p:bldP spid="602" grpId="0"/>
      <p:bldP spid="639" grpId="0"/>
      <p:bldP spid="640" grpId="0"/>
      <p:bldP spid="641" grpId="0"/>
      <p:bldP spid="655" grpId="0"/>
      <p:bldP spid="656" grpId="0"/>
      <p:bldP spid="706" grpId="0"/>
      <p:bldP spid="707" grpId="0"/>
      <p:bldP spid="708" grpId="0"/>
      <p:bldP spid="709" grpId="0"/>
      <p:bldP spid="710" grpId="0"/>
      <p:bldP spid="711" grpId="0"/>
      <p:bldP spid="712" grpId="0"/>
      <p:bldP spid="713" grpId="0"/>
      <p:bldP spid="911" grpId="0"/>
      <p:bldP spid="928" grpId="0" animBg="1"/>
      <p:bldP spid="929" grpId="0" animBg="1"/>
      <p:bldP spid="932" grpId="0" animBg="1"/>
      <p:bldP spid="933" grpId="0" animBg="1"/>
      <p:bldP spid="936" grpId="0" animBg="1"/>
      <p:bldP spid="937" grpId="0" animBg="1"/>
      <p:bldP spid="940" grpId="0" animBg="1"/>
      <p:bldP spid="941" grpId="0" animBg="1"/>
      <p:bldP spid="944" grpId="0" animBg="1"/>
      <p:bldP spid="945" grpId="0" animBg="1"/>
      <p:bldP spid="948" grpId="0" animBg="1"/>
      <p:bldP spid="949" grpId="0" animBg="1"/>
      <p:bldP spid="950" grpId="0"/>
      <p:bldP spid="952" grpId="0"/>
      <p:bldP spid="953" grpId="0"/>
      <p:bldP spid="954" grpId="0"/>
      <p:bldP spid="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69CD9-9FF6-BAA4-9568-611305E1B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4705EDB-24CD-555B-46D4-20EC22FEA863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2B6A9DA-23E9-E716-41F3-B03D7D306EFC}"/>
              </a:ext>
            </a:extLst>
          </p:cNvPr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1">
            <a:extLst>
              <a:ext uri="{FF2B5EF4-FFF2-40B4-BE49-F238E27FC236}">
                <a16:creationId xmlns:a16="http://schemas.microsoft.com/office/drawing/2014/main" id="{2CBD04A5-1D27-7A3F-AFFB-EDE0819F6150}"/>
              </a:ext>
            </a:extLst>
          </p:cNvPr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cs typeface="Whitney Bold" pitchFamily="34" charset="-120"/>
              </a:rPr>
              <a:t>The Transformer Block</a:t>
            </a:r>
            <a:endParaRPr lang="en-US" sz="280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7F1443C-176D-D51B-EB90-387223800206}"/>
              </a:ext>
            </a:extLst>
          </p:cNvPr>
          <p:cNvGrpSpPr/>
          <p:nvPr/>
        </p:nvGrpSpPr>
        <p:grpSpPr>
          <a:xfrm>
            <a:off x="2187175" y="3163193"/>
            <a:ext cx="1028072" cy="1501016"/>
            <a:chOff x="1316501" y="1782221"/>
            <a:chExt cx="975528" cy="1624783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ADB83EE2-A091-4756-0463-2A09A6FF6513}"/>
                </a:ext>
              </a:extLst>
            </p:cNvPr>
            <p:cNvSpPr/>
            <p:nvPr/>
          </p:nvSpPr>
          <p:spPr>
            <a:xfrm>
              <a:off x="1725388" y="1782221"/>
              <a:ext cx="566641" cy="1624783"/>
            </a:xfrm>
            <a:prstGeom prst="roundRect">
              <a:avLst/>
            </a:prstGeom>
            <a:solidFill>
              <a:srgbClr val="7030A0">
                <a:alpha val="25352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Arc 7">
              <a:extLst>
                <a:ext uri="{FF2B5EF4-FFF2-40B4-BE49-F238E27FC236}">
                  <a16:creationId xmlns:a16="http://schemas.microsoft.com/office/drawing/2014/main" id="{DDE61B02-F7F0-4969-1226-BF61EFB04A31}"/>
                </a:ext>
              </a:extLst>
            </p:cNvPr>
            <p:cNvSpPr/>
            <p:nvPr/>
          </p:nvSpPr>
          <p:spPr>
            <a:xfrm>
              <a:off x="1384013" y="1893093"/>
              <a:ext cx="695667" cy="857250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Arc 8">
              <a:extLst>
                <a:ext uri="{FF2B5EF4-FFF2-40B4-BE49-F238E27FC236}">
                  <a16:creationId xmlns:a16="http://schemas.microsoft.com/office/drawing/2014/main" id="{5E554D3D-0828-3C3A-35B9-88DC6D751D1B}"/>
                </a:ext>
              </a:extLst>
            </p:cNvPr>
            <p:cNvSpPr/>
            <p:nvPr/>
          </p:nvSpPr>
          <p:spPr>
            <a:xfrm>
              <a:off x="1432471" y="2166340"/>
              <a:ext cx="686759" cy="857250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Arc 9">
              <a:extLst>
                <a:ext uri="{FF2B5EF4-FFF2-40B4-BE49-F238E27FC236}">
                  <a16:creationId xmlns:a16="http://schemas.microsoft.com/office/drawing/2014/main" id="{3F3FFEFF-5E51-0C80-D986-7B0400CCD8E1}"/>
                </a:ext>
              </a:extLst>
            </p:cNvPr>
            <p:cNvSpPr/>
            <p:nvPr/>
          </p:nvSpPr>
          <p:spPr>
            <a:xfrm>
              <a:off x="1390557" y="2421449"/>
              <a:ext cx="747232" cy="857250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Arc 10">
              <a:extLst>
                <a:ext uri="{FF2B5EF4-FFF2-40B4-BE49-F238E27FC236}">
                  <a16:creationId xmlns:a16="http://schemas.microsoft.com/office/drawing/2014/main" id="{2510E5E1-76E9-A308-F371-607A03A0771D}"/>
                </a:ext>
              </a:extLst>
            </p:cNvPr>
            <p:cNvSpPr/>
            <p:nvPr/>
          </p:nvSpPr>
          <p:spPr>
            <a:xfrm>
              <a:off x="1395251" y="1896943"/>
              <a:ext cx="686759" cy="524507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Arc 12">
              <a:extLst>
                <a:ext uri="{FF2B5EF4-FFF2-40B4-BE49-F238E27FC236}">
                  <a16:creationId xmlns:a16="http://schemas.microsoft.com/office/drawing/2014/main" id="{A2DB6A65-953A-164B-87E8-0186CC01B439}"/>
                </a:ext>
              </a:extLst>
            </p:cNvPr>
            <p:cNvSpPr/>
            <p:nvPr/>
          </p:nvSpPr>
          <p:spPr>
            <a:xfrm>
              <a:off x="1324748" y="2166340"/>
              <a:ext cx="814319" cy="1112359"/>
            </a:xfrm>
            <a:prstGeom prst="arc">
              <a:avLst>
                <a:gd name="adj1" fmla="val 16401989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Arc 13">
              <a:extLst>
                <a:ext uri="{FF2B5EF4-FFF2-40B4-BE49-F238E27FC236}">
                  <a16:creationId xmlns:a16="http://schemas.microsoft.com/office/drawing/2014/main" id="{7211C10E-7053-392A-5C06-9F58E751AE61}"/>
                </a:ext>
              </a:extLst>
            </p:cNvPr>
            <p:cNvSpPr/>
            <p:nvPr/>
          </p:nvSpPr>
          <p:spPr>
            <a:xfrm>
              <a:off x="1316501" y="2421449"/>
              <a:ext cx="813041" cy="602141"/>
            </a:xfrm>
            <a:prstGeom prst="arc">
              <a:avLst>
                <a:gd name="adj1" fmla="val 16144000"/>
                <a:gd name="adj2" fmla="val 5338616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Arc 14">
              <a:extLst>
                <a:ext uri="{FF2B5EF4-FFF2-40B4-BE49-F238E27FC236}">
                  <a16:creationId xmlns:a16="http://schemas.microsoft.com/office/drawing/2014/main" id="{114899F6-71EE-91FC-9530-BA6AA37E0BB1}"/>
                </a:ext>
              </a:extLst>
            </p:cNvPr>
            <p:cNvSpPr/>
            <p:nvPr/>
          </p:nvSpPr>
          <p:spPr>
            <a:xfrm flipV="1">
              <a:off x="1431181" y="1893092"/>
              <a:ext cx="633870" cy="273248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Arc 15">
              <a:extLst>
                <a:ext uri="{FF2B5EF4-FFF2-40B4-BE49-F238E27FC236}">
                  <a16:creationId xmlns:a16="http://schemas.microsoft.com/office/drawing/2014/main" id="{C709F987-C04E-0BA3-1EC9-21CDB16B2CA6}"/>
                </a:ext>
              </a:extLst>
            </p:cNvPr>
            <p:cNvSpPr/>
            <p:nvPr/>
          </p:nvSpPr>
          <p:spPr>
            <a:xfrm>
              <a:off x="1340875" y="2766980"/>
              <a:ext cx="784957" cy="511719"/>
            </a:xfrm>
            <a:prstGeom prst="arc">
              <a:avLst>
                <a:gd name="adj1" fmla="val 16144000"/>
                <a:gd name="adj2" fmla="val 5188432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Arc 16">
              <a:extLst>
                <a:ext uri="{FF2B5EF4-FFF2-40B4-BE49-F238E27FC236}">
                  <a16:creationId xmlns:a16="http://schemas.microsoft.com/office/drawing/2014/main" id="{6EF8D43D-2EB1-DF96-CBC6-5CA7EA00AFF5}"/>
                </a:ext>
              </a:extLst>
            </p:cNvPr>
            <p:cNvSpPr/>
            <p:nvPr/>
          </p:nvSpPr>
          <p:spPr>
            <a:xfrm>
              <a:off x="1340267" y="2172573"/>
              <a:ext cx="765759" cy="577770"/>
            </a:xfrm>
            <a:prstGeom prst="arc">
              <a:avLst>
                <a:gd name="adj1" fmla="val 16144000"/>
                <a:gd name="adj2" fmla="val 5188432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DEE7E8A3-B42E-EFCE-E56C-9AF327301028}"/>
              </a:ext>
            </a:extLst>
          </p:cNvPr>
          <p:cNvSpPr txBox="1"/>
          <p:nvPr/>
        </p:nvSpPr>
        <p:spPr>
          <a:xfrm>
            <a:off x="2393828" y="982120"/>
            <a:ext cx="116443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i="1" dirty="0">
                <a:latin typeface="Arial" panose="020B0604020202020204" pitchFamily="34" charset="0"/>
                <a:cs typeface="Arial" panose="020B0604020202020204" pitchFamily="34" charset="0"/>
              </a:rPr>
              <a:t>attention head 1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3F66C42-52E7-01A7-0E52-CA15C7F887A1}"/>
              </a:ext>
            </a:extLst>
          </p:cNvPr>
          <p:cNvSpPr txBox="1"/>
          <p:nvPr/>
        </p:nvSpPr>
        <p:spPr>
          <a:xfrm>
            <a:off x="2393828" y="2940855"/>
            <a:ext cx="116443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i="1" dirty="0">
                <a:latin typeface="Arial" panose="020B0604020202020204" pitchFamily="34" charset="0"/>
                <a:cs typeface="Arial" panose="020B0604020202020204" pitchFamily="34" charset="0"/>
              </a:rPr>
              <a:t>attention head 2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70994D2-A823-DC2B-C8B5-C421684B5842}"/>
              </a:ext>
            </a:extLst>
          </p:cNvPr>
          <p:cNvSpPr/>
          <p:nvPr/>
        </p:nvSpPr>
        <p:spPr>
          <a:xfrm>
            <a:off x="1120193" y="1212029"/>
            <a:ext cx="341603" cy="3452179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CD98CDC-6F27-42D9-9BD9-887A97A5569B}"/>
              </a:ext>
            </a:extLst>
          </p:cNvPr>
          <p:cNvGrpSpPr/>
          <p:nvPr/>
        </p:nvGrpSpPr>
        <p:grpSpPr>
          <a:xfrm>
            <a:off x="2190375" y="1229799"/>
            <a:ext cx="1028072" cy="1501016"/>
            <a:chOff x="1316501" y="1782221"/>
            <a:chExt cx="975528" cy="1624783"/>
          </a:xfrm>
        </p:grpSpPr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C25AC981-609C-D7C5-A483-42C2A89BF32A}"/>
                </a:ext>
              </a:extLst>
            </p:cNvPr>
            <p:cNvSpPr/>
            <p:nvPr/>
          </p:nvSpPr>
          <p:spPr>
            <a:xfrm>
              <a:off x="1725388" y="1782221"/>
              <a:ext cx="566641" cy="1624783"/>
            </a:xfrm>
            <a:prstGeom prst="roundRect">
              <a:avLst/>
            </a:prstGeom>
            <a:solidFill>
              <a:srgbClr val="7030A0">
                <a:alpha val="25352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Arc 20">
              <a:extLst>
                <a:ext uri="{FF2B5EF4-FFF2-40B4-BE49-F238E27FC236}">
                  <a16:creationId xmlns:a16="http://schemas.microsoft.com/office/drawing/2014/main" id="{F7E39D94-478C-289C-C88E-ACFE3D2C10D1}"/>
                </a:ext>
              </a:extLst>
            </p:cNvPr>
            <p:cNvSpPr/>
            <p:nvPr/>
          </p:nvSpPr>
          <p:spPr>
            <a:xfrm>
              <a:off x="1384013" y="1893093"/>
              <a:ext cx="695667" cy="857250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Arc 21">
              <a:extLst>
                <a:ext uri="{FF2B5EF4-FFF2-40B4-BE49-F238E27FC236}">
                  <a16:creationId xmlns:a16="http://schemas.microsoft.com/office/drawing/2014/main" id="{2D893457-38FE-4873-333E-4C4878AB0DF8}"/>
                </a:ext>
              </a:extLst>
            </p:cNvPr>
            <p:cNvSpPr/>
            <p:nvPr/>
          </p:nvSpPr>
          <p:spPr>
            <a:xfrm>
              <a:off x="1432471" y="2166340"/>
              <a:ext cx="686759" cy="857250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Arc 23">
              <a:extLst>
                <a:ext uri="{FF2B5EF4-FFF2-40B4-BE49-F238E27FC236}">
                  <a16:creationId xmlns:a16="http://schemas.microsoft.com/office/drawing/2014/main" id="{81B46A64-E7F9-0747-4320-F28B1CD7691A}"/>
                </a:ext>
              </a:extLst>
            </p:cNvPr>
            <p:cNvSpPr/>
            <p:nvPr/>
          </p:nvSpPr>
          <p:spPr>
            <a:xfrm>
              <a:off x="1390557" y="2421449"/>
              <a:ext cx="747232" cy="857250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Arc 24">
              <a:extLst>
                <a:ext uri="{FF2B5EF4-FFF2-40B4-BE49-F238E27FC236}">
                  <a16:creationId xmlns:a16="http://schemas.microsoft.com/office/drawing/2014/main" id="{F2C07E6A-DE08-6B72-ABA4-637229D38C76}"/>
                </a:ext>
              </a:extLst>
            </p:cNvPr>
            <p:cNvSpPr/>
            <p:nvPr/>
          </p:nvSpPr>
          <p:spPr>
            <a:xfrm>
              <a:off x="1395251" y="1896943"/>
              <a:ext cx="686759" cy="524507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Arc 25">
              <a:extLst>
                <a:ext uri="{FF2B5EF4-FFF2-40B4-BE49-F238E27FC236}">
                  <a16:creationId xmlns:a16="http://schemas.microsoft.com/office/drawing/2014/main" id="{9023C325-3BB9-26C1-FDCB-18BC9718100C}"/>
                </a:ext>
              </a:extLst>
            </p:cNvPr>
            <p:cNvSpPr/>
            <p:nvPr/>
          </p:nvSpPr>
          <p:spPr>
            <a:xfrm>
              <a:off x="1324748" y="2166340"/>
              <a:ext cx="814319" cy="1112359"/>
            </a:xfrm>
            <a:prstGeom prst="arc">
              <a:avLst>
                <a:gd name="adj1" fmla="val 16401989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Arc 26">
              <a:extLst>
                <a:ext uri="{FF2B5EF4-FFF2-40B4-BE49-F238E27FC236}">
                  <a16:creationId xmlns:a16="http://schemas.microsoft.com/office/drawing/2014/main" id="{D81677ED-F1CE-C9BB-60D5-AAD9236064B1}"/>
                </a:ext>
              </a:extLst>
            </p:cNvPr>
            <p:cNvSpPr/>
            <p:nvPr/>
          </p:nvSpPr>
          <p:spPr>
            <a:xfrm>
              <a:off x="1316501" y="2421449"/>
              <a:ext cx="813041" cy="602141"/>
            </a:xfrm>
            <a:prstGeom prst="arc">
              <a:avLst>
                <a:gd name="adj1" fmla="val 16144000"/>
                <a:gd name="adj2" fmla="val 5338616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Arc 27">
              <a:extLst>
                <a:ext uri="{FF2B5EF4-FFF2-40B4-BE49-F238E27FC236}">
                  <a16:creationId xmlns:a16="http://schemas.microsoft.com/office/drawing/2014/main" id="{92CF6ED1-CFF5-3BCC-5217-60CEAFCA069A}"/>
                </a:ext>
              </a:extLst>
            </p:cNvPr>
            <p:cNvSpPr/>
            <p:nvPr/>
          </p:nvSpPr>
          <p:spPr>
            <a:xfrm flipV="1">
              <a:off x="1431181" y="1893092"/>
              <a:ext cx="633870" cy="273248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Arc 28">
              <a:extLst>
                <a:ext uri="{FF2B5EF4-FFF2-40B4-BE49-F238E27FC236}">
                  <a16:creationId xmlns:a16="http://schemas.microsoft.com/office/drawing/2014/main" id="{876BCC84-DCD4-8E9B-0A10-D3DD81690310}"/>
                </a:ext>
              </a:extLst>
            </p:cNvPr>
            <p:cNvSpPr/>
            <p:nvPr/>
          </p:nvSpPr>
          <p:spPr>
            <a:xfrm>
              <a:off x="1340875" y="2766980"/>
              <a:ext cx="784957" cy="511719"/>
            </a:xfrm>
            <a:prstGeom prst="arc">
              <a:avLst>
                <a:gd name="adj1" fmla="val 16144000"/>
                <a:gd name="adj2" fmla="val 5188432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Arc 29">
              <a:extLst>
                <a:ext uri="{FF2B5EF4-FFF2-40B4-BE49-F238E27FC236}">
                  <a16:creationId xmlns:a16="http://schemas.microsoft.com/office/drawing/2014/main" id="{540D7A02-63A1-8D1A-4E1E-94E8E0D1CFEB}"/>
                </a:ext>
              </a:extLst>
            </p:cNvPr>
            <p:cNvSpPr/>
            <p:nvPr/>
          </p:nvSpPr>
          <p:spPr>
            <a:xfrm>
              <a:off x="1340267" y="2172573"/>
              <a:ext cx="765759" cy="577770"/>
            </a:xfrm>
            <a:prstGeom prst="arc">
              <a:avLst>
                <a:gd name="adj1" fmla="val 16144000"/>
                <a:gd name="adj2" fmla="val 5188432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5C331A6-3318-5658-2177-A2E11729D10D}"/>
              </a:ext>
            </a:extLst>
          </p:cNvPr>
          <p:cNvCxnSpPr>
            <a:cxnSpLocks/>
          </p:cNvCxnSpPr>
          <p:nvPr/>
        </p:nvCxnSpPr>
        <p:spPr>
          <a:xfrm>
            <a:off x="720930" y="2945489"/>
            <a:ext cx="377387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EC01CE82-770E-43E7-1696-7F51C52E9A13}"/>
              </a:ext>
            </a:extLst>
          </p:cNvPr>
          <p:cNvSpPr/>
          <p:nvPr/>
        </p:nvSpPr>
        <p:spPr>
          <a:xfrm>
            <a:off x="195125" y="2630221"/>
            <a:ext cx="484543" cy="646327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1140ABD-84F0-42D4-8CDF-C111EF58A600}"/>
              </a:ext>
            </a:extLst>
          </p:cNvPr>
          <p:cNvSpPr txBox="1"/>
          <p:nvPr/>
        </p:nvSpPr>
        <p:spPr>
          <a:xfrm>
            <a:off x="125732" y="2746952"/>
            <a:ext cx="59371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i="1" dirty="0">
                <a:latin typeface="Arial" panose="020B0604020202020204" pitchFamily="34" charset="0"/>
                <a:cs typeface="Arial" panose="020B0604020202020204" pitchFamily="34" charset="0"/>
              </a:rPr>
              <a:t>Input tokens</a:t>
            </a:r>
          </a:p>
          <a:p>
            <a:pPr algn="ctr"/>
            <a:r>
              <a:rPr lang="en-US" sz="9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0A75D68-C710-9522-7F4C-66079DE0BB25}"/>
              </a:ext>
            </a:extLst>
          </p:cNvPr>
          <p:cNvSpPr txBox="1"/>
          <p:nvPr/>
        </p:nvSpPr>
        <p:spPr>
          <a:xfrm>
            <a:off x="699245" y="973609"/>
            <a:ext cx="116443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i="1" dirty="0">
                <a:latin typeface="Arial" panose="020B0604020202020204" pitchFamily="34" charset="0"/>
                <a:cs typeface="Arial" panose="020B0604020202020204" pitchFamily="34" charset="0"/>
              </a:rPr>
              <a:t>raw embeddings</a:t>
            </a:r>
          </a:p>
        </p:txBody>
      </p:sp>
      <p:cxnSp>
        <p:nvCxnSpPr>
          <p:cNvPr id="59" name="Elbow Connector 58">
            <a:extLst>
              <a:ext uri="{FF2B5EF4-FFF2-40B4-BE49-F238E27FC236}">
                <a16:creationId xmlns:a16="http://schemas.microsoft.com/office/drawing/2014/main" id="{02400C91-0402-732F-896A-21F957832D83}"/>
              </a:ext>
            </a:extLst>
          </p:cNvPr>
          <p:cNvCxnSpPr>
            <a:cxnSpLocks/>
          </p:cNvCxnSpPr>
          <p:nvPr/>
        </p:nvCxnSpPr>
        <p:spPr>
          <a:xfrm>
            <a:off x="1482845" y="2932671"/>
            <a:ext cx="1119965" cy="969805"/>
          </a:xfrm>
          <a:prstGeom prst="bentConnector3">
            <a:avLst>
              <a:gd name="adj1" fmla="val 75802"/>
            </a:avLst>
          </a:prstGeom>
          <a:ln w="63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Elbow Connector 75">
            <a:extLst>
              <a:ext uri="{FF2B5EF4-FFF2-40B4-BE49-F238E27FC236}">
                <a16:creationId xmlns:a16="http://schemas.microsoft.com/office/drawing/2014/main" id="{EEF52F42-1002-F84D-EADA-0310355FAF74}"/>
              </a:ext>
            </a:extLst>
          </p:cNvPr>
          <p:cNvCxnSpPr>
            <a:cxnSpLocks/>
          </p:cNvCxnSpPr>
          <p:nvPr/>
        </p:nvCxnSpPr>
        <p:spPr>
          <a:xfrm flipV="1">
            <a:off x="1484404" y="1989185"/>
            <a:ext cx="1119126" cy="944945"/>
          </a:xfrm>
          <a:prstGeom prst="bentConnector3">
            <a:avLst>
              <a:gd name="adj1" fmla="val 75540"/>
            </a:avLst>
          </a:prstGeom>
          <a:ln w="63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Elbow Connector 131">
            <a:extLst>
              <a:ext uri="{FF2B5EF4-FFF2-40B4-BE49-F238E27FC236}">
                <a16:creationId xmlns:a16="http://schemas.microsoft.com/office/drawing/2014/main" id="{41D231C5-AF55-B655-7565-81CC8F1FE49C}"/>
              </a:ext>
            </a:extLst>
          </p:cNvPr>
          <p:cNvCxnSpPr>
            <a:cxnSpLocks/>
            <a:stCxn id="20" idx="3"/>
            <a:endCxn id="136" idx="1"/>
          </p:cNvCxnSpPr>
          <p:nvPr/>
        </p:nvCxnSpPr>
        <p:spPr>
          <a:xfrm>
            <a:off x="3218447" y="1980307"/>
            <a:ext cx="1564682" cy="952077"/>
          </a:xfrm>
          <a:prstGeom prst="bentConnector3">
            <a:avLst>
              <a:gd name="adj1" fmla="val 33691"/>
            </a:avLst>
          </a:prstGeom>
          <a:ln w="63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Rounded Rectangle 135">
            <a:extLst>
              <a:ext uri="{FF2B5EF4-FFF2-40B4-BE49-F238E27FC236}">
                <a16:creationId xmlns:a16="http://schemas.microsoft.com/office/drawing/2014/main" id="{53F1000F-AE50-33D4-E6F9-5987AB2305AA}"/>
              </a:ext>
            </a:extLst>
          </p:cNvPr>
          <p:cNvSpPr/>
          <p:nvPr/>
        </p:nvSpPr>
        <p:spPr>
          <a:xfrm>
            <a:off x="4783129" y="1215182"/>
            <a:ext cx="273665" cy="343440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8" name="Elbow Connector 137">
            <a:extLst>
              <a:ext uri="{FF2B5EF4-FFF2-40B4-BE49-F238E27FC236}">
                <a16:creationId xmlns:a16="http://schemas.microsoft.com/office/drawing/2014/main" id="{3139E918-F107-3223-3443-B017483F7A79}"/>
              </a:ext>
            </a:extLst>
          </p:cNvPr>
          <p:cNvCxnSpPr>
            <a:cxnSpLocks/>
            <a:endCxn id="136" idx="1"/>
          </p:cNvCxnSpPr>
          <p:nvPr/>
        </p:nvCxnSpPr>
        <p:spPr>
          <a:xfrm flipV="1">
            <a:off x="3206282" y="2932384"/>
            <a:ext cx="1576847" cy="972352"/>
          </a:xfrm>
          <a:prstGeom prst="bentConnector3">
            <a:avLst>
              <a:gd name="adj1" fmla="val 34266"/>
            </a:avLst>
          </a:prstGeom>
          <a:ln w="63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9099AB51-A381-52FC-2E67-2D593CEC3D94}"/>
              </a:ext>
            </a:extLst>
          </p:cNvPr>
          <p:cNvCxnSpPr>
            <a:cxnSpLocks/>
          </p:cNvCxnSpPr>
          <p:nvPr/>
        </p:nvCxnSpPr>
        <p:spPr>
          <a:xfrm>
            <a:off x="5066567" y="2929115"/>
            <a:ext cx="1178785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TextBox 157">
            <a:extLst>
              <a:ext uri="{FF2B5EF4-FFF2-40B4-BE49-F238E27FC236}">
                <a16:creationId xmlns:a16="http://schemas.microsoft.com/office/drawing/2014/main" id="{83DD59C8-F902-A7F9-7805-12EA5FE72D4A}"/>
              </a:ext>
            </a:extLst>
          </p:cNvPr>
          <p:cNvSpPr txBox="1"/>
          <p:nvPr/>
        </p:nvSpPr>
        <p:spPr>
          <a:xfrm>
            <a:off x="4337745" y="982120"/>
            <a:ext cx="116443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i="1" dirty="0">
                <a:latin typeface="Arial" panose="020B0604020202020204" pitchFamily="34" charset="0"/>
                <a:cs typeface="Arial" panose="020B0604020202020204" pitchFamily="34" charset="0"/>
              </a:rPr>
              <a:t>dense layer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F173450-5B03-9AD8-F677-A0A6FA751508}"/>
              </a:ext>
            </a:extLst>
          </p:cNvPr>
          <p:cNvSpPr txBox="1"/>
          <p:nvPr/>
        </p:nvSpPr>
        <p:spPr>
          <a:xfrm>
            <a:off x="7505145" y="4816084"/>
            <a:ext cx="16388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 dimensions</a:t>
            </a:r>
          </a:p>
          <a:p>
            <a:endParaRPr lang="en-US" sz="12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2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272A86C-E264-67F2-EE0F-24D175C3D22D}"/>
              </a:ext>
            </a:extLst>
          </p:cNvPr>
          <p:cNvSpPr txBox="1"/>
          <p:nvPr/>
        </p:nvSpPr>
        <p:spPr>
          <a:xfrm>
            <a:off x="52473" y="3282714"/>
            <a:ext cx="7558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2774A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 words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E7F120A-AA8E-A03F-3E94-D4816AB662CE}"/>
              </a:ext>
            </a:extLst>
          </p:cNvPr>
          <p:cNvSpPr txBox="1"/>
          <p:nvPr/>
        </p:nvSpPr>
        <p:spPr>
          <a:xfrm>
            <a:off x="913070" y="4641019"/>
            <a:ext cx="7558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2774A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 x 256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6063C04-2B58-7C72-06E1-233104E5F5EC}"/>
              </a:ext>
            </a:extLst>
          </p:cNvPr>
          <p:cNvSpPr txBox="1"/>
          <p:nvPr/>
        </p:nvSpPr>
        <p:spPr>
          <a:xfrm>
            <a:off x="1969647" y="3893035"/>
            <a:ext cx="7558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2774A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 x 128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364D681-C18C-2708-0D83-6CB96D63339D}"/>
              </a:ext>
            </a:extLst>
          </p:cNvPr>
          <p:cNvSpPr txBox="1"/>
          <p:nvPr/>
        </p:nvSpPr>
        <p:spPr>
          <a:xfrm>
            <a:off x="1964448" y="1760803"/>
            <a:ext cx="7558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2774A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 x 128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D1376D5-1F4A-5575-1425-0F2007150556}"/>
              </a:ext>
            </a:extLst>
          </p:cNvPr>
          <p:cNvSpPr txBox="1"/>
          <p:nvPr/>
        </p:nvSpPr>
        <p:spPr>
          <a:xfrm>
            <a:off x="3861872" y="2708067"/>
            <a:ext cx="7558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2774A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 x 256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14F4801-89D7-5E17-3B1E-AC61954F779E}"/>
              </a:ext>
            </a:extLst>
          </p:cNvPr>
          <p:cNvSpPr txBox="1"/>
          <p:nvPr/>
        </p:nvSpPr>
        <p:spPr>
          <a:xfrm>
            <a:off x="5252150" y="2706028"/>
            <a:ext cx="7558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2774A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 x 256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ACCC0E0-9B9B-98F3-9060-756D3FC80BAA}"/>
              </a:ext>
            </a:extLst>
          </p:cNvPr>
          <p:cNvSpPr txBox="1"/>
          <p:nvPr/>
        </p:nvSpPr>
        <p:spPr>
          <a:xfrm>
            <a:off x="3124713" y="1768625"/>
            <a:ext cx="7558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2774A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 x 128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F8F55FE-5362-3647-B732-2DED72DAE708}"/>
              </a:ext>
            </a:extLst>
          </p:cNvPr>
          <p:cNvSpPr txBox="1"/>
          <p:nvPr/>
        </p:nvSpPr>
        <p:spPr>
          <a:xfrm>
            <a:off x="3138731" y="3898148"/>
            <a:ext cx="7558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2774A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 x 128</a:t>
            </a:r>
          </a:p>
        </p:txBody>
      </p:sp>
    </p:spTree>
    <p:extLst>
      <p:ext uri="{BB962C8B-B14F-4D97-AF65-F5344CB8AC3E}">
        <p14:creationId xmlns:p14="http://schemas.microsoft.com/office/powerpoint/2010/main" val="634349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FD288-D85C-7F6F-A367-5304E4599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TextBox 225">
            <a:extLst>
              <a:ext uri="{FF2B5EF4-FFF2-40B4-BE49-F238E27FC236}">
                <a16:creationId xmlns:a16="http://schemas.microsoft.com/office/drawing/2014/main" id="{61F029D0-D9B0-BC74-D8C7-E3F32B4B0AA5}"/>
              </a:ext>
            </a:extLst>
          </p:cNvPr>
          <p:cNvSpPr txBox="1"/>
          <p:nvPr/>
        </p:nvSpPr>
        <p:spPr>
          <a:xfrm rot="16200000">
            <a:off x="846781" y="3322784"/>
            <a:ext cx="24058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transformer block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E538C10-6AD9-6746-5D7C-D5C799C18DF8}"/>
              </a:ext>
            </a:extLst>
          </p:cNvPr>
          <p:cNvSpPr/>
          <p:nvPr/>
        </p:nvSpPr>
        <p:spPr>
          <a:xfrm>
            <a:off x="1503474" y="2232167"/>
            <a:ext cx="582177" cy="282892"/>
          </a:xfrm>
          <a:prstGeom prst="round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196CA00-8560-3E56-CF23-8857D3389864}"/>
              </a:ext>
            </a:extLst>
          </p:cNvPr>
          <p:cNvSpPr txBox="1"/>
          <p:nvPr/>
        </p:nvSpPr>
        <p:spPr>
          <a:xfrm>
            <a:off x="1743906" y="2506501"/>
            <a:ext cx="25529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A6791D5A-8CA8-6846-4952-87166DC4ED68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6F61F27-5EB5-D921-5B2A-498B58C07ECB}"/>
              </a:ext>
            </a:extLst>
          </p:cNvPr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1">
            <a:extLst>
              <a:ext uri="{FF2B5EF4-FFF2-40B4-BE49-F238E27FC236}">
                <a16:creationId xmlns:a16="http://schemas.microsoft.com/office/drawing/2014/main" id="{10E8A0D3-66F9-8AD1-FADE-7B76046B1596}"/>
              </a:ext>
            </a:extLst>
          </p:cNvPr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cs typeface="Whitney Bold" pitchFamily="34" charset="-120"/>
              </a:rPr>
              <a:t>The Transformer Block</a:t>
            </a:r>
            <a:endParaRPr lang="en-US" sz="280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8B7BAB1-94D4-1992-5EBC-82656EA9B4B6}"/>
              </a:ext>
            </a:extLst>
          </p:cNvPr>
          <p:cNvGrpSpPr/>
          <p:nvPr/>
        </p:nvGrpSpPr>
        <p:grpSpPr>
          <a:xfrm>
            <a:off x="2187175" y="3163193"/>
            <a:ext cx="1028072" cy="1501016"/>
            <a:chOff x="1316501" y="1782221"/>
            <a:chExt cx="975528" cy="1624783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D25F7D93-DA46-1CD8-9C78-59FA10DE4EFB}"/>
                </a:ext>
              </a:extLst>
            </p:cNvPr>
            <p:cNvSpPr/>
            <p:nvPr/>
          </p:nvSpPr>
          <p:spPr>
            <a:xfrm>
              <a:off x="1725388" y="1782221"/>
              <a:ext cx="566641" cy="1624783"/>
            </a:xfrm>
            <a:prstGeom prst="roundRect">
              <a:avLst/>
            </a:prstGeom>
            <a:solidFill>
              <a:srgbClr val="7030A0">
                <a:alpha val="25352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Arc 7">
              <a:extLst>
                <a:ext uri="{FF2B5EF4-FFF2-40B4-BE49-F238E27FC236}">
                  <a16:creationId xmlns:a16="http://schemas.microsoft.com/office/drawing/2014/main" id="{D282150D-B77E-0326-1D4F-3EF4F731A832}"/>
                </a:ext>
              </a:extLst>
            </p:cNvPr>
            <p:cNvSpPr/>
            <p:nvPr/>
          </p:nvSpPr>
          <p:spPr>
            <a:xfrm>
              <a:off x="1384013" y="1893093"/>
              <a:ext cx="695667" cy="857250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Arc 8">
              <a:extLst>
                <a:ext uri="{FF2B5EF4-FFF2-40B4-BE49-F238E27FC236}">
                  <a16:creationId xmlns:a16="http://schemas.microsoft.com/office/drawing/2014/main" id="{D97A5FC1-016E-C9A8-388E-D0BC67476666}"/>
                </a:ext>
              </a:extLst>
            </p:cNvPr>
            <p:cNvSpPr/>
            <p:nvPr/>
          </p:nvSpPr>
          <p:spPr>
            <a:xfrm>
              <a:off x="1432471" y="2166340"/>
              <a:ext cx="686759" cy="857250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Arc 9">
              <a:extLst>
                <a:ext uri="{FF2B5EF4-FFF2-40B4-BE49-F238E27FC236}">
                  <a16:creationId xmlns:a16="http://schemas.microsoft.com/office/drawing/2014/main" id="{9172174A-54D2-B168-7C50-3D68DC158B7E}"/>
                </a:ext>
              </a:extLst>
            </p:cNvPr>
            <p:cNvSpPr/>
            <p:nvPr/>
          </p:nvSpPr>
          <p:spPr>
            <a:xfrm>
              <a:off x="1390557" y="2421449"/>
              <a:ext cx="747232" cy="857250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Arc 10">
              <a:extLst>
                <a:ext uri="{FF2B5EF4-FFF2-40B4-BE49-F238E27FC236}">
                  <a16:creationId xmlns:a16="http://schemas.microsoft.com/office/drawing/2014/main" id="{4EE57BFB-931D-8165-913E-6E21EA825AA5}"/>
                </a:ext>
              </a:extLst>
            </p:cNvPr>
            <p:cNvSpPr/>
            <p:nvPr/>
          </p:nvSpPr>
          <p:spPr>
            <a:xfrm>
              <a:off x="1395251" y="1896943"/>
              <a:ext cx="686759" cy="524507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Arc 12">
              <a:extLst>
                <a:ext uri="{FF2B5EF4-FFF2-40B4-BE49-F238E27FC236}">
                  <a16:creationId xmlns:a16="http://schemas.microsoft.com/office/drawing/2014/main" id="{7B0920DD-3346-EC72-1023-E7EC43C44B97}"/>
                </a:ext>
              </a:extLst>
            </p:cNvPr>
            <p:cNvSpPr/>
            <p:nvPr/>
          </p:nvSpPr>
          <p:spPr>
            <a:xfrm>
              <a:off x="1324748" y="2166340"/>
              <a:ext cx="814319" cy="1112359"/>
            </a:xfrm>
            <a:prstGeom prst="arc">
              <a:avLst>
                <a:gd name="adj1" fmla="val 16401989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Arc 13">
              <a:extLst>
                <a:ext uri="{FF2B5EF4-FFF2-40B4-BE49-F238E27FC236}">
                  <a16:creationId xmlns:a16="http://schemas.microsoft.com/office/drawing/2014/main" id="{39DFF429-3F26-FA21-B7ED-67892EF4E655}"/>
                </a:ext>
              </a:extLst>
            </p:cNvPr>
            <p:cNvSpPr/>
            <p:nvPr/>
          </p:nvSpPr>
          <p:spPr>
            <a:xfrm>
              <a:off x="1316501" y="2421449"/>
              <a:ext cx="813041" cy="602141"/>
            </a:xfrm>
            <a:prstGeom prst="arc">
              <a:avLst>
                <a:gd name="adj1" fmla="val 16144000"/>
                <a:gd name="adj2" fmla="val 5338616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Arc 14">
              <a:extLst>
                <a:ext uri="{FF2B5EF4-FFF2-40B4-BE49-F238E27FC236}">
                  <a16:creationId xmlns:a16="http://schemas.microsoft.com/office/drawing/2014/main" id="{E7FFA209-4CD3-BEAC-2BCB-2C39B31C8D2B}"/>
                </a:ext>
              </a:extLst>
            </p:cNvPr>
            <p:cNvSpPr/>
            <p:nvPr/>
          </p:nvSpPr>
          <p:spPr>
            <a:xfrm flipV="1">
              <a:off x="1431181" y="1893092"/>
              <a:ext cx="633870" cy="273248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Arc 15">
              <a:extLst>
                <a:ext uri="{FF2B5EF4-FFF2-40B4-BE49-F238E27FC236}">
                  <a16:creationId xmlns:a16="http://schemas.microsoft.com/office/drawing/2014/main" id="{8C0A5838-B736-C04D-2139-A10775AA673A}"/>
                </a:ext>
              </a:extLst>
            </p:cNvPr>
            <p:cNvSpPr/>
            <p:nvPr/>
          </p:nvSpPr>
          <p:spPr>
            <a:xfrm>
              <a:off x="1340875" y="2766980"/>
              <a:ext cx="784957" cy="511719"/>
            </a:xfrm>
            <a:prstGeom prst="arc">
              <a:avLst>
                <a:gd name="adj1" fmla="val 16144000"/>
                <a:gd name="adj2" fmla="val 5188432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Arc 16">
              <a:extLst>
                <a:ext uri="{FF2B5EF4-FFF2-40B4-BE49-F238E27FC236}">
                  <a16:creationId xmlns:a16="http://schemas.microsoft.com/office/drawing/2014/main" id="{7F1918F3-0FB1-E04C-52AF-960A612BF6C2}"/>
                </a:ext>
              </a:extLst>
            </p:cNvPr>
            <p:cNvSpPr/>
            <p:nvPr/>
          </p:nvSpPr>
          <p:spPr>
            <a:xfrm>
              <a:off x="1340267" y="2172573"/>
              <a:ext cx="765759" cy="577770"/>
            </a:xfrm>
            <a:prstGeom prst="arc">
              <a:avLst>
                <a:gd name="adj1" fmla="val 16144000"/>
                <a:gd name="adj2" fmla="val 5188432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65046D91-7B6F-E010-E687-EAB09FFE9692}"/>
              </a:ext>
            </a:extLst>
          </p:cNvPr>
          <p:cNvSpPr txBox="1"/>
          <p:nvPr/>
        </p:nvSpPr>
        <p:spPr>
          <a:xfrm>
            <a:off x="2393828" y="982120"/>
            <a:ext cx="116443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i="1" dirty="0">
                <a:latin typeface="Arial" panose="020B0604020202020204" pitchFamily="34" charset="0"/>
                <a:cs typeface="Arial" panose="020B0604020202020204" pitchFamily="34" charset="0"/>
              </a:rPr>
              <a:t>attention head 1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8F6D47F-81EE-E087-C6A2-87AB4F51A429}"/>
              </a:ext>
            </a:extLst>
          </p:cNvPr>
          <p:cNvSpPr txBox="1"/>
          <p:nvPr/>
        </p:nvSpPr>
        <p:spPr>
          <a:xfrm>
            <a:off x="2393828" y="2940855"/>
            <a:ext cx="116443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i="1" dirty="0">
                <a:latin typeface="Arial" panose="020B0604020202020204" pitchFamily="34" charset="0"/>
                <a:cs typeface="Arial" panose="020B0604020202020204" pitchFamily="34" charset="0"/>
              </a:rPr>
              <a:t>attention head 2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7FA1BEE-CFDE-9BE1-141B-CCE3EC4C0011}"/>
              </a:ext>
            </a:extLst>
          </p:cNvPr>
          <p:cNvSpPr/>
          <p:nvPr/>
        </p:nvSpPr>
        <p:spPr>
          <a:xfrm>
            <a:off x="1120193" y="1212029"/>
            <a:ext cx="341603" cy="3452179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356C4DC-B37A-1311-3B91-60E3AB9EEE5B}"/>
              </a:ext>
            </a:extLst>
          </p:cNvPr>
          <p:cNvGrpSpPr/>
          <p:nvPr/>
        </p:nvGrpSpPr>
        <p:grpSpPr>
          <a:xfrm>
            <a:off x="2190375" y="1229799"/>
            <a:ext cx="1028072" cy="1501016"/>
            <a:chOff x="1316501" y="1782221"/>
            <a:chExt cx="975528" cy="1624783"/>
          </a:xfrm>
        </p:grpSpPr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17FAD622-7423-9266-A385-D66888DAB311}"/>
                </a:ext>
              </a:extLst>
            </p:cNvPr>
            <p:cNvSpPr/>
            <p:nvPr/>
          </p:nvSpPr>
          <p:spPr>
            <a:xfrm>
              <a:off x="1725388" y="1782221"/>
              <a:ext cx="566641" cy="1624783"/>
            </a:xfrm>
            <a:prstGeom prst="roundRect">
              <a:avLst/>
            </a:prstGeom>
            <a:solidFill>
              <a:srgbClr val="7030A0">
                <a:alpha val="25352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Arc 20">
              <a:extLst>
                <a:ext uri="{FF2B5EF4-FFF2-40B4-BE49-F238E27FC236}">
                  <a16:creationId xmlns:a16="http://schemas.microsoft.com/office/drawing/2014/main" id="{9058B1DA-E057-B369-972F-76E3C6C65892}"/>
                </a:ext>
              </a:extLst>
            </p:cNvPr>
            <p:cNvSpPr/>
            <p:nvPr/>
          </p:nvSpPr>
          <p:spPr>
            <a:xfrm>
              <a:off x="1384013" y="1893093"/>
              <a:ext cx="695667" cy="857250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Arc 21">
              <a:extLst>
                <a:ext uri="{FF2B5EF4-FFF2-40B4-BE49-F238E27FC236}">
                  <a16:creationId xmlns:a16="http://schemas.microsoft.com/office/drawing/2014/main" id="{5CF53C80-3FCD-EE11-B975-5EDBF8E8349C}"/>
                </a:ext>
              </a:extLst>
            </p:cNvPr>
            <p:cNvSpPr/>
            <p:nvPr/>
          </p:nvSpPr>
          <p:spPr>
            <a:xfrm>
              <a:off x="1432471" y="2166340"/>
              <a:ext cx="686759" cy="857250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Arc 23">
              <a:extLst>
                <a:ext uri="{FF2B5EF4-FFF2-40B4-BE49-F238E27FC236}">
                  <a16:creationId xmlns:a16="http://schemas.microsoft.com/office/drawing/2014/main" id="{85DD811A-51EA-172B-6209-30E541DAD589}"/>
                </a:ext>
              </a:extLst>
            </p:cNvPr>
            <p:cNvSpPr/>
            <p:nvPr/>
          </p:nvSpPr>
          <p:spPr>
            <a:xfrm>
              <a:off x="1390557" y="2421449"/>
              <a:ext cx="747232" cy="857250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Arc 24">
              <a:extLst>
                <a:ext uri="{FF2B5EF4-FFF2-40B4-BE49-F238E27FC236}">
                  <a16:creationId xmlns:a16="http://schemas.microsoft.com/office/drawing/2014/main" id="{A1687150-929A-3F37-0CDD-8BB1E915C5D8}"/>
                </a:ext>
              </a:extLst>
            </p:cNvPr>
            <p:cNvSpPr/>
            <p:nvPr/>
          </p:nvSpPr>
          <p:spPr>
            <a:xfrm>
              <a:off x="1395251" y="1896943"/>
              <a:ext cx="686759" cy="524507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Arc 25">
              <a:extLst>
                <a:ext uri="{FF2B5EF4-FFF2-40B4-BE49-F238E27FC236}">
                  <a16:creationId xmlns:a16="http://schemas.microsoft.com/office/drawing/2014/main" id="{C37CB543-DFC3-CE4E-739C-418C073CBFD6}"/>
                </a:ext>
              </a:extLst>
            </p:cNvPr>
            <p:cNvSpPr/>
            <p:nvPr/>
          </p:nvSpPr>
          <p:spPr>
            <a:xfrm>
              <a:off x="1324748" y="2166340"/>
              <a:ext cx="814319" cy="1112359"/>
            </a:xfrm>
            <a:prstGeom prst="arc">
              <a:avLst>
                <a:gd name="adj1" fmla="val 16401989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Arc 26">
              <a:extLst>
                <a:ext uri="{FF2B5EF4-FFF2-40B4-BE49-F238E27FC236}">
                  <a16:creationId xmlns:a16="http://schemas.microsoft.com/office/drawing/2014/main" id="{7CBF31C0-2633-1CD4-82D7-24BD45121B6B}"/>
                </a:ext>
              </a:extLst>
            </p:cNvPr>
            <p:cNvSpPr/>
            <p:nvPr/>
          </p:nvSpPr>
          <p:spPr>
            <a:xfrm>
              <a:off x="1316501" y="2421449"/>
              <a:ext cx="813041" cy="602141"/>
            </a:xfrm>
            <a:prstGeom prst="arc">
              <a:avLst>
                <a:gd name="adj1" fmla="val 16144000"/>
                <a:gd name="adj2" fmla="val 5338616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Arc 27">
              <a:extLst>
                <a:ext uri="{FF2B5EF4-FFF2-40B4-BE49-F238E27FC236}">
                  <a16:creationId xmlns:a16="http://schemas.microsoft.com/office/drawing/2014/main" id="{913ED85F-2CCB-2782-8A6E-E721F4014C74}"/>
                </a:ext>
              </a:extLst>
            </p:cNvPr>
            <p:cNvSpPr/>
            <p:nvPr/>
          </p:nvSpPr>
          <p:spPr>
            <a:xfrm flipV="1">
              <a:off x="1431181" y="1893092"/>
              <a:ext cx="633870" cy="273248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Arc 28">
              <a:extLst>
                <a:ext uri="{FF2B5EF4-FFF2-40B4-BE49-F238E27FC236}">
                  <a16:creationId xmlns:a16="http://schemas.microsoft.com/office/drawing/2014/main" id="{2AA51229-E8A6-1C4F-8897-6982302EC4CE}"/>
                </a:ext>
              </a:extLst>
            </p:cNvPr>
            <p:cNvSpPr/>
            <p:nvPr/>
          </p:nvSpPr>
          <p:spPr>
            <a:xfrm>
              <a:off x="1340875" y="2766980"/>
              <a:ext cx="784957" cy="511719"/>
            </a:xfrm>
            <a:prstGeom prst="arc">
              <a:avLst>
                <a:gd name="adj1" fmla="val 16144000"/>
                <a:gd name="adj2" fmla="val 5188432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Arc 29">
              <a:extLst>
                <a:ext uri="{FF2B5EF4-FFF2-40B4-BE49-F238E27FC236}">
                  <a16:creationId xmlns:a16="http://schemas.microsoft.com/office/drawing/2014/main" id="{D5C93E43-BAD5-5EC5-AC6C-6904A52F22C6}"/>
                </a:ext>
              </a:extLst>
            </p:cNvPr>
            <p:cNvSpPr/>
            <p:nvPr/>
          </p:nvSpPr>
          <p:spPr>
            <a:xfrm>
              <a:off x="1340267" y="2172573"/>
              <a:ext cx="765759" cy="577770"/>
            </a:xfrm>
            <a:prstGeom prst="arc">
              <a:avLst>
                <a:gd name="adj1" fmla="val 16144000"/>
                <a:gd name="adj2" fmla="val 5188432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CDD268A-FEEE-376A-3F27-0A15F553B5D6}"/>
              </a:ext>
            </a:extLst>
          </p:cNvPr>
          <p:cNvCxnSpPr>
            <a:cxnSpLocks/>
          </p:cNvCxnSpPr>
          <p:nvPr/>
        </p:nvCxnSpPr>
        <p:spPr>
          <a:xfrm>
            <a:off x="720930" y="2945489"/>
            <a:ext cx="377387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3C8F7F4D-72AF-7A18-5ECB-6ADA06A8049E}"/>
              </a:ext>
            </a:extLst>
          </p:cNvPr>
          <p:cNvSpPr/>
          <p:nvPr/>
        </p:nvSpPr>
        <p:spPr>
          <a:xfrm>
            <a:off x="195125" y="2630221"/>
            <a:ext cx="484543" cy="646327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64771AF-CD3B-FBEE-B898-1CEDA57EFAF3}"/>
              </a:ext>
            </a:extLst>
          </p:cNvPr>
          <p:cNvSpPr txBox="1"/>
          <p:nvPr/>
        </p:nvSpPr>
        <p:spPr>
          <a:xfrm>
            <a:off x="125732" y="2746952"/>
            <a:ext cx="59371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i="1" dirty="0">
                <a:latin typeface="Arial" panose="020B0604020202020204" pitchFamily="34" charset="0"/>
                <a:cs typeface="Arial" panose="020B0604020202020204" pitchFamily="34" charset="0"/>
              </a:rPr>
              <a:t>Input tokens</a:t>
            </a:r>
          </a:p>
          <a:p>
            <a:pPr algn="ctr"/>
            <a:r>
              <a:rPr lang="en-US" sz="9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FBE8555-EAEF-0011-3CD0-89FAB3B005A5}"/>
              </a:ext>
            </a:extLst>
          </p:cNvPr>
          <p:cNvSpPr txBox="1"/>
          <p:nvPr/>
        </p:nvSpPr>
        <p:spPr>
          <a:xfrm>
            <a:off x="699245" y="973609"/>
            <a:ext cx="116443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i="1" dirty="0">
                <a:latin typeface="Arial" panose="020B0604020202020204" pitchFamily="34" charset="0"/>
                <a:cs typeface="Arial" panose="020B0604020202020204" pitchFamily="34" charset="0"/>
              </a:rPr>
              <a:t>raw embeddings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AACE59-0964-8E05-937F-EB8FB0FD1E52}"/>
              </a:ext>
            </a:extLst>
          </p:cNvPr>
          <p:cNvSpPr txBox="1"/>
          <p:nvPr/>
        </p:nvSpPr>
        <p:spPr>
          <a:xfrm>
            <a:off x="1507846" y="2234221"/>
            <a:ext cx="5824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i="1" dirty="0">
                <a:latin typeface="Arial" panose="020B0604020202020204" pitchFamily="34" charset="0"/>
                <a:cs typeface="Arial" panose="020B0604020202020204" pitchFamily="34" charset="0"/>
              </a:rPr>
              <a:t>positional embedding</a:t>
            </a:r>
          </a:p>
        </p:txBody>
      </p:sp>
      <p:cxnSp>
        <p:nvCxnSpPr>
          <p:cNvPr id="59" name="Elbow Connector 58">
            <a:extLst>
              <a:ext uri="{FF2B5EF4-FFF2-40B4-BE49-F238E27FC236}">
                <a16:creationId xmlns:a16="http://schemas.microsoft.com/office/drawing/2014/main" id="{98B8CD7E-A430-3F27-1DAE-907E8EA28988}"/>
              </a:ext>
            </a:extLst>
          </p:cNvPr>
          <p:cNvCxnSpPr>
            <a:cxnSpLocks/>
          </p:cNvCxnSpPr>
          <p:nvPr/>
        </p:nvCxnSpPr>
        <p:spPr>
          <a:xfrm>
            <a:off x="1482845" y="2932671"/>
            <a:ext cx="1119965" cy="969805"/>
          </a:xfrm>
          <a:prstGeom prst="bentConnector3">
            <a:avLst>
              <a:gd name="adj1" fmla="val 75802"/>
            </a:avLst>
          </a:prstGeom>
          <a:ln w="63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Elbow Connector 75">
            <a:extLst>
              <a:ext uri="{FF2B5EF4-FFF2-40B4-BE49-F238E27FC236}">
                <a16:creationId xmlns:a16="http://schemas.microsoft.com/office/drawing/2014/main" id="{AA8DB87C-E80F-E10C-9F7D-F0AC895C0297}"/>
              </a:ext>
            </a:extLst>
          </p:cNvPr>
          <p:cNvCxnSpPr>
            <a:cxnSpLocks/>
          </p:cNvCxnSpPr>
          <p:nvPr/>
        </p:nvCxnSpPr>
        <p:spPr>
          <a:xfrm flipV="1">
            <a:off x="1484404" y="1989185"/>
            <a:ext cx="1119126" cy="944945"/>
          </a:xfrm>
          <a:prstGeom prst="bentConnector3">
            <a:avLst>
              <a:gd name="adj1" fmla="val 75540"/>
            </a:avLst>
          </a:prstGeom>
          <a:ln w="63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DF3C5397-045D-8E96-2C5D-37E0623FA626}"/>
              </a:ext>
            </a:extLst>
          </p:cNvPr>
          <p:cNvCxnSpPr>
            <a:cxnSpLocks/>
          </p:cNvCxnSpPr>
          <p:nvPr/>
        </p:nvCxnSpPr>
        <p:spPr>
          <a:xfrm>
            <a:off x="1797495" y="2521409"/>
            <a:ext cx="2070" cy="401073"/>
          </a:xfrm>
          <a:prstGeom prst="straightConnector1">
            <a:avLst/>
          </a:prstGeom>
          <a:ln w="63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 4">
            <a:extLst>
              <a:ext uri="{FF2B5EF4-FFF2-40B4-BE49-F238E27FC236}">
                <a16:creationId xmlns:a16="http://schemas.microsoft.com/office/drawing/2014/main" id="{32D1E724-0EBB-160F-803D-8840684EB40D}"/>
              </a:ext>
            </a:extLst>
          </p:cNvPr>
          <p:cNvSpPr/>
          <p:nvPr/>
        </p:nvSpPr>
        <p:spPr>
          <a:xfrm>
            <a:off x="6575727" y="1315799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  <a:latin typeface="Arial" pitchFamily="34" charset="0"/>
                <a:cs typeface="Arial" pitchFamily="34" charset="-120"/>
              </a:rPr>
              <a:t>    Positional embedding</a:t>
            </a:r>
            <a:endParaRPr lang="en-US" sz="1200" dirty="0">
              <a:solidFill>
                <a:schemeClr val="accent1"/>
              </a:solidFill>
            </a:endParaRPr>
          </a:p>
        </p:txBody>
      </p:sp>
      <p:sp>
        <p:nvSpPr>
          <p:cNvPr id="90" name="Text 5">
            <a:extLst>
              <a:ext uri="{FF2B5EF4-FFF2-40B4-BE49-F238E27FC236}">
                <a16:creationId xmlns:a16="http://schemas.microsoft.com/office/drawing/2014/main" id="{C65DB292-3BFC-B181-FBCA-86C5E2AA8891}"/>
              </a:ext>
            </a:extLst>
          </p:cNvPr>
          <p:cNvSpPr/>
          <p:nvPr/>
        </p:nvSpPr>
        <p:spPr>
          <a:xfrm>
            <a:off x="6750721" y="1747475"/>
            <a:ext cx="2149799" cy="394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Arial" pitchFamily="34" charset="0"/>
                <a:ea typeface="Arial" pitchFamily="34" charset="-122"/>
                <a:cs typeface="Arial" pitchFamily="34" charset="-120"/>
              </a:rPr>
              <a:t>Makes model aware of token positions.</a:t>
            </a:r>
            <a:endParaRPr lang="en-US" sz="1100" dirty="0"/>
          </a:p>
        </p:txBody>
      </p:sp>
      <p:sp>
        <p:nvSpPr>
          <p:cNvPr id="92" name="Text 7">
            <a:extLst>
              <a:ext uri="{FF2B5EF4-FFF2-40B4-BE49-F238E27FC236}">
                <a16:creationId xmlns:a16="http://schemas.microsoft.com/office/drawing/2014/main" id="{0B918F1F-0FEF-DF5E-FFFB-2473D31C8324}"/>
              </a:ext>
            </a:extLst>
          </p:cNvPr>
          <p:cNvSpPr/>
          <p:nvPr/>
        </p:nvSpPr>
        <p:spPr>
          <a:xfrm>
            <a:off x="6730227" y="2116724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 connection</a:t>
            </a:r>
            <a:endParaRPr lang="en-US" sz="1200" dirty="0">
              <a:solidFill>
                <a:schemeClr val="accent1"/>
              </a:solidFill>
            </a:endParaRPr>
          </a:p>
        </p:txBody>
      </p:sp>
      <p:sp>
        <p:nvSpPr>
          <p:cNvPr id="93" name="Text 8">
            <a:extLst>
              <a:ext uri="{FF2B5EF4-FFF2-40B4-BE49-F238E27FC236}">
                <a16:creationId xmlns:a16="http://schemas.microsoft.com/office/drawing/2014/main" id="{F2843033-0B0C-5F9B-FD13-1C31012D57E2}"/>
              </a:ext>
            </a:extLst>
          </p:cNvPr>
          <p:cNvSpPr/>
          <p:nvPr/>
        </p:nvSpPr>
        <p:spPr>
          <a:xfrm>
            <a:off x="6719836" y="2712864"/>
            <a:ext cx="2149799" cy="426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Arial" pitchFamily="34" charset="0"/>
                <a:ea typeface="Arial" pitchFamily="34" charset="-122"/>
                <a:cs typeface="Arial" pitchFamily="34" charset="-120"/>
              </a:rPr>
              <a:t>Add original input embeddings to output of attention head and dense layer; passes original input forward.</a:t>
            </a:r>
            <a:endParaRPr lang="en-US" sz="1100" dirty="0"/>
          </a:p>
        </p:txBody>
      </p:sp>
      <p:sp>
        <p:nvSpPr>
          <p:cNvPr id="95" name="Text 10">
            <a:extLst>
              <a:ext uri="{FF2B5EF4-FFF2-40B4-BE49-F238E27FC236}">
                <a16:creationId xmlns:a16="http://schemas.microsoft.com/office/drawing/2014/main" id="{EC3775E2-13A4-BA0D-41A3-DB47935FA403}"/>
              </a:ext>
            </a:extLst>
          </p:cNvPr>
          <p:cNvSpPr/>
          <p:nvPr/>
        </p:nvSpPr>
        <p:spPr>
          <a:xfrm>
            <a:off x="6730227" y="3249374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Normalization</a:t>
            </a:r>
            <a:endParaRPr lang="en-US" sz="1200" dirty="0">
              <a:solidFill>
                <a:schemeClr val="accent1"/>
              </a:solidFill>
            </a:endParaRPr>
          </a:p>
        </p:txBody>
      </p:sp>
      <p:sp>
        <p:nvSpPr>
          <p:cNvPr id="96" name="Text 11">
            <a:extLst>
              <a:ext uri="{FF2B5EF4-FFF2-40B4-BE49-F238E27FC236}">
                <a16:creationId xmlns:a16="http://schemas.microsoft.com/office/drawing/2014/main" id="{27A7E71F-2D8E-98B5-DDBB-1D7866B30132}"/>
              </a:ext>
            </a:extLst>
          </p:cNvPr>
          <p:cNvSpPr/>
          <p:nvPr/>
        </p:nvSpPr>
        <p:spPr>
          <a:xfrm>
            <a:off x="6743400" y="3691382"/>
            <a:ext cx="230795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Arial" pitchFamily="34" charset="0"/>
                <a:ea typeface="Arial" pitchFamily="34" charset="-122"/>
                <a:cs typeface="Arial" pitchFamily="34" charset="-120"/>
              </a:rPr>
              <a:t>Keeps values within a reasonable range to improve stability of gradients and backprop.</a:t>
            </a:r>
            <a:endParaRPr lang="en-US" sz="1100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4DD490BA-98DE-047B-DC4B-18F509504AAA}"/>
              </a:ext>
            </a:extLst>
          </p:cNvPr>
          <p:cNvSpPr txBox="1"/>
          <p:nvPr/>
        </p:nvSpPr>
        <p:spPr>
          <a:xfrm>
            <a:off x="6288571" y="949730"/>
            <a:ext cx="24058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Other improvements?</a:t>
            </a:r>
          </a:p>
        </p:txBody>
      </p:sp>
      <p:cxnSp>
        <p:nvCxnSpPr>
          <p:cNvPr id="103" name="Elbow Connector 102">
            <a:extLst>
              <a:ext uri="{FF2B5EF4-FFF2-40B4-BE49-F238E27FC236}">
                <a16:creationId xmlns:a16="http://schemas.microsoft.com/office/drawing/2014/main" id="{E1BB7161-128B-42B6-0931-677B71F2BEEA}"/>
              </a:ext>
            </a:extLst>
          </p:cNvPr>
          <p:cNvCxnSpPr>
            <a:cxnSpLocks/>
          </p:cNvCxnSpPr>
          <p:nvPr/>
        </p:nvCxnSpPr>
        <p:spPr>
          <a:xfrm>
            <a:off x="2327597" y="2938543"/>
            <a:ext cx="2928287" cy="1913995"/>
          </a:xfrm>
          <a:prstGeom prst="bentConnector3">
            <a:avLst>
              <a:gd name="adj1" fmla="val 38"/>
            </a:avLst>
          </a:prstGeom>
          <a:ln w="6350">
            <a:solidFill>
              <a:schemeClr val="accent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C2B019A1-0FA1-D766-2CD5-CFDDE9D5E716}"/>
              </a:ext>
            </a:extLst>
          </p:cNvPr>
          <p:cNvCxnSpPr>
            <a:cxnSpLocks/>
          </p:cNvCxnSpPr>
          <p:nvPr/>
        </p:nvCxnSpPr>
        <p:spPr>
          <a:xfrm flipV="1">
            <a:off x="3893632" y="2940309"/>
            <a:ext cx="0" cy="1910846"/>
          </a:xfrm>
          <a:prstGeom prst="straightConnector1">
            <a:avLst/>
          </a:prstGeom>
          <a:ln w="6350">
            <a:solidFill>
              <a:schemeClr val="accent2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Elbow Connector 131">
            <a:extLst>
              <a:ext uri="{FF2B5EF4-FFF2-40B4-BE49-F238E27FC236}">
                <a16:creationId xmlns:a16="http://schemas.microsoft.com/office/drawing/2014/main" id="{0748E78A-1045-AF43-7FD4-69F1B3DD43A2}"/>
              </a:ext>
            </a:extLst>
          </p:cNvPr>
          <p:cNvCxnSpPr>
            <a:cxnSpLocks/>
            <a:stCxn id="20" idx="3"/>
            <a:endCxn id="136" idx="1"/>
          </p:cNvCxnSpPr>
          <p:nvPr/>
        </p:nvCxnSpPr>
        <p:spPr>
          <a:xfrm>
            <a:off x="3218447" y="1980307"/>
            <a:ext cx="1564682" cy="952077"/>
          </a:xfrm>
          <a:prstGeom prst="bentConnector3">
            <a:avLst>
              <a:gd name="adj1" fmla="val 33691"/>
            </a:avLst>
          </a:prstGeom>
          <a:ln w="63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Rounded Rectangle 135">
            <a:extLst>
              <a:ext uri="{FF2B5EF4-FFF2-40B4-BE49-F238E27FC236}">
                <a16:creationId xmlns:a16="http://schemas.microsoft.com/office/drawing/2014/main" id="{6100F6AD-312D-7C74-D347-F0D39E60270C}"/>
              </a:ext>
            </a:extLst>
          </p:cNvPr>
          <p:cNvSpPr/>
          <p:nvPr/>
        </p:nvSpPr>
        <p:spPr>
          <a:xfrm>
            <a:off x="4783129" y="1215182"/>
            <a:ext cx="273665" cy="343440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8" name="Elbow Connector 137">
            <a:extLst>
              <a:ext uri="{FF2B5EF4-FFF2-40B4-BE49-F238E27FC236}">
                <a16:creationId xmlns:a16="http://schemas.microsoft.com/office/drawing/2014/main" id="{F94E94BB-2C30-303F-7AEF-D55507DE5BA5}"/>
              </a:ext>
            </a:extLst>
          </p:cNvPr>
          <p:cNvCxnSpPr>
            <a:cxnSpLocks/>
            <a:endCxn id="136" idx="1"/>
          </p:cNvCxnSpPr>
          <p:nvPr/>
        </p:nvCxnSpPr>
        <p:spPr>
          <a:xfrm flipV="1">
            <a:off x="3206282" y="2932384"/>
            <a:ext cx="1576847" cy="972352"/>
          </a:xfrm>
          <a:prstGeom prst="bentConnector3">
            <a:avLst>
              <a:gd name="adj1" fmla="val 34266"/>
            </a:avLst>
          </a:prstGeom>
          <a:ln w="63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TextBox 146">
            <a:extLst>
              <a:ext uri="{FF2B5EF4-FFF2-40B4-BE49-F238E27FC236}">
                <a16:creationId xmlns:a16="http://schemas.microsoft.com/office/drawing/2014/main" id="{0E314C09-5931-0DEB-EA1F-2F1E7DD80D77}"/>
              </a:ext>
            </a:extLst>
          </p:cNvPr>
          <p:cNvSpPr txBox="1"/>
          <p:nvPr/>
        </p:nvSpPr>
        <p:spPr>
          <a:xfrm>
            <a:off x="2505330" y="4810038"/>
            <a:ext cx="255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97ABAAAC-6B26-2647-E2BD-1AAD277C4FB4}"/>
              </a:ext>
            </a:extLst>
          </p:cNvPr>
          <p:cNvSpPr txBox="1"/>
          <p:nvPr/>
        </p:nvSpPr>
        <p:spPr>
          <a:xfrm>
            <a:off x="2637631" y="4891522"/>
            <a:ext cx="100681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i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residual connection</a:t>
            </a:r>
          </a:p>
        </p:txBody>
      </p: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72DC6898-FB33-A1EB-60B4-8A4EDDA81D81}"/>
              </a:ext>
            </a:extLst>
          </p:cNvPr>
          <p:cNvCxnSpPr>
            <a:cxnSpLocks/>
          </p:cNvCxnSpPr>
          <p:nvPr/>
        </p:nvCxnSpPr>
        <p:spPr>
          <a:xfrm>
            <a:off x="5066567" y="2929115"/>
            <a:ext cx="1178785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TextBox 157">
            <a:extLst>
              <a:ext uri="{FF2B5EF4-FFF2-40B4-BE49-F238E27FC236}">
                <a16:creationId xmlns:a16="http://schemas.microsoft.com/office/drawing/2014/main" id="{5C23E765-18F7-58F9-0C84-79509A88BDCE}"/>
              </a:ext>
            </a:extLst>
          </p:cNvPr>
          <p:cNvSpPr txBox="1"/>
          <p:nvPr/>
        </p:nvSpPr>
        <p:spPr>
          <a:xfrm>
            <a:off x="4337745" y="982120"/>
            <a:ext cx="116443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i="1" dirty="0">
                <a:latin typeface="Arial" panose="020B0604020202020204" pitchFamily="34" charset="0"/>
                <a:cs typeface="Arial" panose="020B0604020202020204" pitchFamily="34" charset="0"/>
              </a:rPr>
              <a:t>dense layer</a:t>
            </a:r>
          </a:p>
        </p:txBody>
      </p: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5399202C-DA00-3055-5958-6BC2CBEDFA27}"/>
              </a:ext>
            </a:extLst>
          </p:cNvPr>
          <p:cNvCxnSpPr>
            <a:cxnSpLocks/>
          </p:cNvCxnSpPr>
          <p:nvPr/>
        </p:nvCxnSpPr>
        <p:spPr>
          <a:xfrm flipV="1">
            <a:off x="5249820" y="2937160"/>
            <a:ext cx="0" cy="1914205"/>
          </a:xfrm>
          <a:prstGeom prst="straightConnector1">
            <a:avLst/>
          </a:prstGeom>
          <a:ln w="6350">
            <a:solidFill>
              <a:schemeClr val="accent2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TextBox 174">
            <a:extLst>
              <a:ext uri="{FF2B5EF4-FFF2-40B4-BE49-F238E27FC236}">
                <a16:creationId xmlns:a16="http://schemas.microsoft.com/office/drawing/2014/main" id="{B12F2E4B-ACA7-B681-E76F-DAE98A108671}"/>
              </a:ext>
            </a:extLst>
          </p:cNvPr>
          <p:cNvSpPr txBox="1"/>
          <p:nvPr/>
        </p:nvSpPr>
        <p:spPr>
          <a:xfrm>
            <a:off x="4081577" y="4803376"/>
            <a:ext cx="255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9759DFF3-B1F9-C8A0-24FC-95B45133F1F5}"/>
              </a:ext>
            </a:extLst>
          </p:cNvPr>
          <p:cNvSpPr txBox="1"/>
          <p:nvPr/>
        </p:nvSpPr>
        <p:spPr>
          <a:xfrm>
            <a:off x="4227790" y="4893868"/>
            <a:ext cx="100681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i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residual connection</a:t>
            </a:r>
          </a:p>
        </p:txBody>
      </p:sp>
      <p:sp>
        <p:nvSpPr>
          <p:cNvPr id="187" name="Rounded Rectangle 186">
            <a:extLst>
              <a:ext uri="{FF2B5EF4-FFF2-40B4-BE49-F238E27FC236}">
                <a16:creationId xmlns:a16="http://schemas.microsoft.com/office/drawing/2014/main" id="{B428295B-74AB-3065-92CE-9C17DC2F1EC6}"/>
              </a:ext>
            </a:extLst>
          </p:cNvPr>
          <p:cNvSpPr/>
          <p:nvPr/>
        </p:nvSpPr>
        <p:spPr>
          <a:xfrm>
            <a:off x="4047951" y="2807114"/>
            <a:ext cx="529052" cy="238117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E7B5FA7C-AFD1-8375-667E-D1AD806AF12C}"/>
              </a:ext>
            </a:extLst>
          </p:cNvPr>
          <p:cNvSpPr txBox="1"/>
          <p:nvPr/>
        </p:nvSpPr>
        <p:spPr>
          <a:xfrm>
            <a:off x="4043848" y="2821938"/>
            <a:ext cx="523263" cy="18466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00" i="1" dirty="0">
                <a:latin typeface="Arial" panose="020B0604020202020204" pitchFamily="34" charset="0"/>
                <a:cs typeface="Arial" panose="020B0604020202020204" pitchFamily="34" charset="0"/>
              </a:rPr>
              <a:t>normalize</a:t>
            </a:r>
          </a:p>
        </p:txBody>
      </p:sp>
      <p:sp>
        <p:nvSpPr>
          <p:cNvPr id="190" name="Rounded Rectangle 189">
            <a:extLst>
              <a:ext uri="{FF2B5EF4-FFF2-40B4-BE49-F238E27FC236}">
                <a16:creationId xmlns:a16="http://schemas.microsoft.com/office/drawing/2014/main" id="{C0741FD4-2EC8-38AC-E4C1-D8243EAB4613}"/>
              </a:ext>
            </a:extLst>
          </p:cNvPr>
          <p:cNvSpPr/>
          <p:nvPr/>
        </p:nvSpPr>
        <p:spPr>
          <a:xfrm>
            <a:off x="5362028" y="2821071"/>
            <a:ext cx="529052" cy="238117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D6D90B9C-1EB8-012A-234F-55D4736FFD30}"/>
              </a:ext>
            </a:extLst>
          </p:cNvPr>
          <p:cNvSpPr txBox="1"/>
          <p:nvPr/>
        </p:nvSpPr>
        <p:spPr>
          <a:xfrm>
            <a:off x="5357925" y="2835895"/>
            <a:ext cx="523263" cy="18466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00" i="1" dirty="0">
                <a:latin typeface="Arial" panose="020B0604020202020204" pitchFamily="34" charset="0"/>
                <a:cs typeface="Arial" panose="020B0604020202020204" pitchFamily="34" charset="0"/>
              </a:rPr>
              <a:t>normalize</a:t>
            </a:r>
          </a:p>
        </p:txBody>
      </p:sp>
      <p:sp>
        <p:nvSpPr>
          <p:cNvPr id="205" name="Oval 204">
            <a:extLst>
              <a:ext uri="{FF2B5EF4-FFF2-40B4-BE49-F238E27FC236}">
                <a16:creationId xmlns:a16="http://schemas.microsoft.com/office/drawing/2014/main" id="{FEDE5709-136F-4635-DD4E-9745D98B9E92}"/>
              </a:ext>
            </a:extLst>
          </p:cNvPr>
          <p:cNvSpPr/>
          <p:nvPr/>
        </p:nvSpPr>
        <p:spPr>
          <a:xfrm>
            <a:off x="1689531" y="1995204"/>
            <a:ext cx="199566" cy="19956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06" name="Oval 205">
            <a:extLst>
              <a:ext uri="{FF2B5EF4-FFF2-40B4-BE49-F238E27FC236}">
                <a16:creationId xmlns:a16="http://schemas.microsoft.com/office/drawing/2014/main" id="{15594BD3-F75F-A54D-7BBC-E595F62D8EC7}"/>
              </a:ext>
            </a:extLst>
          </p:cNvPr>
          <p:cNvSpPr/>
          <p:nvPr/>
        </p:nvSpPr>
        <p:spPr>
          <a:xfrm>
            <a:off x="2384679" y="4870169"/>
            <a:ext cx="190143" cy="19014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207" name="Oval 206">
            <a:extLst>
              <a:ext uri="{FF2B5EF4-FFF2-40B4-BE49-F238E27FC236}">
                <a16:creationId xmlns:a16="http://schemas.microsoft.com/office/drawing/2014/main" id="{17C19FA5-2E55-546D-5AC6-28F2A3EB3FA7}"/>
              </a:ext>
            </a:extLst>
          </p:cNvPr>
          <p:cNvSpPr/>
          <p:nvPr/>
        </p:nvSpPr>
        <p:spPr>
          <a:xfrm>
            <a:off x="4208469" y="2556819"/>
            <a:ext cx="202926" cy="20292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210" name="Oval 209">
            <a:extLst>
              <a:ext uri="{FF2B5EF4-FFF2-40B4-BE49-F238E27FC236}">
                <a16:creationId xmlns:a16="http://schemas.microsoft.com/office/drawing/2014/main" id="{DDFD263E-C16B-19FA-E2DD-95FC23490ED0}"/>
              </a:ext>
            </a:extLst>
          </p:cNvPr>
          <p:cNvSpPr/>
          <p:nvPr/>
        </p:nvSpPr>
        <p:spPr>
          <a:xfrm>
            <a:off x="6405229" y="1520103"/>
            <a:ext cx="234833" cy="23483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11" name="Oval 210">
            <a:extLst>
              <a:ext uri="{FF2B5EF4-FFF2-40B4-BE49-F238E27FC236}">
                <a16:creationId xmlns:a16="http://schemas.microsoft.com/office/drawing/2014/main" id="{3C740FB8-41B3-1071-E8F7-E8F408BF740A}"/>
              </a:ext>
            </a:extLst>
          </p:cNvPr>
          <p:cNvSpPr/>
          <p:nvPr/>
        </p:nvSpPr>
        <p:spPr>
          <a:xfrm>
            <a:off x="6420279" y="2312852"/>
            <a:ext cx="234833" cy="23483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212" name="Oval 211">
            <a:extLst>
              <a:ext uri="{FF2B5EF4-FFF2-40B4-BE49-F238E27FC236}">
                <a16:creationId xmlns:a16="http://schemas.microsoft.com/office/drawing/2014/main" id="{995A2DEB-AFB0-5661-0BF1-E89BC4A4A835}"/>
              </a:ext>
            </a:extLst>
          </p:cNvPr>
          <p:cNvSpPr/>
          <p:nvPr/>
        </p:nvSpPr>
        <p:spPr>
          <a:xfrm>
            <a:off x="6429334" y="3441181"/>
            <a:ext cx="234833" cy="23483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220" name="Rounded Rectangle 219">
            <a:extLst>
              <a:ext uri="{FF2B5EF4-FFF2-40B4-BE49-F238E27FC236}">
                <a16:creationId xmlns:a16="http://schemas.microsoft.com/office/drawing/2014/main" id="{CEBE3194-5A54-0607-A452-57C96D165AAE}"/>
              </a:ext>
            </a:extLst>
          </p:cNvPr>
          <p:cNvSpPr/>
          <p:nvPr/>
        </p:nvSpPr>
        <p:spPr>
          <a:xfrm>
            <a:off x="2171299" y="930654"/>
            <a:ext cx="3808455" cy="4163270"/>
          </a:xfrm>
          <a:prstGeom prst="roundRect">
            <a:avLst>
              <a:gd name="adj" fmla="val 5260"/>
            </a:avLst>
          </a:prstGeom>
          <a:noFill/>
          <a:ln w="12700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988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6" grpId="0"/>
      <p:bldP spid="12" grpId="0" animBg="1"/>
      <p:bldP spid="86" grpId="0"/>
      <p:bldP spid="3" grpId="0"/>
      <p:bldP spid="89" grpId="0" animBg="1"/>
      <p:bldP spid="90" grpId="0" animBg="1"/>
      <p:bldP spid="92" grpId="0" animBg="1"/>
      <p:bldP spid="93" grpId="0" animBg="1"/>
      <p:bldP spid="95" grpId="0" animBg="1"/>
      <p:bldP spid="96" grpId="0" animBg="1"/>
      <p:bldP spid="147" grpId="0"/>
      <p:bldP spid="148" grpId="0"/>
      <p:bldP spid="175" grpId="0"/>
      <p:bldP spid="176" grpId="0"/>
      <p:bldP spid="187" grpId="0" animBg="1"/>
      <p:bldP spid="179" grpId="0"/>
      <p:bldP spid="190" grpId="0" animBg="1"/>
      <p:bldP spid="191" grpId="0"/>
      <p:bldP spid="205" grpId="0" animBg="1"/>
      <p:bldP spid="206" grpId="0" animBg="1"/>
      <p:bldP spid="207" grpId="0" animBg="1"/>
      <p:bldP spid="210" grpId="0" animBg="1"/>
      <p:bldP spid="211" grpId="0" animBg="1"/>
      <p:bldP spid="212" grpId="0" animBg="1"/>
      <p:bldP spid="220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9ED4A0-1B7C-8F30-900B-771348F70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 w="1016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046720" cy="5029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05587"/>
                </a:solidFill>
                <a:latin typeface="Whitney Bold"/>
              </a:rPr>
              <a:t>Why Use Multiple Heads?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896112"/>
            <a:ext cx="8339328" cy="0"/>
          </a:xfrm>
          <a:prstGeom prst="line">
            <a:avLst/>
          </a:prstGeom>
          <a:ln w="1270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75488" y="1000285"/>
            <a:ext cx="8339328" cy="2031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320" b="0" dirty="0">
                <a:solidFill>
                  <a:srgbClr val="000000"/>
                </a:solidFill>
                <a:latin typeface="Arial"/>
              </a:rPr>
              <a:t>Each head learns a different attention pattern and specializes on what it detects </a:t>
            </a:r>
            <a:endParaRPr sz="1320" b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40664" y="1463037"/>
            <a:ext cx="310896" cy="2194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40" b="0">
                <a:solidFill>
                  <a:srgbClr val="000000"/>
                </a:solidFill>
                <a:latin typeface="Arial"/>
              </a:rPr>
              <a:t>The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83564" y="1463037"/>
            <a:ext cx="502920" cy="2194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40" b="0">
                <a:solidFill>
                  <a:srgbClr val="000000"/>
                </a:solidFill>
                <a:latin typeface="Arial"/>
              </a:rPr>
              <a:t>burger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18488" y="1463037"/>
            <a:ext cx="329184" cy="2194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40" b="0">
                <a:solidFill>
                  <a:srgbClr val="000000"/>
                </a:solidFill>
                <a:latin typeface="Arial"/>
              </a:rPr>
              <a:t>was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79676" y="1463037"/>
            <a:ext cx="420624" cy="2194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40" b="0">
                <a:solidFill>
                  <a:srgbClr val="000000"/>
                </a:solidFill>
                <a:latin typeface="Arial"/>
              </a:rPr>
              <a:t>great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32304" y="1463037"/>
            <a:ext cx="164592" cy="2194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40" b="0">
                <a:solidFill>
                  <a:srgbClr val="000000"/>
                </a:solidFill>
                <a:latin typeface="Arial"/>
              </a:rPr>
              <a:t>,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28900" y="1463037"/>
            <a:ext cx="292608" cy="2194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40" b="0">
                <a:solidFill>
                  <a:srgbClr val="000000"/>
                </a:solidFill>
                <a:latin typeface="Arial"/>
              </a:rPr>
              <a:t>but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53512" y="1463037"/>
            <a:ext cx="201168" cy="2194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40" b="0">
                <a:solidFill>
                  <a:srgbClr val="000000"/>
                </a:solidFill>
                <a:latin typeface="Arial"/>
              </a:rPr>
              <a:t>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86684" y="1463037"/>
            <a:ext cx="347472" cy="2194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40" b="0">
                <a:solidFill>
                  <a:srgbClr val="000000"/>
                </a:solidFill>
                <a:latin typeface="Arial"/>
              </a:rPr>
              <a:t>took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66160" y="1463037"/>
            <a:ext cx="530352" cy="2194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40" b="0">
                <a:solidFill>
                  <a:srgbClr val="000000"/>
                </a:solidFill>
                <a:latin typeface="Arial"/>
              </a:rPr>
              <a:t>forever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28516" y="1463037"/>
            <a:ext cx="219456" cy="2194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40" b="0">
                <a:solidFill>
                  <a:srgbClr val="000000"/>
                </a:solidFill>
                <a:latin typeface="Arial"/>
              </a:rPr>
              <a:t>to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9976" y="1463037"/>
            <a:ext cx="438912" cy="2194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40" b="0">
                <a:solidFill>
                  <a:srgbClr val="000000"/>
                </a:solidFill>
                <a:latin typeface="Arial"/>
              </a:rPr>
              <a:t>arrive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50892" y="1463037"/>
            <a:ext cx="621792" cy="2194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40" b="0">
                <a:solidFill>
                  <a:srgbClr val="000000"/>
                </a:solidFill>
                <a:latin typeface="Arial"/>
              </a:rPr>
              <a:t>because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04688" y="1463037"/>
            <a:ext cx="292608" cy="2194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40" b="0">
                <a:solidFill>
                  <a:srgbClr val="000000"/>
                </a:solidFill>
                <a:latin typeface="Arial"/>
              </a:rPr>
              <a:t>the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29300" y="1463037"/>
            <a:ext cx="530352" cy="2194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40" b="0">
                <a:solidFill>
                  <a:srgbClr val="000000"/>
                </a:solidFill>
                <a:latin typeface="Arial"/>
              </a:rPr>
              <a:t>kitchen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91656" y="1463037"/>
            <a:ext cx="329184" cy="2194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40" b="0">
                <a:solidFill>
                  <a:srgbClr val="000000"/>
                </a:solidFill>
                <a:latin typeface="Arial"/>
              </a:rPr>
              <a:t>was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52844" y="1463037"/>
            <a:ext cx="822960" cy="2194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15" b="0">
                <a:solidFill>
                  <a:srgbClr val="000000"/>
                </a:solidFill>
                <a:latin typeface="Arial"/>
              </a:rPr>
              <a:t>understaffed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07808" y="1463037"/>
            <a:ext cx="164592" cy="2194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40" b="0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6112" y="2011677"/>
            <a:ext cx="2084831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24128" y="2130549"/>
            <a:ext cx="320040" cy="320040"/>
          </a:xfrm>
          <a:prstGeom prst="ellipse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24128" y="2130549"/>
            <a:ext cx="32004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26464" y="2103117"/>
            <a:ext cx="1417320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60" b="1">
                <a:solidFill>
                  <a:srgbClr val="000000"/>
                </a:solidFill>
                <a:latin typeface="Arial"/>
              </a:rPr>
              <a:t>modifier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26464" y="2304285"/>
            <a:ext cx="1417320" cy="1554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25" b="0">
                <a:solidFill>
                  <a:srgbClr val="737373"/>
                </a:solidFill>
                <a:latin typeface="Arial"/>
              </a:rPr>
              <a:t>great -&gt; burger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14984" y="2596893"/>
            <a:ext cx="69951" cy="47548"/>
          </a:xfrm>
          <a:prstGeom prst="roundRect">
            <a:avLst/>
          </a:prstGeom>
          <a:solidFill>
            <a:srgbClr val="E9ECEF"/>
          </a:solidFill>
          <a:ln w="3175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097737" y="2596893"/>
            <a:ext cx="113157" cy="47548"/>
          </a:xfrm>
          <a:prstGeom prst="roundRect">
            <a:avLst/>
          </a:prstGeom>
          <a:solidFill>
            <a:srgbClr val="E9ECEF"/>
          </a:solidFill>
          <a:ln w="3175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223695" y="2596893"/>
            <a:ext cx="74066" cy="47548"/>
          </a:xfrm>
          <a:prstGeom prst="roundRect">
            <a:avLst/>
          </a:prstGeom>
          <a:solidFill>
            <a:srgbClr val="E9ECEF"/>
          </a:solidFill>
          <a:ln w="3175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310563" y="2596893"/>
            <a:ext cx="94640" cy="47548"/>
          </a:xfrm>
          <a:prstGeom prst="roundRect">
            <a:avLst/>
          </a:prstGeom>
          <a:solidFill>
            <a:srgbClr val="E9ECEF"/>
          </a:solidFill>
          <a:ln w="3175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1418005" y="2596893"/>
            <a:ext cx="50292" cy="47548"/>
          </a:xfrm>
          <a:prstGeom prst="roundRect">
            <a:avLst/>
          </a:prstGeom>
          <a:solidFill>
            <a:srgbClr val="E9ECEF"/>
          </a:solidFill>
          <a:ln w="3175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481099" y="2596893"/>
            <a:ext cx="65836" cy="47548"/>
          </a:xfrm>
          <a:prstGeom prst="roundRect">
            <a:avLst/>
          </a:prstGeom>
          <a:solidFill>
            <a:srgbClr val="E9ECEF"/>
          </a:solidFill>
          <a:ln w="3175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1559737" y="2596893"/>
            <a:ext cx="50292" cy="47548"/>
          </a:xfrm>
          <a:prstGeom prst="roundRect">
            <a:avLst/>
          </a:prstGeom>
          <a:solidFill>
            <a:srgbClr val="E9ECEF"/>
          </a:solidFill>
          <a:ln w="3175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1622831" y="2596893"/>
            <a:ext cx="78181" cy="47548"/>
          </a:xfrm>
          <a:prstGeom prst="roundRect">
            <a:avLst/>
          </a:prstGeom>
          <a:solidFill>
            <a:srgbClr val="E9ECEF"/>
          </a:solidFill>
          <a:ln w="3175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1713814" y="2596893"/>
            <a:ext cx="119329" cy="47548"/>
          </a:xfrm>
          <a:prstGeom prst="roundRect">
            <a:avLst/>
          </a:prstGeom>
          <a:solidFill>
            <a:srgbClr val="E9ECEF"/>
          </a:solidFill>
          <a:ln w="3175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1845945" y="2596893"/>
            <a:ext cx="50292" cy="47548"/>
          </a:xfrm>
          <a:prstGeom prst="roundRect">
            <a:avLst/>
          </a:prstGeom>
          <a:solidFill>
            <a:srgbClr val="E9ECEF"/>
          </a:solidFill>
          <a:ln w="3175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1909038" y="2596893"/>
            <a:ext cx="98755" cy="47548"/>
          </a:xfrm>
          <a:prstGeom prst="roundRect">
            <a:avLst/>
          </a:prstGeom>
          <a:solidFill>
            <a:srgbClr val="E9ECEF"/>
          </a:solidFill>
          <a:ln w="3175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2020595" y="2596893"/>
            <a:ext cx="139903" cy="47548"/>
          </a:xfrm>
          <a:prstGeom prst="roundRect">
            <a:avLst/>
          </a:prstGeom>
          <a:solidFill>
            <a:srgbClr val="E9ECEF"/>
          </a:solidFill>
          <a:ln w="3175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2173300" y="2596893"/>
            <a:ext cx="65836" cy="47548"/>
          </a:xfrm>
          <a:prstGeom prst="roundRect">
            <a:avLst/>
          </a:prstGeom>
          <a:solidFill>
            <a:srgbClr val="E9ECEF"/>
          </a:solidFill>
          <a:ln w="3175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2251938" y="2596893"/>
            <a:ext cx="119329" cy="47548"/>
          </a:xfrm>
          <a:prstGeom prst="roundRect">
            <a:avLst/>
          </a:prstGeom>
          <a:solidFill>
            <a:srgbClr val="E9ECEF"/>
          </a:solidFill>
          <a:ln w="3175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2384069" y="2596893"/>
            <a:ext cx="74066" cy="47548"/>
          </a:xfrm>
          <a:prstGeom prst="roundRect">
            <a:avLst/>
          </a:prstGeom>
          <a:solidFill>
            <a:srgbClr val="E9ECEF"/>
          </a:solidFill>
          <a:ln w="3175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2470937" y="2596893"/>
            <a:ext cx="185166" cy="47548"/>
          </a:xfrm>
          <a:prstGeom prst="roundRect">
            <a:avLst/>
          </a:prstGeom>
          <a:solidFill>
            <a:srgbClr val="E9ECEF"/>
          </a:solidFill>
          <a:ln w="3175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2668905" y="2596893"/>
            <a:ext cx="50292" cy="47548"/>
          </a:xfrm>
          <a:prstGeom prst="roundRect">
            <a:avLst/>
          </a:prstGeom>
          <a:solidFill>
            <a:srgbClr val="E9ECEF"/>
          </a:solidFill>
          <a:ln w="3175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5" name="Connector 44"/>
          <p:cNvCxnSpPr/>
          <p:nvPr/>
        </p:nvCxnSpPr>
        <p:spPr>
          <a:xfrm flipV="1">
            <a:off x="1357884" y="2514597"/>
            <a:ext cx="0" cy="106070"/>
          </a:xfrm>
          <a:prstGeom prst="line">
            <a:avLst/>
          </a:prstGeom>
          <a:ln w="14604">
            <a:solidFill>
              <a:srgbClr val="0055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>
            <a:off x="1154315" y="2514597"/>
            <a:ext cx="203569" cy="0"/>
          </a:xfrm>
          <a:prstGeom prst="line">
            <a:avLst/>
          </a:prstGeom>
          <a:ln w="14604">
            <a:solidFill>
              <a:srgbClr val="0055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154315" y="2514597"/>
            <a:ext cx="0" cy="106070"/>
          </a:xfrm>
          <a:prstGeom prst="line">
            <a:avLst/>
          </a:prstGeom>
          <a:ln w="14604">
            <a:solidFill>
              <a:srgbClr val="0055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3575304" y="2011677"/>
            <a:ext cx="2084831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3703320" y="2130549"/>
            <a:ext cx="320040" cy="320040"/>
          </a:xfrm>
          <a:prstGeom prst="ellipse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703320" y="2130549"/>
            <a:ext cx="32004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05656" y="2103117"/>
            <a:ext cx="1417320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60" b="1">
                <a:solidFill>
                  <a:srgbClr val="000000"/>
                </a:solidFill>
                <a:latin typeface="Arial"/>
              </a:rPr>
              <a:t>pronoun link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05656" y="2326224"/>
            <a:ext cx="448841" cy="11156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25" b="0" dirty="0">
                <a:solidFill>
                  <a:srgbClr val="737373"/>
                </a:solidFill>
                <a:latin typeface="Arial"/>
              </a:rPr>
              <a:t>it -&gt; burger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694175" y="2596893"/>
            <a:ext cx="69951" cy="47548"/>
          </a:xfrm>
          <a:prstGeom prst="roundRect">
            <a:avLst/>
          </a:prstGeom>
          <a:solidFill>
            <a:srgbClr val="E9ECEF"/>
          </a:solidFill>
          <a:ln w="3175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3776929" y="2596893"/>
            <a:ext cx="113157" cy="47548"/>
          </a:xfrm>
          <a:prstGeom prst="roundRect">
            <a:avLst/>
          </a:prstGeom>
          <a:solidFill>
            <a:srgbClr val="E9ECEF"/>
          </a:solidFill>
          <a:ln w="3175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3902887" y="2596893"/>
            <a:ext cx="74066" cy="47548"/>
          </a:xfrm>
          <a:prstGeom prst="roundRect">
            <a:avLst/>
          </a:prstGeom>
          <a:solidFill>
            <a:srgbClr val="E9ECEF"/>
          </a:solidFill>
          <a:ln w="3175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3989755" y="2596893"/>
            <a:ext cx="94640" cy="47548"/>
          </a:xfrm>
          <a:prstGeom prst="roundRect">
            <a:avLst/>
          </a:prstGeom>
          <a:solidFill>
            <a:srgbClr val="E9ECEF"/>
          </a:solidFill>
          <a:ln w="3175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4097197" y="2596893"/>
            <a:ext cx="50292" cy="47548"/>
          </a:xfrm>
          <a:prstGeom prst="roundRect">
            <a:avLst/>
          </a:prstGeom>
          <a:solidFill>
            <a:srgbClr val="E9ECEF"/>
          </a:solidFill>
          <a:ln w="3175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4160291" y="2596893"/>
            <a:ext cx="65836" cy="47548"/>
          </a:xfrm>
          <a:prstGeom prst="roundRect">
            <a:avLst/>
          </a:prstGeom>
          <a:solidFill>
            <a:srgbClr val="E9ECEF"/>
          </a:solidFill>
          <a:ln w="3175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4238929" y="2596893"/>
            <a:ext cx="50292" cy="47548"/>
          </a:xfrm>
          <a:prstGeom prst="roundRect">
            <a:avLst/>
          </a:prstGeom>
          <a:solidFill>
            <a:srgbClr val="E9ECEF"/>
          </a:solidFill>
          <a:ln w="3175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4302023" y="2596893"/>
            <a:ext cx="78181" cy="47548"/>
          </a:xfrm>
          <a:prstGeom prst="roundRect">
            <a:avLst/>
          </a:prstGeom>
          <a:solidFill>
            <a:srgbClr val="E9ECEF"/>
          </a:solidFill>
          <a:ln w="3175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4393006" y="2596893"/>
            <a:ext cx="119329" cy="47548"/>
          </a:xfrm>
          <a:prstGeom prst="roundRect">
            <a:avLst/>
          </a:prstGeom>
          <a:solidFill>
            <a:srgbClr val="E9ECEF"/>
          </a:solidFill>
          <a:ln w="3175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ounded Rectangle 61"/>
          <p:cNvSpPr/>
          <p:nvPr/>
        </p:nvSpPr>
        <p:spPr>
          <a:xfrm>
            <a:off x="4525136" y="2596893"/>
            <a:ext cx="50292" cy="47548"/>
          </a:xfrm>
          <a:prstGeom prst="roundRect">
            <a:avLst/>
          </a:prstGeom>
          <a:solidFill>
            <a:srgbClr val="E9ECEF"/>
          </a:solidFill>
          <a:ln w="3175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4588230" y="2596893"/>
            <a:ext cx="98755" cy="47548"/>
          </a:xfrm>
          <a:prstGeom prst="roundRect">
            <a:avLst/>
          </a:prstGeom>
          <a:solidFill>
            <a:srgbClr val="E9ECEF"/>
          </a:solidFill>
          <a:ln w="3175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4699787" y="2596893"/>
            <a:ext cx="139903" cy="47548"/>
          </a:xfrm>
          <a:prstGeom prst="roundRect">
            <a:avLst/>
          </a:prstGeom>
          <a:solidFill>
            <a:srgbClr val="E9ECEF"/>
          </a:solidFill>
          <a:ln w="3175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4852492" y="2596893"/>
            <a:ext cx="65836" cy="47548"/>
          </a:xfrm>
          <a:prstGeom prst="roundRect">
            <a:avLst/>
          </a:prstGeom>
          <a:solidFill>
            <a:srgbClr val="E9ECEF"/>
          </a:solidFill>
          <a:ln w="3175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ounded Rectangle 65"/>
          <p:cNvSpPr/>
          <p:nvPr/>
        </p:nvSpPr>
        <p:spPr>
          <a:xfrm>
            <a:off x="4931130" y="2596893"/>
            <a:ext cx="119329" cy="47548"/>
          </a:xfrm>
          <a:prstGeom prst="roundRect">
            <a:avLst/>
          </a:prstGeom>
          <a:solidFill>
            <a:srgbClr val="E9ECEF"/>
          </a:solidFill>
          <a:ln w="3175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5063261" y="2596893"/>
            <a:ext cx="74066" cy="47548"/>
          </a:xfrm>
          <a:prstGeom prst="roundRect">
            <a:avLst/>
          </a:prstGeom>
          <a:solidFill>
            <a:srgbClr val="E9ECEF"/>
          </a:solidFill>
          <a:ln w="3175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ounded Rectangle 67"/>
          <p:cNvSpPr/>
          <p:nvPr/>
        </p:nvSpPr>
        <p:spPr>
          <a:xfrm>
            <a:off x="5150129" y="2596893"/>
            <a:ext cx="185166" cy="47548"/>
          </a:xfrm>
          <a:prstGeom prst="roundRect">
            <a:avLst/>
          </a:prstGeom>
          <a:solidFill>
            <a:srgbClr val="E9ECEF"/>
          </a:solidFill>
          <a:ln w="3175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ounded Rectangle 68"/>
          <p:cNvSpPr/>
          <p:nvPr/>
        </p:nvSpPr>
        <p:spPr>
          <a:xfrm>
            <a:off x="5348096" y="2596893"/>
            <a:ext cx="50292" cy="47548"/>
          </a:xfrm>
          <a:prstGeom prst="roundRect">
            <a:avLst/>
          </a:prstGeom>
          <a:solidFill>
            <a:srgbClr val="E9ECEF"/>
          </a:solidFill>
          <a:ln w="3175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0" name="Connector 69"/>
          <p:cNvCxnSpPr/>
          <p:nvPr/>
        </p:nvCxnSpPr>
        <p:spPr>
          <a:xfrm flipV="1">
            <a:off x="4264075" y="2514597"/>
            <a:ext cx="0" cy="106070"/>
          </a:xfrm>
          <a:prstGeom prst="line">
            <a:avLst/>
          </a:prstGeom>
          <a:ln w="14604">
            <a:solidFill>
              <a:srgbClr val="0055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H="1">
            <a:off x="3833507" y="2514597"/>
            <a:ext cx="430568" cy="0"/>
          </a:xfrm>
          <a:prstGeom prst="line">
            <a:avLst/>
          </a:prstGeom>
          <a:ln w="14604">
            <a:solidFill>
              <a:srgbClr val="0055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3833507" y="2514597"/>
            <a:ext cx="0" cy="106070"/>
          </a:xfrm>
          <a:prstGeom prst="line">
            <a:avLst/>
          </a:prstGeom>
          <a:ln w="14604">
            <a:solidFill>
              <a:srgbClr val="0055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ounded Rectangle 72"/>
          <p:cNvSpPr/>
          <p:nvPr/>
        </p:nvSpPr>
        <p:spPr>
          <a:xfrm>
            <a:off x="6254496" y="2011677"/>
            <a:ext cx="2084831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6382512" y="2130549"/>
            <a:ext cx="320040" cy="320040"/>
          </a:xfrm>
          <a:prstGeom prst="ellipse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6382512" y="2130549"/>
            <a:ext cx="32004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784848" y="2103117"/>
            <a:ext cx="1417320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60" b="1">
                <a:solidFill>
                  <a:srgbClr val="000000"/>
                </a:solidFill>
                <a:latin typeface="Arial"/>
              </a:rPr>
              <a:t>clause split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784848" y="2326224"/>
            <a:ext cx="908903" cy="11156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25" b="0" dirty="0">
                <a:solidFill>
                  <a:srgbClr val="737373"/>
                </a:solidFill>
                <a:latin typeface="Arial"/>
              </a:rPr>
              <a:t>,</a:t>
            </a:r>
            <a:r>
              <a:rPr lang="en-US" sz="725" b="0" dirty="0">
                <a:solidFill>
                  <a:srgbClr val="737373"/>
                </a:solidFill>
                <a:latin typeface="Arial"/>
              </a:rPr>
              <a:t> / </a:t>
            </a:r>
            <a:r>
              <a:rPr sz="725" b="0" dirty="0">
                <a:solidFill>
                  <a:srgbClr val="737373"/>
                </a:solidFill>
                <a:latin typeface="Arial"/>
              </a:rPr>
              <a:t>but separates ideas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373368" y="2596893"/>
            <a:ext cx="69951" cy="47548"/>
          </a:xfrm>
          <a:prstGeom prst="roundRect">
            <a:avLst/>
          </a:prstGeom>
          <a:solidFill>
            <a:srgbClr val="E9ECEF"/>
          </a:solidFill>
          <a:ln w="3175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ounded Rectangle 78"/>
          <p:cNvSpPr/>
          <p:nvPr/>
        </p:nvSpPr>
        <p:spPr>
          <a:xfrm>
            <a:off x="6456121" y="2596893"/>
            <a:ext cx="113157" cy="47548"/>
          </a:xfrm>
          <a:prstGeom prst="roundRect">
            <a:avLst/>
          </a:prstGeom>
          <a:solidFill>
            <a:srgbClr val="E9ECEF"/>
          </a:solidFill>
          <a:ln w="3175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ounded Rectangle 79"/>
          <p:cNvSpPr/>
          <p:nvPr/>
        </p:nvSpPr>
        <p:spPr>
          <a:xfrm>
            <a:off x="6582079" y="2596893"/>
            <a:ext cx="74066" cy="47548"/>
          </a:xfrm>
          <a:prstGeom prst="roundRect">
            <a:avLst/>
          </a:prstGeom>
          <a:solidFill>
            <a:srgbClr val="E9ECEF"/>
          </a:solidFill>
          <a:ln w="3175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ounded Rectangle 80"/>
          <p:cNvSpPr/>
          <p:nvPr/>
        </p:nvSpPr>
        <p:spPr>
          <a:xfrm>
            <a:off x="6668947" y="2596893"/>
            <a:ext cx="94640" cy="47548"/>
          </a:xfrm>
          <a:prstGeom prst="roundRect">
            <a:avLst/>
          </a:prstGeom>
          <a:solidFill>
            <a:srgbClr val="E9ECEF"/>
          </a:solidFill>
          <a:ln w="3175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ounded Rectangle 81"/>
          <p:cNvSpPr/>
          <p:nvPr/>
        </p:nvSpPr>
        <p:spPr>
          <a:xfrm>
            <a:off x="6776389" y="2596893"/>
            <a:ext cx="50292" cy="47548"/>
          </a:xfrm>
          <a:prstGeom prst="roundRect">
            <a:avLst/>
          </a:prstGeom>
          <a:solidFill>
            <a:srgbClr val="E9ECEF"/>
          </a:solidFill>
          <a:ln w="3175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ounded Rectangle 82"/>
          <p:cNvSpPr/>
          <p:nvPr/>
        </p:nvSpPr>
        <p:spPr>
          <a:xfrm>
            <a:off x="6839483" y="2596893"/>
            <a:ext cx="65836" cy="47548"/>
          </a:xfrm>
          <a:prstGeom prst="roundRect">
            <a:avLst/>
          </a:prstGeom>
          <a:solidFill>
            <a:srgbClr val="E9ECEF"/>
          </a:solidFill>
          <a:ln w="3175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ounded Rectangle 83"/>
          <p:cNvSpPr/>
          <p:nvPr/>
        </p:nvSpPr>
        <p:spPr>
          <a:xfrm>
            <a:off x="6918121" y="2596893"/>
            <a:ext cx="50292" cy="47548"/>
          </a:xfrm>
          <a:prstGeom prst="roundRect">
            <a:avLst/>
          </a:prstGeom>
          <a:solidFill>
            <a:srgbClr val="E9ECEF"/>
          </a:solidFill>
          <a:ln w="3175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ounded Rectangle 84"/>
          <p:cNvSpPr/>
          <p:nvPr/>
        </p:nvSpPr>
        <p:spPr>
          <a:xfrm>
            <a:off x="6981215" y="2596893"/>
            <a:ext cx="78181" cy="47548"/>
          </a:xfrm>
          <a:prstGeom prst="roundRect">
            <a:avLst/>
          </a:prstGeom>
          <a:solidFill>
            <a:srgbClr val="E9ECEF"/>
          </a:solidFill>
          <a:ln w="3175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ounded Rectangle 85"/>
          <p:cNvSpPr/>
          <p:nvPr/>
        </p:nvSpPr>
        <p:spPr>
          <a:xfrm>
            <a:off x="7072198" y="2596893"/>
            <a:ext cx="119329" cy="47548"/>
          </a:xfrm>
          <a:prstGeom prst="roundRect">
            <a:avLst/>
          </a:prstGeom>
          <a:solidFill>
            <a:srgbClr val="E9ECEF"/>
          </a:solidFill>
          <a:ln w="3175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ounded Rectangle 86"/>
          <p:cNvSpPr/>
          <p:nvPr/>
        </p:nvSpPr>
        <p:spPr>
          <a:xfrm>
            <a:off x="7204328" y="2596893"/>
            <a:ext cx="50292" cy="47548"/>
          </a:xfrm>
          <a:prstGeom prst="roundRect">
            <a:avLst/>
          </a:prstGeom>
          <a:solidFill>
            <a:srgbClr val="E9ECEF"/>
          </a:solidFill>
          <a:ln w="3175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ounded Rectangle 87"/>
          <p:cNvSpPr/>
          <p:nvPr/>
        </p:nvSpPr>
        <p:spPr>
          <a:xfrm>
            <a:off x="7267422" y="2596893"/>
            <a:ext cx="98755" cy="47548"/>
          </a:xfrm>
          <a:prstGeom prst="roundRect">
            <a:avLst/>
          </a:prstGeom>
          <a:solidFill>
            <a:srgbClr val="E9ECEF"/>
          </a:solidFill>
          <a:ln w="3175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ounded Rectangle 88"/>
          <p:cNvSpPr/>
          <p:nvPr/>
        </p:nvSpPr>
        <p:spPr>
          <a:xfrm>
            <a:off x="7378979" y="2596893"/>
            <a:ext cx="139903" cy="47548"/>
          </a:xfrm>
          <a:prstGeom prst="roundRect">
            <a:avLst/>
          </a:prstGeom>
          <a:solidFill>
            <a:srgbClr val="E9ECEF"/>
          </a:solidFill>
          <a:ln w="3175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ounded Rectangle 89"/>
          <p:cNvSpPr/>
          <p:nvPr/>
        </p:nvSpPr>
        <p:spPr>
          <a:xfrm>
            <a:off x="7531684" y="2596893"/>
            <a:ext cx="65836" cy="47548"/>
          </a:xfrm>
          <a:prstGeom prst="roundRect">
            <a:avLst/>
          </a:prstGeom>
          <a:solidFill>
            <a:srgbClr val="E9ECEF"/>
          </a:solidFill>
          <a:ln w="3175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ounded Rectangle 90"/>
          <p:cNvSpPr/>
          <p:nvPr/>
        </p:nvSpPr>
        <p:spPr>
          <a:xfrm>
            <a:off x="7610322" y="2596893"/>
            <a:ext cx="119329" cy="47548"/>
          </a:xfrm>
          <a:prstGeom prst="roundRect">
            <a:avLst/>
          </a:prstGeom>
          <a:solidFill>
            <a:srgbClr val="E9ECEF"/>
          </a:solidFill>
          <a:ln w="3175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ounded Rectangle 91"/>
          <p:cNvSpPr/>
          <p:nvPr/>
        </p:nvSpPr>
        <p:spPr>
          <a:xfrm>
            <a:off x="7742453" y="2596893"/>
            <a:ext cx="74066" cy="47548"/>
          </a:xfrm>
          <a:prstGeom prst="roundRect">
            <a:avLst/>
          </a:prstGeom>
          <a:solidFill>
            <a:srgbClr val="E9ECEF"/>
          </a:solidFill>
          <a:ln w="3175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ounded Rectangle 92"/>
          <p:cNvSpPr/>
          <p:nvPr/>
        </p:nvSpPr>
        <p:spPr>
          <a:xfrm>
            <a:off x="7829321" y="2596893"/>
            <a:ext cx="185166" cy="47548"/>
          </a:xfrm>
          <a:prstGeom prst="roundRect">
            <a:avLst/>
          </a:prstGeom>
          <a:solidFill>
            <a:srgbClr val="E9ECEF"/>
          </a:solidFill>
          <a:ln w="3175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ounded Rectangle 93"/>
          <p:cNvSpPr/>
          <p:nvPr/>
        </p:nvSpPr>
        <p:spPr>
          <a:xfrm>
            <a:off x="8027288" y="2596893"/>
            <a:ext cx="50292" cy="47548"/>
          </a:xfrm>
          <a:prstGeom prst="roundRect">
            <a:avLst/>
          </a:prstGeom>
          <a:solidFill>
            <a:srgbClr val="E9ECEF"/>
          </a:solidFill>
          <a:ln w="3175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5" name="Connector 94"/>
          <p:cNvCxnSpPr/>
          <p:nvPr/>
        </p:nvCxnSpPr>
        <p:spPr>
          <a:xfrm flipV="1">
            <a:off x="6801535" y="2514597"/>
            <a:ext cx="0" cy="106070"/>
          </a:xfrm>
          <a:prstGeom prst="line">
            <a:avLst/>
          </a:prstGeom>
          <a:ln w="14604">
            <a:solidFill>
              <a:srgbClr val="0055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H="1">
            <a:off x="6716267" y="2514597"/>
            <a:ext cx="85268" cy="0"/>
          </a:xfrm>
          <a:prstGeom prst="line">
            <a:avLst/>
          </a:prstGeom>
          <a:ln w="14604">
            <a:solidFill>
              <a:srgbClr val="0055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6716267" y="2514597"/>
            <a:ext cx="0" cy="106070"/>
          </a:xfrm>
          <a:prstGeom prst="line">
            <a:avLst/>
          </a:prstGeom>
          <a:ln w="14604">
            <a:solidFill>
              <a:srgbClr val="0055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6872401" y="2514597"/>
            <a:ext cx="0" cy="106070"/>
          </a:xfrm>
          <a:prstGeom prst="line">
            <a:avLst/>
          </a:prstGeom>
          <a:ln w="14604">
            <a:solidFill>
              <a:srgbClr val="0055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6872401" y="2514597"/>
            <a:ext cx="444399" cy="0"/>
          </a:xfrm>
          <a:prstGeom prst="line">
            <a:avLst/>
          </a:prstGeom>
          <a:ln w="14604">
            <a:solidFill>
              <a:srgbClr val="0055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7316800" y="2514597"/>
            <a:ext cx="0" cy="106070"/>
          </a:xfrm>
          <a:prstGeom prst="line">
            <a:avLst/>
          </a:prstGeom>
          <a:ln w="14604">
            <a:solidFill>
              <a:srgbClr val="0055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Rounded Rectangle 100"/>
          <p:cNvSpPr/>
          <p:nvPr/>
        </p:nvSpPr>
        <p:spPr>
          <a:xfrm>
            <a:off x="896112" y="3218685"/>
            <a:ext cx="2084831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02" name="Oval 101"/>
          <p:cNvSpPr/>
          <p:nvPr/>
        </p:nvSpPr>
        <p:spPr>
          <a:xfrm>
            <a:off x="1024128" y="3337557"/>
            <a:ext cx="320040" cy="320040"/>
          </a:xfrm>
          <a:prstGeom prst="ellipse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1024128" y="3337557"/>
            <a:ext cx="32004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426464" y="3310125"/>
            <a:ext cx="1417320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60" b="1">
                <a:solidFill>
                  <a:srgbClr val="000000"/>
                </a:solidFill>
                <a:latin typeface="Arial"/>
              </a:rPr>
              <a:t>phrase meaning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426464" y="3511293"/>
            <a:ext cx="1417320" cy="1554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25" b="0">
                <a:solidFill>
                  <a:srgbClr val="737373"/>
                </a:solidFill>
                <a:latin typeface="Arial"/>
              </a:rPr>
              <a:t>took + forever -&gt; slow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1014984" y="3803901"/>
            <a:ext cx="69951" cy="47548"/>
          </a:xfrm>
          <a:prstGeom prst="roundRect">
            <a:avLst/>
          </a:prstGeom>
          <a:solidFill>
            <a:srgbClr val="E9ECEF"/>
          </a:solidFill>
          <a:ln w="3175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ounded Rectangle 106"/>
          <p:cNvSpPr/>
          <p:nvPr/>
        </p:nvSpPr>
        <p:spPr>
          <a:xfrm>
            <a:off x="1097737" y="3803901"/>
            <a:ext cx="113157" cy="47548"/>
          </a:xfrm>
          <a:prstGeom prst="roundRect">
            <a:avLst/>
          </a:prstGeom>
          <a:solidFill>
            <a:srgbClr val="E9ECEF"/>
          </a:solidFill>
          <a:ln w="3175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ounded Rectangle 107"/>
          <p:cNvSpPr/>
          <p:nvPr/>
        </p:nvSpPr>
        <p:spPr>
          <a:xfrm>
            <a:off x="1223695" y="3803901"/>
            <a:ext cx="74066" cy="47548"/>
          </a:xfrm>
          <a:prstGeom prst="roundRect">
            <a:avLst/>
          </a:prstGeom>
          <a:solidFill>
            <a:srgbClr val="E9ECEF"/>
          </a:solidFill>
          <a:ln w="3175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ounded Rectangle 108"/>
          <p:cNvSpPr/>
          <p:nvPr/>
        </p:nvSpPr>
        <p:spPr>
          <a:xfrm>
            <a:off x="1310563" y="3803901"/>
            <a:ext cx="94640" cy="47548"/>
          </a:xfrm>
          <a:prstGeom prst="roundRect">
            <a:avLst/>
          </a:prstGeom>
          <a:solidFill>
            <a:srgbClr val="E9ECEF"/>
          </a:solidFill>
          <a:ln w="3175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ounded Rectangle 109"/>
          <p:cNvSpPr/>
          <p:nvPr/>
        </p:nvSpPr>
        <p:spPr>
          <a:xfrm>
            <a:off x="1418005" y="3803901"/>
            <a:ext cx="50292" cy="47548"/>
          </a:xfrm>
          <a:prstGeom prst="roundRect">
            <a:avLst/>
          </a:prstGeom>
          <a:solidFill>
            <a:srgbClr val="E9ECEF"/>
          </a:solidFill>
          <a:ln w="3175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ounded Rectangle 110"/>
          <p:cNvSpPr/>
          <p:nvPr/>
        </p:nvSpPr>
        <p:spPr>
          <a:xfrm>
            <a:off x="1481099" y="3803901"/>
            <a:ext cx="65836" cy="47548"/>
          </a:xfrm>
          <a:prstGeom prst="roundRect">
            <a:avLst/>
          </a:prstGeom>
          <a:solidFill>
            <a:srgbClr val="E9ECEF"/>
          </a:solidFill>
          <a:ln w="3175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ounded Rectangle 111"/>
          <p:cNvSpPr/>
          <p:nvPr/>
        </p:nvSpPr>
        <p:spPr>
          <a:xfrm>
            <a:off x="1559737" y="3803901"/>
            <a:ext cx="50292" cy="47548"/>
          </a:xfrm>
          <a:prstGeom prst="roundRect">
            <a:avLst/>
          </a:prstGeom>
          <a:solidFill>
            <a:srgbClr val="E9ECEF"/>
          </a:solidFill>
          <a:ln w="3175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Rounded Rectangle 112"/>
          <p:cNvSpPr/>
          <p:nvPr/>
        </p:nvSpPr>
        <p:spPr>
          <a:xfrm>
            <a:off x="1622831" y="3803901"/>
            <a:ext cx="78181" cy="47548"/>
          </a:xfrm>
          <a:prstGeom prst="roundRect">
            <a:avLst/>
          </a:prstGeom>
          <a:solidFill>
            <a:srgbClr val="E9ECEF"/>
          </a:solidFill>
          <a:ln w="3175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ounded Rectangle 113"/>
          <p:cNvSpPr/>
          <p:nvPr/>
        </p:nvSpPr>
        <p:spPr>
          <a:xfrm>
            <a:off x="1713814" y="3803901"/>
            <a:ext cx="119329" cy="47548"/>
          </a:xfrm>
          <a:prstGeom prst="roundRect">
            <a:avLst/>
          </a:prstGeom>
          <a:solidFill>
            <a:srgbClr val="E9ECEF"/>
          </a:solidFill>
          <a:ln w="3175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ounded Rectangle 114"/>
          <p:cNvSpPr/>
          <p:nvPr/>
        </p:nvSpPr>
        <p:spPr>
          <a:xfrm>
            <a:off x="1845945" y="3803901"/>
            <a:ext cx="50292" cy="47548"/>
          </a:xfrm>
          <a:prstGeom prst="roundRect">
            <a:avLst/>
          </a:prstGeom>
          <a:solidFill>
            <a:srgbClr val="E9ECEF"/>
          </a:solidFill>
          <a:ln w="3175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Rounded Rectangle 115"/>
          <p:cNvSpPr/>
          <p:nvPr/>
        </p:nvSpPr>
        <p:spPr>
          <a:xfrm>
            <a:off x="1909038" y="3803901"/>
            <a:ext cx="98755" cy="47548"/>
          </a:xfrm>
          <a:prstGeom prst="roundRect">
            <a:avLst/>
          </a:prstGeom>
          <a:solidFill>
            <a:srgbClr val="E9ECEF"/>
          </a:solidFill>
          <a:ln w="3175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ounded Rectangle 116"/>
          <p:cNvSpPr/>
          <p:nvPr/>
        </p:nvSpPr>
        <p:spPr>
          <a:xfrm>
            <a:off x="2020595" y="3803901"/>
            <a:ext cx="139903" cy="47548"/>
          </a:xfrm>
          <a:prstGeom prst="roundRect">
            <a:avLst/>
          </a:prstGeom>
          <a:solidFill>
            <a:srgbClr val="E9ECEF"/>
          </a:solidFill>
          <a:ln w="3175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ounded Rectangle 117"/>
          <p:cNvSpPr/>
          <p:nvPr/>
        </p:nvSpPr>
        <p:spPr>
          <a:xfrm>
            <a:off x="2173300" y="3803901"/>
            <a:ext cx="65836" cy="47548"/>
          </a:xfrm>
          <a:prstGeom prst="roundRect">
            <a:avLst/>
          </a:prstGeom>
          <a:solidFill>
            <a:srgbClr val="E9ECEF"/>
          </a:solidFill>
          <a:ln w="3175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ounded Rectangle 118"/>
          <p:cNvSpPr/>
          <p:nvPr/>
        </p:nvSpPr>
        <p:spPr>
          <a:xfrm>
            <a:off x="2251938" y="3803901"/>
            <a:ext cx="119329" cy="47548"/>
          </a:xfrm>
          <a:prstGeom prst="roundRect">
            <a:avLst/>
          </a:prstGeom>
          <a:solidFill>
            <a:srgbClr val="E9ECEF"/>
          </a:solidFill>
          <a:ln w="3175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Rounded Rectangle 119"/>
          <p:cNvSpPr/>
          <p:nvPr/>
        </p:nvSpPr>
        <p:spPr>
          <a:xfrm>
            <a:off x="2384069" y="3803901"/>
            <a:ext cx="74066" cy="47548"/>
          </a:xfrm>
          <a:prstGeom prst="roundRect">
            <a:avLst/>
          </a:prstGeom>
          <a:solidFill>
            <a:srgbClr val="E9ECEF"/>
          </a:solidFill>
          <a:ln w="3175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Rounded Rectangle 120"/>
          <p:cNvSpPr/>
          <p:nvPr/>
        </p:nvSpPr>
        <p:spPr>
          <a:xfrm>
            <a:off x="2470937" y="3803901"/>
            <a:ext cx="185166" cy="47548"/>
          </a:xfrm>
          <a:prstGeom prst="roundRect">
            <a:avLst/>
          </a:prstGeom>
          <a:solidFill>
            <a:srgbClr val="E9ECEF"/>
          </a:solidFill>
          <a:ln w="3175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Rounded Rectangle 121"/>
          <p:cNvSpPr/>
          <p:nvPr/>
        </p:nvSpPr>
        <p:spPr>
          <a:xfrm>
            <a:off x="2668905" y="3803901"/>
            <a:ext cx="50292" cy="47548"/>
          </a:xfrm>
          <a:prstGeom prst="roundRect">
            <a:avLst/>
          </a:prstGeom>
          <a:solidFill>
            <a:srgbClr val="E9ECEF"/>
          </a:solidFill>
          <a:ln w="3175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3" name="Connector 122"/>
          <p:cNvCxnSpPr/>
          <p:nvPr/>
        </p:nvCxnSpPr>
        <p:spPr>
          <a:xfrm flipV="1">
            <a:off x="1661922" y="3721605"/>
            <a:ext cx="0" cy="106070"/>
          </a:xfrm>
          <a:prstGeom prst="line">
            <a:avLst/>
          </a:prstGeom>
          <a:ln w="14604">
            <a:solidFill>
              <a:srgbClr val="0055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1661922" y="3721605"/>
            <a:ext cx="111556" cy="0"/>
          </a:xfrm>
          <a:prstGeom prst="line">
            <a:avLst/>
          </a:prstGeom>
          <a:ln w="14604">
            <a:solidFill>
              <a:srgbClr val="0055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1773478" y="3721605"/>
            <a:ext cx="0" cy="106070"/>
          </a:xfrm>
          <a:prstGeom prst="line">
            <a:avLst/>
          </a:prstGeom>
          <a:ln w="14604">
            <a:solidFill>
              <a:srgbClr val="0055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Rounded Rectangle 125"/>
          <p:cNvSpPr/>
          <p:nvPr/>
        </p:nvSpPr>
        <p:spPr>
          <a:xfrm>
            <a:off x="3575304" y="3218685"/>
            <a:ext cx="2084831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27" name="Oval 126"/>
          <p:cNvSpPr/>
          <p:nvPr/>
        </p:nvSpPr>
        <p:spPr>
          <a:xfrm>
            <a:off x="3703320" y="3337557"/>
            <a:ext cx="320040" cy="320040"/>
          </a:xfrm>
          <a:prstGeom prst="ellipse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3703320" y="3337557"/>
            <a:ext cx="32004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105656" y="3310125"/>
            <a:ext cx="1417320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60" b="1">
                <a:solidFill>
                  <a:srgbClr val="000000"/>
                </a:solidFill>
                <a:latin typeface="Arial"/>
              </a:rPr>
              <a:t>cause link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4105656" y="3511293"/>
            <a:ext cx="1417320" cy="1554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25" b="0">
                <a:solidFill>
                  <a:srgbClr val="737373"/>
                </a:solidFill>
                <a:latin typeface="Arial"/>
              </a:rPr>
              <a:t>because -&gt; understaffed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3694175" y="3803901"/>
            <a:ext cx="69951" cy="47548"/>
          </a:xfrm>
          <a:prstGeom prst="roundRect">
            <a:avLst/>
          </a:prstGeom>
          <a:solidFill>
            <a:srgbClr val="E9ECEF"/>
          </a:solidFill>
          <a:ln w="3175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Rounded Rectangle 131"/>
          <p:cNvSpPr/>
          <p:nvPr/>
        </p:nvSpPr>
        <p:spPr>
          <a:xfrm>
            <a:off x="3776929" y="3803901"/>
            <a:ext cx="113157" cy="47548"/>
          </a:xfrm>
          <a:prstGeom prst="roundRect">
            <a:avLst/>
          </a:prstGeom>
          <a:solidFill>
            <a:srgbClr val="E9ECEF"/>
          </a:solidFill>
          <a:ln w="3175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Rounded Rectangle 132"/>
          <p:cNvSpPr/>
          <p:nvPr/>
        </p:nvSpPr>
        <p:spPr>
          <a:xfrm>
            <a:off x="3902887" y="3803901"/>
            <a:ext cx="74066" cy="47548"/>
          </a:xfrm>
          <a:prstGeom prst="roundRect">
            <a:avLst/>
          </a:prstGeom>
          <a:solidFill>
            <a:srgbClr val="E9ECEF"/>
          </a:solidFill>
          <a:ln w="3175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Rounded Rectangle 133"/>
          <p:cNvSpPr/>
          <p:nvPr/>
        </p:nvSpPr>
        <p:spPr>
          <a:xfrm>
            <a:off x="3989755" y="3803901"/>
            <a:ext cx="94640" cy="47548"/>
          </a:xfrm>
          <a:prstGeom prst="roundRect">
            <a:avLst/>
          </a:prstGeom>
          <a:solidFill>
            <a:srgbClr val="E9ECEF"/>
          </a:solidFill>
          <a:ln w="3175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Rounded Rectangle 134"/>
          <p:cNvSpPr/>
          <p:nvPr/>
        </p:nvSpPr>
        <p:spPr>
          <a:xfrm>
            <a:off x="4097197" y="3803901"/>
            <a:ext cx="50292" cy="47548"/>
          </a:xfrm>
          <a:prstGeom prst="roundRect">
            <a:avLst/>
          </a:prstGeom>
          <a:solidFill>
            <a:srgbClr val="E9ECEF"/>
          </a:solidFill>
          <a:ln w="3175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Rounded Rectangle 135"/>
          <p:cNvSpPr/>
          <p:nvPr/>
        </p:nvSpPr>
        <p:spPr>
          <a:xfrm>
            <a:off x="4160291" y="3803901"/>
            <a:ext cx="65836" cy="47548"/>
          </a:xfrm>
          <a:prstGeom prst="roundRect">
            <a:avLst/>
          </a:prstGeom>
          <a:solidFill>
            <a:srgbClr val="E9ECEF"/>
          </a:solidFill>
          <a:ln w="3175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Rounded Rectangle 136"/>
          <p:cNvSpPr/>
          <p:nvPr/>
        </p:nvSpPr>
        <p:spPr>
          <a:xfrm>
            <a:off x="4238929" y="3803901"/>
            <a:ext cx="50292" cy="47548"/>
          </a:xfrm>
          <a:prstGeom prst="roundRect">
            <a:avLst/>
          </a:prstGeom>
          <a:solidFill>
            <a:srgbClr val="E9ECEF"/>
          </a:solidFill>
          <a:ln w="3175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Rounded Rectangle 137"/>
          <p:cNvSpPr/>
          <p:nvPr/>
        </p:nvSpPr>
        <p:spPr>
          <a:xfrm>
            <a:off x="4302023" y="3803901"/>
            <a:ext cx="78181" cy="47548"/>
          </a:xfrm>
          <a:prstGeom prst="roundRect">
            <a:avLst/>
          </a:prstGeom>
          <a:solidFill>
            <a:srgbClr val="E9ECEF"/>
          </a:solidFill>
          <a:ln w="3175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Rounded Rectangle 138"/>
          <p:cNvSpPr/>
          <p:nvPr/>
        </p:nvSpPr>
        <p:spPr>
          <a:xfrm>
            <a:off x="4393006" y="3803901"/>
            <a:ext cx="119329" cy="47548"/>
          </a:xfrm>
          <a:prstGeom prst="roundRect">
            <a:avLst/>
          </a:prstGeom>
          <a:solidFill>
            <a:srgbClr val="E9ECEF"/>
          </a:solidFill>
          <a:ln w="3175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Rounded Rectangle 139"/>
          <p:cNvSpPr/>
          <p:nvPr/>
        </p:nvSpPr>
        <p:spPr>
          <a:xfrm>
            <a:off x="4525136" y="3803901"/>
            <a:ext cx="50292" cy="47548"/>
          </a:xfrm>
          <a:prstGeom prst="roundRect">
            <a:avLst/>
          </a:prstGeom>
          <a:solidFill>
            <a:srgbClr val="E9ECEF"/>
          </a:solidFill>
          <a:ln w="3175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Rounded Rectangle 140"/>
          <p:cNvSpPr/>
          <p:nvPr/>
        </p:nvSpPr>
        <p:spPr>
          <a:xfrm>
            <a:off x="4588230" y="3803901"/>
            <a:ext cx="98755" cy="47548"/>
          </a:xfrm>
          <a:prstGeom prst="roundRect">
            <a:avLst/>
          </a:prstGeom>
          <a:solidFill>
            <a:srgbClr val="E9ECEF"/>
          </a:solidFill>
          <a:ln w="3175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Rounded Rectangle 141"/>
          <p:cNvSpPr/>
          <p:nvPr/>
        </p:nvSpPr>
        <p:spPr>
          <a:xfrm>
            <a:off x="4699787" y="3803901"/>
            <a:ext cx="139903" cy="47548"/>
          </a:xfrm>
          <a:prstGeom prst="roundRect">
            <a:avLst/>
          </a:prstGeom>
          <a:solidFill>
            <a:srgbClr val="E9ECEF"/>
          </a:solidFill>
          <a:ln w="3175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Rounded Rectangle 142"/>
          <p:cNvSpPr/>
          <p:nvPr/>
        </p:nvSpPr>
        <p:spPr>
          <a:xfrm>
            <a:off x="4852492" y="3803901"/>
            <a:ext cx="65836" cy="47548"/>
          </a:xfrm>
          <a:prstGeom prst="roundRect">
            <a:avLst/>
          </a:prstGeom>
          <a:solidFill>
            <a:srgbClr val="E9ECEF"/>
          </a:solidFill>
          <a:ln w="3175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Rounded Rectangle 143"/>
          <p:cNvSpPr/>
          <p:nvPr/>
        </p:nvSpPr>
        <p:spPr>
          <a:xfrm>
            <a:off x="4931130" y="3803901"/>
            <a:ext cx="119329" cy="47548"/>
          </a:xfrm>
          <a:prstGeom prst="roundRect">
            <a:avLst/>
          </a:prstGeom>
          <a:solidFill>
            <a:srgbClr val="E9ECEF"/>
          </a:solidFill>
          <a:ln w="3175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Rounded Rectangle 144"/>
          <p:cNvSpPr/>
          <p:nvPr/>
        </p:nvSpPr>
        <p:spPr>
          <a:xfrm>
            <a:off x="5063261" y="3803901"/>
            <a:ext cx="74066" cy="47548"/>
          </a:xfrm>
          <a:prstGeom prst="roundRect">
            <a:avLst/>
          </a:prstGeom>
          <a:solidFill>
            <a:srgbClr val="E9ECEF"/>
          </a:solidFill>
          <a:ln w="3175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Rounded Rectangle 145"/>
          <p:cNvSpPr/>
          <p:nvPr/>
        </p:nvSpPr>
        <p:spPr>
          <a:xfrm>
            <a:off x="5150129" y="3803901"/>
            <a:ext cx="185166" cy="47548"/>
          </a:xfrm>
          <a:prstGeom prst="roundRect">
            <a:avLst/>
          </a:prstGeom>
          <a:solidFill>
            <a:srgbClr val="E9ECEF"/>
          </a:solidFill>
          <a:ln w="3175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Rounded Rectangle 146"/>
          <p:cNvSpPr/>
          <p:nvPr/>
        </p:nvSpPr>
        <p:spPr>
          <a:xfrm>
            <a:off x="5348096" y="3803901"/>
            <a:ext cx="50292" cy="47548"/>
          </a:xfrm>
          <a:prstGeom prst="roundRect">
            <a:avLst/>
          </a:prstGeom>
          <a:solidFill>
            <a:srgbClr val="E9ECEF"/>
          </a:solidFill>
          <a:ln w="3175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48" name="Connector 147"/>
          <p:cNvCxnSpPr/>
          <p:nvPr/>
        </p:nvCxnSpPr>
        <p:spPr>
          <a:xfrm flipV="1">
            <a:off x="4769738" y="3721605"/>
            <a:ext cx="0" cy="106070"/>
          </a:xfrm>
          <a:prstGeom prst="line">
            <a:avLst/>
          </a:prstGeom>
          <a:ln w="14604">
            <a:solidFill>
              <a:srgbClr val="0055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4769738" y="3721605"/>
            <a:ext cx="472974" cy="0"/>
          </a:xfrm>
          <a:prstGeom prst="line">
            <a:avLst/>
          </a:prstGeom>
          <a:ln w="14604">
            <a:solidFill>
              <a:srgbClr val="0055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5242712" y="3721605"/>
            <a:ext cx="0" cy="106070"/>
          </a:xfrm>
          <a:prstGeom prst="line">
            <a:avLst/>
          </a:prstGeom>
          <a:ln w="14604">
            <a:solidFill>
              <a:srgbClr val="0055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Rounded Rectangle 150"/>
          <p:cNvSpPr/>
          <p:nvPr/>
        </p:nvSpPr>
        <p:spPr>
          <a:xfrm>
            <a:off x="6254496" y="3218685"/>
            <a:ext cx="2084831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52" name="Oval 151"/>
          <p:cNvSpPr/>
          <p:nvPr/>
        </p:nvSpPr>
        <p:spPr>
          <a:xfrm>
            <a:off x="6382512" y="3337557"/>
            <a:ext cx="320040" cy="320040"/>
          </a:xfrm>
          <a:prstGeom prst="ellipse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extBox 152"/>
          <p:cNvSpPr txBox="1"/>
          <p:nvPr/>
        </p:nvSpPr>
        <p:spPr>
          <a:xfrm>
            <a:off x="6382512" y="3337557"/>
            <a:ext cx="32004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784848" y="3310125"/>
            <a:ext cx="1417320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60" b="1">
                <a:solidFill>
                  <a:srgbClr val="000000"/>
                </a:solidFill>
                <a:latin typeface="Arial"/>
              </a:rPr>
              <a:t>past tense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784848" y="3511293"/>
            <a:ext cx="1417320" cy="1554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25" b="0">
                <a:solidFill>
                  <a:srgbClr val="737373"/>
                </a:solidFill>
                <a:latin typeface="Arial"/>
              </a:rPr>
              <a:t>was / took / was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6373368" y="3803901"/>
            <a:ext cx="69951" cy="47548"/>
          </a:xfrm>
          <a:prstGeom prst="roundRect">
            <a:avLst/>
          </a:prstGeom>
          <a:solidFill>
            <a:srgbClr val="E9ECEF"/>
          </a:solidFill>
          <a:ln w="3175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Rounded Rectangle 156"/>
          <p:cNvSpPr/>
          <p:nvPr/>
        </p:nvSpPr>
        <p:spPr>
          <a:xfrm>
            <a:off x="6456121" y="3803901"/>
            <a:ext cx="113157" cy="47548"/>
          </a:xfrm>
          <a:prstGeom prst="roundRect">
            <a:avLst/>
          </a:prstGeom>
          <a:solidFill>
            <a:srgbClr val="E9ECEF"/>
          </a:solidFill>
          <a:ln w="3175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Rounded Rectangle 157"/>
          <p:cNvSpPr/>
          <p:nvPr/>
        </p:nvSpPr>
        <p:spPr>
          <a:xfrm>
            <a:off x="6582079" y="3803901"/>
            <a:ext cx="74066" cy="47548"/>
          </a:xfrm>
          <a:prstGeom prst="roundRect">
            <a:avLst/>
          </a:prstGeom>
          <a:solidFill>
            <a:srgbClr val="E9ECEF"/>
          </a:solidFill>
          <a:ln w="3175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Rounded Rectangle 158"/>
          <p:cNvSpPr/>
          <p:nvPr/>
        </p:nvSpPr>
        <p:spPr>
          <a:xfrm>
            <a:off x="6668947" y="3803901"/>
            <a:ext cx="94640" cy="47548"/>
          </a:xfrm>
          <a:prstGeom prst="roundRect">
            <a:avLst/>
          </a:prstGeom>
          <a:solidFill>
            <a:srgbClr val="E9ECEF"/>
          </a:solidFill>
          <a:ln w="3175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Rounded Rectangle 159"/>
          <p:cNvSpPr/>
          <p:nvPr/>
        </p:nvSpPr>
        <p:spPr>
          <a:xfrm>
            <a:off x="6776389" y="3803901"/>
            <a:ext cx="50292" cy="47548"/>
          </a:xfrm>
          <a:prstGeom prst="roundRect">
            <a:avLst/>
          </a:prstGeom>
          <a:solidFill>
            <a:srgbClr val="E9ECEF"/>
          </a:solidFill>
          <a:ln w="3175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Rounded Rectangle 160"/>
          <p:cNvSpPr/>
          <p:nvPr/>
        </p:nvSpPr>
        <p:spPr>
          <a:xfrm>
            <a:off x="6839483" y="3803901"/>
            <a:ext cx="65836" cy="47548"/>
          </a:xfrm>
          <a:prstGeom prst="roundRect">
            <a:avLst/>
          </a:prstGeom>
          <a:solidFill>
            <a:srgbClr val="E9ECEF"/>
          </a:solidFill>
          <a:ln w="3175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Rounded Rectangle 161"/>
          <p:cNvSpPr/>
          <p:nvPr/>
        </p:nvSpPr>
        <p:spPr>
          <a:xfrm>
            <a:off x="6918121" y="3803901"/>
            <a:ext cx="50292" cy="47548"/>
          </a:xfrm>
          <a:prstGeom prst="roundRect">
            <a:avLst/>
          </a:prstGeom>
          <a:solidFill>
            <a:srgbClr val="E9ECEF"/>
          </a:solidFill>
          <a:ln w="3175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Rounded Rectangle 162"/>
          <p:cNvSpPr/>
          <p:nvPr/>
        </p:nvSpPr>
        <p:spPr>
          <a:xfrm>
            <a:off x="6981215" y="3803901"/>
            <a:ext cx="78181" cy="47548"/>
          </a:xfrm>
          <a:prstGeom prst="roundRect">
            <a:avLst/>
          </a:prstGeom>
          <a:solidFill>
            <a:srgbClr val="E9ECEF"/>
          </a:solidFill>
          <a:ln w="3175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Rounded Rectangle 163"/>
          <p:cNvSpPr/>
          <p:nvPr/>
        </p:nvSpPr>
        <p:spPr>
          <a:xfrm>
            <a:off x="7072198" y="3803901"/>
            <a:ext cx="119329" cy="47548"/>
          </a:xfrm>
          <a:prstGeom prst="roundRect">
            <a:avLst/>
          </a:prstGeom>
          <a:solidFill>
            <a:srgbClr val="E9ECEF"/>
          </a:solidFill>
          <a:ln w="3175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Rounded Rectangle 164"/>
          <p:cNvSpPr/>
          <p:nvPr/>
        </p:nvSpPr>
        <p:spPr>
          <a:xfrm>
            <a:off x="7204328" y="3803901"/>
            <a:ext cx="50292" cy="47548"/>
          </a:xfrm>
          <a:prstGeom prst="roundRect">
            <a:avLst/>
          </a:prstGeom>
          <a:solidFill>
            <a:srgbClr val="E9ECEF"/>
          </a:solidFill>
          <a:ln w="3175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Rounded Rectangle 165"/>
          <p:cNvSpPr/>
          <p:nvPr/>
        </p:nvSpPr>
        <p:spPr>
          <a:xfrm>
            <a:off x="7267422" y="3803901"/>
            <a:ext cx="98755" cy="47548"/>
          </a:xfrm>
          <a:prstGeom prst="roundRect">
            <a:avLst/>
          </a:prstGeom>
          <a:solidFill>
            <a:srgbClr val="E9ECEF"/>
          </a:solidFill>
          <a:ln w="3175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Rounded Rectangle 166"/>
          <p:cNvSpPr/>
          <p:nvPr/>
        </p:nvSpPr>
        <p:spPr>
          <a:xfrm>
            <a:off x="7378979" y="3803901"/>
            <a:ext cx="139903" cy="47548"/>
          </a:xfrm>
          <a:prstGeom prst="roundRect">
            <a:avLst/>
          </a:prstGeom>
          <a:solidFill>
            <a:srgbClr val="E9ECEF"/>
          </a:solidFill>
          <a:ln w="3175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Rounded Rectangle 167"/>
          <p:cNvSpPr/>
          <p:nvPr/>
        </p:nvSpPr>
        <p:spPr>
          <a:xfrm>
            <a:off x="7531684" y="3803901"/>
            <a:ext cx="65836" cy="47548"/>
          </a:xfrm>
          <a:prstGeom prst="roundRect">
            <a:avLst/>
          </a:prstGeom>
          <a:solidFill>
            <a:srgbClr val="E9ECEF"/>
          </a:solidFill>
          <a:ln w="3175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Rounded Rectangle 168"/>
          <p:cNvSpPr/>
          <p:nvPr/>
        </p:nvSpPr>
        <p:spPr>
          <a:xfrm>
            <a:off x="7610322" y="3803901"/>
            <a:ext cx="119329" cy="47548"/>
          </a:xfrm>
          <a:prstGeom prst="roundRect">
            <a:avLst/>
          </a:prstGeom>
          <a:solidFill>
            <a:srgbClr val="E9ECEF"/>
          </a:solidFill>
          <a:ln w="3175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Rounded Rectangle 169"/>
          <p:cNvSpPr/>
          <p:nvPr/>
        </p:nvSpPr>
        <p:spPr>
          <a:xfrm>
            <a:off x="7742453" y="3803901"/>
            <a:ext cx="74066" cy="47548"/>
          </a:xfrm>
          <a:prstGeom prst="roundRect">
            <a:avLst/>
          </a:prstGeom>
          <a:solidFill>
            <a:srgbClr val="E9ECEF"/>
          </a:solidFill>
          <a:ln w="3175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Rounded Rectangle 170"/>
          <p:cNvSpPr/>
          <p:nvPr/>
        </p:nvSpPr>
        <p:spPr>
          <a:xfrm>
            <a:off x="7829321" y="3803901"/>
            <a:ext cx="185166" cy="47548"/>
          </a:xfrm>
          <a:prstGeom prst="roundRect">
            <a:avLst/>
          </a:prstGeom>
          <a:solidFill>
            <a:srgbClr val="E9ECEF"/>
          </a:solidFill>
          <a:ln w="3175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Rounded Rectangle 171"/>
          <p:cNvSpPr/>
          <p:nvPr/>
        </p:nvSpPr>
        <p:spPr>
          <a:xfrm>
            <a:off x="8027288" y="3803901"/>
            <a:ext cx="50292" cy="47548"/>
          </a:xfrm>
          <a:prstGeom prst="roundRect">
            <a:avLst/>
          </a:prstGeom>
          <a:solidFill>
            <a:srgbClr val="E9ECEF"/>
          </a:solidFill>
          <a:ln w="3175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73" name="Connector 172"/>
          <p:cNvCxnSpPr/>
          <p:nvPr/>
        </p:nvCxnSpPr>
        <p:spPr>
          <a:xfrm flipV="1">
            <a:off x="6619112" y="3721605"/>
            <a:ext cx="0" cy="106070"/>
          </a:xfrm>
          <a:prstGeom prst="line">
            <a:avLst/>
          </a:prstGeom>
          <a:ln w="14604">
            <a:solidFill>
              <a:srgbClr val="0055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6619112" y="3721605"/>
            <a:ext cx="401193" cy="0"/>
          </a:xfrm>
          <a:prstGeom prst="line">
            <a:avLst/>
          </a:prstGeom>
          <a:ln w="14604">
            <a:solidFill>
              <a:srgbClr val="0055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7020305" y="3721605"/>
            <a:ext cx="0" cy="106070"/>
          </a:xfrm>
          <a:prstGeom prst="line">
            <a:avLst/>
          </a:prstGeom>
          <a:ln w="14604">
            <a:solidFill>
              <a:srgbClr val="0055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7020305" y="3721605"/>
            <a:ext cx="0" cy="106070"/>
          </a:xfrm>
          <a:prstGeom prst="line">
            <a:avLst/>
          </a:prstGeom>
          <a:ln w="14604">
            <a:solidFill>
              <a:srgbClr val="0055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7020305" y="3721605"/>
            <a:ext cx="759181" cy="0"/>
          </a:xfrm>
          <a:prstGeom prst="line">
            <a:avLst/>
          </a:prstGeom>
          <a:ln w="14604">
            <a:solidFill>
              <a:srgbClr val="0055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7779486" y="3721605"/>
            <a:ext cx="0" cy="106070"/>
          </a:xfrm>
          <a:prstGeom prst="line">
            <a:avLst/>
          </a:prstGeom>
          <a:ln w="14604">
            <a:solidFill>
              <a:srgbClr val="0055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" name="TextBox 180">
            <a:extLst>
              <a:ext uri="{FF2B5EF4-FFF2-40B4-BE49-F238E27FC236}">
                <a16:creationId xmlns:a16="http://schemas.microsoft.com/office/drawing/2014/main" id="{541F3762-008B-8111-6FA8-656F36683A8D}"/>
              </a:ext>
            </a:extLst>
          </p:cNvPr>
          <p:cNvSpPr txBox="1"/>
          <p:nvPr/>
        </p:nvSpPr>
        <p:spPr>
          <a:xfrm>
            <a:off x="452970" y="4407686"/>
            <a:ext cx="805517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Arial"/>
              </a:rPr>
              <a:t>Multiple heads give the model many specialized “views” of the same text</a:t>
            </a:r>
          </a:p>
        </p:txBody>
      </p:sp>
    </p:spTree>
    <p:extLst>
      <p:ext uri="{BB962C8B-B14F-4D97-AF65-F5344CB8AC3E}">
        <p14:creationId xmlns:p14="http://schemas.microsoft.com/office/powerpoint/2010/main" val="111677232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D49EC-1D94-418C-01B3-17A838AB9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0EC05BE-C592-9831-13C7-73A6DA202A4E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CD615A6-AC3E-21C7-D36A-50C007EA8735}"/>
              </a:ext>
            </a:extLst>
          </p:cNvPr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1">
            <a:extLst>
              <a:ext uri="{FF2B5EF4-FFF2-40B4-BE49-F238E27FC236}">
                <a16:creationId xmlns:a16="http://schemas.microsoft.com/office/drawing/2014/main" id="{DC9948A2-3299-84A7-D3B1-5A0F15D6FB7E}"/>
              </a:ext>
            </a:extLst>
          </p:cNvPr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cs typeface="Whitney Bold" pitchFamily="34" charset="-120"/>
              </a:rPr>
              <a:t>Classification with 1 Transformer Block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FE72A8-6D79-28FD-CFE8-A091F41FF66D}"/>
              </a:ext>
            </a:extLst>
          </p:cNvPr>
          <p:cNvSpPr txBox="1"/>
          <p:nvPr/>
        </p:nvSpPr>
        <p:spPr>
          <a:xfrm>
            <a:off x="4500507" y="1988724"/>
            <a:ext cx="62239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x̂</a:t>
            </a:r>
            <a:r>
              <a:rPr lang="en-US" baseline="-250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</a:p>
          <a:p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x̂</a:t>
            </a:r>
            <a:r>
              <a:rPr lang="en-US" baseline="-250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</a:p>
          <a:p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x̂</a:t>
            </a:r>
            <a:r>
              <a:rPr lang="en-US" baseline="-250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</a:t>
            </a:r>
          </a:p>
          <a:p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x̂</a:t>
            </a:r>
            <a:r>
              <a:rPr lang="en-US" baseline="-250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  <a:p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x̂</a:t>
            </a:r>
            <a:r>
              <a:rPr lang="en-US" baseline="-250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br>
              <a:rPr lang="en-US" baseline="-250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x̂</a:t>
            </a:r>
            <a:r>
              <a:rPr lang="en-US" baseline="-250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35DD972-7444-BD44-DBF9-D21053A652C0}"/>
              </a:ext>
            </a:extLst>
          </p:cNvPr>
          <p:cNvSpPr/>
          <p:nvPr/>
        </p:nvSpPr>
        <p:spPr>
          <a:xfrm>
            <a:off x="1853577" y="2050314"/>
            <a:ext cx="2196939" cy="1624783"/>
          </a:xfrm>
          <a:prstGeom prst="roundRect">
            <a:avLst/>
          </a:prstGeom>
          <a:solidFill>
            <a:srgbClr val="7030A0">
              <a:alpha val="2535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23268C-9AB4-6047-FF94-17340A71A4A1}"/>
              </a:ext>
            </a:extLst>
          </p:cNvPr>
          <p:cNvSpPr txBox="1"/>
          <p:nvPr/>
        </p:nvSpPr>
        <p:spPr>
          <a:xfrm>
            <a:off x="1041029" y="1954359"/>
            <a:ext cx="69294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4A8D40A-8404-740D-4BA0-6DD4F28955A8}"/>
              </a:ext>
            </a:extLst>
          </p:cNvPr>
          <p:cNvSpPr txBox="1"/>
          <p:nvPr/>
        </p:nvSpPr>
        <p:spPr>
          <a:xfrm>
            <a:off x="1771900" y="1664872"/>
            <a:ext cx="2321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i="1" dirty="0">
                <a:latin typeface="Arial" panose="020B0604020202020204" pitchFamily="34" charset="0"/>
                <a:cs typeface="Arial" panose="020B0604020202020204" pitchFamily="34" charset="0"/>
              </a:rPr>
              <a:t>Transformer block</a:t>
            </a:r>
          </a:p>
          <a:p>
            <a:pPr algn="ctr"/>
            <a:r>
              <a:rPr lang="en-US" sz="900" i="1" dirty="0">
                <a:latin typeface="Arial" panose="020B0604020202020204" pitchFamily="34" charset="0"/>
                <a:cs typeface="Arial" panose="020B0604020202020204" pitchFamily="34" charset="0"/>
              </a:rPr>
              <a:t>(multiple attention heads + 1 dense layer)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3048C56-95C7-4055-1790-0A06018AB8BD}"/>
              </a:ext>
            </a:extLst>
          </p:cNvPr>
          <p:cNvCxnSpPr>
            <a:cxnSpLocks/>
          </p:cNvCxnSpPr>
          <p:nvPr/>
        </p:nvCxnSpPr>
        <p:spPr>
          <a:xfrm>
            <a:off x="5366107" y="2853102"/>
            <a:ext cx="217013" cy="37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34E775E5-8821-3848-1D53-68DA3DA4D9DA}"/>
              </a:ext>
            </a:extLst>
          </p:cNvPr>
          <p:cNvSpPr txBox="1"/>
          <p:nvPr/>
        </p:nvSpPr>
        <p:spPr>
          <a:xfrm>
            <a:off x="5623055" y="2640783"/>
            <a:ext cx="622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x̂</a:t>
            </a:r>
            <a:r>
              <a:rPr lang="en-US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avg</a:t>
            </a:r>
            <a:endParaRPr lang="en-US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9FEED944-713A-5EC9-4E80-B066B841CDD9}"/>
              </a:ext>
            </a:extLst>
          </p:cNvPr>
          <p:cNvCxnSpPr>
            <a:cxnSpLocks/>
          </p:cNvCxnSpPr>
          <p:nvPr/>
        </p:nvCxnSpPr>
        <p:spPr>
          <a:xfrm>
            <a:off x="4132047" y="2175120"/>
            <a:ext cx="340283" cy="0"/>
          </a:xfrm>
          <a:prstGeom prst="straightConnector1">
            <a:avLst/>
          </a:prstGeom>
          <a:ln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A8F0D3F-ACB1-03F5-F157-8F5F14E55AB5}"/>
              </a:ext>
            </a:extLst>
          </p:cNvPr>
          <p:cNvCxnSpPr>
            <a:cxnSpLocks/>
          </p:cNvCxnSpPr>
          <p:nvPr/>
        </p:nvCxnSpPr>
        <p:spPr>
          <a:xfrm>
            <a:off x="4132046" y="2456108"/>
            <a:ext cx="340284" cy="0"/>
          </a:xfrm>
          <a:prstGeom prst="straightConnector1">
            <a:avLst/>
          </a:prstGeom>
          <a:ln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39D4291-B101-DE17-0670-28878CAE3F91}"/>
              </a:ext>
            </a:extLst>
          </p:cNvPr>
          <p:cNvCxnSpPr>
            <a:cxnSpLocks/>
          </p:cNvCxnSpPr>
          <p:nvPr/>
        </p:nvCxnSpPr>
        <p:spPr>
          <a:xfrm>
            <a:off x="4132045" y="2729951"/>
            <a:ext cx="340285" cy="0"/>
          </a:xfrm>
          <a:prstGeom prst="straightConnector1">
            <a:avLst/>
          </a:prstGeom>
          <a:ln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88A9479-7AA7-4605-BBEC-EC6E754073A7}"/>
              </a:ext>
            </a:extLst>
          </p:cNvPr>
          <p:cNvCxnSpPr>
            <a:cxnSpLocks/>
          </p:cNvCxnSpPr>
          <p:nvPr/>
        </p:nvCxnSpPr>
        <p:spPr>
          <a:xfrm>
            <a:off x="4132044" y="3003795"/>
            <a:ext cx="340286" cy="0"/>
          </a:xfrm>
          <a:prstGeom prst="straightConnector1">
            <a:avLst/>
          </a:prstGeom>
          <a:ln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885A703-FDB4-0BEE-7D88-85E6CEC6BA20}"/>
              </a:ext>
            </a:extLst>
          </p:cNvPr>
          <p:cNvCxnSpPr>
            <a:cxnSpLocks/>
          </p:cNvCxnSpPr>
          <p:nvPr/>
        </p:nvCxnSpPr>
        <p:spPr>
          <a:xfrm>
            <a:off x="4132043" y="3299412"/>
            <a:ext cx="340287" cy="0"/>
          </a:xfrm>
          <a:prstGeom prst="straightConnector1">
            <a:avLst/>
          </a:prstGeom>
          <a:ln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CC7F7CA-1DAD-FAC6-A227-842A8911C0D2}"/>
              </a:ext>
            </a:extLst>
          </p:cNvPr>
          <p:cNvCxnSpPr>
            <a:cxnSpLocks/>
          </p:cNvCxnSpPr>
          <p:nvPr/>
        </p:nvCxnSpPr>
        <p:spPr>
          <a:xfrm>
            <a:off x="4132043" y="3561836"/>
            <a:ext cx="340287" cy="0"/>
          </a:xfrm>
          <a:prstGeom prst="straightConnector1">
            <a:avLst/>
          </a:prstGeom>
          <a:ln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A789364-0004-E5B8-C908-D67102C8D833}"/>
              </a:ext>
            </a:extLst>
          </p:cNvPr>
          <p:cNvCxnSpPr>
            <a:cxnSpLocks/>
          </p:cNvCxnSpPr>
          <p:nvPr/>
        </p:nvCxnSpPr>
        <p:spPr>
          <a:xfrm>
            <a:off x="1405623" y="2172194"/>
            <a:ext cx="340283" cy="0"/>
          </a:xfrm>
          <a:prstGeom prst="straightConnector1">
            <a:avLst/>
          </a:prstGeom>
          <a:ln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667534C-01B2-B1EC-2859-886A36BA16B2}"/>
              </a:ext>
            </a:extLst>
          </p:cNvPr>
          <p:cNvCxnSpPr>
            <a:cxnSpLocks/>
          </p:cNvCxnSpPr>
          <p:nvPr/>
        </p:nvCxnSpPr>
        <p:spPr>
          <a:xfrm>
            <a:off x="1405622" y="2453182"/>
            <a:ext cx="340284" cy="0"/>
          </a:xfrm>
          <a:prstGeom prst="straightConnector1">
            <a:avLst/>
          </a:prstGeom>
          <a:ln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46E59E0-F1A0-64DB-CE4C-6B08BFB70C3B}"/>
              </a:ext>
            </a:extLst>
          </p:cNvPr>
          <p:cNvCxnSpPr>
            <a:cxnSpLocks/>
          </p:cNvCxnSpPr>
          <p:nvPr/>
        </p:nvCxnSpPr>
        <p:spPr>
          <a:xfrm>
            <a:off x="1405621" y="2727025"/>
            <a:ext cx="340285" cy="0"/>
          </a:xfrm>
          <a:prstGeom prst="straightConnector1">
            <a:avLst/>
          </a:prstGeom>
          <a:ln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3EE3AEF-2304-A1CC-FDC0-438237F317EF}"/>
              </a:ext>
            </a:extLst>
          </p:cNvPr>
          <p:cNvCxnSpPr>
            <a:cxnSpLocks/>
          </p:cNvCxnSpPr>
          <p:nvPr/>
        </p:nvCxnSpPr>
        <p:spPr>
          <a:xfrm>
            <a:off x="1405620" y="3000869"/>
            <a:ext cx="340286" cy="0"/>
          </a:xfrm>
          <a:prstGeom prst="straightConnector1">
            <a:avLst/>
          </a:prstGeom>
          <a:ln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82F7E0F-8024-FC1F-096C-2155210BF353}"/>
              </a:ext>
            </a:extLst>
          </p:cNvPr>
          <p:cNvCxnSpPr>
            <a:cxnSpLocks/>
          </p:cNvCxnSpPr>
          <p:nvPr/>
        </p:nvCxnSpPr>
        <p:spPr>
          <a:xfrm>
            <a:off x="1405619" y="3281856"/>
            <a:ext cx="340287" cy="0"/>
          </a:xfrm>
          <a:prstGeom prst="straightConnector1">
            <a:avLst/>
          </a:prstGeom>
          <a:ln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800AE46A-ABAD-4E7C-5672-4BF92161E8B6}"/>
              </a:ext>
            </a:extLst>
          </p:cNvPr>
          <p:cNvCxnSpPr>
            <a:cxnSpLocks/>
          </p:cNvCxnSpPr>
          <p:nvPr/>
        </p:nvCxnSpPr>
        <p:spPr>
          <a:xfrm>
            <a:off x="1405619" y="3536965"/>
            <a:ext cx="340287" cy="0"/>
          </a:xfrm>
          <a:prstGeom prst="straightConnector1">
            <a:avLst/>
          </a:prstGeom>
          <a:ln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92071899-FF4B-1E6D-BBDC-9513211BBD7B}"/>
              </a:ext>
            </a:extLst>
          </p:cNvPr>
          <p:cNvSpPr txBox="1"/>
          <p:nvPr/>
        </p:nvSpPr>
        <p:spPr>
          <a:xfrm>
            <a:off x="5390859" y="2416711"/>
            <a:ext cx="116443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>
                <a:latin typeface="Arial" panose="020B0604020202020204" pitchFamily="34" charset="0"/>
                <a:cs typeface="Arial" panose="020B0604020202020204" pitchFamily="34" charset="0"/>
              </a:rPr>
              <a:t>average pooling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343638EC-1A83-CD12-4EF7-74E6DC14A546}"/>
              </a:ext>
            </a:extLst>
          </p:cNvPr>
          <p:cNvCxnSpPr>
            <a:cxnSpLocks/>
          </p:cNvCxnSpPr>
          <p:nvPr/>
        </p:nvCxnSpPr>
        <p:spPr>
          <a:xfrm>
            <a:off x="4883490" y="2133455"/>
            <a:ext cx="485733" cy="720929"/>
          </a:xfrm>
          <a:prstGeom prst="straightConnector1">
            <a:avLst/>
          </a:prstGeom>
          <a:ln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840958B3-29E9-A28B-3100-38AFD8D2D45D}"/>
              </a:ext>
            </a:extLst>
          </p:cNvPr>
          <p:cNvCxnSpPr>
            <a:cxnSpLocks/>
          </p:cNvCxnSpPr>
          <p:nvPr/>
        </p:nvCxnSpPr>
        <p:spPr>
          <a:xfrm>
            <a:off x="4883489" y="2414443"/>
            <a:ext cx="485734" cy="439941"/>
          </a:xfrm>
          <a:prstGeom prst="straightConnector1">
            <a:avLst/>
          </a:prstGeom>
          <a:ln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C8C5D962-3443-9284-B8C8-A5DB56436B8D}"/>
              </a:ext>
            </a:extLst>
          </p:cNvPr>
          <p:cNvCxnSpPr>
            <a:cxnSpLocks/>
          </p:cNvCxnSpPr>
          <p:nvPr/>
        </p:nvCxnSpPr>
        <p:spPr>
          <a:xfrm>
            <a:off x="4883488" y="2688286"/>
            <a:ext cx="485735" cy="166098"/>
          </a:xfrm>
          <a:prstGeom prst="straightConnector1">
            <a:avLst/>
          </a:prstGeom>
          <a:ln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3680A6AB-BCDA-B930-2D49-75B7C4C21419}"/>
              </a:ext>
            </a:extLst>
          </p:cNvPr>
          <p:cNvCxnSpPr>
            <a:cxnSpLocks/>
          </p:cNvCxnSpPr>
          <p:nvPr/>
        </p:nvCxnSpPr>
        <p:spPr>
          <a:xfrm flipV="1">
            <a:off x="4883487" y="2854384"/>
            <a:ext cx="485736" cy="107746"/>
          </a:xfrm>
          <a:prstGeom prst="straightConnector1">
            <a:avLst/>
          </a:prstGeom>
          <a:ln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7A3A8723-B663-8083-0691-54DFB1393CAB}"/>
              </a:ext>
            </a:extLst>
          </p:cNvPr>
          <p:cNvCxnSpPr>
            <a:cxnSpLocks/>
          </p:cNvCxnSpPr>
          <p:nvPr/>
        </p:nvCxnSpPr>
        <p:spPr>
          <a:xfrm flipV="1">
            <a:off x="4883486" y="2854384"/>
            <a:ext cx="485737" cy="403363"/>
          </a:xfrm>
          <a:prstGeom prst="straightConnector1">
            <a:avLst/>
          </a:prstGeom>
          <a:ln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060DF575-13E9-43CD-B5B6-AE4AA069ABB9}"/>
              </a:ext>
            </a:extLst>
          </p:cNvPr>
          <p:cNvCxnSpPr>
            <a:cxnSpLocks/>
          </p:cNvCxnSpPr>
          <p:nvPr/>
        </p:nvCxnSpPr>
        <p:spPr>
          <a:xfrm flipV="1">
            <a:off x="4883486" y="2854384"/>
            <a:ext cx="485737" cy="665787"/>
          </a:xfrm>
          <a:prstGeom prst="straightConnector1">
            <a:avLst/>
          </a:prstGeom>
          <a:ln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DFA66BEA-9DED-E9C4-1A6F-68AB1C43D686}"/>
              </a:ext>
            </a:extLst>
          </p:cNvPr>
          <p:cNvCxnSpPr>
            <a:cxnSpLocks/>
          </p:cNvCxnSpPr>
          <p:nvPr/>
        </p:nvCxnSpPr>
        <p:spPr>
          <a:xfrm>
            <a:off x="6177216" y="2862706"/>
            <a:ext cx="334684" cy="0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33F317BE-A4DC-7BF6-17DC-E8FA3A8E0D98}"/>
              </a:ext>
            </a:extLst>
          </p:cNvPr>
          <p:cNvSpPr txBox="1"/>
          <p:nvPr/>
        </p:nvSpPr>
        <p:spPr>
          <a:xfrm>
            <a:off x="6405155" y="1755150"/>
            <a:ext cx="1332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>
                <a:latin typeface="Arial" panose="020B0604020202020204" pitchFamily="34" charset="0"/>
                <a:cs typeface="Arial" panose="020B0604020202020204" pitchFamily="34" charset="0"/>
              </a:rPr>
              <a:t>dense layer</a:t>
            </a:r>
            <a:br>
              <a:rPr lang="en-US" sz="900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9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BCE9D3B6-2132-C4AF-ECC0-19CA1403ACD4}"/>
              </a:ext>
            </a:extLst>
          </p:cNvPr>
          <p:cNvCxnSpPr>
            <a:cxnSpLocks/>
          </p:cNvCxnSpPr>
          <p:nvPr/>
        </p:nvCxnSpPr>
        <p:spPr>
          <a:xfrm>
            <a:off x="7164473" y="2865344"/>
            <a:ext cx="210949" cy="0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A8A5BD5C-FDC6-44D9-E323-D49421985EFB}"/>
              </a:ext>
            </a:extLst>
          </p:cNvPr>
          <p:cNvSpPr/>
          <p:nvPr/>
        </p:nvSpPr>
        <p:spPr>
          <a:xfrm>
            <a:off x="7585014" y="2053496"/>
            <a:ext cx="157545" cy="1624783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A58B4AB-5A2A-F508-21CA-90ACF1C374BE}"/>
              </a:ext>
            </a:extLst>
          </p:cNvPr>
          <p:cNvSpPr txBox="1"/>
          <p:nvPr/>
        </p:nvSpPr>
        <p:spPr>
          <a:xfrm>
            <a:off x="7383652" y="1757060"/>
            <a:ext cx="1332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 err="1">
                <a:latin typeface="Arial" panose="020B0604020202020204" pitchFamily="34" charset="0"/>
                <a:cs typeface="Arial" panose="020B0604020202020204" pitchFamily="34" charset="0"/>
              </a:rPr>
              <a:t>softmax</a:t>
            </a:r>
            <a:br>
              <a:rPr lang="en-US" sz="900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9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B9AD4E0A-4B83-B045-6511-0A606CDEF87F}"/>
              </a:ext>
            </a:extLst>
          </p:cNvPr>
          <p:cNvCxnSpPr>
            <a:cxnSpLocks/>
          </p:cNvCxnSpPr>
          <p:nvPr/>
        </p:nvCxnSpPr>
        <p:spPr>
          <a:xfrm>
            <a:off x="7879538" y="2854383"/>
            <a:ext cx="210949" cy="0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920B3F27-8A0F-C61E-7176-2CDB28C5B056}"/>
              </a:ext>
            </a:extLst>
          </p:cNvPr>
          <p:cNvSpPr txBox="1"/>
          <p:nvPr/>
        </p:nvSpPr>
        <p:spPr>
          <a:xfrm>
            <a:off x="210413" y="1974686"/>
            <a:ext cx="804210" cy="1720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the       </a:t>
            </a:r>
          </a:p>
          <a:p>
            <a:pPr>
              <a:lnSpc>
                <a:spcPct val="150000"/>
              </a:lnSpc>
            </a:pPr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main     </a:t>
            </a:r>
          </a:p>
          <a:p>
            <a:pPr>
              <a:lnSpc>
                <a:spcPct val="150000"/>
              </a:lnSpc>
            </a:pPr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course     </a:t>
            </a:r>
          </a:p>
          <a:p>
            <a:pPr>
              <a:lnSpc>
                <a:spcPct val="150000"/>
              </a:lnSpc>
            </a:pPr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was       </a:t>
            </a:r>
          </a:p>
          <a:p>
            <a:pPr>
              <a:lnSpc>
                <a:spcPct val="150000"/>
              </a:lnSpc>
            </a:pPr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truly     </a:t>
            </a:r>
          </a:p>
          <a:p>
            <a:pPr>
              <a:lnSpc>
                <a:spcPct val="150000"/>
              </a:lnSpc>
            </a:pPr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delicious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2189A49C-0F6A-C71E-E4BA-12607BB50D74}"/>
              </a:ext>
            </a:extLst>
          </p:cNvPr>
          <p:cNvGrpSpPr/>
          <p:nvPr/>
        </p:nvGrpSpPr>
        <p:grpSpPr>
          <a:xfrm>
            <a:off x="8190758" y="2436440"/>
            <a:ext cx="727215" cy="821307"/>
            <a:chOff x="6186526" y="3692377"/>
            <a:chExt cx="727215" cy="821307"/>
          </a:xfrm>
        </p:grpSpPr>
        <p:pic>
          <p:nvPicPr>
            <p:cNvPr id="65" name="Picture 2" descr="Chris G's Best Yelp Reviews: Masa of Echo Park - 5/5 Stars – The Chris  Girard Blog">
              <a:extLst>
                <a:ext uri="{FF2B5EF4-FFF2-40B4-BE49-F238E27FC236}">
                  <a16:creationId xmlns:a16="http://schemas.microsoft.com/office/drawing/2014/main" id="{237DD1E4-95C0-3DD0-BEEC-5809651FBE0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3985" r="79267" b="29943"/>
            <a:stretch>
              <a:fillRect/>
            </a:stretch>
          </p:blipFill>
          <p:spPr bwMode="auto">
            <a:xfrm>
              <a:off x="6186527" y="3692377"/>
              <a:ext cx="150774" cy="1474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6" name="Picture 2" descr="Chris G's Best Yelp Reviews: Masa of Echo Park - 5/5 Stars – The Chris  Girard Blog">
              <a:extLst>
                <a:ext uri="{FF2B5EF4-FFF2-40B4-BE49-F238E27FC236}">
                  <a16:creationId xmlns:a16="http://schemas.microsoft.com/office/drawing/2014/main" id="{3DA75AD2-AA76-B29A-AC43-2DBC1C6EB94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3985" r="60057" b="31671"/>
            <a:stretch>
              <a:fillRect/>
            </a:stretch>
          </p:blipFill>
          <p:spPr bwMode="auto">
            <a:xfrm>
              <a:off x="6186527" y="3860838"/>
              <a:ext cx="290474" cy="1403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7" name="Picture 2" descr="Chris G's Best Yelp Reviews: Masa of Echo Park - 5/5 Stars – The Chris  Girard Blog">
              <a:extLst>
                <a:ext uri="{FF2B5EF4-FFF2-40B4-BE49-F238E27FC236}">
                  <a16:creationId xmlns:a16="http://schemas.microsoft.com/office/drawing/2014/main" id="{A2A1FE3A-86E0-E582-5792-3AD66F86DED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3985" r="40410" b="29943"/>
            <a:stretch>
              <a:fillRect/>
            </a:stretch>
          </p:blipFill>
          <p:spPr bwMode="auto">
            <a:xfrm>
              <a:off x="6186526" y="4029299"/>
              <a:ext cx="433349" cy="1474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8" name="Picture 2" descr="Chris G's Best Yelp Reviews: Masa of Echo Park - 5/5 Stars – The Chris  Girard Blog">
              <a:extLst>
                <a:ext uri="{FF2B5EF4-FFF2-40B4-BE49-F238E27FC236}">
                  <a16:creationId xmlns:a16="http://schemas.microsoft.com/office/drawing/2014/main" id="{EC99C223-7628-9810-9789-CB74D48C1FD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3985" r="19890" b="29943"/>
            <a:stretch>
              <a:fillRect/>
            </a:stretch>
          </p:blipFill>
          <p:spPr bwMode="auto">
            <a:xfrm>
              <a:off x="6186527" y="4197760"/>
              <a:ext cx="582574" cy="1474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9" name="Picture 2" descr="Chris G's Best Yelp Reviews: Masa of Echo Park - 5/5 Stars – The Chris  Girard Blog">
              <a:extLst>
                <a:ext uri="{FF2B5EF4-FFF2-40B4-BE49-F238E27FC236}">
                  <a16:creationId xmlns:a16="http://schemas.microsoft.com/office/drawing/2014/main" id="{EF5673B9-D943-DA70-DA2C-25FB6380950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3985" b="29943"/>
            <a:stretch>
              <a:fillRect/>
            </a:stretch>
          </p:blipFill>
          <p:spPr bwMode="auto">
            <a:xfrm>
              <a:off x="6186526" y="4366221"/>
              <a:ext cx="727215" cy="1474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F5F60A41-72AD-D9EC-EB55-C916E9B39409}"/>
              </a:ext>
            </a:extLst>
          </p:cNvPr>
          <p:cNvSpPr txBox="1"/>
          <p:nvPr/>
        </p:nvSpPr>
        <p:spPr>
          <a:xfrm>
            <a:off x="8168491" y="1760289"/>
            <a:ext cx="57399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>
                <a:latin typeface="Arial" panose="020B0604020202020204" pitchFamily="34" charset="0"/>
                <a:cs typeface="Arial" panose="020B0604020202020204" pitchFamily="34" charset="0"/>
              </a:rPr>
              <a:t>class</a:t>
            </a: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89BDF78D-38D7-8920-BC90-47CDABF4B97E}"/>
              </a:ext>
            </a:extLst>
          </p:cNvPr>
          <p:cNvSpPr/>
          <p:nvPr/>
        </p:nvSpPr>
        <p:spPr>
          <a:xfrm>
            <a:off x="6679692" y="2050315"/>
            <a:ext cx="217607" cy="1624782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55F7BD8-F4EC-C0FE-C91A-543F17168C26}"/>
              </a:ext>
            </a:extLst>
          </p:cNvPr>
          <p:cNvSpPr txBox="1"/>
          <p:nvPr/>
        </p:nvSpPr>
        <p:spPr>
          <a:xfrm>
            <a:off x="128575" y="1653810"/>
            <a:ext cx="6614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i="1" dirty="0">
                <a:latin typeface="Arial" panose="020B0604020202020204" pitchFamily="34" charset="0"/>
                <a:cs typeface="Arial" panose="020B0604020202020204" pitchFamily="34" charset="0"/>
              </a:rPr>
              <a:t>input tokens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0FC41FF-1F7D-AA57-14D2-BC9F59E81762}"/>
              </a:ext>
            </a:extLst>
          </p:cNvPr>
          <p:cNvSpPr txBox="1"/>
          <p:nvPr/>
        </p:nvSpPr>
        <p:spPr>
          <a:xfrm>
            <a:off x="739912" y="1643375"/>
            <a:ext cx="910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i="1" dirty="0">
                <a:latin typeface="Arial" panose="020B0604020202020204" pitchFamily="34" charset="0"/>
                <a:cs typeface="Arial" panose="020B0604020202020204" pitchFamily="34" charset="0"/>
              </a:rPr>
              <a:t>raw embeddings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1DD74F7-7EEE-12F1-5C40-B2CCD1BDD527}"/>
              </a:ext>
            </a:extLst>
          </p:cNvPr>
          <p:cNvSpPr txBox="1"/>
          <p:nvPr/>
        </p:nvSpPr>
        <p:spPr>
          <a:xfrm>
            <a:off x="4251937" y="1629990"/>
            <a:ext cx="910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i="1" dirty="0">
                <a:latin typeface="Arial" panose="020B0604020202020204" pitchFamily="34" charset="0"/>
                <a:cs typeface="Arial" panose="020B0604020202020204" pitchFamily="34" charset="0"/>
              </a:rPr>
              <a:t>contextual embeddings</a:t>
            </a:r>
          </a:p>
        </p:txBody>
      </p:sp>
    </p:spTree>
    <p:extLst>
      <p:ext uri="{BB962C8B-B14F-4D97-AF65-F5344CB8AC3E}">
        <p14:creationId xmlns:p14="http://schemas.microsoft.com/office/powerpoint/2010/main" val="78415250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43BA0-7357-5947-D883-E3C8900B4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DDEAD6A-C51B-875A-45E3-FA545B6F0E70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524DCF8-E650-308D-E59C-F71DCCB0CBEB}"/>
              </a:ext>
            </a:extLst>
          </p:cNvPr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1">
            <a:extLst>
              <a:ext uri="{FF2B5EF4-FFF2-40B4-BE49-F238E27FC236}">
                <a16:creationId xmlns:a16="http://schemas.microsoft.com/office/drawing/2014/main" id="{8EB0FED6-65C3-1E2A-16E7-9914E8BA2232}"/>
              </a:ext>
            </a:extLst>
          </p:cNvPr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cs typeface="Whitney Bold" pitchFamily="34" charset="-120"/>
              </a:rPr>
              <a:t>Training Transformers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7A4BA2-E0A0-7420-A0CD-61AFBB40A1CD}"/>
              </a:ext>
            </a:extLst>
          </p:cNvPr>
          <p:cNvSpPr txBox="1"/>
          <p:nvPr/>
        </p:nvSpPr>
        <p:spPr>
          <a:xfrm>
            <a:off x="363681" y="1080654"/>
            <a:ext cx="82661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Same as any NN: Find weights by minimizing mismatch between true class label and model’s probability for that label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D965A8C-3CC3-1564-C40E-4FA26D6DF4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8317" y="2142371"/>
            <a:ext cx="2704396" cy="80298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C639200-7FBF-3550-5573-EA17C9EE9CCD}"/>
              </a:ext>
            </a:extLst>
          </p:cNvPr>
          <p:cNvSpPr txBox="1"/>
          <p:nvPr/>
        </p:nvSpPr>
        <p:spPr>
          <a:xfrm>
            <a:off x="5360594" y="1705294"/>
            <a:ext cx="22593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Model’s probability that training example </a:t>
            </a:r>
            <a:r>
              <a:rPr lang="en-US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belongs to class </a:t>
            </a:r>
            <a:r>
              <a:rPr lang="en-US" sz="1000" i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A5FD24-9BE3-6D0F-8DF5-D428065AA404}"/>
              </a:ext>
            </a:extLst>
          </p:cNvPr>
          <p:cNvSpPr txBox="1"/>
          <p:nvPr/>
        </p:nvSpPr>
        <p:spPr>
          <a:xfrm>
            <a:off x="419169" y="3414369"/>
            <a:ext cx="82661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Weights influence the assigned probability p, and are optimized through backprop algorithm</a:t>
            </a:r>
          </a:p>
          <a:p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Yelp reviews example: Need lots of ([review text]</a:t>
            </a:r>
            <a:r>
              <a:rPr lang="en-US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rating</a:t>
            </a:r>
            <a:r>
              <a:rPr lang="en-US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 training data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0238D5F-4022-21C1-0702-C3AA9BFA7A45}"/>
              </a:ext>
            </a:extLst>
          </p:cNvPr>
          <p:cNvSpPr txBox="1"/>
          <p:nvPr/>
        </p:nvSpPr>
        <p:spPr>
          <a:xfrm>
            <a:off x="4672509" y="2884159"/>
            <a:ext cx="41057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y=1 if training example </a:t>
            </a:r>
            <a:r>
              <a:rPr lang="en-US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belongs to class </a:t>
            </a:r>
            <a:r>
              <a:rPr lang="en-US" sz="1000" i="1" dirty="0">
                <a:latin typeface="Arial" panose="020B0604020202020204" pitchFamily="34" charset="0"/>
                <a:cs typeface="Arial" panose="020B0604020202020204" pitchFamily="34" charset="0"/>
              </a:rPr>
              <a:t>c,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0 otherwise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4142E37-C98E-003B-A76A-9B95A3351FD0}"/>
              </a:ext>
            </a:extLst>
          </p:cNvPr>
          <p:cNvCxnSpPr/>
          <p:nvPr/>
        </p:nvCxnSpPr>
        <p:spPr>
          <a:xfrm flipH="1" flipV="1">
            <a:off x="4552257" y="2740301"/>
            <a:ext cx="130925" cy="172132"/>
          </a:xfrm>
          <a:prstGeom prst="straightConnector1">
            <a:avLst/>
          </a:prstGeom>
          <a:ln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2CDFE25-7A0E-D9D5-6B7F-CB08AC325157}"/>
              </a:ext>
            </a:extLst>
          </p:cNvPr>
          <p:cNvCxnSpPr>
            <a:cxnSpLocks/>
          </p:cNvCxnSpPr>
          <p:nvPr/>
        </p:nvCxnSpPr>
        <p:spPr>
          <a:xfrm flipH="1">
            <a:off x="5360594" y="2131441"/>
            <a:ext cx="198542" cy="250782"/>
          </a:xfrm>
          <a:prstGeom prst="straightConnector1">
            <a:avLst/>
          </a:prstGeom>
          <a:ln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8F5C692E-9DE1-3550-2999-98E1DA8995A7}"/>
              </a:ext>
            </a:extLst>
          </p:cNvPr>
          <p:cNvSpPr txBox="1"/>
          <p:nvPr/>
        </p:nvSpPr>
        <p:spPr>
          <a:xfrm>
            <a:off x="1956325" y="2371695"/>
            <a:ext cx="9616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Loss =</a:t>
            </a:r>
          </a:p>
        </p:txBody>
      </p:sp>
    </p:spTree>
    <p:extLst>
      <p:ext uri="{BB962C8B-B14F-4D97-AF65-F5344CB8AC3E}">
        <p14:creationId xmlns:p14="http://schemas.microsoft.com/office/powerpoint/2010/main" val="118132148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58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4AE472-461F-1830-BFFE-3D863BA67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3AEED62-4507-7D27-2E36-ECD5616BB8E4}"/>
              </a:ext>
            </a:extLst>
          </p:cNvPr>
          <p:cNvSpPr/>
          <p:nvPr/>
        </p:nvSpPr>
        <p:spPr>
          <a:xfrm>
            <a:off x="914400" y="137160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Large-Language Models: </a:t>
            </a:r>
            <a:br>
              <a:rPr lang="en-US" sz="3600" b="1" dirty="0">
                <a:solidFill>
                  <a:srgbClr val="FFFFFF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</a:br>
            <a:r>
              <a:rPr lang="en-US" sz="3600" b="1" dirty="0">
                <a:solidFill>
                  <a:srgbClr val="FFFFFF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Next Token Prediction</a:t>
            </a:r>
          </a:p>
        </p:txBody>
      </p:sp>
    </p:spTree>
    <p:extLst>
      <p:ext uri="{BB962C8B-B14F-4D97-AF65-F5344CB8AC3E}">
        <p14:creationId xmlns:p14="http://schemas.microsoft.com/office/powerpoint/2010/main" val="178509382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Next Token Prediction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4C2C11-81A7-C3B7-CE59-0F0C021D3266}"/>
              </a:ext>
            </a:extLst>
          </p:cNvPr>
          <p:cNvSpPr txBox="1"/>
          <p:nvPr/>
        </p:nvSpPr>
        <p:spPr>
          <a:xfrm>
            <a:off x="457199" y="1022901"/>
            <a:ext cx="832104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We considered prediction over only 5 classes (Yelp stars). But what about text?</a:t>
            </a:r>
          </a:p>
          <a:p>
            <a:endParaRPr lang="en-US" sz="1600" dirty="0">
              <a:solidFill>
                <a:srgbClr val="000000"/>
              </a:solidFill>
              <a:latin typeface="Arial"/>
            </a:endParaRPr>
          </a:p>
          <a:p>
            <a:r>
              <a:rPr lang="en-US" sz="1600" dirty="0">
                <a:solidFill>
                  <a:srgbClr val="000000"/>
                </a:solidFill>
                <a:latin typeface="Arial"/>
              </a:rPr>
              <a:t>LLMs are based on </a:t>
            </a:r>
            <a:r>
              <a:rPr lang="en-US" sz="1600" b="1" dirty="0">
                <a:solidFill>
                  <a:srgbClr val="000000"/>
                </a:solidFill>
                <a:latin typeface="Arial"/>
              </a:rPr>
              <a:t>next-token prediction</a:t>
            </a:r>
          </a:p>
          <a:p>
            <a:endParaRPr lang="en-US" sz="1600" dirty="0">
              <a:solidFill>
                <a:srgbClr val="000000"/>
              </a:solidFill>
              <a:latin typeface="Arial"/>
            </a:endParaRPr>
          </a:p>
          <a:p>
            <a:r>
              <a:rPr lang="en-US" sz="1600" dirty="0">
                <a:solidFill>
                  <a:srgbClr val="000000"/>
                </a:solidFill>
                <a:latin typeface="Arial"/>
              </a:rPr>
              <a:t>Requires adjusting attention mechanism to prevent “looking ahead”; no weights for later tokens</a:t>
            </a:r>
          </a:p>
          <a:p>
            <a:endParaRPr sz="1600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" name="Picture 8" descr="A close-up of a grid&#10;&#10;AI-generated content may be incorrect.">
            <a:extLst>
              <a:ext uri="{FF2B5EF4-FFF2-40B4-BE49-F238E27FC236}">
                <a16:creationId xmlns:a16="http://schemas.microsoft.com/office/drawing/2014/main" id="{3EC9F212-19CC-D84D-133D-34F15EB005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0600"/>
          <a:stretch>
            <a:fillRect/>
          </a:stretch>
        </p:blipFill>
        <p:spPr>
          <a:xfrm>
            <a:off x="1946804" y="2468383"/>
            <a:ext cx="4953341" cy="2492237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C0A827-4276-016A-064E-997ECF3AA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nector 2"/>
          <p:cNvCxnSpPr/>
          <p:nvPr/>
        </p:nvCxnSpPr>
        <p:spPr>
          <a:xfrm>
            <a:off x="457200" y="896112"/>
            <a:ext cx="8321040" cy="0"/>
          </a:xfrm>
          <a:prstGeom prst="line">
            <a:avLst/>
          </a:prstGeom>
          <a:ln w="1270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44304" y="893778"/>
            <a:ext cx="2236304" cy="3108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1420" b="1" dirty="0">
                <a:solidFill>
                  <a:srgbClr val="005587"/>
                </a:solidFill>
                <a:latin typeface="Arial"/>
              </a:rPr>
              <a:t>Rating</a:t>
            </a:r>
            <a:r>
              <a:rPr sz="1420" b="1" dirty="0">
                <a:solidFill>
                  <a:srgbClr val="005587"/>
                </a:solidFill>
                <a:latin typeface="Arial"/>
              </a:rPr>
              <a:t> classification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207008"/>
            <a:ext cx="694944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30" b="1">
                <a:solidFill>
                  <a:srgbClr val="005587"/>
                </a:solidFill>
                <a:latin typeface="Arial"/>
              </a:rPr>
              <a:t>Input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676656" cy="2011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940" dirty="0">
                <a:solidFill>
                  <a:srgbClr val="000000"/>
                </a:solidFill>
                <a:latin typeface="Arial"/>
              </a:rPr>
              <a:t>g</a:t>
            </a:r>
            <a:r>
              <a:rPr sz="940" b="0" dirty="0">
                <a:solidFill>
                  <a:srgbClr val="000000"/>
                </a:solidFill>
                <a:latin typeface="Arial"/>
              </a:rPr>
              <a:t>reat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36776"/>
            <a:ext cx="676656" cy="2011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40" b="0">
                <a:solidFill>
                  <a:srgbClr val="000000"/>
                </a:solidFill>
                <a:latin typeface="Arial"/>
              </a:rPr>
              <a:t>food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56232"/>
            <a:ext cx="676656" cy="2011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940" dirty="0">
                <a:solidFill>
                  <a:srgbClr val="000000"/>
                </a:solidFill>
                <a:latin typeface="Arial"/>
              </a:rPr>
              <a:t>and</a:t>
            </a:r>
            <a:endParaRPr sz="940" b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85800" y="2075688"/>
            <a:ext cx="676656" cy="2011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940" dirty="0">
                <a:solidFill>
                  <a:srgbClr val="000000"/>
                </a:solidFill>
                <a:latin typeface="Arial"/>
              </a:rPr>
              <a:t>friendly</a:t>
            </a:r>
            <a:endParaRPr sz="940" b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85800" y="2295144"/>
            <a:ext cx="676656" cy="2011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40" b="0">
                <a:solidFill>
                  <a:srgbClr val="000000"/>
                </a:solidFill>
                <a:latin typeface="Arial"/>
              </a:rPr>
              <a:t>service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61450" y="1874519"/>
            <a:ext cx="512064" cy="0"/>
          </a:xfrm>
          <a:prstGeom prst="line">
            <a:avLst/>
          </a:prstGeom>
          <a:ln w="1397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018439" y="1563624"/>
            <a:ext cx="1005840" cy="658368"/>
          </a:xfrm>
          <a:prstGeom prst="roundRect">
            <a:avLst/>
          </a:prstGeom>
          <a:solidFill>
            <a:srgbClr val="E8F2F8"/>
          </a:solidFill>
          <a:ln w="1397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005587"/>
                </a:solidFill>
                <a:latin typeface="Arial"/>
              </a:rPr>
              <a:t>Transformer</a:t>
            </a:r>
            <a:endParaRPr sz="1000" b="1" dirty="0">
              <a:solidFill>
                <a:srgbClr val="005587"/>
              </a:solidFill>
              <a:latin typeface="Arial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3044157" y="1874519"/>
            <a:ext cx="347472" cy="0"/>
          </a:xfrm>
          <a:prstGeom prst="line">
            <a:avLst/>
          </a:prstGeom>
          <a:ln w="1397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406736" y="1563624"/>
            <a:ext cx="933561" cy="6583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20" b="1" dirty="0">
                <a:solidFill>
                  <a:srgbClr val="005587"/>
                </a:solidFill>
                <a:latin typeface="Arial"/>
              </a:rPr>
              <a:t>Classification Head</a:t>
            </a:r>
            <a:endParaRPr sz="820" b="1" dirty="0">
              <a:solidFill>
                <a:srgbClr val="005587"/>
              </a:solidFill>
              <a:latin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425696" y="1021160"/>
            <a:ext cx="868680" cy="23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30" b="1" dirty="0" err="1">
                <a:solidFill>
                  <a:srgbClr val="005587"/>
                </a:solidFill>
                <a:latin typeface="Arial"/>
              </a:rPr>
              <a:t>Softmax</a:t>
            </a:r>
            <a:endParaRPr sz="930" b="1" dirty="0">
              <a:solidFill>
                <a:srgbClr val="005587"/>
              </a:solidFill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663440" y="1309420"/>
            <a:ext cx="804672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80" b="0" dirty="0">
                <a:solidFill>
                  <a:srgbClr val="737373"/>
                </a:solidFill>
                <a:latin typeface="Arial"/>
              </a:rPr>
              <a:t>1 star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22975" y="1325880"/>
            <a:ext cx="1097280" cy="77724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522975" y="1325880"/>
            <a:ext cx="65836" cy="77724"/>
          </a:xfrm>
          <a:prstGeom prst="rect">
            <a:avLst/>
          </a:prstGeom>
          <a:solidFill>
            <a:srgbClr val="CDCD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84264" y="1304848"/>
            <a:ext cx="438912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0">
                <a:solidFill>
                  <a:srgbClr val="737373"/>
                </a:solidFill>
                <a:latin typeface="Arial"/>
              </a:rPr>
              <a:t>6%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1515160"/>
            <a:ext cx="804672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80" b="0">
                <a:solidFill>
                  <a:srgbClr val="737373"/>
                </a:solidFill>
                <a:latin typeface="Arial"/>
              </a:rPr>
              <a:t>2 star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22975" y="1531620"/>
            <a:ext cx="1097280" cy="77724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522975" y="1531620"/>
            <a:ext cx="131673" cy="77724"/>
          </a:xfrm>
          <a:prstGeom prst="rect">
            <a:avLst/>
          </a:prstGeom>
          <a:solidFill>
            <a:srgbClr val="CDCD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84264" y="1510588"/>
            <a:ext cx="438912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0">
                <a:solidFill>
                  <a:srgbClr val="737373"/>
                </a:solidFill>
                <a:latin typeface="Arial"/>
              </a:rPr>
              <a:t>12%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1720900"/>
            <a:ext cx="804672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80" b="1">
                <a:solidFill>
                  <a:srgbClr val="000000"/>
                </a:solidFill>
                <a:latin typeface="Arial"/>
              </a:rPr>
              <a:t>3 star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22975" y="1737360"/>
            <a:ext cx="1097280" cy="77724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522975" y="1737360"/>
            <a:ext cx="460857" cy="77724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84264" y="1716328"/>
            <a:ext cx="438912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1">
                <a:solidFill>
                  <a:srgbClr val="000000"/>
                </a:solidFill>
                <a:latin typeface="Arial"/>
              </a:rPr>
              <a:t>42%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1926640"/>
            <a:ext cx="804672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80" b="0">
                <a:solidFill>
                  <a:srgbClr val="737373"/>
                </a:solidFill>
                <a:latin typeface="Arial"/>
              </a:rPr>
              <a:t>4 star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22975" y="1943100"/>
            <a:ext cx="1097280" cy="77724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522975" y="1943100"/>
            <a:ext cx="307238" cy="77724"/>
          </a:xfrm>
          <a:prstGeom prst="rect">
            <a:avLst/>
          </a:prstGeom>
          <a:solidFill>
            <a:srgbClr val="CDCD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684264" y="1922068"/>
            <a:ext cx="438912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0">
                <a:solidFill>
                  <a:srgbClr val="737373"/>
                </a:solidFill>
                <a:latin typeface="Arial"/>
              </a:rPr>
              <a:t>28%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40" y="2132380"/>
            <a:ext cx="804672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80" b="0">
                <a:solidFill>
                  <a:srgbClr val="737373"/>
                </a:solidFill>
                <a:latin typeface="Arial"/>
              </a:rPr>
              <a:t>5 star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22975" y="2148840"/>
            <a:ext cx="1097280" cy="77724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522975" y="2148840"/>
            <a:ext cx="131673" cy="77724"/>
          </a:xfrm>
          <a:prstGeom prst="rect">
            <a:avLst/>
          </a:prstGeom>
          <a:solidFill>
            <a:srgbClr val="CDCD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684264" y="2127808"/>
            <a:ext cx="438912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0">
                <a:solidFill>
                  <a:srgbClr val="737373"/>
                </a:solidFill>
                <a:latin typeface="Arial"/>
              </a:rPr>
              <a:t>12%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09712" y="1566205"/>
            <a:ext cx="1468528" cy="4154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1050" dirty="0" err="1">
                <a:solidFill>
                  <a:srgbClr val="000000"/>
                </a:solidFill>
                <a:latin typeface="Arial"/>
              </a:rPr>
              <a:t>s</a:t>
            </a:r>
            <a:r>
              <a:rPr sz="1050" b="0" dirty="0" err="1">
                <a:solidFill>
                  <a:srgbClr val="000000"/>
                </a:solidFill>
                <a:latin typeface="Arial"/>
              </a:rPr>
              <a:t>oftmax</a:t>
            </a:r>
            <a:r>
              <a:rPr sz="1050" b="0" dirty="0">
                <a:solidFill>
                  <a:srgbClr val="000000"/>
                </a:solidFill>
                <a:latin typeface="Arial"/>
              </a:rPr>
              <a:t> over a small set of </a:t>
            </a:r>
            <a:r>
              <a:rPr lang="en-US" sz="1050" b="0" dirty="0">
                <a:solidFill>
                  <a:srgbClr val="000000"/>
                </a:solidFill>
                <a:latin typeface="Arial"/>
              </a:rPr>
              <a:t>classes</a:t>
            </a:r>
            <a:endParaRPr sz="1050" b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68355" y="2705611"/>
            <a:ext cx="2136913" cy="3108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1" dirty="0">
                <a:solidFill>
                  <a:srgbClr val="005587"/>
                </a:solidFill>
                <a:latin typeface="Arial"/>
              </a:rPr>
              <a:t>Next-token prediction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6" y="3059660"/>
            <a:ext cx="694944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30" b="1" dirty="0">
                <a:solidFill>
                  <a:srgbClr val="005587"/>
                </a:solidFill>
                <a:latin typeface="Arial"/>
              </a:rPr>
              <a:t>Context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85800" y="3269972"/>
            <a:ext cx="676656" cy="2011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940" dirty="0">
                <a:solidFill>
                  <a:srgbClr val="000000"/>
                </a:solidFill>
                <a:latin typeface="Arial"/>
              </a:rPr>
              <a:t>g</a:t>
            </a:r>
            <a:r>
              <a:rPr sz="940" b="0" dirty="0">
                <a:solidFill>
                  <a:srgbClr val="000000"/>
                </a:solidFill>
                <a:latin typeface="Arial"/>
              </a:rPr>
              <a:t>reat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85800" y="3489428"/>
            <a:ext cx="676656" cy="2011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40" b="0">
                <a:solidFill>
                  <a:srgbClr val="000000"/>
                </a:solidFill>
                <a:latin typeface="Arial"/>
              </a:rPr>
              <a:t>food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85800" y="3708884"/>
            <a:ext cx="676656" cy="2011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940" dirty="0">
                <a:solidFill>
                  <a:srgbClr val="000000"/>
                </a:solidFill>
                <a:latin typeface="Arial"/>
              </a:rPr>
              <a:t>and</a:t>
            </a:r>
            <a:endParaRPr sz="940" b="0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45" name="Connector 44"/>
          <p:cNvCxnSpPr/>
          <p:nvPr/>
        </p:nvCxnSpPr>
        <p:spPr>
          <a:xfrm>
            <a:off x="1461450" y="3727172"/>
            <a:ext cx="512064" cy="0"/>
          </a:xfrm>
          <a:prstGeom prst="line">
            <a:avLst/>
          </a:prstGeom>
          <a:ln w="1397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2018438" y="3416275"/>
            <a:ext cx="1005839" cy="658368"/>
          </a:xfrm>
          <a:prstGeom prst="roundRect">
            <a:avLst/>
          </a:prstGeom>
          <a:solidFill>
            <a:srgbClr val="E8F2F8"/>
          </a:solidFill>
          <a:ln w="1397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005587"/>
                </a:solidFill>
                <a:latin typeface="Arial"/>
              </a:rPr>
              <a:t>Transformer</a:t>
            </a:r>
            <a:endParaRPr sz="1000" b="1" dirty="0">
              <a:solidFill>
                <a:srgbClr val="005587"/>
              </a:solidFill>
              <a:latin typeface="Arial"/>
            </a:endParaRPr>
          </a:p>
        </p:txBody>
      </p:sp>
      <p:cxnSp>
        <p:nvCxnSpPr>
          <p:cNvPr id="47" name="Connector 46"/>
          <p:cNvCxnSpPr/>
          <p:nvPr/>
        </p:nvCxnSpPr>
        <p:spPr>
          <a:xfrm>
            <a:off x="3044157" y="3727172"/>
            <a:ext cx="347472" cy="0"/>
          </a:xfrm>
          <a:prstGeom prst="line">
            <a:avLst/>
          </a:prstGeom>
          <a:ln w="1397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3406737" y="3416275"/>
            <a:ext cx="952806" cy="6583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20" b="1" dirty="0">
                <a:solidFill>
                  <a:srgbClr val="005587"/>
                </a:solidFill>
                <a:latin typeface="Arial"/>
              </a:rPr>
              <a:t>Classification </a:t>
            </a:r>
          </a:p>
          <a:p>
            <a:pPr algn="ctr"/>
            <a:r>
              <a:rPr lang="en-US" sz="820" b="1" dirty="0">
                <a:solidFill>
                  <a:srgbClr val="005587"/>
                </a:solidFill>
                <a:latin typeface="Arial"/>
              </a:rPr>
              <a:t>Head</a:t>
            </a:r>
            <a:endParaRPr sz="820" b="1" dirty="0">
              <a:solidFill>
                <a:srgbClr val="005587"/>
              </a:solidFill>
              <a:latin typeface="Arial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4451538" y="2908784"/>
            <a:ext cx="8686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30" b="1" dirty="0" err="1">
                <a:solidFill>
                  <a:srgbClr val="005587"/>
                </a:solidFill>
                <a:latin typeface="Arial"/>
              </a:rPr>
              <a:t>Softmax</a:t>
            </a:r>
            <a:endParaRPr sz="930" b="1" dirty="0">
              <a:solidFill>
                <a:srgbClr val="005587"/>
              </a:solidFill>
              <a:latin typeface="Arial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4663440" y="3162072"/>
            <a:ext cx="804672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80" b="1">
                <a:solidFill>
                  <a:srgbClr val="000000"/>
                </a:solidFill>
                <a:latin typeface="Arial"/>
              </a:rPr>
              <a:t>service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522975" y="3178532"/>
            <a:ext cx="1097280" cy="77724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5522975" y="3178532"/>
            <a:ext cx="449884" cy="77724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684264" y="3157500"/>
            <a:ext cx="438912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1">
                <a:solidFill>
                  <a:srgbClr val="000000"/>
                </a:solidFill>
                <a:latin typeface="Arial"/>
              </a:rPr>
              <a:t>41%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63440" y="3340380"/>
            <a:ext cx="804672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80" b="0">
                <a:solidFill>
                  <a:srgbClr val="737373"/>
                </a:solidFill>
                <a:latin typeface="Arial"/>
              </a:rPr>
              <a:t>servers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522975" y="3356840"/>
            <a:ext cx="1097280" cy="77724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5522975" y="3356840"/>
            <a:ext cx="219456" cy="77724"/>
          </a:xfrm>
          <a:prstGeom prst="rect">
            <a:avLst/>
          </a:prstGeom>
          <a:solidFill>
            <a:srgbClr val="CDCD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684264" y="3335808"/>
            <a:ext cx="438912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0">
                <a:solidFill>
                  <a:srgbClr val="737373"/>
                </a:solidFill>
                <a:latin typeface="Arial"/>
              </a:rPr>
              <a:t>20%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63440" y="3518688"/>
            <a:ext cx="804672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80" b="0">
                <a:solidFill>
                  <a:srgbClr val="737373"/>
                </a:solidFill>
                <a:latin typeface="Arial"/>
              </a:rPr>
              <a:t>staff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522975" y="3535148"/>
            <a:ext cx="1097280" cy="77724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5522975" y="3535148"/>
            <a:ext cx="153619" cy="77724"/>
          </a:xfrm>
          <a:prstGeom prst="rect">
            <a:avLst/>
          </a:prstGeom>
          <a:solidFill>
            <a:srgbClr val="CDCD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684264" y="3514116"/>
            <a:ext cx="438912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0">
                <a:solidFill>
                  <a:srgbClr val="737373"/>
                </a:solidFill>
                <a:latin typeface="Arial"/>
              </a:rPr>
              <a:t>14%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663440" y="3696996"/>
            <a:ext cx="804672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80" b="0">
                <a:solidFill>
                  <a:srgbClr val="737373"/>
                </a:solidFill>
                <a:latin typeface="Arial"/>
              </a:rPr>
              <a:t>decor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522975" y="3713456"/>
            <a:ext cx="1097280" cy="77724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5522975" y="3713456"/>
            <a:ext cx="43891" cy="77724"/>
          </a:xfrm>
          <a:prstGeom prst="rect">
            <a:avLst/>
          </a:prstGeom>
          <a:solidFill>
            <a:srgbClr val="CDCD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684264" y="3692424"/>
            <a:ext cx="438912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0">
                <a:solidFill>
                  <a:srgbClr val="737373"/>
                </a:solidFill>
                <a:latin typeface="Arial"/>
              </a:rPr>
              <a:t>4%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663440" y="3875304"/>
            <a:ext cx="804672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80" b="0">
                <a:solidFill>
                  <a:srgbClr val="737373"/>
                </a:solidFill>
                <a:latin typeface="Arial"/>
              </a:rPr>
              <a:t>elephant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522975" y="3891763"/>
            <a:ext cx="1097280" cy="77724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5522975" y="3891763"/>
            <a:ext cx="0" cy="77724"/>
          </a:xfrm>
          <a:prstGeom prst="rect">
            <a:avLst/>
          </a:prstGeom>
          <a:solidFill>
            <a:srgbClr val="CDCD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684264" y="3870732"/>
            <a:ext cx="438912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0">
                <a:solidFill>
                  <a:srgbClr val="737373"/>
                </a:solidFill>
                <a:latin typeface="Arial"/>
              </a:rPr>
              <a:t>0%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663440" y="4053612"/>
            <a:ext cx="804672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80" b="0">
                <a:solidFill>
                  <a:srgbClr val="737373"/>
                </a:solidFill>
                <a:latin typeface="Arial"/>
              </a:rPr>
              <a:t>astronaut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522975" y="4070072"/>
            <a:ext cx="1097280" cy="77724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5522975" y="4070072"/>
            <a:ext cx="0" cy="77724"/>
          </a:xfrm>
          <a:prstGeom prst="rect">
            <a:avLst/>
          </a:prstGeom>
          <a:solidFill>
            <a:srgbClr val="CDCD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684264" y="4049040"/>
            <a:ext cx="438912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0">
                <a:solidFill>
                  <a:srgbClr val="737373"/>
                </a:solidFill>
                <a:latin typeface="Arial"/>
              </a:rPr>
              <a:t>0%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663440" y="4231920"/>
            <a:ext cx="804672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80" b="0">
                <a:solidFill>
                  <a:srgbClr val="737373"/>
                </a:solidFill>
                <a:latin typeface="Arial"/>
              </a:rPr>
              <a:t>...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522975" y="4248380"/>
            <a:ext cx="1097280" cy="77724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5522975" y="4248380"/>
            <a:ext cx="230428" cy="77724"/>
          </a:xfrm>
          <a:prstGeom prst="rect">
            <a:avLst/>
          </a:prstGeom>
          <a:solidFill>
            <a:srgbClr val="CDCD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684264" y="4227348"/>
            <a:ext cx="438912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0">
                <a:solidFill>
                  <a:srgbClr val="737373"/>
                </a:solidFill>
                <a:latin typeface="Arial"/>
              </a:rPr>
              <a:t>21%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242049" y="3478275"/>
            <a:ext cx="1645920" cy="4154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dirty="0">
                <a:solidFill>
                  <a:srgbClr val="000000"/>
                </a:solidFill>
                <a:latin typeface="Arial"/>
              </a:rPr>
              <a:t>classes are </a:t>
            </a:r>
            <a:r>
              <a:rPr lang="en-US" sz="1050" b="0" dirty="0">
                <a:solidFill>
                  <a:srgbClr val="000000"/>
                </a:solidFill>
                <a:latin typeface="Arial"/>
              </a:rPr>
              <a:t>all </a:t>
            </a:r>
            <a:r>
              <a:rPr sz="1050" b="0" dirty="0">
                <a:solidFill>
                  <a:srgbClr val="000000"/>
                </a:solidFill>
                <a:latin typeface="Arial"/>
              </a:rPr>
              <a:t>vocabulary tokens</a:t>
            </a:r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EE8D83FC-2EDA-78E1-E336-9668855961DA}"/>
              </a:ext>
            </a:extLst>
          </p:cNvPr>
          <p:cNvSpPr/>
          <p:nvPr/>
        </p:nvSpPr>
        <p:spPr>
          <a:xfrm>
            <a:off x="685800" y="3933945"/>
            <a:ext cx="676656" cy="2011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940" dirty="0">
                <a:solidFill>
                  <a:srgbClr val="000000"/>
                </a:solidFill>
                <a:latin typeface="Arial"/>
              </a:rPr>
              <a:t>friendly</a:t>
            </a:r>
            <a:endParaRPr sz="940" b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A2DA4CD-4BC8-072A-EB62-F55679BF0133}"/>
              </a:ext>
            </a:extLst>
          </p:cNvPr>
          <p:cNvSpPr txBox="1"/>
          <p:nvPr/>
        </p:nvSpPr>
        <p:spPr>
          <a:xfrm>
            <a:off x="846817" y="4547569"/>
            <a:ext cx="67188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000000"/>
                </a:solidFill>
                <a:latin typeface="Arial"/>
              </a:rPr>
              <a:t>Exact same </a:t>
            </a:r>
            <a:r>
              <a:rPr lang="en-US" sz="1800" dirty="0">
                <a:solidFill>
                  <a:srgbClr val="000000"/>
                </a:solidFill>
                <a:latin typeface="Arial"/>
              </a:rPr>
              <a:t>transformer, different classification head</a:t>
            </a:r>
          </a:p>
        </p:txBody>
      </p:sp>
      <p:sp>
        <p:nvSpPr>
          <p:cNvPr id="85" name="Left Brace 84">
            <a:extLst>
              <a:ext uri="{FF2B5EF4-FFF2-40B4-BE49-F238E27FC236}">
                <a16:creationId xmlns:a16="http://schemas.microsoft.com/office/drawing/2014/main" id="{108F6565-23BC-8562-484E-D101665B8B58}"/>
              </a:ext>
            </a:extLst>
          </p:cNvPr>
          <p:cNvSpPr/>
          <p:nvPr/>
        </p:nvSpPr>
        <p:spPr>
          <a:xfrm>
            <a:off x="4434916" y="1348938"/>
            <a:ext cx="131678" cy="948413"/>
          </a:xfrm>
          <a:prstGeom prst="leftBrace">
            <a:avLst/>
          </a:prstGeom>
          <a:ln w="952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Left Brace 85">
            <a:extLst>
              <a:ext uri="{FF2B5EF4-FFF2-40B4-BE49-F238E27FC236}">
                <a16:creationId xmlns:a16="http://schemas.microsoft.com/office/drawing/2014/main" id="{C897B291-3AA9-A9DC-B9D2-41B527EBC3DD}"/>
              </a:ext>
            </a:extLst>
          </p:cNvPr>
          <p:cNvSpPr/>
          <p:nvPr/>
        </p:nvSpPr>
        <p:spPr>
          <a:xfrm>
            <a:off x="4428077" y="3177069"/>
            <a:ext cx="179704" cy="1187439"/>
          </a:xfrm>
          <a:prstGeom prst="leftBrace">
            <a:avLst/>
          </a:prstGeom>
          <a:ln w="952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1">
            <a:extLst>
              <a:ext uri="{FF2B5EF4-FFF2-40B4-BE49-F238E27FC236}">
                <a16:creationId xmlns:a16="http://schemas.microsoft.com/office/drawing/2014/main" id="{02EB96C4-49A6-3556-D98D-FFE2DDFD5983}"/>
              </a:ext>
            </a:extLst>
          </p:cNvPr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Next Token Prediction is Just Classification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436402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41" grpId="0" animBg="1"/>
      <p:bldP spid="42" grpId="0" animBg="1"/>
      <p:bldP spid="43" grpId="0" animBg="1"/>
      <p:bldP spid="46" grpId="0" animBg="1"/>
      <p:bldP spid="48" grpId="0" animBg="1"/>
      <p:bldP spid="50" grpId="0"/>
      <p:bldP spid="51" grpId="0"/>
      <p:bldP spid="52" grpId="0" animBg="1"/>
      <p:bldP spid="53" grpId="0" animBg="1"/>
      <p:bldP spid="54" grpId="0"/>
      <p:bldP spid="55" grpId="0"/>
      <p:bldP spid="56" grpId="0" animBg="1"/>
      <p:bldP spid="57" grpId="0" animBg="1"/>
      <p:bldP spid="58" grpId="0"/>
      <p:bldP spid="59" grpId="0"/>
      <p:bldP spid="60" grpId="0" animBg="1"/>
      <p:bldP spid="61" grpId="0" animBg="1"/>
      <p:bldP spid="62" grpId="0"/>
      <p:bldP spid="63" grpId="0"/>
      <p:bldP spid="64" grpId="0" animBg="1"/>
      <p:bldP spid="65" grpId="0" animBg="1"/>
      <p:bldP spid="66" grpId="0"/>
      <p:bldP spid="67" grpId="0"/>
      <p:bldP spid="68" grpId="0" animBg="1"/>
      <p:bldP spid="69" grpId="0" animBg="1"/>
      <p:bldP spid="70" grpId="0"/>
      <p:bldP spid="71" grpId="0"/>
      <p:bldP spid="72" grpId="0" animBg="1"/>
      <p:bldP spid="73" grpId="0" animBg="1"/>
      <p:bldP spid="74" grpId="0"/>
      <p:bldP spid="75" grpId="0"/>
      <p:bldP spid="76" grpId="0" animBg="1"/>
      <p:bldP spid="77" grpId="0" animBg="1"/>
      <p:bldP spid="78" grpId="0"/>
      <p:bldP spid="79" grpId="0"/>
      <p:bldP spid="82" grpId="0" animBg="1"/>
      <p:bldP spid="84" grpId="0"/>
      <p:bldP spid="86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 w="10795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457200" y="877824"/>
            <a:ext cx="8339328" cy="0"/>
          </a:xfrm>
          <a:prstGeom prst="line">
            <a:avLst/>
          </a:prstGeom>
          <a:ln w="1206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987552"/>
            <a:ext cx="2560320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20" b="1">
                <a:solidFill>
                  <a:srgbClr val="005587"/>
                </a:solidFill>
                <a:latin typeface="Arial"/>
              </a:rPr>
              <a:t>Predict, append, repeat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" y="1271016"/>
            <a:ext cx="685800" cy="1554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80" b="1">
                <a:solidFill>
                  <a:srgbClr val="005587"/>
                </a:solidFill>
                <a:latin typeface="Arial"/>
              </a:rPr>
              <a:t>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27949" y="1271016"/>
            <a:ext cx="799899" cy="13542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880" b="1" dirty="0">
                <a:solidFill>
                  <a:srgbClr val="005587"/>
                </a:solidFill>
                <a:latin typeface="Arial"/>
              </a:rPr>
              <a:t>generate</a:t>
            </a:r>
            <a:r>
              <a:rPr sz="880" b="1" dirty="0">
                <a:solidFill>
                  <a:srgbClr val="005587"/>
                </a:solidFill>
                <a:latin typeface="Arial"/>
              </a:rPr>
              <a:t> token</a:t>
            </a:r>
          </a:p>
        </p:txBody>
      </p:sp>
      <p:sp>
        <p:nvSpPr>
          <p:cNvPr id="10" name="Oval 9"/>
          <p:cNvSpPr/>
          <p:nvPr/>
        </p:nvSpPr>
        <p:spPr>
          <a:xfrm>
            <a:off x="429768" y="1515160"/>
            <a:ext cx="192024" cy="192024"/>
          </a:xfrm>
          <a:prstGeom prst="ellipse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9768" y="1515160"/>
            <a:ext cx="192024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8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" y="1517904"/>
            <a:ext cx="393192" cy="196596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25" b="0">
                <a:solidFill>
                  <a:srgbClr val="000000"/>
                </a:solidFill>
                <a:latin typeface="Arial"/>
              </a:rPr>
              <a:t>Great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27455" y="1517904"/>
            <a:ext cx="347472" cy="196596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25" b="0">
                <a:solidFill>
                  <a:srgbClr val="000000"/>
                </a:solidFill>
                <a:latin typeface="Arial"/>
              </a:rPr>
              <a:t>food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14246" y="1517904"/>
            <a:ext cx="301752" cy="196596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25" b="0">
                <a:solidFill>
                  <a:srgbClr val="000000"/>
                </a:solidFill>
                <a:latin typeface="Arial"/>
              </a:rPr>
              <a:t>and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880006" y="1616659"/>
            <a:ext cx="1558138" cy="0"/>
          </a:xfrm>
          <a:prstGeom prst="line">
            <a:avLst/>
          </a:prstGeom>
          <a:ln w="13335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474720" y="1431036"/>
            <a:ext cx="731520" cy="411480"/>
          </a:xfrm>
          <a:prstGeom prst="roundRect">
            <a:avLst/>
          </a:prstGeom>
          <a:solidFill>
            <a:srgbClr val="E8F2F8"/>
          </a:solidFill>
          <a:ln w="10795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35" b="1">
                <a:solidFill>
                  <a:srgbClr val="005587"/>
                </a:solidFill>
                <a:latin typeface="Arial"/>
              </a:rPr>
              <a:t>transformer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233672" y="1616659"/>
            <a:ext cx="210312" cy="0"/>
          </a:xfrm>
          <a:prstGeom prst="line">
            <a:avLst/>
          </a:prstGeom>
          <a:ln w="13335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489704" y="1431036"/>
            <a:ext cx="640080" cy="41148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75" b="1">
                <a:solidFill>
                  <a:srgbClr val="005587"/>
                </a:solidFill>
                <a:latin typeface="Arial"/>
              </a:rPr>
              <a:t>classification
head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157216" y="1616659"/>
            <a:ext cx="173736" cy="0"/>
          </a:xfrm>
          <a:prstGeom prst="line">
            <a:avLst/>
          </a:prstGeom>
          <a:ln w="13335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504688" y="1271016"/>
            <a:ext cx="868680" cy="1463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80" b="1" dirty="0" err="1">
                <a:solidFill>
                  <a:srgbClr val="005587"/>
                </a:solidFill>
                <a:latin typeface="Arial"/>
              </a:rPr>
              <a:t>Softmax</a:t>
            </a:r>
            <a:endParaRPr sz="880" b="1" dirty="0">
              <a:solidFill>
                <a:srgbClr val="005587"/>
              </a:solidFill>
              <a:latin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376672" y="1504188"/>
            <a:ext cx="548640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35" b="1">
                <a:solidFill>
                  <a:srgbClr val="000000"/>
                </a:solidFill>
                <a:latin typeface="Arial"/>
              </a:rPr>
              <a:t>friendly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1536192"/>
            <a:ext cx="694944" cy="59436"/>
          </a:xfrm>
          <a:prstGeom prst="rect">
            <a:avLst/>
          </a:prstGeom>
          <a:solidFill>
            <a:srgbClr val="E6E6E6"/>
          </a:solidFill>
          <a:ln w="10795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943600" y="1536192"/>
            <a:ext cx="284927" cy="59436"/>
          </a:xfrm>
          <a:prstGeom prst="rect">
            <a:avLst/>
          </a:prstGeom>
          <a:solidFill>
            <a:srgbClr val="005587"/>
          </a:solidFill>
          <a:ln w="10795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84264" y="1504188"/>
            <a:ext cx="292608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20" b="1">
                <a:solidFill>
                  <a:srgbClr val="000000"/>
                </a:solidFill>
                <a:latin typeface="Arial"/>
              </a:rPr>
              <a:t>41%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76672" y="1655064"/>
            <a:ext cx="548640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35" b="0">
                <a:solidFill>
                  <a:srgbClr val="737373"/>
                </a:solidFill>
                <a:latin typeface="Arial"/>
              </a:rPr>
              <a:t>good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0" y="1687068"/>
            <a:ext cx="694944" cy="59436"/>
          </a:xfrm>
          <a:prstGeom prst="rect">
            <a:avLst/>
          </a:prstGeom>
          <a:solidFill>
            <a:srgbClr val="E6E6E6"/>
          </a:solidFill>
          <a:ln w="10795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43600" y="1687068"/>
            <a:ext cx="138988" cy="59436"/>
          </a:xfrm>
          <a:prstGeom prst="rect">
            <a:avLst/>
          </a:prstGeom>
          <a:solidFill>
            <a:srgbClr val="CDCDCD"/>
          </a:solidFill>
          <a:ln w="10795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84264" y="1655064"/>
            <a:ext cx="292608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20" b="0">
                <a:solidFill>
                  <a:srgbClr val="737373"/>
                </a:solidFill>
                <a:latin typeface="Arial"/>
              </a:rPr>
              <a:t>20%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76672" y="1805940"/>
            <a:ext cx="548640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35" b="0">
                <a:solidFill>
                  <a:srgbClr val="737373"/>
                </a:solidFill>
                <a:latin typeface="Arial"/>
              </a:rPr>
              <a:t>fresh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0" y="1837944"/>
            <a:ext cx="694944" cy="59436"/>
          </a:xfrm>
          <a:prstGeom prst="rect">
            <a:avLst/>
          </a:prstGeom>
          <a:solidFill>
            <a:srgbClr val="E6E6E6"/>
          </a:solidFill>
          <a:ln w="10795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943600" y="1837944"/>
            <a:ext cx="97292" cy="59436"/>
          </a:xfrm>
          <a:prstGeom prst="rect">
            <a:avLst/>
          </a:prstGeom>
          <a:solidFill>
            <a:srgbClr val="CDCDCD"/>
          </a:solidFill>
          <a:ln w="10795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684264" y="1805940"/>
            <a:ext cx="292608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20" b="0">
                <a:solidFill>
                  <a:srgbClr val="737373"/>
                </a:solidFill>
                <a:latin typeface="Arial"/>
              </a:rPr>
              <a:t>14%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76672" y="1956816"/>
            <a:ext cx="548640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35" b="0">
                <a:solidFill>
                  <a:srgbClr val="737373"/>
                </a:solidFill>
                <a:latin typeface="Arial"/>
              </a:rPr>
              <a:t>fast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0" y="1988820"/>
            <a:ext cx="694944" cy="59436"/>
          </a:xfrm>
          <a:prstGeom prst="rect">
            <a:avLst/>
          </a:prstGeom>
          <a:solidFill>
            <a:srgbClr val="E6E6E6"/>
          </a:solidFill>
          <a:ln w="10795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43600" y="1988820"/>
            <a:ext cx="34747" cy="59436"/>
          </a:xfrm>
          <a:prstGeom prst="rect">
            <a:avLst/>
          </a:prstGeom>
          <a:solidFill>
            <a:srgbClr val="CDCDCD"/>
          </a:solidFill>
          <a:ln w="10795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684264" y="1956816"/>
            <a:ext cx="292608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20" b="0">
                <a:solidFill>
                  <a:srgbClr val="737373"/>
                </a:solidFill>
                <a:latin typeface="Arial"/>
              </a:rPr>
              <a:t>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76672" y="2107692"/>
            <a:ext cx="548640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35" b="0">
                <a:solidFill>
                  <a:srgbClr val="737373"/>
                </a:solidFill>
                <a:latin typeface="Arial"/>
              </a:rPr>
              <a:t>...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0" y="2139696"/>
            <a:ext cx="694944" cy="59436"/>
          </a:xfrm>
          <a:prstGeom prst="rect">
            <a:avLst/>
          </a:prstGeom>
          <a:solidFill>
            <a:srgbClr val="E6E6E6"/>
          </a:solidFill>
          <a:ln w="10795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943600" y="2139696"/>
            <a:ext cx="138988" cy="59436"/>
          </a:xfrm>
          <a:prstGeom prst="rect">
            <a:avLst/>
          </a:prstGeom>
          <a:solidFill>
            <a:srgbClr val="CDCDCD"/>
          </a:solidFill>
          <a:ln w="10795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684264" y="2107692"/>
            <a:ext cx="292608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20" b="0">
                <a:solidFill>
                  <a:srgbClr val="737373"/>
                </a:solidFill>
                <a:latin typeface="Arial"/>
              </a:rPr>
              <a:t>20%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050024" y="1616659"/>
            <a:ext cx="100584" cy="0"/>
          </a:xfrm>
          <a:prstGeom prst="line">
            <a:avLst/>
          </a:prstGeom>
          <a:ln w="13335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7196328" y="1504188"/>
            <a:ext cx="658368" cy="233172"/>
          </a:xfrm>
          <a:prstGeom prst="roundRect">
            <a:avLst/>
          </a:prstGeom>
          <a:solidFill>
            <a:srgbClr val="FFF7CD"/>
          </a:solidFill>
          <a:ln w="10795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90" b="1">
                <a:solidFill>
                  <a:srgbClr val="000000"/>
                </a:solidFill>
                <a:latin typeface="Arial"/>
              </a:rPr>
              <a:t>friendly</a:t>
            </a:r>
          </a:p>
        </p:txBody>
      </p:sp>
      <p:sp>
        <p:nvSpPr>
          <p:cNvPr id="45" name="Oval 44"/>
          <p:cNvSpPr/>
          <p:nvPr/>
        </p:nvSpPr>
        <p:spPr>
          <a:xfrm>
            <a:off x="429768" y="2557576"/>
            <a:ext cx="192024" cy="192024"/>
          </a:xfrm>
          <a:prstGeom prst="ellipse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29768" y="2557576"/>
            <a:ext cx="192024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8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94944" y="2560320"/>
            <a:ext cx="393192" cy="196596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25" b="0">
                <a:solidFill>
                  <a:srgbClr val="000000"/>
                </a:solidFill>
                <a:latin typeface="Arial"/>
              </a:rPr>
              <a:t>Great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27455" y="2560320"/>
            <a:ext cx="347472" cy="196596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25" b="0">
                <a:solidFill>
                  <a:srgbClr val="000000"/>
                </a:solidFill>
                <a:latin typeface="Arial"/>
              </a:rPr>
              <a:t>food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514246" y="2560320"/>
            <a:ext cx="301752" cy="196596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25" b="0">
                <a:solidFill>
                  <a:srgbClr val="000000"/>
                </a:solidFill>
                <a:latin typeface="Arial"/>
              </a:rPr>
              <a:t>and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855317" y="2560320"/>
            <a:ext cx="521207" cy="196596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90" b="0">
                <a:solidFill>
                  <a:srgbClr val="000000"/>
                </a:solidFill>
                <a:latin typeface="Arial"/>
              </a:rPr>
              <a:t>friendly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2440533" y="2659075"/>
            <a:ext cx="997611" cy="0"/>
          </a:xfrm>
          <a:prstGeom prst="line">
            <a:avLst/>
          </a:prstGeom>
          <a:ln w="13335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3474720" y="2473451"/>
            <a:ext cx="731520" cy="411480"/>
          </a:xfrm>
          <a:prstGeom prst="roundRect">
            <a:avLst/>
          </a:prstGeom>
          <a:solidFill>
            <a:srgbClr val="E8F2F8"/>
          </a:solidFill>
          <a:ln w="10795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35" b="1">
                <a:solidFill>
                  <a:srgbClr val="005587"/>
                </a:solidFill>
                <a:latin typeface="Arial"/>
              </a:rPr>
              <a:t>transformer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4233672" y="2659075"/>
            <a:ext cx="210312" cy="0"/>
          </a:xfrm>
          <a:prstGeom prst="line">
            <a:avLst/>
          </a:prstGeom>
          <a:ln w="13335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4489704" y="2473451"/>
            <a:ext cx="640080" cy="41148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75" b="1">
                <a:solidFill>
                  <a:srgbClr val="005587"/>
                </a:solidFill>
                <a:latin typeface="Arial"/>
              </a:rPr>
              <a:t>classification
head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5157216" y="2659075"/>
            <a:ext cx="173736" cy="0"/>
          </a:xfrm>
          <a:prstGeom prst="line">
            <a:avLst/>
          </a:prstGeom>
          <a:ln w="13335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5376672" y="2546603"/>
            <a:ext cx="548640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35" b="1">
                <a:solidFill>
                  <a:srgbClr val="000000"/>
                </a:solidFill>
                <a:latin typeface="Arial"/>
              </a:rPr>
              <a:t>service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943600" y="2578608"/>
            <a:ext cx="694944" cy="59436"/>
          </a:xfrm>
          <a:prstGeom prst="rect">
            <a:avLst/>
          </a:prstGeom>
          <a:solidFill>
            <a:srgbClr val="E6E6E6"/>
          </a:solidFill>
          <a:ln w="10795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5943600" y="2578608"/>
            <a:ext cx="361370" cy="59436"/>
          </a:xfrm>
          <a:prstGeom prst="rect">
            <a:avLst/>
          </a:prstGeom>
          <a:solidFill>
            <a:srgbClr val="005587"/>
          </a:solidFill>
          <a:ln w="10795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684264" y="2546603"/>
            <a:ext cx="292608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20" b="1">
                <a:solidFill>
                  <a:srgbClr val="000000"/>
                </a:solidFill>
                <a:latin typeface="Arial"/>
              </a:rPr>
              <a:t>52%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376672" y="2697479"/>
            <a:ext cx="548640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35" b="0">
                <a:solidFill>
                  <a:srgbClr val="737373"/>
                </a:solidFill>
                <a:latin typeface="Arial"/>
              </a:rPr>
              <a:t>staff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943600" y="2729484"/>
            <a:ext cx="694944" cy="59436"/>
          </a:xfrm>
          <a:prstGeom prst="rect">
            <a:avLst/>
          </a:prstGeom>
          <a:solidFill>
            <a:srgbClr val="E6E6E6"/>
          </a:solidFill>
          <a:ln w="10795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5943600" y="2729484"/>
            <a:ext cx="125089" cy="59436"/>
          </a:xfrm>
          <a:prstGeom prst="rect">
            <a:avLst/>
          </a:prstGeom>
          <a:solidFill>
            <a:srgbClr val="CDCDCD"/>
          </a:solidFill>
          <a:ln w="10795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684264" y="2697479"/>
            <a:ext cx="292608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20" b="0">
                <a:solidFill>
                  <a:srgbClr val="737373"/>
                </a:solidFill>
                <a:latin typeface="Arial"/>
              </a:rPr>
              <a:t>18%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76672" y="2848356"/>
            <a:ext cx="548640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35" b="0">
                <a:solidFill>
                  <a:srgbClr val="737373"/>
                </a:solidFill>
                <a:latin typeface="Arial"/>
              </a:rPr>
              <a:t>servers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943600" y="2880360"/>
            <a:ext cx="694944" cy="59436"/>
          </a:xfrm>
          <a:prstGeom prst="rect">
            <a:avLst/>
          </a:prstGeom>
          <a:solidFill>
            <a:srgbClr val="E6E6E6"/>
          </a:solidFill>
          <a:ln w="10795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5943600" y="2880360"/>
            <a:ext cx="76443" cy="59436"/>
          </a:xfrm>
          <a:prstGeom prst="rect">
            <a:avLst/>
          </a:prstGeom>
          <a:solidFill>
            <a:srgbClr val="CDCDCD"/>
          </a:solidFill>
          <a:ln w="10795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684264" y="2848356"/>
            <a:ext cx="292608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20" b="0">
                <a:solidFill>
                  <a:srgbClr val="737373"/>
                </a:solidFill>
                <a:latin typeface="Arial"/>
              </a:rPr>
              <a:t>11%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376672" y="2999232"/>
            <a:ext cx="548640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35" b="0">
                <a:solidFill>
                  <a:srgbClr val="737373"/>
                </a:solidFill>
                <a:latin typeface="Arial"/>
              </a:rPr>
              <a:t>meal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943600" y="3031236"/>
            <a:ext cx="694944" cy="59436"/>
          </a:xfrm>
          <a:prstGeom prst="rect">
            <a:avLst/>
          </a:prstGeom>
          <a:solidFill>
            <a:srgbClr val="E6E6E6"/>
          </a:solidFill>
          <a:ln w="10795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5943600" y="3031236"/>
            <a:ext cx="27797" cy="59436"/>
          </a:xfrm>
          <a:prstGeom prst="rect">
            <a:avLst/>
          </a:prstGeom>
          <a:solidFill>
            <a:srgbClr val="CDCDCD"/>
          </a:solidFill>
          <a:ln w="10795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684264" y="2999232"/>
            <a:ext cx="292608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20" b="0">
                <a:solidFill>
                  <a:srgbClr val="737373"/>
                </a:solidFill>
                <a:latin typeface="Arial"/>
              </a:rPr>
              <a:t>4%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376672" y="3150108"/>
            <a:ext cx="548640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35" b="0">
                <a:solidFill>
                  <a:srgbClr val="737373"/>
                </a:solidFill>
                <a:latin typeface="Arial"/>
              </a:rPr>
              <a:t>...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943600" y="3182112"/>
            <a:ext cx="694944" cy="59436"/>
          </a:xfrm>
          <a:prstGeom prst="rect">
            <a:avLst/>
          </a:prstGeom>
          <a:solidFill>
            <a:srgbClr val="E6E6E6"/>
          </a:solidFill>
          <a:ln w="10795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5943600" y="3182112"/>
            <a:ext cx="104241" cy="59436"/>
          </a:xfrm>
          <a:prstGeom prst="rect">
            <a:avLst/>
          </a:prstGeom>
          <a:solidFill>
            <a:srgbClr val="CDCDCD"/>
          </a:solidFill>
          <a:ln w="10795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6684264" y="3150108"/>
            <a:ext cx="292608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20" b="0">
                <a:solidFill>
                  <a:srgbClr val="737373"/>
                </a:solidFill>
                <a:latin typeface="Arial"/>
              </a:rPr>
              <a:t>15%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7050024" y="2659075"/>
            <a:ext cx="100584" cy="0"/>
          </a:xfrm>
          <a:prstGeom prst="line">
            <a:avLst/>
          </a:prstGeom>
          <a:ln w="13335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ounded Rectangle 77"/>
          <p:cNvSpPr/>
          <p:nvPr/>
        </p:nvSpPr>
        <p:spPr>
          <a:xfrm>
            <a:off x="7196328" y="2546603"/>
            <a:ext cx="658368" cy="233172"/>
          </a:xfrm>
          <a:prstGeom prst="roundRect">
            <a:avLst/>
          </a:prstGeom>
          <a:solidFill>
            <a:srgbClr val="FFF7CD"/>
          </a:solidFill>
          <a:ln w="10795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90" b="1">
                <a:solidFill>
                  <a:srgbClr val="000000"/>
                </a:solidFill>
                <a:latin typeface="Arial"/>
              </a:rPr>
              <a:t>service</a:t>
            </a:r>
          </a:p>
        </p:txBody>
      </p:sp>
      <p:sp>
        <p:nvSpPr>
          <p:cNvPr id="81" name="Oval 80"/>
          <p:cNvSpPr/>
          <p:nvPr/>
        </p:nvSpPr>
        <p:spPr>
          <a:xfrm>
            <a:off x="429768" y="3599992"/>
            <a:ext cx="192024" cy="192024"/>
          </a:xfrm>
          <a:prstGeom prst="ellipse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429768" y="3599992"/>
            <a:ext cx="192024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8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694944" y="3602736"/>
            <a:ext cx="393192" cy="196596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25" b="0">
                <a:solidFill>
                  <a:srgbClr val="000000"/>
                </a:solidFill>
                <a:latin typeface="Arial"/>
              </a:rPr>
              <a:t>Great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1127455" y="3602736"/>
            <a:ext cx="347472" cy="196596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25" b="0">
                <a:solidFill>
                  <a:srgbClr val="000000"/>
                </a:solidFill>
                <a:latin typeface="Arial"/>
              </a:rPr>
              <a:t>food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1514246" y="3602736"/>
            <a:ext cx="301752" cy="196596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25" b="0">
                <a:solidFill>
                  <a:srgbClr val="000000"/>
                </a:solidFill>
                <a:latin typeface="Arial"/>
              </a:rPr>
              <a:t>and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1855317" y="3602736"/>
            <a:ext cx="521207" cy="196596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90" b="0">
                <a:solidFill>
                  <a:srgbClr val="000000"/>
                </a:solidFill>
                <a:latin typeface="Arial"/>
              </a:rPr>
              <a:t>friendly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2415844" y="3602736"/>
            <a:ext cx="484632" cy="196596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90" b="0">
                <a:solidFill>
                  <a:srgbClr val="000000"/>
                </a:solidFill>
                <a:latin typeface="Arial"/>
              </a:rPr>
              <a:t>service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2964484" y="3701491"/>
            <a:ext cx="473660" cy="0"/>
          </a:xfrm>
          <a:prstGeom prst="line">
            <a:avLst/>
          </a:prstGeom>
          <a:ln w="13335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ounded Rectangle 88"/>
          <p:cNvSpPr/>
          <p:nvPr/>
        </p:nvSpPr>
        <p:spPr>
          <a:xfrm>
            <a:off x="3474720" y="3515868"/>
            <a:ext cx="731520" cy="411480"/>
          </a:xfrm>
          <a:prstGeom prst="roundRect">
            <a:avLst/>
          </a:prstGeom>
          <a:solidFill>
            <a:srgbClr val="E8F2F8"/>
          </a:solidFill>
          <a:ln w="10795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35" b="1">
                <a:solidFill>
                  <a:srgbClr val="005587"/>
                </a:solidFill>
                <a:latin typeface="Arial"/>
              </a:rPr>
              <a:t>transformer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4233672" y="3701491"/>
            <a:ext cx="210312" cy="0"/>
          </a:xfrm>
          <a:prstGeom prst="line">
            <a:avLst/>
          </a:prstGeom>
          <a:ln w="13335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Rounded Rectangle 90"/>
          <p:cNvSpPr/>
          <p:nvPr/>
        </p:nvSpPr>
        <p:spPr>
          <a:xfrm>
            <a:off x="4489704" y="3515868"/>
            <a:ext cx="640080" cy="41148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675" b="1">
                <a:solidFill>
                  <a:srgbClr val="005587"/>
                </a:solidFill>
                <a:latin typeface="Arial"/>
              </a:rPr>
              <a:t>classification
head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5157216" y="3701491"/>
            <a:ext cx="173736" cy="0"/>
          </a:xfrm>
          <a:prstGeom prst="line">
            <a:avLst/>
          </a:prstGeom>
          <a:ln w="13335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5376672" y="3589020"/>
            <a:ext cx="548640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35" b="1">
                <a:solidFill>
                  <a:srgbClr val="000000"/>
                </a:solidFill>
                <a:latin typeface="Arial"/>
              </a:rPr>
              <a:t>was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943600" y="3621024"/>
            <a:ext cx="694944" cy="59436"/>
          </a:xfrm>
          <a:prstGeom prst="rect">
            <a:avLst/>
          </a:prstGeom>
          <a:solidFill>
            <a:srgbClr val="E6E6E6"/>
          </a:solidFill>
          <a:ln w="10795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5943600" y="3621024"/>
            <a:ext cx="236280" cy="59436"/>
          </a:xfrm>
          <a:prstGeom prst="rect">
            <a:avLst/>
          </a:prstGeom>
          <a:solidFill>
            <a:srgbClr val="005587"/>
          </a:solidFill>
          <a:ln w="10795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6684264" y="3589020"/>
            <a:ext cx="292608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20" b="1">
                <a:solidFill>
                  <a:srgbClr val="000000"/>
                </a:solidFill>
                <a:latin typeface="Arial"/>
              </a:rPr>
              <a:t>34%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376672" y="3739896"/>
            <a:ext cx="548640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35" b="0">
                <a:solidFill>
                  <a:srgbClr val="737373"/>
                </a:solidFill>
                <a:latin typeface="Arial"/>
              </a:rPr>
              <a:t>is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943600" y="3771900"/>
            <a:ext cx="694944" cy="59436"/>
          </a:xfrm>
          <a:prstGeom prst="rect">
            <a:avLst/>
          </a:prstGeom>
          <a:solidFill>
            <a:srgbClr val="E6E6E6"/>
          </a:solidFill>
          <a:ln w="10795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5943600" y="3771900"/>
            <a:ext cx="152887" cy="59436"/>
          </a:xfrm>
          <a:prstGeom prst="rect">
            <a:avLst/>
          </a:prstGeom>
          <a:solidFill>
            <a:srgbClr val="CDCDCD"/>
          </a:solidFill>
          <a:ln w="10795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6684264" y="3739896"/>
            <a:ext cx="292608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20" b="0">
                <a:solidFill>
                  <a:srgbClr val="737373"/>
                </a:solidFill>
                <a:latin typeface="Arial"/>
              </a:rPr>
              <a:t>22%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376672" y="3890772"/>
            <a:ext cx="548640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35" b="0">
                <a:solidFill>
                  <a:srgbClr val="737373"/>
                </a:solidFill>
                <a:latin typeface="Arial"/>
              </a:rPr>
              <a:t>felt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943600" y="3922776"/>
            <a:ext cx="694944" cy="59436"/>
          </a:xfrm>
          <a:prstGeom prst="rect">
            <a:avLst/>
          </a:prstGeom>
          <a:solidFill>
            <a:srgbClr val="E6E6E6"/>
          </a:solidFill>
          <a:ln w="10795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5943600" y="3922776"/>
            <a:ext cx="111191" cy="59436"/>
          </a:xfrm>
          <a:prstGeom prst="rect">
            <a:avLst/>
          </a:prstGeom>
          <a:solidFill>
            <a:srgbClr val="CDCDCD"/>
          </a:solidFill>
          <a:ln w="10795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6684264" y="3890772"/>
            <a:ext cx="292608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20" b="0">
                <a:solidFill>
                  <a:srgbClr val="737373"/>
                </a:solidFill>
                <a:latin typeface="Arial"/>
              </a:rPr>
              <a:t>16%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376672" y="4041648"/>
            <a:ext cx="548640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35" b="0">
                <a:solidFill>
                  <a:srgbClr val="737373"/>
                </a:solidFill>
                <a:latin typeface="Arial"/>
              </a:rPr>
              <a:t>seemed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5943600" y="4073652"/>
            <a:ext cx="694944" cy="59436"/>
          </a:xfrm>
          <a:prstGeom prst="rect">
            <a:avLst/>
          </a:prstGeom>
          <a:solidFill>
            <a:srgbClr val="E6E6E6"/>
          </a:solidFill>
          <a:ln w="10795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5943600" y="4073652"/>
            <a:ext cx="55595" cy="59436"/>
          </a:xfrm>
          <a:prstGeom prst="rect">
            <a:avLst/>
          </a:prstGeom>
          <a:solidFill>
            <a:srgbClr val="CDCDCD"/>
          </a:solidFill>
          <a:ln w="10795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6684264" y="4041648"/>
            <a:ext cx="292608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20" b="0">
                <a:solidFill>
                  <a:srgbClr val="737373"/>
                </a:solidFill>
                <a:latin typeface="Arial"/>
              </a:rPr>
              <a:t>8%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376672" y="4192524"/>
            <a:ext cx="548640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35" b="0">
                <a:solidFill>
                  <a:srgbClr val="737373"/>
                </a:solidFill>
                <a:latin typeface="Arial"/>
              </a:rPr>
              <a:t>...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943600" y="4224528"/>
            <a:ext cx="694944" cy="59436"/>
          </a:xfrm>
          <a:prstGeom prst="rect">
            <a:avLst/>
          </a:prstGeom>
          <a:solidFill>
            <a:srgbClr val="E6E6E6"/>
          </a:solidFill>
          <a:ln w="10795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12" name="Rectangle 111"/>
          <p:cNvSpPr/>
          <p:nvPr/>
        </p:nvSpPr>
        <p:spPr>
          <a:xfrm>
            <a:off x="5943600" y="4224528"/>
            <a:ext cx="138988" cy="59436"/>
          </a:xfrm>
          <a:prstGeom prst="rect">
            <a:avLst/>
          </a:prstGeom>
          <a:solidFill>
            <a:srgbClr val="CDCDCD"/>
          </a:solidFill>
          <a:ln w="10795"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6684264" y="4192524"/>
            <a:ext cx="292608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20" b="0">
                <a:solidFill>
                  <a:srgbClr val="737373"/>
                </a:solidFill>
                <a:latin typeface="Arial"/>
              </a:rPr>
              <a:t>20%</a:t>
            </a:r>
          </a:p>
        </p:txBody>
      </p:sp>
      <p:cxnSp>
        <p:nvCxnSpPr>
          <p:cNvPr id="114" name="Connector 113"/>
          <p:cNvCxnSpPr/>
          <p:nvPr/>
        </p:nvCxnSpPr>
        <p:spPr>
          <a:xfrm>
            <a:off x="7050024" y="3701491"/>
            <a:ext cx="100584" cy="0"/>
          </a:xfrm>
          <a:prstGeom prst="line">
            <a:avLst/>
          </a:prstGeom>
          <a:ln w="13335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Rounded Rectangle 114"/>
          <p:cNvSpPr/>
          <p:nvPr/>
        </p:nvSpPr>
        <p:spPr>
          <a:xfrm>
            <a:off x="7196328" y="3589020"/>
            <a:ext cx="658368" cy="233172"/>
          </a:xfrm>
          <a:prstGeom prst="roundRect">
            <a:avLst/>
          </a:prstGeom>
          <a:solidFill>
            <a:srgbClr val="FFF7CD"/>
          </a:solidFill>
          <a:ln w="10795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35" b="1">
                <a:solidFill>
                  <a:srgbClr val="000000"/>
                </a:solidFill>
                <a:latin typeface="Arial"/>
              </a:rPr>
              <a:t>was</a:t>
            </a:r>
          </a:p>
        </p:txBody>
      </p:sp>
      <p:cxnSp>
        <p:nvCxnSpPr>
          <p:cNvPr id="118" name="Connector 117"/>
          <p:cNvCxnSpPr/>
          <p:nvPr/>
        </p:nvCxnSpPr>
        <p:spPr>
          <a:xfrm>
            <a:off x="7529169" y="1826971"/>
            <a:ext cx="0" cy="576072"/>
          </a:xfrm>
          <a:prstGeom prst="line">
            <a:avLst/>
          </a:prstGeom>
          <a:ln w="12700">
            <a:solidFill>
              <a:srgbClr val="0055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>
            <a:cxnSpLocks/>
          </p:cNvCxnSpPr>
          <p:nvPr/>
        </p:nvCxnSpPr>
        <p:spPr>
          <a:xfrm flipH="1">
            <a:off x="2115921" y="2395728"/>
            <a:ext cx="5409591" cy="0"/>
          </a:xfrm>
          <a:prstGeom prst="line">
            <a:avLst/>
          </a:prstGeom>
          <a:ln w="12700">
            <a:solidFill>
              <a:srgbClr val="0055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2115921" y="2395728"/>
            <a:ext cx="0" cy="144018"/>
          </a:xfrm>
          <a:prstGeom prst="line">
            <a:avLst/>
          </a:prstGeom>
          <a:ln w="12700">
            <a:solidFill>
              <a:srgbClr val="0055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7529169" y="2862072"/>
            <a:ext cx="0" cy="576072"/>
          </a:xfrm>
          <a:prstGeom prst="line">
            <a:avLst/>
          </a:prstGeom>
          <a:ln w="12700">
            <a:solidFill>
              <a:srgbClr val="0055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>
            <a:cxnSpLocks/>
          </p:cNvCxnSpPr>
          <p:nvPr/>
        </p:nvCxnSpPr>
        <p:spPr>
          <a:xfrm flipH="1">
            <a:off x="2658160" y="3438144"/>
            <a:ext cx="4867352" cy="0"/>
          </a:xfrm>
          <a:prstGeom prst="line">
            <a:avLst/>
          </a:prstGeom>
          <a:ln w="12700">
            <a:solidFill>
              <a:srgbClr val="0055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2658160" y="3438144"/>
            <a:ext cx="0" cy="144018"/>
          </a:xfrm>
          <a:prstGeom prst="line">
            <a:avLst/>
          </a:prstGeom>
          <a:ln w="12700">
            <a:solidFill>
              <a:srgbClr val="0055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Rounded Rectangle 125"/>
          <p:cNvSpPr/>
          <p:nvPr/>
        </p:nvSpPr>
        <p:spPr>
          <a:xfrm>
            <a:off x="361188" y="4568342"/>
            <a:ext cx="7955279" cy="283464"/>
          </a:xfrm>
          <a:prstGeom prst="roundRect">
            <a:avLst/>
          </a:prstGeom>
          <a:solidFill>
            <a:schemeClr val="bg1"/>
          </a:solidFill>
          <a:ln w="10795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dirty="0">
                <a:solidFill>
                  <a:srgbClr val="000000"/>
                </a:solidFill>
                <a:latin typeface="Arial"/>
              </a:rPr>
              <a:t>Each </a:t>
            </a:r>
            <a:r>
              <a:rPr lang="en-US" sz="1200" dirty="0">
                <a:solidFill>
                  <a:srgbClr val="000000"/>
                </a:solidFill>
                <a:latin typeface="Arial"/>
              </a:rPr>
              <a:t>inference </a:t>
            </a:r>
            <a:r>
              <a:rPr sz="1200" dirty="0">
                <a:solidFill>
                  <a:srgbClr val="000000"/>
                </a:solidFill>
                <a:latin typeface="Arial"/>
              </a:rPr>
              <a:t>pass predicts one next token, appends it to the context, then runs the transformer agai</a:t>
            </a:r>
            <a:r>
              <a:rPr lang="en-US" sz="1200" dirty="0">
                <a:solidFill>
                  <a:srgbClr val="000000"/>
                </a:solidFill>
                <a:latin typeface="Arial"/>
              </a:rPr>
              <a:t>n</a:t>
            </a:r>
            <a:endParaRPr sz="1200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32" name="Connector 121">
            <a:extLst>
              <a:ext uri="{FF2B5EF4-FFF2-40B4-BE49-F238E27FC236}">
                <a16:creationId xmlns:a16="http://schemas.microsoft.com/office/drawing/2014/main" id="{90DEA2C1-C031-AAFA-6BE7-E853B5AB4FFD}"/>
              </a:ext>
            </a:extLst>
          </p:cNvPr>
          <p:cNvCxnSpPr>
            <a:cxnSpLocks/>
          </p:cNvCxnSpPr>
          <p:nvPr/>
        </p:nvCxnSpPr>
        <p:spPr>
          <a:xfrm>
            <a:off x="7525512" y="3821277"/>
            <a:ext cx="0" cy="428854"/>
          </a:xfrm>
          <a:prstGeom prst="line">
            <a:avLst/>
          </a:prstGeom>
          <a:ln w="12700">
            <a:solidFill>
              <a:srgbClr val="0055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Text 1">
            <a:extLst>
              <a:ext uri="{FF2B5EF4-FFF2-40B4-BE49-F238E27FC236}">
                <a16:creationId xmlns:a16="http://schemas.microsoft.com/office/drawing/2014/main" id="{368A8A54-5BC0-1009-15D8-0C02BBB911B5}"/>
              </a:ext>
            </a:extLst>
          </p:cNvPr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Text Generation</a:t>
            </a:r>
            <a:endParaRPr lang="en-US" sz="28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 w="1016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0" rIns="54864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59179"/>
            <a:ext cx="7272825" cy="41549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700" b="1" dirty="0">
                <a:solidFill>
                  <a:srgbClr val="005587"/>
                </a:solidFill>
                <a:latin typeface="Whitney Bold"/>
              </a:rPr>
              <a:t>Why </a:t>
            </a:r>
            <a:r>
              <a:rPr lang="en-US" sz="2700" b="1" dirty="0">
                <a:solidFill>
                  <a:srgbClr val="005587"/>
                </a:solidFill>
                <a:latin typeface="Whitney Bold"/>
              </a:rPr>
              <a:t>Does </a:t>
            </a:r>
            <a:r>
              <a:rPr sz="2700" b="1" dirty="0">
                <a:solidFill>
                  <a:srgbClr val="005587"/>
                </a:solidFill>
                <a:latin typeface="Whitney Bold"/>
              </a:rPr>
              <a:t>Next-Token Prediction </a:t>
            </a:r>
            <a:r>
              <a:rPr lang="en-US" sz="2700" b="1" dirty="0">
                <a:solidFill>
                  <a:srgbClr val="005587"/>
                </a:solidFill>
                <a:latin typeface="Whitney Bold"/>
              </a:rPr>
              <a:t>Work So Well?</a:t>
            </a:r>
            <a:endParaRPr sz="27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57200" y="896112"/>
            <a:ext cx="8339328" cy="0"/>
          </a:xfrm>
          <a:prstGeom prst="line">
            <a:avLst/>
          </a:prstGeom>
          <a:ln w="1270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6061" y="1040808"/>
            <a:ext cx="8339328" cy="1708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400" dirty="0">
                <a:latin typeface="Arial"/>
              </a:rPr>
              <a:t>Next token prediction is not the end goal, but just an extremely convenient training objective</a:t>
            </a:r>
          </a:p>
          <a:p>
            <a:pPr algn="l"/>
            <a:endParaRPr lang="en-US" sz="1400" dirty="0">
              <a:latin typeface="Arial"/>
            </a:endParaRPr>
          </a:p>
          <a:p>
            <a:pPr algn="l"/>
            <a:r>
              <a:rPr lang="en-US" sz="1400" dirty="0">
                <a:latin typeface="Arial"/>
              </a:rPr>
              <a:t>Predicting the next token accurately forces the LLM to implicitly build an internal model of: </a:t>
            </a:r>
          </a:p>
          <a:p>
            <a:pPr algn="l"/>
            <a:endParaRPr lang="en-US" sz="1100" dirty="0">
              <a:latin typeface="Arial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100" dirty="0">
                <a:latin typeface="Arial"/>
              </a:rPr>
              <a:t>language structure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100" dirty="0">
                <a:latin typeface="Arial"/>
              </a:rPr>
              <a:t>facts and domain knowledge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100" dirty="0">
                <a:latin typeface="Arial"/>
              </a:rPr>
              <a:t>relationship between concepts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100" dirty="0">
                <a:latin typeface="Arial"/>
              </a:rPr>
              <a:t>patterns of reasoning</a:t>
            </a:r>
          </a:p>
          <a:p>
            <a:pPr algn="l"/>
            <a:endParaRPr sz="1400" dirty="0"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296470" y="3197909"/>
            <a:ext cx="2872581" cy="153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 dirty="0">
                <a:latin typeface="Arial"/>
              </a:rPr>
              <a:t>Gerrymandering can convert fewer votes into more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4993" y="3200225"/>
            <a:ext cx="274320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737373"/>
                </a:solidFill>
                <a:latin typeface="Arial"/>
              </a:rPr>
              <a:t>-&gt;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84177" y="3159077"/>
            <a:ext cx="1005840" cy="237744"/>
          </a:xfrm>
          <a:prstGeom prst="roundRect">
            <a:avLst/>
          </a:prstGeom>
          <a:solidFill>
            <a:srgbClr val="FFF7CD"/>
          </a:solidFill>
          <a:ln w="1016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0" rIns="54864" bIns="0" rtlCol="0" anchor="ctr"/>
          <a:lstStyle/>
          <a:p>
            <a:pPr algn="ctr"/>
            <a:r>
              <a:rPr sz="810" b="1">
                <a:solidFill>
                  <a:srgbClr val="000000"/>
                </a:solidFill>
                <a:latin typeface="Arial"/>
              </a:rPr>
              <a:t>seats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96470" y="3499661"/>
            <a:ext cx="2989601" cy="153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latin typeface="Arial"/>
              </a:rPr>
              <a:t>When interest rates rise, existing bond prices usually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4993" y="3501977"/>
            <a:ext cx="274320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737373"/>
                </a:solidFill>
                <a:latin typeface="Arial"/>
              </a:rPr>
              <a:t>-&gt;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584177" y="3460829"/>
            <a:ext cx="1005840" cy="237744"/>
          </a:xfrm>
          <a:prstGeom prst="roundRect">
            <a:avLst/>
          </a:prstGeom>
          <a:solidFill>
            <a:srgbClr val="FFF7CD"/>
          </a:solidFill>
          <a:ln w="1016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0" rIns="54864" bIns="0" rtlCol="0" anchor="ctr"/>
          <a:lstStyle/>
          <a:p>
            <a:pPr algn="ctr"/>
            <a:r>
              <a:rPr sz="810" b="1">
                <a:solidFill>
                  <a:srgbClr val="000000"/>
                </a:solidFill>
                <a:latin typeface="Arial"/>
              </a:rPr>
              <a:t>fall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96470" y="3801413"/>
            <a:ext cx="2704266" cy="153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latin typeface="Arial"/>
              </a:rPr>
              <a:t>To treat type 2 diabetes, doctors often prescribe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54993" y="3803729"/>
            <a:ext cx="274320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737373"/>
                </a:solidFill>
                <a:latin typeface="Arial"/>
              </a:rPr>
              <a:t>-&gt;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584177" y="3762581"/>
            <a:ext cx="1005840" cy="237744"/>
          </a:xfrm>
          <a:prstGeom prst="roundRect">
            <a:avLst/>
          </a:prstGeom>
          <a:solidFill>
            <a:srgbClr val="FFF7CD"/>
          </a:solidFill>
          <a:ln w="1016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0" rIns="54864" bIns="0" rtlCol="0" anchor="ctr"/>
          <a:lstStyle/>
          <a:p>
            <a:pPr algn="ctr"/>
            <a:r>
              <a:rPr sz="810" b="1">
                <a:solidFill>
                  <a:srgbClr val="000000"/>
                </a:solidFill>
                <a:latin typeface="Arial"/>
              </a:rPr>
              <a:t>metformin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83BF941-34E8-0E85-700F-5A22D2C3DD37}"/>
              </a:ext>
            </a:extLst>
          </p:cNvPr>
          <p:cNvSpPr txBox="1"/>
          <p:nvPr/>
        </p:nvSpPr>
        <p:spPr>
          <a:xfrm>
            <a:off x="2216199" y="2768696"/>
            <a:ext cx="10819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Examples: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28A811-7468-F4A6-5756-18F7D009281B}"/>
              </a:ext>
            </a:extLst>
          </p:cNvPr>
          <p:cNvSpPr txBox="1"/>
          <p:nvPr/>
        </p:nvSpPr>
        <p:spPr>
          <a:xfrm>
            <a:off x="457200" y="4404242"/>
            <a:ext cx="8339328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400" dirty="0">
                <a:latin typeface="Arial"/>
              </a:rPr>
              <a:t>By focusing on next-token prediction, we naturally get billions of training examples from ordinary text</a:t>
            </a:r>
          </a:p>
          <a:p>
            <a:pPr algn="l"/>
            <a:endParaRPr sz="1400" dirty="0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 animBg="1"/>
      <p:bldP spid="22" grpId="0"/>
      <p:bldP spid="23" grpId="0"/>
      <p:bldP spid="24" grpId="0" animBg="1"/>
      <p:bldP spid="26" grpId="0"/>
      <p:bldP spid="27" grpId="0"/>
      <p:bldP spid="28" grpId="0" animBg="1"/>
      <p:bldP spid="34" grpId="0"/>
      <p:bldP spid="6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B9166-3449-21F2-FE3D-7C423ADD4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EFB089B-7453-B6C3-2C88-40BD0A20CDB3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1B60604-ED33-8226-D3E7-2C5DDC0C3603}"/>
              </a:ext>
            </a:extLst>
          </p:cNvPr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Transformers in Practice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CFD52F2-4DD2-CB61-3561-397F43D22074}"/>
              </a:ext>
            </a:extLst>
          </p:cNvPr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4C940F4A-B515-9521-3B9A-9235674D8698}"/>
              </a:ext>
            </a:extLst>
          </p:cNvPr>
          <p:cNvSpPr/>
          <p:nvPr/>
        </p:nvSpPr>
        <p:spPr>
          <a:xfrm>
            <a:off x="7040880" y="12801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V</a:t>
            </a:r>
            <a:endParaRPr lang="en-US" sz="11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0CD41C-7015-C74F-E4DC-DCA36266B5E4}"/>
              </a:ext>
            </a:extLst>
          </p:cNvPr>
          <p:cNvSpPr txBox="1"/>
          <p:nvPr/>
        </p:nvSpPr>
        <p:spPr>
          <a:xfrm>
            <a:off x="411480" y="956994"/>
            <a:ext cx="80882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Early GPT models were all stacks of transformer blocks</a:t>
            </a:r>
          </a:p>
        </p:txBody>
      </p:sp>
      <p:graphicFrame>
        <p:nvGraphicFramePr>
          <p:cNvPr id="8" name="Table 0">
            <a:extLst>
              <a:ext uri="{FF2B5EF4-FFF2-40B4-BE49-F238E27FC236}">
                <a16:creationId xmlns:a16="http://schemas.microsoft.com/office/drawing/2014/main" id="{D669B9B4-FF24-00DD-960B-2EE53194B6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4146467"/>
              </p:ext>
            </p:extLst>
          </p:nvPr>
        </p:nvGraphicFramePr>
        <p:xfrm>
          <a:off x="457200" y="1290551"/>
          <a:ext cx="8229600" cy="3060192"/>
        </p:xfrm>
        <a:graphic>
          <a:graphicData uri="http://schemas.openxmlformats.org/drawingml/2006/table">
            <a:tbl>
              <a:tblPr/>
              <a:tblGrid>
                <a:gridCol w="2119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07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GPT-1 (2018)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GPT-2 (2019)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GPT-3 (2020)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Transformer blocks</a:t>
                      </a:r>
                      <a:endParaRPr lang="en-US" sz="120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Attention heads per block</a:t>
                      </a:r>
                      <a:endParaRPr lang="en-US" sz="120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Embedding dimension</a:t>
                      </a:r>
                      <a:endParaRPr lang="en-US" sz="120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768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1,600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12,288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Dims / head</a:t>
                      </a:r>
                      <a:endParaRPr lang="en-US" sz="120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Weight parameters</a:t>
                      </a:r>
                      <a:endParaRPr lang="en-US" sz="120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117M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1.5B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175B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Context window</a:t>
                      </a:r>
                      <a:endParaRPr lang="en-US" sz="120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512 tokens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1,024 tokens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2,048 tokens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Training tokens</a:t>
                      </a:r>
                      <a:endParaRPr lang="en-US" sz="120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~0.8B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~10B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~300B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Training data</a:t>
                      </a:r>
                      <a:endParaRPr lang="en-US" sz="120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BookCorpus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(~5 GB)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WebText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(40 GB)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Common Crawl + books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 Wikipedia (570 GB)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856042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055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olab: An easy way to learn and use TensorFlow | by TensorFlow | TensorFlow  | Medium">
            <a:hlinkClick r:id="rId3"/>
            <a:extLst>
              <a:ext uri="{FF2B5EF4-FFF2-40B4-BE49-F238E27FC236}">
                <a16:creationId xmlns:a16="http://schemas.microsoft.com/office/drawing/2014/main" id="{1FC2B032-8670-4008-EB74-C5955CDFF9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9487" y="1929719"/>
            <a:ext cx="2905025" cy="1284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58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AEF860-B31A-B9AE-C54B-1D8EA66C3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hlinkClick r:id="rId3"/>
            <a:extLst>
              <a:ext uri="{FF2B5EF4-FFF2-40B4-BE49-F238E27FC236}">
                <a16:creationId xmlns:a16="http://schemas.microsoft.com/office/drawing/2014/main" id="{9C824E32-20CA-1173-5693-188C8F77A1E2}"/>
              </a:ext>
            </a:extLst>
          </p:cNvPr>
          <p:cNvSpPr/>
          <p:nvPr/>
        </p:nvSpPr>
        <p:spPr>
          <a:xfrm>
            <a:off x="914400" y="188595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D100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Assignment 6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3794164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 w="635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2800" b="1">
                <a:solidFill>
                  <a:srgbClr val="005587"/>
                </a:solidFill>
                <a:latin typeface="Whitney Bold"/>
              </a:rPr>
              <a:t>Glossary (1/2)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96112"/>
            <a:ext cx="8321040" cy="5486"/>
          </a:xfrm>
          <a:prstGeom prst="rect">
            <a:avLst/>
          </a:prstGeom>
          <a:solidFill>
            <a:srgbClr val="E8E8E8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54864" cy="640080"/>
          </a:xfrm>
          <a:prstGeom prst="rect">
            <a:avLst/>
          </a:prstGeom>
          <a:solidFill>
            <a:srgbClr val="005587"/>
          </a:solidFill>
          <a:ln w="635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21792" y="1051560"/>
            <a:ext cx="256032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1400" b="1">
                <a:solidFill>
                  <a:srgbClr val="005587"/>
                </a:solidFill>
                <a:latin typeface="Arial"/>
              </a:rPr>
              <a:t>Token</a:t>
            </a:r>
          </a:p>
        </p:txBody>
      </p:sp>
      <p:sp>
        <p:nvSpPr>
          <p:cNvPr id="7" name="Rectangle 6"/>
          <p:cNvSpPr/>
          <p:nvPr/>
        </p:nvSpPr>
        <p:spPr>
          <a:xfrm>
            <a:off x="3319272" y="1051560"/>
            <a:ext cx="530352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1400" b="0">
                <a:solidFill>
                  <a:srgbClr val="000000"/>
                </a:solidFill>
                <a:latin typeface="Arial"/>
              </a:rPr>
              <a:t>The basic unit of text a model reads or generates.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54864" cy="640080"/>
          </a:xfrm>
          <a:prstGeom prst="rect">
            <a:avLst/>
          </a:prstGeom>
          <a:solidFill>
            <a:srgbClr val="005587"/>
          </a:solidFill>
          <a:ln w="635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" y="1691640"/>
            <a:ext cx="256032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1400" b="1">
                <a:solidFill>
                  <a:srgbClr val="005587"/>
                </a:solidFill>
                <a:latin typeface="Arial"/>
              </a:rPr>
              <a:t>Vocabulary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19272" y="1691640"/>
            <a:ext cx="530352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1400" b="0">
                <a:solidFill>
                  <a:srgbClr val="000000"/>
                </a:solidFill>
                <a:latin typeface="Arial"/>
              </a:rPr>
              <a:t>The full set of tokens the model can recognize or generate.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31720"/>
            <a:ext cx="54864" cy="640080"/>
          </a:xfrm>
          <a:prstGeom prst="rect">
            <a:avLst/>
          </a:prstGeom>
          <a:solidFill>
            <a:srgbClr val="005587"/>
          </a:solidFill>
          <a:ln w="635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" y="2331720"/>
            <a:ext cx="256032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1400" b="1">
                <a:solidFill>
                  <a:srgbClr val="005587"/>
                </a:solidFill>
                <a:latin typeface="Arial"/>
              </a:rPr>
              <a:t>Corpus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19272" y="2331720"/>
            <a:ext cx="530352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1400" b="0">
                <a:solidFill>
                  <a:srgbClr val="000000"/>
                </a:solidFill>
                <a:latin typeface="Arial"/>
              </a:rPr>
              <a:t>A large collection of text used to learn language patterns.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971800"/>
            <a:ext cx="54864" cy="640080"/>
          </a:xfrm>
          <a:prstGeom prst="rect">
            <a:avLst/>
          </a:prstGeom>
          <a:solidFill>
            <a:srgbClr val="005587"/>
          </a:solidFill>
          <a:ln w="635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" y="2971800"/>
            <a:ext cx="256032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1400" b="1">
                <a:solidFill>
                  <a:srgbClr val="005587"/>
                </a:solidFill>
                <a:latin typeface="Arial"/>
              </a:rPr>
              <a:t>Embedding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19272" y="2971800"/>
            <a:ext cx="530352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1400" b="0">
                <a:solidFill>
                  <a:srgbClr val="000000"/>
                </a:solidFill>
                <a:latin typeface="Arial"/>
              </a:rPr>
              <a:t>A numerical representation of a token learned from data.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611880"/>
            <a:ext cx="54864" cy="640080"/>
          </a:xfrm>
          <a:prstGeom prst="rect">
            <a:avLst/>
          </a:prstGeom>
          <a:solidFill>
            <a:srgbClr val="005587"/>
          </a:solidFill>
          <a:ln w="635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" y="3611880"/>
            <a:ext cx="256032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1400" b="1">
                <a:solidFill>
                  <a:srgbClr val="005587"/>
                </a:solidFill>
                <a:latin typeface="Arial"/>
              </a:rPr>
              <a:t>Contextual Embedding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19272" y="3611880"/>
            <a:ext cx="530352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1400" b="0">
                <a:solidFill>
                  <a:srgbClr val="000000"/>
                </a:solidFill>
                <a:latin typeface="Arial"/>
              </a:rPr>
              <a:t>A token representation that changes based on the surrounding words.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 w="635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2800" b="1">
                <a:solidFill>
                  <a:srgbClr val="005587"/>
                </a:solidFill>
                <a:latin typeface="Whitney Bold"/>
              </a:rPr>
              <a:t>Glossary (2/2)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96112"/>
            <a:ext cx="8321040" cy="5486"/>
          </a:xfrm>
          <a:prstGeom prst="rect">
            <a:avLst/>
          </a:prstGeom>
          <a:solidFill>
            <a:srgbClr val="E8E8E8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54864" cy="640080"/>
          </a:xfrm>
          <a:prstGeom prst="rect">
            <a:avLst/>
          </a:prstGeom>
          <a:solidFill>
            <a:srgbClr val="005587"/>
          </a:solidFill>
          <a:ln w="635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21792" y="1051560"/>
            <a:ext cx="256032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1400" b="1">
                <a:solidFill>
                  <a:srgbClr val="005587"/>
                </a:solidFill>
                <a:latin typeface="Arial"/>
              </a:rPr>
              <a:t>Attention Weight</a:t>
            </a:r>
          </a:p>
        </p:txBody>
      </p:sp>
      <p:sp>
        <p:nvSpPr>
          <p:cNvPr id="7" name="Rectangle 6"/>
          <p:cNvSpPr/>
          <p:nvPr/>
        </p:nvSpPr>
        <p:spPr>
          <a:xfrm>
            <a:off x="3319272" y="1051560"/>
            <a:ext cx="530352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1400" b="0">
                <a:solidFill>
                  <a:srgbClr val="000000"/>
                </a:solidFill>
                <a:latin typeface="Arial"/>
              </a:rPr>
              <a:t>A learned score indicating how much one token uses information from another token.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54864" cy="640080"/>
          </a:xfrm>
          <a:prstGeom prst="rect">
            <a:avLst/>
          </a:prstGeom>
          <a:solidFill>
            <a:srgbClr val="005587"/>
          </a:solidFill>
          <a:ln w="635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" y="1691640"/>
            <a:ext cx="256032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1400" b="1">
                <a:solidFill>
                  <a:srgbClr val="005587"/>
                </a:solidFill>
                <a:latin typeface="Arial"/>
              </a:rPr>
              <a:t>Transformer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19272" y="1691640"/>
            <a:ext cx="530352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1400" b="0">
                <a:solidFill>
                  <a:srgbClr val="000000"/>
                </a:solidFill>
                <a:latin typeface="Arial"/>
              </a:rPr>
              <a:t>The architecture behind modern LLMs, built around attention-based processing.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31720"/>
            <a:ext cx="54864" cy="640080"/>
          </a:xfrm>
          <a:prstGeom prst="rect">
            <a:avLst/>
          </a:prstGeom>
          <a:solidFill>
            <a:srgbClr val="005587"/>
          </a:solidFill>
          <a:ln w="635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" y="2331720"/>
            <a:ext cx="256032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1400" b="1">
                <a:solidFill>
                  <a:srgbClr val="005587"/>
                </a:solidFill>
                <a:latin typeface="Arial"/>
              </a:rPr>
              <a:t>Context Window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19272" y="2331720"/>
            <a:ext cx="530352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1400" b="0">
                <a:solidFill>
                  <a:srgbClr val="000000"/>
                </a:solidFill>
                <a:latin typeface="Arial"/>
              </a:rPr>
              <a:t>The maximum number of tokens a transformer model can process in one input sequence, including the prompt and generated tokens kept in context.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3584</TotalTime>
  <Words>3059</Words>
  <Application>Microsoft Macintosh PowerPoint</Application>
  <PresentationFormat>On-screen Show (16:9)</PresentationFormat>
  <Paragraphs>829</Paragraphs>
  <Slides>55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9" baseType="lpstr">
      <vt:lpstr>Arial</vt:lpstr>
      <vt:lpstr>Cambria Math</vt:lpstr>
      <vt:lpstr>Whitney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MGMT298D Week 6 - Transformers and Language Models</dc:title>
  <dc:subject>PptxGenJS Presentation</dc:subject>
  <dc:creator>Auyon Siddiq</dc:creator>
  <cp:lastModifiedBy>Siddiq, Auyon</cp:lastModifiedBy>
  <cp:revision>741</cp:revision>
  <dcterms:created xsi:type="dcterms:W3CDTF">2026-02-16T03:47:16Z</dcterms:created>
  <dcterms:modified xsi:type="dcterms:W3CDTF">2026-05-06T03:08:46Z</dcterms:modified>
</cp:coreProperties>
</file>