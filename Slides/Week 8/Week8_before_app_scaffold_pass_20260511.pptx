
<file path=[Content_Types].xml><?xml version="1.0" encoding="utf-8"?>
<ns0:Types xmlns:ns0="http://schemas.openxmlformats.org/package/2006/content-types">
  <ns0:Default Extension="rels" ContentType="application/vnd.openxmlformats-package.relationships+xml"/>
  <ns0:Default Extension="xml" ContentType="application/xml"/>
  <ns0:Override PartName="/ppt/presentation.xml" ContentType="application/vnd.openxmlformats-officedocument.presentationml.presentation.main+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19.xml" ContentType="application/vnd.openxmlformats-officedocument.presentationml.slide+xml"/>
  <ns0:Override PartName="/ppt/slides/slide20.xml" ContentType="application/vnd.openxmlformats-officedocument.presentationml.slide+xml"/>
  <ns0:Override PartName="/ppt/slides/slide21.xml" ContentType="application/vnd.openxmlformats-officedocument.presentationml.slide+xml"/>
  <ns0:Override PartName="/ppt/slides/slide22.xml" ContentType="application/vnd.openxmlformats-officedocument.presentationml.slide+xml"/>
  <ns0:Override PartName="/ppt/slides/slide23.xml" ContentType="application/vnd.openxmlformats-officedocument.presentationml.slide+xml"/>
  <ns0:Override PartName="/ppt/slides/slide24.xml" ContentType="application/vnd.openxmlformats-officedocument.presentationml.slide+xml"/>
  <ns0:Override PartName="/ppt/slides/slide25.xml" ContentType="application/vnd.openxmlformats-officedocument.presentationml.slide+xml"/>
  <ns0:Override PartName="/ppt/slides/slide26.xml" ContentType="application/vnd.openxmlformats-officedocument.presentationml.slide+xml"/>
  <ns0:Override PartName="/ppt/slides/slide27.xml" ContentType="application/vnd.openxmlformats-officedocument.presentationml.slide+xml"/>
  <ns0:Override PartName="/ppt/slides/slide28.xml" ContentType="application/vnd.openxmlformats-officedocument.presentationml.slide+xml"/>
  <ns0:Override PartName="/ppt/slides/slide29.xml" ContentType="application/vnd.openxmlformats-officedocument.presentationml.slide+xml"/>
  <ns0:Override PartName="/ppt/slides/slide30.xml" ContentType="application/vnd.openxmlformats-officedocument.presentationml.slide+xml"/>
  <ns0:Override PartName="/ppt/notesMasters/notesMaster1.xml" ContentType="application/vnd.openxmlformats-officedocument.presentationml.notesMaster+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theme/theme2.xml" ContentType="application/vnd.openxmlformats-officedocument.theme+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slides/slide31.xml" ContentType="application/vnd.openxmlformats-officedocument.presentationml.slide+xml"/>
  <ns0:Override PartName="/ppt/slides/slide32.xml" ContentType="application/vnd.openxmlformats-officedocument.presentationml.slide+xml"/>
  <ns0:Override PartName="/ppt/slides/slide33.xml" ContentType="application/vnd.openxmlformats-officedocument.presentationml.slide+xml"/>
  <ns0:Override PartName="/ppt/slides/slide34.xml" ContentType="application/vnd.openxmlformats-officedocument.presentationml.slide+xml"/>
</ns0: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2"/>
    <p:sldId id="257"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272" r:id="rId20"/>
    <p:sldId id="273" r:id="rId21"/>
    <p:sldId id="274" r:id="rId22"/>
    <p:sldId id="275" r:id="rId23"/>
    <p:sldId id="276" r:id="rId24"/>
    <p:sldId id="300" r:id="rId37"/>
    <p:sldId id="301" r:id="rId38"/>
    <p:sldId id="302" r:id="rId39"/>
    <p:sldId id="303" r:id="rId40"/>
    <p:sldId id="277" r:id="rId25"/>
    <p:sldId id="278" r:id="rId26"/>
    <p:sldId id="279" r:id="rId27"/>
    <p:sldId id="280" r:id="rId28"/>
    <p:sldId id="281" r:id="rId29"/>
    <p:sldId id="282" r:id="rId30"/>
    <p:sldId id="283"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4" d="100"/>
          <a:sy n="164" d="100"/>
        </p:scale>
        <p:origin x="568" y="168"/>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heme" Target="theme/theme1.xml" /><Relationship Id="rId8" Type="http://schemas.openxmlformats.org/officeDocument/2006/relationships/slide" Target="slides/slide7.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905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ns0:sld xmlns:ns0="http://schemas.openxmlformats.org/presentationml/2006/main" xmlns:ns1="http://schemas.openxmlformats.org/drawingml/2006/main">
  <ns0:cSld name="Slide 1">
    <ns0:bg>
      <ns0:bgPr>
        <ns1:solidFill>
          <ns1:srgbClr val="005587"/>
        </ns1:solidFill>
      </ns0:bgPr>
    </ns0:bg>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9144000" cy="5143500"/>
          </ns1:xfrm>
          <ns1:prstGeom prst="rect">
            <ns1:avLst/>
          </ns1:prstGeom>
          <ns1:solidFill>
            <ns1:srgbClr val="00558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0" y="777240"/>
            <ns1:ext cx="9144000" cy="548640"/>
          </ns1:xfrm>
          <ns1:prstGeom prst="rect">
            <ns1:avLst/>
          </ns1:prstGeom>
          <ns1:noFill/>
        </ns0:spPr>
        <ns0:txBody>
          <ns1:bodyPr wrap="square" anchor="t">
            <ns1:spAutoFit/>
          </ns1:bodyPr>
          <ns1:lstStyle/>
          <ns1:p>
            <ns1:pPr algn="ctr"/>
            <ns1:r>
              <ns1:rPr sz="1400" b="0">
                <ns1:solidFill>
                  <ns1:srgbClr val="FFFFFF"/>
                </ns1:solidFill>
                <ns1:latin typeface="Arial"/>
              </ns1:rPr>
              <ns1:t>MGMT298D</ns1:t>
            </ns1:r>
          </ns1:p>
          <ns1:p>
            <ns1:pPr algn="ctr"/>
            <ns1:r>
              <ns1:rPr sz="1400" b="0">
                <ns1:solidFill>
                  <ns1:srgbClr val="FFFFFF"/>
                </ns1:solidFill>
                <ns1:latin typeface="Arial"/>
              </ns1:rPr>
              <ns1:t>Science and Strategy of AI</ns1:t>
            </ns1:r>
          </ns1:p>
        </ns0:txBody>
      </ns0:sp>
      <ns0:sp>
        <ns0:nvSpPr>
          <ns0:cNvPr id="4" name="TextBox 3"/>
          <ns0:cNvSpPr txBox="1"/>
          <ns0:nvPr/>
        </ns0:nvSpPr>
        <ns0:spPr>
          <ns1:xfrm>
            <ns1:off x="0" y="1691640"/>
            <ns1:ext cx="9144000" cy="502920"/>
          </ns1:xfrm>
          <ns1:prstGeom prst="rect">
            <ns1:avLst/>
          </ns1:prstGeom>
          <ns1:noFill/>
        </ns0:spPr>
        <ns0:txBody>
          <ns1:bodyPr wrap="square" anchor="t">
            <ns1:spAutoFit/>
          </ns1:bodyPr>
          <ns1:lstStyle/>
          <ns1:p>
            <ns1:pPr algn="ctr"/>
            <ns1:r>
              <ns1:rPr sz="2200" b="1">
                <ns1:solidFill>
                  <ns1:srgbClr val="FFD100"/>
                </ns1:solidFill>
                <ns1:latin typeface="Whitney Bold"/>
              </ns1:rPr>
              <ns1:t>Week 8</ns1:t>
            </ns1:r>
          </ns1:p>
        </ns0:txBody>
      </ns0:sp>
      <ns0:sp>
        <ns0:nvSpPr>
          <ns0:cNvPr id="5" name="TextBox 4"/>
          <ns0:cNvSpPr txBox="1"/>
          <ns0:nvPr/>
        </ns0:nvSpPr>
        <ns0:spPr>
          <ns1:xfrm>
            <ns1:off x="0" y="2286000"/>
            <ns1:ext cx="9144000" cy="553998"/>
          </ns1:xfrm>
          <ns1:prstGeom prst="rect">
            <ns1:avLst/>
          </ns1:prstGeom>
          <ns1:noFill/>
        </ns0:spPr>
        <ns0:txBody>
          <ns1:bodyPr wrap="square" anchor="t">
            <ns1:spAutoFit/>
          </ns1:bodyPr>
          <ns1:lstStyle/>
          <ns1:p>
            <ns1:pPr algn="ctr"/>
            <ns1:r>
              <ns1:rPr lang="en-US" sz="3000" b="1">
                <ns1:solidFill>
                  <ns1:srgbClr val="FFFFFF"/>
                </ns1:solidFill>
                <ns1:latin typeface="Whitney Bold"/>
              </ns1:rPr>
              <ns1:t>Building</ns1:t>
            </ns1:r>
            <ns1:r>
              <ns1:rPr sz="3000" b="1">
                <ns1:solidFill>
                  <ns1:srgbClr val="FFFFFF"/>
                </ns1:solidFill>
                <ns1:latin typeface="Whitney Bold"/>
              </ns1:rPr>
              <ns1:t> </ns1:t>
            </ns1:r>
            <ns1:r>
              <ns1:rPr sz="3000" b="1" dirty="0">
                <ns1:solidFill>
                  <ns1:srgbClr val="FFFFFF"/>
                </ns1:solidFill>
                <ns1:latin typeface="Whitney Bold"/>
              </ns1:rPr>
              <ns1:t>LLM Apps</ns1:t>
            </ns1:r>
          </ns1:p>
        </ns0:txBody>
      </ns0:sp>
      <ns0:sp>
        <ns0:nvSpPr>
          <ns0:cNvPr id="6" name="TextBox 5"/>
          <ns0:cNvSpPr txBox="1"/>
          <ns0:nvPr/>
        </ns0:nvSpPr>
        <ns0:spPr>
          <ns1:xfrm>
            <ns1:off x="0" y="4160520"/>
            <ns1:ext cx="9144000" cy="502920"/>
          </ns1:xfrm>
          <ns1:prstGeom prst="rect">
            <ns1:avLst/>
          </ns1:prstGeom>
          <ns1:noFill/>
        </ns0:spPr>
        <ns0:txBody>
          <ns1:bodyPr wrap="square" anchor="t">
            <ns1:spAutoFit/>
          </ns1:bodyPr>
          <ns1:lstStyle/>
          <ns1:p>
            <ns1:pPr algn="ctr"/>
            <ns1:r>
              <ns1:rPr sz="1200" b="1">
                <ns1:solidFill>
                  <ns1:srgbClr val="FFFFFF"/>
                </ns1:solidFill>
                <ns1:latin typeface="Arial"/>
              </ns1:rPr>
              <ns1:t>Auyon Siddiq</ns1:t>
            </ns1:r>
          </ns1:p>
          <ns1:p>
            <ns1:pPr algn="ctr"/>
            <ns1:r>
              <ns1:rPr sz="1200" b="0">
                <ns1:solidFill>
                  <ns1:srgbClr val="FFFFFF"/>
                </ns1:solidFill>
                <ns1:latin typeface="Arial"/>
              </ns1:rPr>
              <ns1:t>UCLA Anderson School of Management</ns1:t>
            </ns1:r>
          </ns1:p>
        </ns0:txBody>
      </ns0:sp>
    </ns0:spTree>
  </ns0:cSld>
  <ns0:clrMapOvr>
    <ns1:masterClrMapping/>
  </ns0:clrMapOvr>
</ns0:sld>
</file>

<file path=ppt/slides/slide2.xml><?xml version="1.0" encoding="utf-8"?>
<ns0:sld xmlns:ns0="http://schemas.openxmlformats.org/presentationml/2006/main" xmlns:ns1="http://schemas.openxmlformats.org/drawingml/2006/main">
  <ns0:cSld name="Slide 2">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Today's Class</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Rounded Rectangle 4"/>
          <ns0:cNvSpPr/>
          <ns0:nvPr/>
        </ns0:nvSpPr>
        <ns0:spPr>
          <ns1:xfrm>
            <ns1:off x="365760" y="1097280"/>
            <ns1:ext cx="4160520" cy="3703320"/>
          </ns1:xfrm>
          <ns1:prstGeom prst="rect">
            <ns1:avLst/>
          </ns1:prstGeom>
          <ns1:noFill/>
          <ns1:ln w="1524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6" name="TextBox 5"/>
          <ns0:cNvSpPr txBox="1"/>
          <ns0:nvPr/>
        </ns0:nvSpPr>
        <ns0:spPr>
          <ns1:xfrm>
            <ns1:off x="365760" y="1188720"/>
            <ns1:ext cx="4160520" cy="365760"/>
          </ns1:xfrm>
          <ns1:prstGeom prst="rect">
            <ns1:avLst/>
          </ns1:prstGeom>
          <ns1:noFill/>
        </ns0:spPr>
        <ns0:txBody>
          <ns1:bodyPr wrap="square" anchor="t">
            <ns1:spAutoFit/>
          </ns1:bodyPr>
          <ns1:lstStyle/>
          <ns1:p>
            <ns1:pPr algn="ctr"/>
            <ns1:r>
              <ns1:rPr sz="1600" b="1">
                <ns1:solidFill>
                  <ns1:srgbClr val="005587"/>
                </ns1:solidFill>
                <ns1:latin typeface="Whitney Bold"/>
              </ns1:rPr>
              <ns1:t>Part 1: Deployment Approaches</ns1:t>
            </ns1:r>
          </ns1:p>
        </ns0:txBody>
      </ns0:sp>
      <ns0:sp>
        <ns0:nvSpPr>
          <ns0:cNvPr id="7" name="TextBox 6"/>
          <ns0:cNvSpPr txBox="1"/>
          <ns0:nvPr/>
        </ns0:nvSpPr>
        <ns0:spPr>
          <ns1:xfrm>
            <ns1:off x="502920" y="1600200"/>
            <ns1:ext cx="3886200" cy="329184"/>
          </ns1:xfrm>
          <ns1:prstGeom prst="rect">
            <ns1:avLst/>
          </ns1:prstGeom>
          <ns1:noFill/>
        </ns0:spPr>
        <ns0:txBody>
          <ns1:bodyPr wrap="square" anchor="t">
            <ns1:spAutoFit/>
          </ns1:bodyPr>
          <ns1:lstStyle/>
          <ns1:p>
            <ns1:pPr algn="l"/>
            <ns1:r>
              <ns1:rPr sz="1100" b="0" i="1">
                <ns1:solidFill>
                  <ns1:srgbClr val="222222"/>
                </ns1:solidFill>
                <ns1:latin typeface="Arial"/>
              </ns1:rPr>
              <ns1:t>Prompting, RAG, and fine-tuning: three ways to adapt an LLM to a product.</ns1:t>
            </ns1:r>
          </ns1:p>
        </ns0:txBody>
      </ns0:sp>
      <ns0:sp>
        <ns0:nvSpPr>
          <ns0:cNvPr id="8" name="TextBox 7"/>
          <ns0:cNvSpPr txBox="1"/>
          <ns0:nvPr/>
        </ns0:nvSpPr>
        <ns0:spPr>
          <ns1:xfrm>
            <ns1:off x="594360" y="2011680"/>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Prompting</ns1:t>
            </ns1:r>
          </ns1:p>
        </ns0:txBody>
      </ns0:sp>
      <ns0:sp>
        <ns0:nvSpPr>
          <ns0:cNvPr id="9" name="TextBox 8"/>
          <ns0:cNvSpPr txBox="1"/>
          <ns0:nvPr/>
        </ns0:nvSpPr>
        <ns0:spPr>
          <ns1:xfrm>
            <ns1:off x="868680" y="2212848"/>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change the input: system prompts, few-shot, CoT</ns1:t>
            </ns1:r>
          </ns1:p>
        </ns0:txBody>
      </ns0:sp>
      <ns0:sp>
        <ns0:nvSpPr>
          <ns0:cNvPr id="10" name="TextBox 9"/>
          <ns0:cNvSpPr txBox="1"/>
          <ns0:nvPr/>
        </ns0:nvSpPr>
        <ns0:spPr>
          <ns1:xfrm>
            <ns1:off x="594360" y="2651760"/>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RAG</ns1:t>
            </ns1:r>
          </ns1:p>
        </ns0:txBody>
      </ns0:sp>
      <ns0:sp>
        <ns0:nvSpPr>
          <ns0:cNvPr id="11" name="TextBox 10"/>
          <ns0:cNvSpPr txBox="1"/>
          <ns0:nvPr/>
        </ns0:nvSpPr>
        <ns0:spPr>
          <ns1:xfrm>
            <ns1:off x="868680" y="2852928"/>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add evidence at runtime: your documents in the prompt</ns1:t>
            </ns1:r>
          </ns1:p>
        </ns0:txBody>
      </ns0:sp>
      <ns0:sp>
        <ns0:nvSpPr>
          <ns0:cNvPr id="12" name="TextBox 11"/>
          <ns0:cNvSpPr txBox="1"/>
          <ns0:nvPr/>
        </ns0:nvSpPr>
        <ns0:spPr>
          <ns1:xfrm>
            <ns1:off x="594360" y="3291840"/>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Fine-tuning</ns1:t>
            </ns1:r>
          </ns1:p>
        </ns0:txBody>
      </ns0:sp>
      <ns0:sp>
        <ns0:nvSpPr>
          <ns0:cNvPr id="13" name="TextBox 12"/>
          <ns0:cNvSpPr txBox="1"/>
          <ns0:nvPr/>
        </ns0:nvSpPr>
        <ns0:spPr>
          <ns1:xfrm>
            <ns1:off x="868680" y="3493008"/>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change the weights: SFT on your own (q, a) data</ns1:t>
            </ns1:r>
          </ns1:p>
        </ns0:txBody>
      </ns0:sp>
      <ns0:sp>
        <ns0:nvSpPr>
          <ns0:cNvPr id="14" name="TextBox 13"/>
          <ns0:cNvSpPr txBox="1"/>
          <ns0:nvPr/>
        </ns0:nvSpPr>
        <ns0:spPr>
          <ns1:xfrm>
            <ns1:off x="594360" y="3931920"/>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Compared</ns1:t>
            </ns1:r>
          </ns1:p>
        </ns0:txBody>
      </ns0:sp>
      <ns0:sp>
        <ns0:nvSpPr>
          <ns0:cNvPr id="15" name="TextBox 14"/>
          <ns0:cNvSpPr txBox="1"/>
          <ns0:nvPr/>
        </ns0:nvSpPr>
        <ns0:spPr>
          <ns1:xfrm>
            <ns1:off x="868680" y="4133088"/>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when to reach for each lever; pros and cons</ns1:t>
            </ns1:r>
          </ns1:p>
        </ns0:txBody>
      </ns0:sp>
      <ns0:sp>
        <ns0:nvSpPr>
          <ns0:cNvPr id="16" name="Rounded Rectangle 15"/>
          <ns0:cNvSpPr/>
          <ns0:nvPr/>
        </ns0:nvSpPr>
        <ns0:spPr>
          <ns1:xfrm>
            <ns1:off x="4617720" y="1097280"/>
            <ns1:ext cx="4160520" cy="3703320"/>
          </ns1:xfrm>
          <ns1:prstGeom prst="rect">
            <ns1:avLst/>
          </ns1:prstGeom>
          <ns1:noFill/>
          <ns1:ln w="1524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7" name="TextBox 16"/>
          <ns0:cNvSpPr txBox="1"/>
          <ns0:nvPr/>
        </ns0:nvSpPr>
        <ns0:spPr>
          <ns1:xfrm>
            <ns1:off x="4617720" y="1188720"/>
            <ns1:ext cx="4160520" cy="365760"/>
          </ns1:xfrm>
          <ns1:prstGeom prst="rect">
            <ns1:avLst/>
          </ns1:prstGeom>
          <ns1:noFill/>
        </ns0:spPr>
        <ns0:txBody>
          <ns1:bodyPr wrap="square" anchor="t">
            <ns1:spAutoFit/>
          </ns1:bodyPr>
          <ns1:lstStyle/>
          <ns1:p>
            <ns1:pPr algn="ctr"/>
            <ns1:r>
              <ns1:rPr sz="1600" b="1">
                <ns1:solidFill>
                  <ns1:srgbClr val="005587"/>
                </ns1:solidFill>
                <ns1:latin typeface="Whitney Bold"/>
              </ns1:rPr>
              <ns1:t>Part 2: App Project Toolkit</ns1:t>
            </ns1:r>
          </ns1:p>
        </ns0:txBody>
      </ns0:sp>
      <ns0:sp>
        <ns0:nvSpPr>
          <ns0:cNvPr id="18" name="TextBox 17"/>
          <ns0:cNvSpPr txBox="1"/>
          <ns0:nvPr/>
        </ns0:nvSpPr>
        <ns0:spPr>
          <ns1:xfrm>
            <ns1:off x="4754880" y="1600200"/>
            <ns1:ext cx="3886200" cy="329184"/>
          </ns1:xfrm>
          <ns1:prstGeom prst="rect">
            <ns1:avLst/>
          </ns1:prstGeom>
          <ns1:noFill/>
        </ns0:spPr>
        <ns0:txBody>
          <ns1:bodyPr wrap="square" anchor="t">
            <ns1:spAutoFit/>
          </ns1:bodyPr>
          <ns1:lstStyle/>
          <ns1:p>
            <ns1:pPr algn="l"/>
            <ns1:r>
              <ns1:rPr sz="1100" b="0" i="1">
                <ns1:solidFill>
                  <ns1:srgbClr val="222222"/>
                </ns1:solidFill>
                <ns1:latin typeface="Arial"/>
              </ns1:rPr>
              <ns1:t>What you'll use to build your app.</ns1:t>
            </ns1:r>
          </ns1:p>
        </ns0:txBody>
      </ns0:sp>
      <ns0:sp>
        <ns0:nvSpPr>
          <ns0:cNvPr id="19" name="TextBox 18"/>
          <ns0:cNvSpPr txBox="1"/>
          <ns0:nvPr/>
        </ns0:nvSpPr>
        <ns0:spPr>
          <ns1:xfrm>
            <ns1:off x="4846320" y="2011680"/>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App project overview</ns1:t>
            </ns1:r>
          </ns1:p>
        </ns0:txBody>
      </ns0:sp>
      <ns0:sp>
        <ns0:nvSpPr>
          <ns0:cNvPr id="20" name="TextBox 19"/>
          <ns0:cNvSpPr txBox="1"/>
          <ns0:nvPr/>
        </ns0:nvSpPr>
        <ns0:spPr>
          <ns1:xfrm>
            <ns1:off x="5120640" y="2212848"/>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objectives, deliverables, deadlines</ns1:t>
            </ns1:r>
          </ns1:p>
        </ns0:txBody>
      </ns0:sp>
      <ns0:sp>
        <ns0:nvSpPr>
          <ns0:cNvPr id="21" name="TextBox 20"/>
          <ns0:cNvSpPr txBox="1"/>
          <ns0:nvPr/>
        </ns0:nvSpPr>
        <ns0:spPr>
          <ns1:xfrm>
            <ns1:off x="4846320" y="2523744"/>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Vibe coding</ns1:t>
            </ns1:r>
          </ns1:p>
        </ns0:txBody>
      </ns0:sp>
      <ns0:sp>
        <ns0:nvSpPr>
          <ns0:cNvPr id="22" name="TextBox 21"/>
          <ns0:cNvSpPr txBox="1"/>
          <ns0:nvPr/>
        </ns0:nvSpPr>
        <ns0:spPr>
          <ns1:xfrm>
            <ns1:off x="5120640" y="2724912"/>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using Cowork/Codex to build and debug your app</ns1:t>
            </ns1:r>
          </ns1:p>
        </ns0:txBody>
      </ns0:sp>
      <ns0:sp>
        <ns0:nvSpPr>
          <ns0:cNvPr id="23" name="TextBox 22"/>
          <ns0:cNvSpPr txBox="1"/>
          <ns0:nvPr/>
        </ns0:nvSpPr>
        <ns0:spPr>
          <ns1:xfrm>
            <ns1:off x="4846320" y="3035808"/>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Gemini Flash API</ns1:t>
            </ns1:r>
          </ns1:p>
        </ns0:txBody>
      </ns0:sp>
      <ns0:sp>
        <ns0:nvSpPr>
          <ns0:cNvPr id="24" name="TextBox 23"/>
          <ns0:cNvSpPr txBox="1"/>
          <ns0:nvPr/>
        </ns0:nvSpPr>
        <ns0:spPr>
          <ns1:xfrm>
            <ns1:off x="5120640" y="3236976"/>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free tier, key setup, calling the model</ns1:t>
            </ns1:r>
          </ns1:p>
        </ns0:txBody>
      </ns0:sp>
      <ns0:sp>
        <ns0:nvSpPr>
          <ns0:cNvPr id="25" name="TextBox 24"/>
          <ns0:cNvSpPr txBox="1"/>
          <ns0:nvPr/>
        </ns0:nvSpPr>
        <ns0:spPr>
          <ns1:xfrm>
            <ns1:off x="4846320" y="3547872"/>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Railway deployment</ns1:t>
            </ns1:r>
          </ns1:p>
        </ns0:txBody>
      </ns0:sp>
      <ns0:sp>
        <ns0:nvSpPr>
          <ns0:cNvPr id="26" name="TextBox 25"/>
          <ns0:cNvSpPr txBox="1"/>
          <ns0:nvPr/>
        </ns0:nvSpPr>
        <ns0:spPr>
          <ns1:xfrm>
            <ns1:off x="5120640" y="3749040"/>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one-command deploy of your app</ns1:t>
            </ns1:r>
          </ns1:p>
        </ns0:txBody>
      </ns0:sp>
      <ns0:sp>
        <ns0:nvSpPr>
          <ns0:cNvPr id="27" name="TextBox 26"/>
          <ns0:cNvSpPr txBox="1"/>
          <ns0:nvPr/>
        </ns0:nvSpPr>
        <ns0:spPr>
          <ns1:xfrm>
            <ns1:off x="4846320" y="4059936"/>
            <ns1:ext cx="3749039" cy="219456"/>
          </ns1:xfrm>
          <ns1:prstGeom prst="rect">
            <ns1:avLst/>
          </ns1:prstGeom>
          <ns1:noFill/>
        </ns0:spPr>
        <ns0:txBody>
          <ns1:bodyPr wrap="square" anchor="t">
            <ns1:spAutoFit/>
          </ns1:bodyPr>
          <ns1:lstStyle/>
          <ns1:p>
            <ns1:pPr algn="l"/>
            <ns1:r>
              <ns1:rPr sz="1200" b="1">
                <ns1:solidFill>
                  <ns1:srgbClr val="005587"/>
                </ns1:solidFill>
                <ns1:latin typeface="Whitney Bold"/>
              </ns1:rPr>
              <ns1:t>•  Work session</ns1:t>
            </ns1:r>
          </ns1:p>
        </ns0:txBody>
      </ns0:sp>
      <ns0:sp>
        <ns0:nvSpPr>
          <ns0:cNvPr id="28" name="TextBox 27"/>
          <ns0:cNvSpPr txBox="1"/>
          <ns0:nvPr/>
        </ns0:nvSpPr>
        <ns0:spPr>
          <ns1:xfrm>
            <ns1:off x="5120640" y="4261104"/>
            <ns1:ext cx="3520440" cy="365760"/>
          </ns1:xfrm>
          <ns1:prstGeom prst="rect">
            <ns1:avLst/>
          </ns1:prstGeom>
          <ns1:noFill/>
        </ns0:spPr>
        <ns0:txBody>
          <ns1:bodyPr wrap="square" anchor="t">
            <ns1:spAutoFit/>
          </ns1:bodyPr>
          <ns1:lstStyle/>
          <ns1:p>
            <ns1:pPr algn="l"/>
            <ns1:r>
              <ns1:rPr sz="1000" b="0">
                <ns1:solidFill>
                  <ns1:srgbClr val="1F1F1F"/>
                </ns1:solidFill>
                <ns1:latin typeface="Arial"/>
              </ns1:rPr>
              <ns1:t>form teams, brainstorm, set up your stack</ns1:t>
            </ns1:r>
          </ns1:p>
        </ns0:txBody>
      </ns0:sp>
      <ns0:sp>
        <ns0:nvSpPr>
          <ns0:cNvPr id="29" name="TextBox 28"/>
          <ns0:cNvSpPr txBox="1"/>
          <ns0:nvPr/>
        </ns0:nvSpPr>
        <ns0:spPr>
          <ns1:xfrm>
            <ns1:off x="457200" y="4846320"/>
            <ns1:ext cx="8321040" cy="182880"/>
          </ns1:xfrm>
          <ns1:prstGeom prst="rect">
            <ns1:avLst/>
          </ns1:prstGeom>
          <ns1:noFill/>
        </ns0:spPr>
        <ns0:txBody>
          <ns1:bodyPr wrap="square" anchor="t">
            <ns1:spAutoFit/>
          </ns1:bodyPr>
          <ns1:lstStyle/>
          <ns1:p>
            <ns1:pPr algn="ctr"/>
            <ns1:r>
              <ns1:rPr sz="1100" b="0">
                <ns1:solidFill>
                  <ns1:srgbClr val="000000"/>
                </ns1:solidFill>
                <ns1:latin typeface="Arial"/>
              </ns1:rPr>
              <ns1:t>First half: pick the right lever. Second half: get the tools running so you can ship</ns1:t>
            </ns1:r>
          </ns1:p>
        </ns0:txBody>
      </ns0:sp>
    </ns0:spTree>
  </ns0:cSld>
  <ns0:clrMapOvr>
    <ns1:masterClrMapping/>
  </ns0:clrMapOvr>
</ns0:sld>
</file>

<file path=ppt/slides/slide3.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9144000" cy="5143500"/>
          </ns1:xfrm>
          <ns1:prstGeom prst="rect">
            <ns1:avLst/>
          </ns1:prstGeom>
          <ns1:solidFill>
            <ns1:srgbClr val="00558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0" y="1920240"/>
            <ns1:ext cx="9144000" cy="1280160"/>
          </ns1:xfrm>
          <ns1:prstGeom prst="rect">
            <ns1:avLst/>
          </ns1:prstGeom>
          <ns1:noFill/>
        </ns0:spPr>
        <ns0:txBody>
          <ns1:bodyPr wrap="square" anchor="ctr">
            <ns1:spAutoFit/>
          </ns1:bodyPr>
          <ns1:lstStyle/>
          <ns1:p>
            <ns1:pPr algn="ctr"/>
            <ns1:r>
              <ns1:rPr sz="4000" b="1">
                <ns1:solidFill>
                  <ns1:srgbClr val="FFFFFF"/>
                </ns1:solidFill>
                <ns1:latin typeface="Whitney Bold"/>
              </ns1:rPr>
              <ns1:t>Part 1: Deployment Approaches</ns1:t>
            </ns1:r>
          </ns1:p>
          <ns1:p>
            <ns1:pPr algn="ctr"/>
            <ns1:r>
              <ns1:rPr sz="3200" b="1">
                <ns1:solidFill>
                  <ns1:srgbClr val="FFFFFF"/>
                </ns1:solidFill>
                <ns1:latin typeface="Whitney Bold"/>
              </ns1:rPr>
              <ns1:t>Prompting vs RAG vs Fine-Tuning</ns1:t>
            </ns1:r>
          </ns1:p>
        </ns0:txBody>
      </ns0:sp>
    </ns0:spTree>
  </ns0:cSld>
  <ns0:clrMapOvr>
    <ns1:masterClrMapping/>
  </ns0:clrMapOvr>
</ns0:sld>
</file>

<file path=ppt/slides/slide4.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Prompting vs RAG vs Fine-Tuning</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TextBox 4"/>
          <ns0:cNvSpPr txBox="1"/>
          <ns0:nvPr/>
        </ns0:nvSpPr>
        <ns0:spPr>
          <ns1:xfrm>
            <ns1:off x="457200" y="960120"/>
            <ns1:ext cx="8321040" cy="329184"/>
          </ns1:xfrm>
          <ns1:prstGeom prst="rect">
            <ns1:avLst/>
          </ns1:prstGeom>
          <ns1:noFill/>
        </ns0:spPr>
        <ns0:txBody>
          <ns1:bodyPr wrap="square" anchor="t">
            <ns1:spAutoFit/>
          </ns1:bodyPr>
          <ns1:lstStyle/>
          <ns1:p>
            <ns1:pPr algn="l"/>
            <ns1:r>
              <ns1:rPr sz="1200" b="1">
                <ns1:solidFill>
                  <ns1:srgbClr val="1F1F1F"/>
                </ns1:solidFill>
                <ns1:latin typeface="Arial"/>
              </ns1:rPr>
              <ns1:t>Same base model. Three deployment choices: change the prompt, retrieve evidence, or train on examples.</ns1:t>
            </ns1:r>
          </ns1:p>
        </ns0:txBody>
      </ns0:sp>
      <ns0:sp>
        <ns0:nvSpPr>
          <ns0:cNvPr id="6" name="Rounded Rectangle 5"/>
          <ns0:cNvSpPr/>
          <ns0:nvPr/>
        </ns0:nvSpPr>
        <ns0:spPr>
          <ns1:xfrm>
            <ns1:off x="3703320" y="2240280"/>
            <ns1:ext cx="1737360" cy="868680"/>
          </ns1:xfrm>
          <ns1:prstGeom prst="rect">
            <ns1:avLst/>
          </ns1:prstGeom>
          <ns1:noFill/>
          <ns1:ln w="1524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7" name="TextBox 6"/>
          <ns0:cNvSpPr txBox="1"/>
          <ns0:nvPr/>
        </ns0:nvSpPr>
        <ns0:spPr>
          <ns1:xfrm>
            <ns1:off x="3703320" y="2286000"/>
            <ns1:ext cx="1737360" cy="365760"/>
          </ns1:xfrm>
          <ns1:prstGeom prst="rect">
            <ns1:avLst/>
          </ns1:prstGeom>
          <ns1:noFill/>
        </ns0:spPr>
        <ns0:txBody>
          <ns1:bodyPr wrap="square" anchor="t">
            <ns1:spAutoFit/>
          </ns1:bodyPr>
          <ns1:lstStyle/>
          <ns1:p>
            <ns1:pPr algn="ctr"/>
            <ns1:r>
              <ns1:rPr sz="1800" b="1">
                <ns1:solidFill>
                  <ns1:srgbClr val="005587"/>
                </ns1:solidFill>
                <ns1:latin typeface="Whitney Bold"/>
              </ns1:rPr>
              <ns1:t>LLM</ns1:t>
            </ns1:r>
          </ns1:p>
        </ns0:txBody>
      </ns0:sp>
      <ns0:sp>
        <ns0:nvSpPr>
          <ns0:cNvPr id="8" name="TextBox 7"/>
          <ns0:cNvSpPr txBox="1"/>
          <ns0:nvPr/>
        </ns0:nvSpPr>
        <ns0:spPr>
          <ns1:xfrm>
            <ns1:off x="3703320" y="2697480"/>
            <ns1:ext cx="1737360" cy="411480"/>
          </ns1:xfrm>
          <ns1:prstGeom prst="rect">
            <ns1:avLst/>
          </ns1:prstGeom>
          <ns1:noFill/>
        </ns0:spPr>
        <ns0:txBody>
          <ns1:bodyPr wrap="square" anchor="t">
            <ns1:spAutoFit/>
          </ns1:bodyPr>
          <ns1:lstStyle/>
          <ns1:p>
            <ns1:pPr algn="ctr"/>
            <ns1:r>
              <ns1:rPr sz="900" b="0" i="1">
                <ns1:solidFill>
                  <ns1:srgbClr val="222222"/>
                </ns1:solidFill>
                <ns1:latin typeface="Arial"/>
              </ns1:rPr>
              <ns1:t>(weights are fixed
unless you fine-tune)</ns1:t>
            </ns1:r>
          </ns1:p>
        </ns0:txBody>
      </ns0:sp>
      <ns0:sp>
        <ns0:nvSpPr>
          <ns0:cNvPr id="9" name="Rounded Rectangle 8"/>
          <ns0:cNvSpPr/>
          <ns0:nvPr/>
        </ns0:nvSpPr>
        <ns0:spPr>
          <ns1:xfrm>
            <ns1:off x="388619" y="3703320"/>
            <ns1:ext cx="2697480" cy="1325880"/>
          </ns1:xfrm>
          <ns1:prstGeom prst="rect">
            <ns1:avLst/>
          </ns1:prstGeom>
          <ns1:noFill/>
          <ns1:ln w="1524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0" name="Rounded Rectangle 9"/>
          <ns0:cNvSpPr/>
          <ns0:nvPr/>
        </ns0:nvSpPr>
        <ns0:spPr>
          <ns1:xfrm>
            <ns1:off x="525779" y="3794759"/>
            <ns1:ext cx="548640" cy="274320"/>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1" name="TextBox 10"/>
          <ns0:cNvSpPr txBox="1"/>
          <ns0:nvPr/>
        </ns0:nvSpPr>
        <ns0:spPr>
          <ns1:xfrm>
            <ns1:off x="525779" y="3794759"/>
            <ns1:ext cx="548640" cy="274320"/>
          </ns1:xfrm>
          <ns1:prstGeom prst="rect">
            <ns1:avLst/>
          </ns1:prstGeom>
          <ns1:noFill/>
        </ns0:spPr>
        <ns0:txBody>
          <ns1:bodyPr wrap="square" anchor="ctr">
            <ns1:spAutoFit/>
          </ns1:bodyPr>
          <ns1:lstStyle/>
          <ns1:p>
            <ns1:pPr algn="ctr"/>
            <ns1:r>
              <ns1:rPr sz="900" b="1">
                <ns1:solidFill>
                  <ns1:srgbClr val="005587"/>
                </ns1:solidFill>
                <ns1:latin typeface="Arial"/>
              </ns1:rPr>
              <ns1:t>1</ns1:t>
            </ns1:r>
          </ns1:p>
        </ns0:txBody>
      </ns0:sp>
      <ns0:sp>
        <ns0:nvSpPr>
          <ns0:cNvPr id="12" name="TextBox 11"/>
          <ns0:cNvSpPr txBox="1"/>
          <ns0:nvPr/>
        </ns0:nvSpPr>
        <ns0:spPr>
          <ns1:xfrm>
            <ns1:off x="1165859" y="3794759"/>
            <ns1:ext cx="1828800" cy="274320"/>
          </ns1:xfrm>
          <ns1:prstGeom prst="rect">
            <ns1:avLst/>
          </ns1:prstGeom>
          <ns1:noFill/>
        </ns0:spPr>
        <ns0:txBody>
          <ns1:bodyPr wrap="square" anchor="ctr">
            <ns1:spAutoFit/>
          </ns1:bodyPr>
          <ns1:lstStyle/>
          <ns1:p>
            <ns1:pPr algn="l"/>
            <ns1:r>
              <ns1:rPr sz="1400" b="1">
                <ns1:solidFill>
                  <ns1:srgbClr val="005587"/>
                </ns1:solidFill>
                <ns1:latin typeface="Whitney Bold"/>
              </ns1:rPr>
              <ns1:t>Prompting</ns1:t>
            </ns1:r>
          </ns1:p>
        </ns0:txBody>
      </ns0:sp>
      <ns0:sp>
        <ns0:nvSpPr>
          <ns0:cNvPr id="13" name="TextBox 12"/>
          <ns0:cNvSpPr txBox="1"/>
          <ns0:nvPr/>
        </ns0:nvSpPr>
        <ns0:spPr>
          <ns1:xfrm>
            <ns1:off x="525779" y="4178808"/>
            <ns1:ext cx="2423160" cy="256032"/>
          </ns1:xfrm>
          <ns1:prstGeom prst="rect">
            <ns1:avLst/>
          </ns1:prstGeom>
          <ns1:noFill/>
        </ns0:spPr>
        <ns0:txBody>
          <ns1:bodyPr wrap="square" anchor="t">
            <ns1:spAutoFit/>
          </ns1:bodyPr>
          <ns1:lstStyle/>
          <ns1:p>
            <ns1:pPr algn="l"/>
            <ns1:r>
              <ns1:rPr sz="1000" b="0" i="1">
                <ns1:solidFill>
                  <ns1:srgbClr val="222222"/>
                </ns1:solidFill>
                <ns1:latin typeface="Arial"/>
              </ns1:rPr>
              <ns1:t>change the input</ns1:t>
            </ns1:r>
          </ns1:p>
        </ns0:txBody>
      </ns0:sp>
      <ns0:sp>
        <ns0:nvSpPr>
          <ns0:cNvPr id="14" name="Rounded Rectangle 13"/>
          <ns0:cNvSpPr/>
          <ns0:nvPr/>
        </ns0:nvSpPr>
        <ns0:spPr>
          <ns1:xfrm>
            <ns1:off x="525779" y="4480559"/>
            <ns1:ext cx="2423160" cy="411479"/>
          </ns1:xfrm>
          <ns1:prstGeom prst="rect">
            <ns1:avLst/>
          </ns1:prstGeom>
          <ns1:no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5" name="TextBox 14"/>
          <ns0:cNvSpPr txBox="1"/>
          <ns0:nvPr/>
        </ns0:nvSpPr>
        <ns0:spPr>
          <ns1:xfrm>
            <ns1:off x="617219" y="4544568"/>
            <ns1:ext cx="2240280" cy="320039"/>
          </ns1:xfrm>
          <ns1:prstGeom prst="rect">
            <ns1:avLst/>
          </ns1:prstGeom>
          <ns1:noFill/>
        </ns0:spPr>
        <ns0:txBody>
          <ns1:bodyPr wrap="square" anchor="t">
            <ns1:spAutoFit/>
          </ns1:bodyPr>
          <ns1:lstStyle/>
          <ns1:p>
            <ns1:pPr algn="l"/>
            <ns1:r>
              <ns1:rPr sz="1000" b="0">
                <ns1:solidFill>
                  <ns1:srgbClr val="1F1F1F"/>
                </ns1:solidFill>
                <ns1:latin typeface="Arial"/>
              </ns1:rPr>
              <ns1:t>Add instructions, examples, or context in the prompt. Weights untouched.</ns1:t>
            </ns1:r>
          </ns1:p>
        </ns0:txBody>
      </ns0:sp>
      <ns0:sp>
        <ns0:nvSpPr>
          <ns0:cNvPr id="16" name="Rounded Rectangle 15"/>
          <ns0:cNvSpPr/>
          <ns0:nvPr/>
        </ns0:nvSpPr>
        <ns0:spPr>
          <ns1:xfrm>
            <ns1:off x="3223259" y="3703320"/>
            <ns1:ext cx="2697480" cy="1325880"/>
          </ns1:xfrm>
          <ns1:prstGeom prst="rect">
            <ns1:avLst/>
          </ns1:prstGeom>
          <ns1:noFill/>
          <ns1:ln w="1524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7" name="Rounded Rectangle 16"/>
          <ns0:cNvSpPr/>
          <ns0:nvPr/>
        </ns0:nvSpPr>
        <ns0:spPr>
          <ns1:xfrm>
            <ns1:off x="3360419" y="3794759"/>
            <ns1:ext cx="548640" cy="274320"/>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8" name="TextBox 17"/>
          <ns0:cNvSpPr txBox="1"/>
          <ns0:nvPr/>
        </ns0:nvSpPr>
        <ns0:spPr>
          <ns1:xfrm>
            <ns1:off x="3360419" y="3794759"/>
            <ns1:ext cx="548640" cy="274320"/>
          </ns1:xfrm>
          <ns1:prstGeom prst="rect">
            <ns1:avLst/>
          </ns1:prstGeom>
          <ns1:noFill/>
        </ns0:spPr>
        <ns0:txBody>
          <ns1:bodyPr wrap="square" anchor="ctr">
            <ns1:spAutoFit/>
          </ns1:bodyPr>
          <ns1:lstStyle/>
          <ns1:p>
            <ns1:pPr algn="ctr"/>
            <ns1:r>
              <ns1:rPr sz="900" b="1">
                <ns1:solidFill>
                  <ns1:srgbClr val="005587"/>
                </ns1:solidFill>
                <ns1:latin typeface="Arial"/>
              </ns1:rPr>
              <ns1:t>2</ns1:t>
            </ns1:r>
          </ns1:p>
        </ns0:txBody>
      </ns0:sp>
      <ns0:sp>
        <ns0:nvSpPr>
          <ns0:cNvPr id="19" name="TextBox 18"/>
          <ns0:cNvSpPr txBox="1"/>
          <ns0:nvPr/>
        </ns0:nvSpPr>
        <ns0:spPr>
          <ns1:xfrm>
            <ns1:off x="4000499" y="3794759"/>
            <ns1:ext cx="1828800" cy="274320"/>
          </ns1:xfrm>
          <ns1:prstGeom prst="rect">
            <ns1:avLst/>
          </ns1:prstGeom>
          <ns1:noFill/>
        </ns0:spPr>
        <ns0:txBody>
          <ns1:bodyPr wrap="square" anchor="ctr">
            <ns1:spAutoFit/>
          </ns1:bodyPr>
          <ns1:lstStyle/>
          <ns1:p>
            <ns1:pPr algn="l"/>
            <ns1:r>
              <ns1:rPr sz="1400" b="1">
                <ns1:solidFill>
                  <ns1:srgbClr val="005587"/>
                </ns1:solidFill>
                <ns1:latin typeface="Whitney Bold"/>
              </ns1:rPr>
              <ns1:t>RAG</ns1:t>
            </ns1:r>
          </ns1:p>
        </ns0:txBody>
      </ns0:sp>
      <ns0:sp>
        <ns0:nvSpPr>
          <ns0:cNvPr id="20" name="TextBox 19"/>
          <ns0:cNvSpPr txBox="1"/>
          <ns0:nvPr/>
        </ns0:nvSpPr>
        <ns0:spPr>
          <ns1:xfrm>
            <ns1:off x="3360419" y="4178808"/>
            <ns1:ext cx="2423160" cy="256032"/>
          </ns1:xfrm>
          <ns1:prstGeom prst="rect">
            <ns1:avLst/>
          </ns1:prstGeom>
          <ns1:noFill/>
        </ns0:spPr>
        <ns0:txBody>
          <ns1:bodyPr wrap="square" anchor="t">
            <ns1:spAutoFit/>
          </ns1:bodyPr>
          <ns1:lstStyle/>
          <ns1:p>
            <ns1:pPr algn="l"/>
            <ns1:r>
              <ns1:rPr sz="1000" b="0" i="1">
                <ns1:solidFill>
                  <ns1:srgbClr val="222222"/>
                </ns1:solidFill>
                <ns1:latin typeface="Arial"/>
              </ns1:rPr>
              <ns1:t>change the input + add evidence</ns1:t>
            </ns1:r>
          </ns1:p>
        </ns0:txBody>
      </ns0:sp>
      <ns0:sp>
        <ns0:nvSpPr>
          <ns0:cNvPr id="21" name="Rounded Rectangle 20"/>
          <ns0:cNvSpPr/>
          <ns0:nvPr/>
        </ns0:nvSpPr>
        <ns0:spPr>
          <ns1:xfrm>
            <ns1:off x="3360419" y="4480559"/>
            <ns1:ext cx="2423160" cy="411479"/>
          </ns1:xfrm>
          <ns1:prstGeom prst="rect">
            <ns1:avLst/>
          </ns1:prstGeom>
          <ns1:no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2" name="TextBox 21"/>
          <ns0:cNvSpPr txBox="1"/>
          <ns0:nvPr/>
        </ns0:nvSpPr>
        <ns0:spPr>
          <ns1:xfrm>
            <ns1:off x="3451859" y="4544568"/>
            <ns1:ext cx="2240280" cy="320039"/>
          </ns1:xfrm>
          <ns1:prstGeom prst="rect">
            <ns1:avLst/>
          </ns1:prstGeom>
          <ns1:noFill/>
        </ns0:spPr>
        <ns0:txBody>
          <ns1:bodyPr wrap="square" anchor="t">
            <ns1:spAutoFit/>
          </ns1:bodyPr>
          <ns1:lstStyle/>
          <ns1:p>
            <ns1:pPr algn="l"/>
            <ns1:r>
              <ns1:rPr sz="1000" b="0">
                <ns1:solidFill>
                  <ns1:srgbClr val="1F1F1F"/>
                </ns1:solidFill>
                <ns1:latin typeface="Arial"/>
              </ns1:rPr>
              <ns1:t>Retrieve relevant text at query time, paste into prompt. Weights untouched.</ns1:t>
            </ns1:r>
          </ns1:p>
        </ns0:txBody>
      </ns0:sp>
      <ns0:sp>
        <ns0:nvSpPr>
          <ns0:cNvPr id="23" name="Rounded Rectangle 22"/>
          <ns0:cNvSpPr/>
          <ns0:nvPr/>
        </ns0:nvSpPr>
        <ns0:spPr>
          <ns1:xfrm>
            <ns1:off x="6057899" y="3703320"/>
            <ns1:ext cx="2697480" cy="1325880"/>
          </ns1:xfrm>
          <ns1:prstGeom prst="rect">
            <ns1:avLst/>
          </ns1:prstGeom>
          <ns1:noFill/>
          <ns1:ln w="1524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4" name="Rounded Rectangle 23"/>
          <ns0:cNvSpPr/>
          <ns0:nvPr/>
        </ns0:nvSpPr>
        <ns0:spPr>
          <ns1:xfrm>
            <ns1:off x="6195059" y="3794759"/>
            <ns1:ext cx="548640" cy="274320"/>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5" name="TextBox 24"/>
          <ns0:cNvSpPr txBox="1"/>
          <ns0:nvPr/>
        </ns0:nvSpPr>
        <ns0:spPr>
          <ns1:xfrm>
            <ns1:off x="6195059" y="3794759"/>
            <ns1:ext cx="548640" cy="274320"/>
          </ns1:xfrm>
          <ns1:prstGeom prst="rect">
            <ns1:avLst/>
          </ns1:prstGeom>
          <ns1:noFill/>
        </ns0:spPr>
        <ns0:txBody>
          <ns1:bodyPr wrap="square" anchor="ctr">
            <ns1:spAutoFit/>
          </ns1:bodyPr>
          <ns1:lstStyle/>
          <ns1:p>
            <ns1:pPr algn="ctr"/>
            <ns1:r>
              <ns1:rPr sz="900" b="1">
                <ns1:solidFill>
                  <ns1:srgbClr val="005587"/>
                </ns1:solidFill>
                <ns1:latin typeface="Arial"/>
              </ns1:rPr>
              <ns1:t>3</ns1:t>
            </ns1:r>
          </ns1:p>
        </ns0:txBody>
      </ns0:sp>
      <ns0:sp>
        <ns0:nvSpPr>
          <ns0:cNvPr id="26" name="TextBox 25"/>
          <ns0:cNvSpPr txBox="1"/>
          <ns0:nvPr/>
        </ns0:nvSpPr>
        <ns0:spPr>
          <ns1:xfrm>
            <ns1:off x="6835139" y="3794759"/>
            <ns1:ext cx="1828800" cy="274320"/>
          </ns1:xfrm>
          <ns1:prstGeom prst="rect">
            <ns1:avLst/>
          </ns1:prstGeom>
          <ns1:noFill/>
        </ns0:spPr>
        <ns0:txBody>
          <ns1:bodyPr wrap="square" anchor="ctr">
            <ns1:spAutoFit/>
          </ns1:bodyPr>
          <ns1:lstStyle/>
          <ns1:p>
            <ns1:pPr algn="l"/>
            <ns1:r>
              <ns1:rPr sz="1400" b="1">
                <ns1:solidFill>
                  <ns1:srgbClr val="005587"/>
                </ns1:solidFill>
                <ns1:latin typeface="Whitney Bold"/>
              </ns1:rPr>
              <ns1:t>Fine-tuning</ns1:t>
            </ns1:r>
          </ns1:p>
        </ns0:txBody>
      </ns0:sp>
      <ns0:sp>
        <ns0:nvSpPr>
          <ns0:cNvPr id="27" name="TextBox 26"/>
          <ns0:cNvSpPr txBox="1"/>
          <ns0:nvPr/>
        </ns0:nvSpPr>
        <ns0:spPr>
          <ns1:xfrm>
            <ns1:off x="6195059" y="4178808"/>
            <ns1:ext cx="2423160" cy="256032"/>
          </ns1:xfrm>
          <ns1:prstGeom prst="rect">
            <ns1:avLst/>
          </ns1:prstGeom>
          <ns1:noFill/>
        </ns0:spPr>
        <ns0:txBody>
          <ns1:bodyPr wrap="square" anchor="t">
            <ns1:spAutoFit/>
          </ns1:bodyPr>
          <ns1:lstStyle/>
          <ns1:p>
            <ns1:pPr algn="l"/>
            <ns1:r>
              <ns1:rPr sz="1000" b="0" i="1">
                <ns1:solidFill>
                  <ns1:srgbClr val="222222"/>
                </ns1:solidFill>
                <ns1:latin typeface="Arial"/>
              </ns1:rPr>
              <ns1:t>change the weights</ns1:t>
            </ns1:r>
          </ns1:p>
        </ns0:txBody>
      </ns0:sp>
      <ns0:sp>
        <ns0:nvSpPr>
          <ns0:cNvPr id="28" name="Rounded Rectangle 27"/>
          <ns0:cNvSpPr/>
          <ns0:nvPr/>
        </ns0:nvSpPr>
        <ns0:spPr>
          <ns1:xfrm>
            <ns1:off x="6195059" y="4480559"/>
            <ns1:ext cx="2423160" cy="411479"/>
          </ns1:xfrm>
          <ns1:prstGeom prst="rect">
            <ns1:avLst/>
          </ns1:prstGeom>
          <ns1:no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9" name="TextBox 28"/>
          <ns0:cNvSpPr txBox="1"/>
          <ns0:nvPr/>
        </ns0:nvSpPr>
        <ns0:spPr>
          <ns1:xfrm>
            <ns1:off x="6286499" y="4544568"/>
            <ns1:ext cx="2240280" cy="320039"/>
          </ns1:xfrm>
          <ns1:prstGeom prst="rect">
            <ns1:avLst/>
          </ns1:prstGeom>
          <ns1:noFill/>
        </ns0:spPr>
        <ns0:txBody>
          <ns1:bodyPr wrap="square" anchor="t">
            <ns1:spAutoFit/>
          </ns1:bodyPr>
          <ns1:lstStyle/>
          <ns1:p>
            <ns1:pPr algn="l"/>
            <ns1:r>
              <ns1:rPr sz="1000" b="0">
                <ns1:solidFill>
                  <ns1:srgbClr val="1F1F1F"/>
                </ns1:solidFill>
                <ns1:latin typeface="Arial"/>
              </ns1:rPr>
              <ns1:t>Continue training the model on your data. Behavior is baked into the weights.</ns1:t>
            </ns1:r>
          </ns1:p>
        </ns0:txBody>
      </ns0:sp>
      <ns0:cxnSp>
        <ns0:nvCxnSpPr>
          <ns0:cNvPr id="30" name="Connector 29"/>
          <ns0:cNvCxnSpPr/>
          <ns0:nvPr/>
        </ns0:nvCxnSpPr>
        <ns0:spPr>
          <ns1:xfrm flipV="1">
            <ns1:off x="1737359" y="3145536"/>
            <ns1:ext cx="0" cy="539496"/>
          </ns1:xfrm>
          <ns1:prstGeom prst="line">
            <ns1:avLst/>
          </ns1:prstGeom>
          <ns1:ln w="1270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31" name="Connector 30"/>
          <ns0:cNvCxnSpPr/>
          <ns0:nvPr/>
        </ns0:nvCxnSpPr>
        <ns0:spPr>
          <ns1:xfrm flipV="1">
            <ns1:off x="4571999" y="3145536"/>
            <ns1:ext cx="0" cy="539496"/>
          </ns1:xfrm>
          <ns1:prstGeom prst="line">
            <ns1:avLst/>
          </ns1:prstGeom>
          <ns1:ln w="1270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32" name="Connector 31"/>
          <ns0:cNvCxnSpPr/>
          <ns0:nvPr/>
        </ns0:nvCxnSpPr>
        <ns0:spPr>
          <ns1:xfrm flipV="1">
            <ns1:off x="7406640" y="3145536"/>
            <ns1:ext cx="0" cy="539496"/>
          </ns1:xfrm>
          <ns1:prstGeom prst="line">
            <ns1:avLst/>
          </ns1:prstGeom>
          <ns1:ln w="1270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33" name="Connector 32"/>
          <ns0:cNvCxnSpPr/>
          <ns0:nvPr/>
        </ns0:nvCxnSpPr>
        <ns0:spPr>
          <ns1:xfrm flipV="1">
            <ns1:off x="4572000" y="1508760"/>
            <ns1:ext cx="0" cy="713232"/>
          </ns1:xfrm>
          <ns1:prstGeom prst="line">
            <ns1:avLst/>
          </ns1:prstGeom>
          <ns1:ln w="1270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sp>
        <ns0:nvSpPr>
          <ns0:cNvPr id="34" name="TextBox 33"/>
          <ns0:cNvSpPr txBox="1"/>
          <ns0:nvPr/>
        </ns0:nvSpPr>
        <ns0:spPr>
          <ns1:xfrm>
            <ns1:off x="2331720" y="1417320"/>
            <ns1:ext cx="4480560" cy="292608"/>
          </ns1:xfrm>
          <ns1:prstGeom prst="rect">
            <ns1:avLst/>
          </ns1:prstGeom>
          <ns1:noFill/>
        </ns0:spPr>
        <ns0:txBody>
          <ns1:bodyPr wrap="square" anchor="t">
            <ns1:spAutoFit/>
          </ns1:bodyPr>
          <ns1:lstStyle/>
          <ns1:p>
            <ns1:pPr algn="ctr"/>
            <ns1:r>
              <ns1:rPr sz="1200" b="1">
                <ns1:solidFill>
                  <ns1:srgbClr val="005587"/>
                </ns1:solidFill>
                <ns1:latin typeface="Whitney Bold"/>
              </ns1:rPr>
              <ns1:t>Better answers for your use case</ns1:t>
            </ns1:r>
          </ns1:p>
        </ns0:txBody>
      </ns0:sp>
    </ns0:spTree>
  </ns0:cSld>
  <ns0:clrMapOvr>
    <ns1:masterClrMapping/>
  </ns0:clrMapOvr>
</ns0:sld>
</file>

<file path=ppt/slides/slide5.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9144000" cy="5143500"/>
          </ns1:xfrm>
          <ns1:prstGeom prst="rect">
            <ns1:avLst/>
          </ns1:prstGeom>
          <ns1:solidFill>
            <ns1:srgbClr val="00558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0" y="1645920"/>
            <ns1:ext cx="9144000" cy="1828800"/>
          </ns1:xfrm>
          <ns1:prstGeom prst="rect">
            <ns1:avLst/>
          </ns1:prstGeom>
          <ns1:noFill/>
        </ns0:spPr>
        <ns0:txBody>
          <ns1:bodyPr wrap="square" anchor="ctr">
            <ns1:spAutoFit/>
          </ns1:bodyPr>
          <ns1:lstStyle/>
          <ns1:p>
            <ns1:pPr algn="ctr"/>
            <ns1:r>
              <ns1:rPr sz="4000" b="1">
                <ns1:solidFill>
                  <ns1:srgbClr val="FFFFFF"/>
                </ns1:solidFill>
                <ns1:latin typeface="Whitney Bold"/>
              </ns1:rPr>
              <ns1:t>Approach 1: Prompting</ns1:t>
            </ns1:r>
          </ns1:p>
        </ns0:txBody>
      </ns0:sp>
    </ns0:spTree>
  </ns0:cSld>
  <ns0:clrMapOvr>
    <ns1:masterClrMapping/>
  </ns0:clrMapOvr>
</ns0:sld>
</file>

<file path=ppt/slides/slide6.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Same Weights, Different Prompt</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TextBox 4"/>
          <ns0:cNvSpPr txBox="1"/>
          <ns0:nvPr/>
        </ns0:nvSpPr>
        <ns0:spPr>
          <ns1:xfrm>
            <ns1:off x="457200" y="1005840"/>
            <ns1:ext cx="8321040" cy="411480"/>
          </ns1:xfrm>
          <ns1:prstGeom prst="rect">
            <ns1:avLst/>
          </ns1:prstGeom>
          <ns1:noFill/>
        </ns0:spPr>
        <ns0:txBody>
          <ns1:bodyPr wrap="square" anchor="t">
            <ns1:spAutoFit/>
          </ns1:bodyPr>
          <ns1:lstStyle/>
          <ns1:p>
            <ns1:pPr algn="l"/>
            <ns1:r>
              <ns1:rPr sz="1600" b="1">
                <ns1:solidFill>
                  <ns1:srgbClr val="1F1F1F"/>
                </ns1:solidFill>
                <ns1:latin typeface="Arial"/>
              </ns1:rPr>
              <ns1:t>Same weights. Different prompt. Very different output.</ns1:t>
            </ns1:r>
          </ns1:p>
        </ns0:txBody>
      </ns0:sp>
      <ns0:sp>
        <ns0:nvSpPr>
          <ns0:cNvPr id="6" name="Rounded Rectangle 5"/>
          <ns0:cNvSpPr/>
          <ns0:nvPr/>
        </ns0:nvSpPr>
        <ns0:spPr>
          <ns1:xfrm>
            <ns1:off x="457200" y="1600200"/>
            <ns1:ext cx="4069080" cy="3154680"/>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7" name="Rounded Rectangle 6"/>
          <ns0:cNvSpPr/>
          <ns0:nvPr/>
        </ns0:nvSpPr>
        <ns0:spPr>
          <ns1:xfrm>
            <ns1:off x="594360" y="1691640"/>
            <ns1:ext cx="1371600" cy="274320"/>
          </ns1:xfrm>
          <ns1:prstGeom prst="rect">
            <ns1:avLst/>
          </ns1:prstGeom>
          <ns1:no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8" name="TextBox 7"/>
          <ns0:cNvSpPr txBox="1"/>
          <ns0:nvPr/>
        </ns0:nvSpPr>
        <ns0:spPr>
          <ns1:xfrm>
            <ns1:off x="594360" y="1691640"/>
            <ns1:ext cx="1371600" cy="274320"/>
          </ns1:xfrm>
          <ns1:prstGeom prst="rect">
            <ns1:avLst/>
          </ns1:prstGeom>
          <ns1:noFill/>
        </ns0:spPr>
        <ns0:txBody>
          <ns1:bodyPr wrap="square" anchor="ctr">
            <ns1:spAutoFit/>
          </ns1:bodyPr>
          <ns1:lstStyle/>
          <ns1:p>
            <ns1:pPr algn="ctr"/>
            <ns1:r>
              <ns1:rPr sz="1000" b="1">
                <ns1:solidFill>
                  <ns1:srgbClr val="005587"/>
                </ns1:solidFill>
                <ns1:latin typeface="Arial"/>
              </ns1:rPr>
              <ns1:t>Bare prompt</ns1:t>
            </ns1:r>
          </ns1:p>
        </ns0:txBody>
      </ns0:sp>
      <ns0:sp>
        <ns0:nvSpPr>
          <ns0:cNvPr id="9" name="TextBox 8"/>
          <ns0:cNvSpPr txBox="1"/>
          <ns0:nvPr/>
        </ns0:nvSpPr>
        <ns0:spPr>
          <ns1:xfrm>
            <ns1:off x="640080" y="2057400"/>
            <ns1:ext cx="3703320" cy="201168"/>
          </ns1:xfrm>
          <ns1:prstGeom prst="rect">
            <ns1:avLst/>
          </ns1:prstGeom>
          <ns1:noFill/>
        </ns0:spPr>
        <ns0:txBody>
          <ns1:bodyPr wrap="square" anchor="t">
            <ns1:spAutoFit/>
          </ns1:bodyPr>
          <ns1:lstStyle/>
          <ns1:p>
            <ns1:pPr algn="l"/>
            <ns1:r>
              <ns1:rPr sz="850" b="1">
                <ns1:solidFill>
                  <ns1:srgbClr val="222222"/>
                </ns1:solidFill>
                <ns1:latin typeface="Arial"/>
              </ns1:rPr>
              <ns1:t>PROMPT</ns1:t>
            </ns1:r>
          </ns1:p>
        </ns0:txBody>
      </ns0:sp>
      <ns0:sp>
        <ns0:nvSpPr>
          <ns0:cNvPr id="10" name="TextBox 9"/>
          <ns0:cNvSpPr txBox="1"/>
          <ns0:nvPr/>
        </ns0:nvSpPr>
        <ns0:spPr>
          <ns1:xfrm>
            <ns1:off x="640080" y="2258568"/>
            <ns1:ext cx="3703320" cy="1051560"/>
          </ns1:xfrm>
          <ns1:prstGeom prst="rect">
            <ns1:avLst/>
          </ns1:prstGeom>
          <ns1:noFill/>
        </ns0:spPr>
        <ns0:txBody>
          <ns1:bodyPr wrap="square" anchor="t">
            <ns1:spAutoFit/>
          </ns1:bodyPr>
          <ns1:lstStyle/>
          <ns1:p>
            <ns1:pPr algn="l"/>
            <ns1:r>
              <ns1:rPr sz="900" b="0">
                <ns1:solidFill>
                  <ns1:srgbClr val="1F1F1F"/>
                </ns1:solidFill>
                <ns1:latin typeface="Arial"/>
              </ns1:rPr>
              <ns1:t>Q: A storm hit. The flight is delayed. The customer wants a refund. Reply.</ns1:t>
            </ns1:r>
          </ns1:p>
        </ns0:txBody>
      </ns0:sp>
      <ns0:sp>
        <ns0:nvSpPr>
          <ns0:cNvPr id="11" name="TextBox 10"/>
          <ns0:cNvSpPr txBox="1"/>
          <ns0:nvPr/>
        </ns0:nvSpPr>
        <ns0:spPr>
          <ns1:xfrm>
            <ns1:off x="640080" y="3383280"/>
            <ns1:ext cx="3703320" cy="201168"/>
          </ns1:xfrm>
          <ns1:prstGeom prst="rect">
            <ns1:avLst/>
          </ns1:prstGeom>
          <ns1:noFill/>
        </ns0:spPr>
        <ns0:txBody>
          <ns1:bodyPr wrap="square" anchor="t">
            <ns1:spAutoFit/>
          </ns1:bodyPr>
          <ns1:lstStyle/>
          <ns1:p>
            <ns1:pPr algn="l"/>
            <ns1:r>
              <ns1:rPr sz="850" b="1">
                <ns1:solidFill>
                  <ns1:srgbClr val="222222"/>
                </ns1:solidFill>
                <ns1:latin typeface="Arial"/>
              </ns1:rPr>
              <ns1:t>MODEL OUTPUT</ns1:t>
            </ns1:r>
          </ns1:p>
        </ns0:txBody>
      </ns0:sp>
      <ns0:sp>
        <ns0:nvSpPr>
          <ns0:cNvPr id="12" name="TextBox 11"/>
          <ns0:cNvSpPr txBox="1"/>
          <ns0:nvPr/>
        </ns0:nvSpPr>
        <ns0:spPr>
          <ns1:xfrm>
            <ns1:off x="640080" y="3584448"/>
            <ns1:ext cx="3703320" cy="1051560"/>
          </ns1:xfrm>
          <ns1:prstGeom prst="rect">
            <ns1:avLst/>
          </ns1:prstGeom>
          <ns1:noFill/>
        </ns0:spPr>
        <ns0:txBody>
          <ns1:bodyPr wrap="square" anchor="t">
            <ns1:spAutoFit/>
          </ns1:bodyPr>
          <ns1:lstStyle/>
          <ns1:p>
            <ns1:pPr algn="l"/>
            <ns1:r>
              <ns1:rPr sz="900" b="1">
                <ns1:solidFill>
                  <ns1:srgbClr val="005587"/>
                </ns1:solidFill>
                <ns1:latin typeface="Arial"/>
              </ns1:rPr>
              <ns1:t>"Hi! That stinks lol. Try the refund button on the app or whatever."</ns1:t>
            </ns1:r>
          </ns1:p>
        </ns0:txBody>
      </ns0:sp>
      <ns0:sp>
        <ns0:nvSpPr>
          <ns0:cNvPr id="13" name="Rounded Rectangle 12"/>
          <ns0:cNvSpPr/>
          <ns0:nvPr/>
        </ns0:nvSpPr>
        <ns0:spPr>
          <ns1:xfrm>
            <ns1:off x="4617720" y="1600200"/>
            <ns1:ext cx="4069080" cy="3154680"/>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4" name="Rounded Rectangle 13"/>
          <ns0:cNvSpPr/>
          <ns0:nvPr/>
        </ns0:nvSpPr>
        <ns0:spPr>
          <ns1:xfrm>
            <ns1:off x="4754880" y="1691640"/>
            <ns1:ext cx="1371600" cy="274320"/>
          </ns1:xfrm>
          <ns1:prstGeom prst="rect">
            <ns1:avLst/>
          </ns1:prstGeom>
          <ns1:no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5" name="TextBox 14"/>
          <ns0:cNvSpPr txBox="1"/>
          <ns0:nvPr/>
        </ns0:nvSpPr>
        <ns0:spPr>
          <ns1:xfrm>
            <ns1:off x="4754880" y="1691640"/>
            <ns1:ext cx="1371600" cy="274320"/>
          </ns1:xfrm>
          <ns1:prstGeom prst="rect">
            <ns1:avLst/>
          </ns1:prstGeom>
          <ns1:noFill/>
        </ns0:spPr>
        <ns0:txBody>
          <ns1:bodyPr wrap="square" anchor="ctr">
            <ns1:spAutoFit/>
          </ns1:bodyPr>
          <ns1:lstStyle/>
          <ns1:p>
            <ns1:pPr algn="ctr"/>
            <ns1:r>
              <ns1:rPr sz="1000" b="1">
                <ns1:solidFill>
                  <ns1:srgbClr val="005587"/>
                </ns1:solidFill>
                <ns1:latin typeface="Arial"/>
              </ns1:rPr>
              <ns1:t>Better prompt, same model</ns1:t>
            </ns1:r>
          </ns1:p>
        </ns0:txBody>
      </ns0:sp>
      <ns0:sp>
        <ns0:nvSpPr>
          <ns0:cNvPr id="16" name="TextBox 15"/>
          <ns0:cNvSpPr txBox="1"/>
          <ns0:nvPr/>
        </ns0:nvSpPr>
        <ns0:spPr>
          <ns1:xfrm>
            <ns1:off x="4800600" y="2057400"/>
            <ns1:ext cx="3703320" cy="201168"/>
          </ns1:xfrm>
          <ns1:prstGeom prst="rect">
            <ns1:avLst/>
          </ns1:prstGeom>
          <ns1:noFill/>
        </ns0:spPr>
        <ns0:txBody>
          <ns1:bodyPr wrap="square" anchor="t">
            <ns1:spAutoFit/>
          </ns1:bodyPr>
          <ns1:lstStyle/>
          <ns1:p>
            <ns1:pPr algn="l"/>
            <ns1:r>
              <ns1:rPr sz="850" b="1">
                <ns1:solidFill>
                  <ns1:srgbClr val="222222"/>
                </ns1:solidFill>
                <ns1:latin typeface="Arial"/>
              </ns1:rPr>
              <ns1:t>PROMPT</ns1:t>
            </ns1:r>
          </ns1:p>
        </ns0:txBody>
      </ns0:sp>
      <ns0:sp>
        <ns0:nvSpPr>
          <ns0:cNvPr id="17" name="TextBox 16"/>
          <ns0:cNvSpPr txBox="1"/>
          <ns0:nvPr/>
        </ns0:nvSpPr>
        <ns0:spPr>
          <ns1:xfrm>
            <ns1:off x="4800600" y="2258568"/>
            <ns1:ext cx="3703320" cy="1051560"/>
          </ns1:xfrm>
          <ns1:prstGeom prst="rect">
            <ns1:avLst/>
          </ns1:prstGeom>
          <ns1:noFill/>
        </ns0:spPr>
        <ns0:txBody>
          <ns1:bodyPr wrap="square" anchor="t">
            <ns1:spAutoFit/>
          </ns1:bodyPr>
          <ns1:lstStyle/>
          <ns1:p>
            <ns1:pPr algn="l"/>
            <ns1:r>
              <ns1:rPr sz="900" b="0">
                <ns1:solidFill>
                  <ns1:srgbClr val="1F1F1F"/>
                </ns1:solidFill>
                <ns1:latin typeface="Arial"/>
              </ns1:rPr>
              <ns1:t>You are a polite customer-service agent.
Reply in 3 short, professional
sentences. Acknowledge, explain
options, and offer a follow-up.
Q: A storm hit. The flight is
delayed. The customer wants a
refund. Reply.</ns1:t>
            </ns1:r>
          </ns1:p>
        </ns0:txBody>
      </ns0:sp>
      <ns0:sp>
        <ns0:nvSpPr>
          <ns0:cNvPr id="18" name="TextBox 17"/>
          <ns0:cNvSpPr txBox="1"/>
          <ns0:nvPr/>
        </ns0:nvSpPr>
        <ns0:spPr>
          <ns1:xfrm>
            <ns1:off x="4800600" y="3383280"/>
            <ns1:ext cx="3703320" cy="201168"/>
          </ns1:xfrm>
          <ns1:prstGeom prst="rect">
            <ns1:avLst/>
          </ns1:prstGeom>
          <ns1:noFill/>
        </ns0:spPr>
        <ns0:txBody>
          <ns1:bodyPr wrap="square" anchor="t">
            <ns1:spAutoFit/>
          </ns1:bodyPr>
          <ns1:lstStyle/>
          <ns1:p>
            <ns1:pPr algn="l"/>
            <ns1:r>
              <ns1:rPr sz="850" b="1">
                <ns1:solidFill>
                  <ns1:srgbClr val="222222"/>
                </ns1:solidFill>
                <ns1:latin typeface="Arial"/>
              </ns1:rPr>
              <ns1:t>MODEL OUTPUT</ns1:t>
            </ns1:r>
          </ns1:p>
        </ns0:txBody>
      </ns0:sp>
      <ns0:sp>
        <ns0:nvSpPr>
          <ns0:cNvPr id="19" name="TextBox 18"/>
          <ns0:cNvSpPr txBox="1"/>
          <ns0:nvPr/>
        </ns0:nvSpPr>
        <ns0:spPr>
          <ns1:xfrm>
            <ns1:off x="4800600" y="3584448"/>
            <ns1:ext cx="3703320" cy="1051560"/>
          </ns1:xfrm>
          <ns1:prstGeom prst="rect">
            <ns1:avLst/>
          </ns1:prstGeom>
          <ns1:noFill/>
        </ns0:spPr>
        <ns0:txBody>
          <ns1:bodyPr wrap="square" anchor="t">
            <ns1:spAutoFit/>
          </ns1:bodyPr>
          <ns1:lstStyle/>
          <ns1:p>
            <ns1:pPr algn="l"/>
            <ns1:r>
              <ns1:rPr sz="900" b="1">
                <ns1:solidFill>
                  <ns1:srgbClr val="005587"/>
                </ns1:solidFill>
                <ns1:latin typeface="Arial"/>
              </ns1:rPr>
              <ns1:t>"I'm sorry about the storm-related delay. We can offer a refund on your unused leg or rebook you on the next available flight at no charge. Please reply with which option you'd prefer."</ns1:t>
            </ns1:r>
          </ns1:p>
        </ns0:txBody>
      </ns0:sp>
    </ns0:spTree>
  </ns0:cSld>
  <ns0:clrMapOvr>
    <ns1:masterClrMapping/>
  </ns0:clrMapOvr>
</ns0:sld>
</file>

<file path=ppt/slides/slide7.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System Prompts and Roles</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TextBox 4"/>
          <ns0:cNvSpPr txBox="1"/>
          <ns0:nvPr/>
        </ns0:nvSpPr>
        <ns0:spPr>
          <ns1:xfrm>
            <ns1:off x="457200" y="1005840"/>
            <ns1:ext cx="8321040" cy="365760"/>
          </ns1:xfrm>
          <ns1:prstGeom prst="rect">
            <ns1:avLst/>
          </ns1:prstGeom>
          <ns1:noFill/>
        </ns0:spPr>
        <ns0:txBody>
          <ns1:bodyPr wrap="square" anchor="t">
            <ns1:spAutoFit/>
          </ns1:bodyPr>
          <ns1:lstStyle/>
          <ns1:p>
            <ns1:pPr algn="l"/>
            <ns1:r>
              <ns1:rPr sz="1300" b="1">
                <ns1:solidFill>
                  <ns1:srgbClr val="1F1F1F"/>
                </ns1:solidFill>
                <ns1:latin typeface="Arial"/>
              </ns1:rPr>
              <ns1:t>Most APIs let you separate a high-priority "system" message from the user's "user" message.</ns1:t>
            </ns1:r>
          </ns1:p>
        </ns0:txBody>
      </ns0:sp>
      <ns0:sp>
        <ns0:nvSpPr>
          <ns0:cNvPr id="6" name="Rounded Rectangle 5"/>
          <ns0:cNvSpPr/>
          <ns0:nvPr/>
        </ns0:nvSpPr>
        <ns0:spPr>
          <ns1:xfrm>
            <ns1:off x="457200" y="1508760"/>
            <ns1:ext cx="8229600" cy="2743200"/>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7" name="TextBox 6"/>
          <ns0:cNvSpPr txBox="1"/>
          <ns0:nvPr/>
        </ns0:nvSpPr>
        <ns0:spPr>
          <ns1:xfrm>
            <ns1:off x="640080" y="1627632"/>
            <ns1:ext cx="7863840" cy="219456"/>
          </ns1:xfrm>
          <ns1:prstGeom prst="rect">
            <ns1:avLst/>
          </ns1:prstGeom>
          <ns1:noFill/>
        </ns0:spPr>
        <ns0:txBody>
          <ns1:bodyPr wrap="square" anchor="t">
            <ns1:spAutoFit/>
          </ns1:bodyPr>
          <ns1:lstStyle/>
          <ns1:p>
            <ns1:pPr algn="l"/>
            <ns1:r>
              <ns1:rPr sz="1100" b="1">
                <ns1:solidFill>
                  <ns1:srgbClr val="005587"/>
                </ns1:solidFill>
                <ns1:latin typeface="Arial"/>
              </ns1:rPr>
              <ns1:t>system: </ns1:t>
            </ns1:r>
            <ns1:r>
              <ns1:rPr sz="1000" b="0">
                <ns1:solidFill>
                  <ns1:srgbClr val="1F1F1F"/>
                </ns1:solidFill>
                <ns1:latin typeface="Arial"/>
              </ns1:rPr>
              <ns1:t>You are an internal IT support assistant for ACME Corp. Only answer questions about ACME's email, VPN, and laptop policies. If the user asks about anything else, politely redirect them. Always cite the policy section.</ns1:t>
            </ns1:r>
          </ns1:p>
        </ns0:txBody>
      </ns0:sp>
      <ns0:sp>
        <ns0:nvSpPr>
          <ns0:cNvPr id="8" name="TextBox 7"/>
          <ns0:cNvSpPr txBox="1"/>
          <ns0:nvPr/>
        </ns0:nvSpPr>
        <ns0:spPr>
          <ns1:xfrm>
            <ns1:off x="640080" y="2542032"/>
            <ns1:ext cx="7863840" cy="219456"/>
          </ns1:xfrm>
          <ns1:prstGeom prst="rect">
            <ns1:avLst/>
          </ns1:prstGeom>
          <ns1:noFill/>
        </ns0:spPr>
        <ns0:txBody>
          <ns1:bodyPr wrap="square" anchor="t">
            <ns1:spAutoFit/>
          </ns1:bodyPr>
          <ns1:lstStyle/>
          <ns1:p>
            <ns1:pPr algn="l"/>
            <ns1:r>
              <ns1:rPr sz="1100" b="1">
                <ns1:solidFill>
                  <ns1:srgbClr val="005587"/>
                </ns1:solidFill>
                <ns1:latin typeface="Arial"/>
              </ns1:rPr>
              <ns1:t>user: </ns1:t>
            </ns1:r>
            <ns1:r>
              <ns1:rPr sz="1000" b="0">
                <ns1:solidFill>
                  <ns1:srgbClr val="1F1F1F"/>
                </ns1:solidFill>
                <ns1:latin typeface="Arial"/>
              </ns1:rPr>
              <ns1:t>How do I set up my work email on my phone?</ns1:t>
            </ns1:r>
          </ns1:p>
        </ns0:txBody>
      </ns0:sp>
      <ns0:sp>
        <ns0:nvSpPr>
          <ns0:cNvPr id="9" name="TextBox 8"/>
          <ns0:cNvSpPr txBox="1"/>
          <ns0:nvPr/>
        </ns0:nvSpPr>
        <ns0:spPr>
          <ns1:xfrm>
            <ns1:off x="640080" y="3456432"/>
            <ns1:ext cx="7863840" cy="219456"/>
          </ns1:xfrm>
          <ns1:prstGeom prst="rect">
            <ns1:avLst/>
          </ns1:prstGeom>
          <ns1:noFill/>
        </ns0:spPr>
        <ns0:txBody>
          <ns1:bodyPr wrap="square" anchor="t">
            <ns1:spAutoFit/>
          </ns1:bodyPr>
          <ns1:lstStyle/>
          <ns1:p>
            <ns1:pPr algn="l"/>
            <ns1:r>
              <ns1:rPr sz="1100" b="1">
                <ns1:solidFill>
                  <ns1:srgbClr val="005587"/>
                </ns1:solidFill>
                <ns1:latin typeface="Arial"/>
              </ns1:rPr>
              <ns1:t>assistant: </ns1:t>
            </ns1:r>
            <ns1:r>
              <ns1:rPr sz="1000" b="0">
                <ns1:solidFill>
                  <ns1:srgbClr val="1F1F1F"/>
                </ns1:solidFill>
                <ns1:latin typeface="Arial"/>
              </ns1:rPr>
              <ns1:t>ACME work email is configured via the Outlook mobile app with your @acme.com credentials and Microsoft Authenticator (Section 4.2 of IT Onboarding). Open the App Store, install Outlook, sign in with your ACME email, and approve the multi-factor prompt on Authenticator. Let me know if MFA does not appear.</ns1:t>
            </ns1:r>
          </ns1:p>
        </ns0:txBody>
      </ns0:sp>
      <ns0:sp>
        <ns0:nvSpPr>
          <ns0:cNvPr id="10" name="TextBox 9"/>
          <ns0:cNvSpPr txBox="1"/>
          <ns0:nvPr/>
        </ns0:nvSpPr>
        <ns0:spPr>
          <ns1:xfrm>
            <ns1:off x="457200" y="4434840"/>
            <ns1:ext cx="8321040" cy="365760"/>
          </ns1:xfrm>
          <ns1:prstGeom prst="rect">
            <ns1:avLst/>
          </ns1:prstGeom>
          <ns1:noFill/>
        </ns0:spPr>
        <ns0:txBody>
          <ns1:bodyPr wrap="square" anchor="t">
            <ns1:spAutoFit/>
          </ns1:bodyPr>
          <ns1:lstStyle/>
          <ns1:p>
            <ns1:pPr algn="ctr"/>
            <ns1:r>
              <ns1:rPr sz="1100" b="1">
                <ns1:solidFill>
                  <ns1:srgbClr val="005587"/>
                </ns1:solidFill>
                <ns1:latin typeface="Arial"/>
              </ns1:rPr>
              <ns1:t>Same model, different system prompt → different assistant. No training. Just a paragraph at the top of the conversation.</ns1:t>
            </ns1:r>
          </ns1:p>
        </ns0:txBody>
      </ns0:sp>
    </ns0:spTree>
  </ns0:cSld>
  <ns0:clrMapOvr>
    <ns1:masterClrMapping/>
  </ns0:clrMapOvr>
</ns0:sld>
</file>

<file path=ppt/slides/slide8.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Few-Shot Prompting</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TextBox 4"/>
          <ns0:cNvSpPr txBox="1"/>
          <ns0:nvPr/>
        </ns0:nvSpPr>
        <ns0:spPr>
          <ns1:xfrm>
            <ns1:off x="457200" y="960120"/>
            <ns1:ext cx="8321040" cy="329184"/>
          </ns1:xfrm>
          <ns1:prstGeom prst="rect">
            <ns1:avLst/>
          </ns1:prstGeom>
          <ns1:noFill/>
        </ns0:spPr>
        <ns0:txBody>
          <ns1:bodyPr wrap="square" anchor="t">
            <ns1:spAutoFit/>
          </ns1:bodyPr>
          <ns1:lstStyle/>
          <ns1:p>
            <ns1:pPr algn="l"/>
            <ns1:r>
              <ns1:rPr sz="1200" b="1">
                <ns1:solidFill>
                  <ns1:srgbClr val="1F1F1F"/>
                </ns1:solidFill>
                <ns1:latin typeface="Arial"/>
              </ns1:rPr>
              <ns1:t>Add a few labeled examples in the prompt. The model learns the pattern at inference time, no training.</ns1:t>
            </ns1:r>
          </ns1:p>
        </ns0:txBody>
      </ns0:sp>
      <ns0:sp>
        <ns0:nvSpPr>
          <ns0:cNvPr id="6" name="Rounded Rectangle 5"/>
          <ns0:cNvSpPr/>
          <ns0:nvPr/>
        </ns0:nvSpPr>
        <ns0:spPr>
          <ns1:xfrm>
            <ns1:off x="457200" y="1371600"/>
            <ns1:ext cx="8229600" cy="3337560"/>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7" name="TextBox 6"/>
          <ns0:cNvSpPr txBox="1"/>
          <ns0:nvPr/>
        </ns0:nvSpPr>
        <ns0:spPr>
          <ns1:xfrm>
            <ns1:off x="640080" y="1463040"/>
            <ns1:ext cx="7863840" cy="219456"/>
          </ns1:xfrm>
          <ns1:prstGeom prst="rect">
            <ns1:avLst/>
          </ns1:prstGeom>
          <ns1:noFill/>
        </ns0:spPr>
        <ns0:txBody>
          <ns1:bodyPr wrap="square" anchor="t">
            <ns1:spAutoFit/>
          </ns1:bodyPr>
          <ns1:lstStyle/>
          <ns1:p>
            <ns1:pPr algn="l"/>
            <ns1:r>
              <ns1:rPr sz="1100" b="1">
                <ns1:solidFill>
                  <ns1:srgbClr val="005587"/>
                </ns1:solidFill>
                <ns1:latin typeface="Arial"/>
              </ns1:rPr>
              <ns1:t>TASK: classify each support ticket as billing / technical / account.</ns1:t>
            </ns1:r>
          </ns1:p>
        </ns0:txBody>
      </ns0:sp>
      <ns0:sp>
        <ns0:nvSpPr>
          <ns0:cNvPr id="8" name="TextBox 7"/>
          <ns0:cNvSpPr txBox="1"/>
          <ns0:nvPr/>
        </ns0:nvSpPr>
        <ns0:spPr>
          <ns1:xfrm>
            <ns1:off x="640080" y="1783080"/>
            <ns1:ext cx="1188720" cy="219456"/>
          </ns1:xfrm>
          <ns1:prstGeom prst="rect">
            <ns1:avLst/>
          </ns1:prstGeom>
          <ns1:noFill/>
        </ns0:spPr>
        <ns0:txBody>
          <ns1:bodyPr wrap="square" anchor="t">
            <ns1:spAutoFit/>
          </ns1:bodyPr>
          <ns1:lstStyle/>
          <ns1:p>
            <ns1:pPr algn="l"/>
            <ns1:r>
              <ns1:rPr sz="1000" b="1">
                <ns1:solidFill>
                  <ns1:srgbClr val="222222"/>
                </ns1:solidFill>
                <ns1:latin typeface="Arial"/>
              </ns1:rPr>
              <ns1:t>Example 1 →</ns1:t>
            </ns1:r>
          </ns1:p>
        </ns0:txBody>
      </ns0:sp>
      <ns0:sp>
        <ns0:nvSpPr>
          <ns0:cNvPr id="9" name="TextBox 8"/>
          <ns0:cNvSpPr txBox="1"/>
          <ns0:nvPr/>
        </ns0:nvSpPr>
        <ns0:spPr>
          <ns1:xfrm>
            <ns1:off x="1874519" y="1783080"/>
            <ns1:ext cx="5029200" cy="219456"/>
          </ns1:xfrm>
          <ns1:prstGeom prst="rect">
            <ns1:avLst/>
          </ns1:prstGeom>
          <ns1:noFill/>
        </ns0:spPr>
        <ns0:txBody>
          <ns1:bodyPr wrap="square" anchor="t">
            <ns1:spAutoFit/>
          </ns1:bodyPr>
          <ns1:lstStyle/>
          <ns1:p>
            <ns1:pPr algn="l"/>
            <ns1:r>
              <ns1:rPr sz="1000" b="0">
                <ns1:solidFill>
                  <ns1:srgbClr val="1F1F1F"/>
                </ns1:solidFill>
                <ns1:latin typeface="Arial"/>
              </ns1:rPr>
              <ns1:t>"My credit card was charged $19 twice for one subscription."</ns1:t>
            </ns1:r>
          </ns1:p>
        </ns0:txBody>
      </ns0:sp>
      <ns0:sp>
        <ns0:nvSpPr>
          <ns0:cNvPr id="10" name="Rounded Rectangle 9"/>
          <ns0:cNvSpPr/>
          <ns0:nvPr/>
        </ns0:nvSpPr>
        <ns0:spPr>
          <ns1:xfrm>
            <ns1:off x="6995160" y="1764792"/>
            <ns1:ext cx="1417320" cy="27432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1" name="TextBox 10"/>
          <ns0:cNvSpPr txBox="1"/>
          <ns0:nvPr/>
        </ns0:nvSpPr>
        <ns0:spPr>
          <ns1:xfrm>
            <ns1:off x="6995160" y="1764792"/>
            <ns1:ext cx="1417320" cy="274320"/>
          </ns1:xfrm>
          <ns1:prstGeom prst="rect">
            <ns1:avLst/>
          </ns1:prstGeom>
          <ns1:noFill/>
        </ns0:spPr>
        <ns0:txBody>
          <ns1:bodyPr wrap="square" anchor="ctr">
            <ns1:spAutoFit/>
          </ns1:bodyPr>
          <ns1:lstStyle/>
          <ns1:p>
            <ns1:pPr algn="ctr"/>
            <ns1:r>
              <ns1:rPr sz="1000" b="1">
                <ns1:solidFill>
                  <ns1:srgbClr val="005587"/>
                </ns1:solidFill>
                <ns1:latin typeface="Arial"/>
              </ns1:rPr>
              <ns1:t>billing</ns1:t>
            </ns1:r>
          </ns1:p>
        </ns0:txBody>
      </ns0:sp>
      <ns0:sp>
        <ns0:nvSpPr>
          <ns0:cNvPr id="12" name="TextBox 11"/>
          <ns0:cNvSpPr txBox="1"/>
          <ns0:nvPr/>
        </ns0:nvSpPr>
        <ns0:spPr>
          <ns1:xfrm>
            <ns1:off x="640080" y="2167128"/>
            <ns1:ext cx="1188720" cy="219456"/>
          </ns1:xfrm>
          <ns1:prstGeom prst="rect">
            <ns1:avLst/>
          </ns1:prstGeom>
          <ns1:noFill/>
        </ns0:spPr>
        <ns0:txBody>
          <ns1:bodyPr wrap="square" anchor="t">
            <ns1:spAutoFit/>
          </ns1:bodyPr>
          <ns1:lstStyle/>
          <ns1:p>
            <ns1:pPr algn="l"/>
            <ns1:r>
              <ns1:rPr sz="1000" b="1">
                <ns1:solidFill>
                  <ns1:srgbClr val="222222"/>
                </ns1:solidFill>
                <ns1:latin typeface="Arial"/>
              </ns1:rPr>
              <ns1:t>Example 2 →</ns1:t>
            </ns1:r>
          </ns1:p>
        </ns0:txBody>
      </ns0:sp>
      <ns0:sp>
        <ns0:nvSpPr>
          <ns0:cNvPr id="13" name="TextBox 12"/>
          <ns0:cNvSpPr txBox="1"/>
          <ns0:nvPr/>
        </ns0:nvSpPr>
        <ns0:spPr>
          <ns1:xfrm>
            <ns1:off x="1874519" y="2167128"/>
            <ns1:ext cx="5029200" cy="219456"/>
          </ns1:xfrm>
          <ns1:prstGeom prst="rect">
            <ns1:avLst/>
          </ns1:prstGeom>
          <ns1:noFill/>
        </ns0:spPr>
        <ns0:txBody>
          <ns1:bodyPr wrap="square" anchor="t">
            <ns1:spAutoFit/>
          </ns1:bodyPr>
          <ns1:lstStyle/>
          <ns1:p>
            <ns1:pPr algn="l"/>
            <ns1:r>
              <ns1:rPr sz="1000" b="0">
                <ns1:solidFill>
                  <ns1:srgbClr val="1F1F1F"/>
                </ns1:solidFill>
                <ns1:latin typeface="Arial"/>
              </ns1:rPr>
              <ns1:t>"The app keeps crashing whenever I open the dashboard."</ns1:t>
            </ns1:r>
          </ns1:p>
        </ns0:txBody>
      </ns0:sp>
      <ns0:sp>
        <ns0:nvSpPr>
          <ns0:cNvPr id="14" name="Rounded Rectangle 13"/>
          <ns0:cNvSpPr/>
          <ns0:nvPr/>
        </ns0:nvSpPr>
        <ns0:spPr>
          <ns1:xfrm>
            <ns1:off x="6995160" y="2148840"/>
            <ns1:ext cx="1417320" cy="27432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5" name="TextBox 14"/>
          <ns0:cNvSpPr txBox="1"/>
          <ns0:nvPr/>
        </ns0:nvSpPr>
        <ns0:spPr>
          <ns1:xfrm>
            <ns1:off x="6995160" y="2148840"/>
            <ns1:ext cx="1417320" cy="274320"/>
          </ns1:xfrm>
          <ns1:prstGeom prst="rect">
            <ns1:avLst/>
          </ns1:prstGeom>
          <ns1:noFill/>
        </ns0:spPr>
        <ns0:txBody>
          <ns1:bodyPr wrap="square" anchor="ctr">
            <ns1:spAutoFit/>
          </ns1:bodyPr>
          <ns1:lstStyle/>
          <ns1:p>
            <ns1:pPr algn="ctr"/>
            <ns1:r>
              <ns1:rPr sz="1000" b="1">
                <ns1:solidFill>
                  <ns1:srgbClr val="005587"/>
                </ns1:solidFill>
                <ns1:latin typeface="Arial"/>
              </ns1:rPr>
              <ns1:t>technical</ns1:t>
            </ns1:r>
          </ns1:p>
        </ns0:txBody>
      </ns0:sp>
      <ns0:sp>
        <ns0:nvSpPr>
          <ns0:cNvPr id="16" name="TextBox 15"/>
          <ns0:cNvSpPr txBox="1"/>
          <ns0:nvPr/>
        </ns0:nvSpPr>
        <ns0:spPr>
          <ns1:xfrm>
            <ns1:off x="640080" y="2551176"/>
            <ns1:ext cx="1188720" cy="219456"/>
          </ns1:xfrm>
          <ns1:prstGeom prst="rect">
            <ns1:avLst/>
          </ns1:prstGeom>
          <ns1:noFill/>
        </ns0:spPr>
        <ns0:txBody>
          <ns1:bodyPr wrap="square" anchor="t">
            <ns1:spAutoFit/>
          </ns1:bodyPr>
          <ns1:lstStyle/>
          <ns1:p>
            <ns1:pPr algn="l"/>
            <ns1:r>
              <ns1:rPr sz="1000" b="1">
                <ns1:solidFill>
                  <ns1:srgbClr val="222222"/>
                </ns1:solidFill>
                <ns1:latin typeface="Arial"/>
              </ns1:rPr>
              <ns1:t>Example 3 →</ns1:t>
            </ns1:r>
          </ns1:p>
        </ns0:txBody>
      </ns0:sp>
      <ns0:sp>
        <ns0:nvSpPr>
          <ns0:cNvPr id="17" name="TextBox 16"/>
          <ns0:cNvSpPr txBox="1"/>
          <ns0:nvPr/>
        </ns0:nvSpPr>
        <ns0:spPr>
          <ns1:xfrm>
            <ns1:off x="1874519" y="2551176"/>
            <ns1:ext cx="5029200" cy="219456"/>
          </ns1:xfrm>
          <ns1:prstGeom prst="rect">
            <ns1:avLst/>
          </ns1:prstGeom>
          <ns1:noFill/>
        </ns0:spPr>
        <ns0:txBody>
          <ns1:bodyPr wrap="square" anchor="t">
            <ns1:spAutoFit/>
          </ns1:bodyPr>
          <ns1:lstStyle/>
          <ns1:p>
            <ns1:pPr algn="l"/>
            <ns1:r>
              <ns1:rPr sz="1000" b="0">
                <ns1:solidFill>
                  <ns1:srgbClr val="1F1F1F"/>
                </ns1:solidFill>
                <ns1:latin typeface="Arial"/>
              </ns1:rPr>
              <ns1:t>"I forgot my password and can't reset it through the email."</ns1:t>
            </ns1:r>
          </ns1:p>
        </ns0:txBody>
      </ns0:sp>
      <ns0:sp>
        <ns0:nvSpPr>
          <ns0:cNvPr id="18" name="Rounded Rectangle 17"/>
          <ns0:cNvSpPr/>
          <ns0:nvPr/>
        </ns0:nvSpPr>
        <ns0:spPr>
          <ns1:xfrm>
            <ns1:off x="6995160" y="2532888"/>
            <ns1:ext cx="1417320" cy="27432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9" name="TextBox 18"/>
          <ns0:cNvSpPr txBox="1"/>
          <ns0:nvPr/>
        </ns0:nvSpPr>
        <ns0:spPr>
          <ns1:xfrm>
            <ns1:off x="6995160" y="2532888"/>
            <ns1:ext cx="1417320" cy="274320"/>
          </ns1:xfrm>
          <ns1:prstGeom prst="rect">
            <ns1:avLst/>
          </ns1:prstGeom>
          <ns1:noFill/>
        </ns0:spPr>
        <ns0:txBody>
          <ns1:bodyPr wrap="square" anchor="ctr">
            <ns1:spAutoFit/>
          </ns1:bodyPr>
          <ns1:lstStyle/>
          <ns1:p>
            <ns1:pPr algn="ctr"/>
            <ns1:r>
              <ns1:rPr sz="1000" b="1">
                <ns1:solidFill>
                  <ns1:srgbClr val="005587"/>
                </ns1:solidFill>
                <ns1:latin typeface="Arial"/>
              </ns1:rPr>
              <ns1:t>account</ns1:t>
            </ns1:r>
          </ns1:p>
        </ns0:txBody>
      </ns0:sp>
      <ns0:cxnSp>
        <ns0:nvCxnSpPr>
          <ns0:cNvPr id="20" name="Connector 19"/>
          <ns0:cNvCxnSpPr/>
          <ns0:nvPr/>
        </ns0:nvCxnSpPr>
        <ns0:spPr>
          <ns1:xfrm>
            <ns1:off x="640080" y="2980944"/>
            <ns1:ext cx="7863840" cy="0"/>
          </ns1:xfrm>
          <ns1:prstGeom prst="line">
            <ns1:avLst/>
          </ns1:prstGeom>
          <ns1:ln w="6350">
            <ns1:solidFill>
              <ns1:srgbClr val="C8C8C8"/>
            </ns1:solidFill>
          </ns1:ln>
        </ns0:spPr>
        <ns0:style>
          <ns1:lnRef idx="2">
            <ns1:schemeClr val="accent1"/>
          </ns1:lnRef>
          <ns1:fillRef idx="0">
            <ns1:schemeClr val="accent1"/>
          </ns1:fillRef>
          <ns1:effectRef idx="1">
            <ns1:schemeClr val="accent1"/>
          </ns1:effectRef>
          <ns1:fontRef idx="minor">
            <ns1:schemeClr val="tx1"/>
          </ns1:fontRef>
        </ns0:style>
      </ns0:cxnSp>
      <ns0:sp>
        <ns0:nvSpPr>
          <ns0:cNvPr id="21" name="TextBox 20"/>
          <ns0:cNvSpPr txBox="1"/>
          <ns0:nvPr/>
        </ns0:nvSpPr>
        <ns0:spPr>
          <ns1:xfrm>
            <ns1:off x="640080" y="3118104"/>
            <ns1:ext cx="1188720" cy="219456"/>
          </ns1:xfrm>
          <ns1:prstGeom prst="rect">
            <ns1:avLst/>
          </ns1:prstGeom>
          <ns1:noFill/>
        </ns0:spPr>
        <ns0:txBody>
          <ns1:bodyPr wrap="square" anchor="t">
            <ns1:spAutoFit/>
          </ns1:bodyPr>
          <ns1:lstStyle/>
          <ns1:p>
            <ns1:pPr algn="l"/>
            <ns1:r>
              <ns1:rPr sz="1000" b="1">
                <ns1:solidFill>
                  <ns1:srgbClr val="005587"/>
                </ns1:solidFill>
                <ns1:latin typeface="Arial"/>
              </ns1:rPr>
              <ns1:t>New →</ns1:t>
            </ns1:r>
          </ns1:p>
        </ns0:txBody>
      </ns0:sp>
      <ns0:sp>
        <ns0:nvSpPr>
          <ns0:cNvPr id="22" name="TextBox 21"/>
          <ns0:cNvSpPr txBox="1"/>
          <ns0:nvPr/>
        </ns0:nvSpPr>
        <ns0:spPr>
          <ns1:xfrm>
            <ns1:off x="1874519" y="3118104"/>
            <ns1:ext cx="5029200" cy="219456"/>
          </ns1:xfrm>
          <ns1:prstGeom prst="rect">
            <ns1:avLst/>
          </ns1:prstGeom>
          <ns1:noFill/>
        </ns0:spPr>
        <ns0:txBody>
          <ns1:bodyPr wrap="square" anchor="t">
            <ns1:spAutoFit/>
          </ns1:bodyPr>
          <ns1:lstStyle/>
          <ns1:p>
            <ns1:pPr algn="l"/>
            <ns1:r>
              <ns1:rPr sz="1000" b="0">
                <ns1:solidFill>
                  <ns1:srgbClr val="1F1F1F"/>
                </ns1:solidFill>
                <ns1:latin typeface="Arial"/>
              </ns1:rPr>
              <ns1:t>"My laptop won't connect to the office WiFi after the update."</ns1:t>
            </ns1:r>
          </ns1:p>
        </ns0:txBody>
      </ns0:sp>
      <ns0:sp>
        <ns0:nvSpPr>
          <ns0:cNvPr id="23" name="Rounded Rectangle 22"/>
          <ns0:cNvSpPr/>
          <ns0:nvPr/>
        </ns0:nvSpPr>
        <ns0:spPr>
          <ns1:xfrm>
            <ns1:off x="6995160" y="3099816"/>
            <ns1:ext cx="1417320" cy="27432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4" name="TextBox 23"/>
          <ns0:cNvSpPr txBox="1"/>
          <ns0:nvPr/>
        </ns0:nvSpPr>
        <ns0:spPr>
          <ns1:xfrm>
            <ns1:off x="6995160" y="3099816"/>
            <ns1:ext cx="1417320" cy="274320"/>
          </ns1:xfrm>
          <ns1:prstGeom prst="rect">
            <ns1:avLst/>
          </ns1:prstGeom>
          <ns1:noFill/>
        </ns0:spPr>
        <ns0:txBody>
          <ns1:bodyPr wrap="square" anchor="ctr">
            <ns1:spAutoFit/>
          </ns1:bodyPr>
          <ns1:lstStyle/>
          <ns1:p>
            <ns1:pPr algn="ctr"/>
            <ns1:r>
              <ns1:rPr sz="1000" b="1">
                <ns1:solidFill>
                  <ns1:srgbClr val="005587"/>
                </ns1:solidFill>
                <ns1:latin typeface="Arial"/>
              </ns1:rPr>
              <ns1:t>technical</ns1:t>
            </ns1:r>
          </ns1:p>
        </ns0:txBody>
      </ns0:sp>
      <ns0:sp>
        <ns0:nvSpPr>
          <ns0:cNvPr id="25" name="TextBox 24"/>
          <ns0:cNvSpPr txBox="1"/>
          <ns0:nvPr/>
        </ns0:nvSpPr>
        <ns0:spPr>
          <ns1:xfrm>
            <ns1:off x="640080" y="3529584"/>
            <ns1:ext cx="7863840" cy="274320"/>
          </ns1:xfrm>
          <ns1:prstGeom prst="rect">
            <ns1:avLst/>
          </ns1:prstGeom>
          <ns1:noFill/>
        </ns0:spPr>
        <ns0:txBody>
          <ns1:bodyPr wrap="square" anchor="t">
            <ns1:spAutoFit/>
          </ns1:bodyPr>
          <ns1:lstStyle/>
          <ns1:p>
            <ns1:pPr algn="l"/>
            <ns1:r>
              <ns1:rPr sz="1100" b="0" i="1">
                <ns1:solidFill>
                  <ns1:srgbClr val="222222"/>
                </ns1:solidFill>
                <ns1:latin typeface="Arial"/>
              </ns1:rPr>
              <ns1:t>Few-shot is essentially "on-the-fly fine-tuning" via the context window.</ns1:t>
            </ns1:r>
          </ns1:p>
        </ns0:txBody>
      </ns0:sp>
      <ns0:sp>
        <ns0:nvSpPr>
          <ns0:cNvPr id="26" name="TextBox 25"/>
          <ns0:cNvSpPr txBox="1"/>
          <ns0:nvPr/>
        </ns0:nvSpPr>
        <ns0:spPr>
          <ns1:xfrm>
            <ns1:off x="457200" y="4846320"/>
            <ns1:ext cx="8321040" cy="182880"/>
          </ns1:xfrm>
          <ns1:prstGeom prst="rect">
            <ns1:avLst/>
          </ns1:prstGeom>
          <ns1:noFill/>
        </ns0:spPr>
        <ns0:txBody>
          <ns1:bodyPr wrap="square" anchor="t">
            <ns1:spAutoFit/>
          </ns1:bodyPr>
          <ns1:lstStyle/>
          <ns1:p>
            <ns1:pPr algn="l"/>
            <ns1:r>
              <ns1:rPr sz="700" b="0">
                <ns1:solidFill>
                  <ns1:srgbClr val="000000"/>
                </ns1:solidFill>
                <ns1:latin typeface="Arial"/>
              </ns1:rPr>
              <ns1:t>Source: Brown et al. (2020), Language Models are Few-Shot Learners (GPT-3 paper)</ns1:t>
            </ns1:r>
          </ns1:p>
        </ns0:txBody>
      </ns0:sp>
    </ns0:spTree>
  </ns0:cSld>
  <ns0:clrMapOvr>
    <ns1:masterClrMapping/>
  </ns0:clrMapOvr>
</ns0:sld>
</file>

<file path=ppt/slides/slide9.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Prompting: Strengths, Weaknesses, Use Cases</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Rounded Rectangle 4"/>
          <ns0:cNvSpPr/>
          <ns0:nvPr/>
        </ns0:nvSpPr>
        <ns0:spPr>
          <ns1:xfrm>
            <ns1:off x="457200" y="1097280"/>
            <ns1:ext cx="4069080" cy="3749039"/>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6" name="TextBox 5"/>
          <ns0:cNvSpPr txBox="1"/>
          <ns0:nvPr/>
        </ns0:nvSpPr>
        <ns0:spPr>
          <ns1:xfrm>
            <ns1:off x="457200" y="1188720"/>
            <ns1:ext cx="4069080" cy="292608"/>
          </ns1:xfrm>
          <ns1:prstGeom prst="rect">
            <ns1:avLst/>
          </ns1:prstGeom>
          <ns1:noFill/>
        </ns0:spPr>
        <ns0:txBody>
          <ns1:bodyPr wrap="square" anchor="t">
            <ns1:spAutoFit/>
          </ns1:bodyPr>
          <ns1:lstStyle/>
          <ns1:p>
            <ns1:pPr algn="ctr"/>
            <ns1:r>
              <ns1:rPr sz="1400" b="1">
                <ns1:solidFill>
                  <ns1:srgbClr val="005587"/>
                </ns1:solidFill>
                <ns1:latin typeface="Whitney Bold"/>
              </ns1:rPr>
              <ns1:t>Strengths</ns1:t>
            </ns1:r>
          </ns1:p>
        </ns0:txBody>
      </ns0:sp>
      <ns0:cxnSp>
        <ns0:nvCxnSpPr>
          <ns0:cNvPr id="7" name="Connector 6"/>
          <ns0:cNvCxnSpPr/>
          <ns0:nvPr/>
        </ns0:nvCxnSpPr>
        <ns0:spPr>
          <ns1:xfrm>
            <ns1:off x="731520" y="1554480"/>
            <ns1:ext cx="3520440" cy="0"/>
          </ns1:xfrm>
          <ns1:prstGeom prst="line">
            <ns1:avLst/>
          </ns1:prstGeom>
          <ns1:no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8" name="TextBox 7"/>
          <ns0:cNvSpPr txBox="1"/>
          <ns0:nvPr/>
        </ns0:nvSpPr>
        <ns0:spPr>
          <ns1:xfrm>
            <ns1:off x="640080" y="1645919"/>
            <ns1:ext cx="3703320" cy="3108959"/>
          </ns1:xfrm>
          <ns1:prstGeom prst="rect">
            <ns1:avLst/>
          </ns1:prstGeom>
          <ns1:noFill/>
        </ns0:spPr>
        <ns0:txBody>
          <ns1:bodyPr wrap="square" anchor="t">
            <ns1:spAutoFit/>
          </ns1:bodyPr>
          <ns1:lstStyle/>
          <ns1:p>
            <ns1:pPr algn="l"/>
            <ns1:r>
              <ns1:rPr sz="1100" b="0">
                <ns1:solidFill>
                  <ns1:srgbClr val="1F1F1F"/>
                </ns1:solidFill>
                <ns1:latin typeface="Arial"/>
              </ns1:rPr>
              <ns1:t>•  Zero training cost; ship in hours, not weeks</ns1:t>
            </ns1:r>
          </ns1:p>
          <ns1:p>
            <ns1:pPr algn="l"/>
            <ns1:r>
              <ns1:rPr sz="1100" b="0">
                <ns1:solidFill>
                  <ns1:srgbClr val="1F1F1F"/>
                </ns1:solidFill>
                <ns1:latin typeface="Arial"/>
              </ns1:rPr>
              <ns1:t>•  Instant iteration: change a paragraph, see new behavior</ns1:t>
            </ns1:r>
          </ns1:p>
          <ns1:p>
            <ns1:pPr algn="l"/>
            <ns1:r>
              <ns1:rPr sz="1100" b="0">
                <ns1:solidFill>
                  <ns1:srgbClr val="1F1F1F"/>
                </ns1:solidFill>
                <ns1:latin typeface="Arial"/>
              </ns1:rPr>
              <ns1:t>•  Frontier-quality model out of the box</ns1:t>
            </ns1:r>
          </ns1:p>
          <ns1:p>
            <ns1:pPr algn="l"/>
            <ns1:r>
              <ns1:rPr sz="1100" b="0">
                <ns1:solidFill>
                  <ns1:srgbClr val="1F1F1F"/>
                </ns1:solidFill>
                <ns1:latin typeface="Arial"/>
              </ns1:rPr>
              <ns1:t>•  Easiest to debug, since the prompt is the spec</ns1:t>
            </ns1:r>
          </ns1:p>
          <ns1:p>
            <ns1:pPr algn="l"/>
            <ns1:r>
              <ns1:rPr sz="1100" b="0">
                <ns1:solidFill>
                  <ns1:srgbClr val="1F1F1F"/>
                </ns1:solidFill>
                <ns1:latin typeface="Arial"/>
              </ns1:rPr>
              <ns1:t>•  Often the right first move; almost never the wrong one to try</ns1:t>
            </ns1:r>
          </ns1:p>
        </ns0:txBody>
      </ns0:sp>
      <ns0:sp>
        <ns0:nvSpPr>
          <ns0:cNvPr id="9" name="Rounded Rectangle 8"/>
          <ns0:cNvSpPr/>
          <ns0:nvPr/>
        </ns0:nvSpPr>
        <ns0:spPr>
          <ns1:xfrm>
            <ns1:off x="4617720" y="1097280"/>
            <ns1:ext cx="4069080" cy="3749039"/>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0" name="TextBox 9"/>
          <ns0:cNvSpPr txBox="1"/>
          <ns0:nvPr/>
        </ns0:nvSpPr>
        <ns0:spPr>
          <ns1:xfrm>
            <ns1:off x="4617720" y="1188720"/>
            <ns1:ext cx="4069080" cy="292608"/>
          </ns1:xfrm>
          <ns1:prstGeom prst="rect">
            <ns1:avLst/>
          </ns1:prstGeom>
          <ns1:noFill/>
        </ns0:spPr>
        <ns0:txBody>
          <ns1:bodyPr wrap="square" anchor="t">
            <ns1:spAutoFit/>
          </ns1:bodyPr>
          <ns1:lstStyle/>
          <ns1:p>
            <ns1:pPr algn="ctr"/>
            <ns1:r>
              <ns1:rPr sz="1400" b="1">
                <ns1:solidFill>
                  <ns1:srgbClr val="005587"/>
                </ns1:solidFill>
                <ns1:latin typeface="Whitney Bold"/>
              </ns1:rPr>
              <ns1:t>Limitations</ns1:t>
            </ns1:r>
          </ns1:p>
        </ns0:txBody>
      </ns0:sp>
      <ns0:cxnSp>
        <ns0:nvCxnSpPr>
          <ns0:cNvPr id="11" name="Connector 10"/>
          <ns0:cNvCxnSpPr/>
          <ns0:nvPr/>
        </ns0:nvCxnSpPr>
        <ns0:spPr>
          <ns1:xfrm>
            <ns1:off x="4892040" y="1554480"/>
            <ns1:ext cx="3520440" cy="0"/>
          </ns1:xfrm>
          <ns1:prstGeom prst="line">
            <ns1:avLst/>
          </ns1:prstGeom>
          <ns1:no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12" name="TextBox 11"/>
          <ns0:cNvSpPr txBox="1"/>
          <ns0:nvPr/>
        </ns0:nvSpPr>
        <ns0:spPr>
          <ns1:xfrm>
            <ns1:off x="4800600" y="1645919"/>
            <ns1:ext cx="3703320" cy="3108959"/>
          </ns1:xfrm>
          <ns1:prstGeom prst="rect">
            <ns1:avLst/>
          </ns1:prstGeom>
          <ns1:noFill/>
        </ns0:spPr>
        <ns0:txBody>
          <ns1:bodyPr wrap="square" anchor="t">
            <ns1:spAutoFit/>
          </ns1:bodyPr>
          <ns1:lstStyle/>
          <ns1:p>
            <ns1:pPr algn="l"/>
            <ns1:r>
              <ns1:rPr sz="1100" b="0">
                <ns1:solidFill>
                  <ns1:srgbClr val="1F1F1F"/>
                </ns1:solidFill>
                <ns1:latin typeface="Arial"/>
              </ns1:rPr>
              <ns1:t>•  Prompt is fragile; small wording changes can swing outputs</ns1:t>
            </ns1:r>
          </ns1:p>
          <ns1:p>
            <ns1:pPr algn="l"/>
            <ns1:r>
              <ns1:rPr sz="1100" b="0">
                <ns1:solidFill>
                  <ns1:srgbClr val="1F1F1F"/>
                </ns1:solidFill>
                <ns1:latin typeface="Arial"/>
              </ns1:rPr>
              <ns1:t>•  Context window is finite; can't fit very large knowledge bases</ns1:t>
            </ns1:r>
          </ns1:p>
          <ns1:p>
            <ns1:pPr algn="l"/>
            <ns1:r>
              <ns1:rPr sz="1100" b="0">
                <ns1:solidFill>
                  <ns1:srgbClr val="1F1F1F"/>
                </ns1:solidFill>
                <ns1:latin typeface="Arial"/>
              </ns1:rPr>
              <ns1:t>•  Doesn't add new facts the model never saw</ns1:t>
            </ns1:r>
          </ns1:p>
          <ns1:p>
            <ns1:pPr algn="l"/>
            <ns1:r>
              <ns1:rPr sz="1100" b="0">
                <ns1:solidFill>
                  <ns1:srgbClr val="1F1F1F"/>
                </ns1:solidFill>
                <ns1:latin typeface="Arial"/>
              </ns1:rPr>
              <ns1:t>•  Behavior is tied to the model vendor's updates</ns1:t>
            </ns1:r>
          </ns1:p>
          <ns1:p>
            <ns1:pPr algn="l"/>
            <ns1:r>
              <ns1:rPr sz="1100" b="0">
                <ns1:solidFill>
                  <ns1:srgbClr val="1F1F1F"/>
                </ns1:solidFill>
                <ns1:latin typeface="Arial"/>
              </ns1:rPr>
              <ns1:t>•  Hard to enforce strict format/policy compliance at scale</ns1:t>
            </ns1:r>
          </ns1:p>
        </ns0:txBody>
      </ns0:sp>
      <ns0:sp>
        <ns0:nvSpPr>
          <ns0:cNvPr id="13" name="TextBox 12"/>
          <ns0:cNvSpPr txBox="1"/>
          <ns0:nvPr/>
        </ns0:nvSpPr>
        <ns0:spPr>
          <ns1:xfrm>
            <ns1:off x="457200" y="4937760"/>
            <ns1:ext cx="8321040" cy="182880"/>
          </ns1:xfrm>
          <ns1:prstGeom prst="rect">
            <ns1:avLst/>
          </ns1:prstGeom>
          <ns1:noFill/>
        </ns0:spPr>
        <ns0:txBody>
          <ns1:bodyPr wrap="square" anchor="t">
            <ns1:spAutoFit/>
          </ns1:bodyPr>
          <ns1:lstStyle/>
          <ns1:p>
            <ns1:pPr algn="ctr"/>
            <ns1:r>
              <ns1:rPr sz="1100" b="0">
                <ns1:solidFill>
                  <ns1:srgbClr val="000000"/>
                </ns1:solidFill>
                <ns1:latin typeface="Arial"/>
              </ns1:rPr>
              <ns1:t>Reach for prompting first. Move to RAG or fine-tuning only when you've hit a real ceiling</ns1:t>
            </ns1:r>
          </ns1:p>
        </ns0:txBody>
      </ns0:sp>
    </ns0:spTree>
  </ns0:cSld>
  <ns0:clrMapOvr>
    <ns1:masterClrMapping/>
  </ns0:clrMapOvr>
</ns0:sld>
</file>

<file path=ppt/slides/slide10.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9144000" cy="5143500"/>
          </ns1:xfrm>
          <ns1:prstGeom prst="rect">
            <ns1:avLst/>
          </ns1:prstGeom>
          <ns1:solidFill>
            <ns1:srgbClr val="00558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914400" y="1371600"/>
            <ns1:ext cx="7315200" cy="2286000"/>
          </ns1:xfrm>
          <ns1:prstGeom prst="rect">
            <ns1:avLst/>
          </ns1:prstGeom>
          <ns1:noFill/>
        </ns0:spPr>
        <ns0:txBody>
          <ns1:bodyPr wrap="square" lIns="0" tIns="0" rIns="0" bIns="0" anchor="ctr">
            <ns1:spAutoFit/>
          </ns1:bodyPr>
          <ns1:lstStyle/>
          <ns1:p>
            <ns1:pPr algn="ctr"/>
            <ns1:r>
              <ns1:rPr sz="3600" b="1" i="0">
                <ns1:solidFill>
                  <ns1:srgbClr val="FFFFFF"/>
                </ns1:solidFill>
                <ns1:latin typeface="Whitney Bold"/>
              </ns1:rPr>
              <ns1:t>Approach 2: RAG</ns1:t>
            </ns1:r>
          </ns1:p>
        </ns0:txBody>
      </ns0:sp>
    </ns0:spTree>
  </ns0:cSld>
  <ns0:clrMapOvr>
    <ns1:masterClrMapping/>
  </ns0:clrMapOvr>
</ns0:sld>
</file>

<file path=ppt/slides/slide11.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RAG Architecture</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TextBox 4"/>
          <ns0:cNvSpPr txBox="1"/>
          <ns0:nvPr/>
        </ns0:nvSpPr>
        <ns0:spPr>
          <ns1:xfrm>
            <ns1:off x="457200" y="960120"/>
            <ns1:ext cx="8321040" cy="310896"/>
          </ns1:xfrm>
          <ns1:prstGeom prst="rect">
            <ns1:avLst/>
          </ns1:prstGeom>
          <ns1:noFill/>
        </ns0:spPr>
        <ns0:txBody>
          <ns1:bodyPr wrap="square" anchor="t">
            <ns1:spAutoFit/>
          </ns1:bodyPr>
          <ns1:lstStyle/>
          <ns1:p>
            <ns1:pPr algn="l"/>
            <ns1:r>
              <ns1:rPr sz="1200" b="1">
                <ns1:solidFill>
                  <ns1:srgbClr val="1F1F1F"/>
                </ns1:solidFill>
                <ns1:latin typeface="Arial"/>
              </ns1:rPr>
              <ns1:t>Two pipelines: indexing (offline, runs once on your corpus) and retrieval (live, runs per query).</ns1:t>
            </ns1:r>
          </ns1:p>
        </ns0:txBody>
      </ns0:sp>
      <ns0:sp>
        <ns0:nvSpPr>
          <ns0:cNvPr id="6" name="Rounded Rectangle 5"/>
          <ns0:cNvSpPr/>
          <ns0:nvPr/>
        </ns0:nvSpPr>
        <ns0:spPr>
          <ns1:xfrm>
            <ns1:off x="365760" y="1344168"/>
            <ns1:ext cx="8412480" cy="1508760"/>
          </ns1:xfrm>
          <ns1:prstGeom prst="rect">
            <ns1:avLst/>
          </ns1:prstGeom>
          <ns1:noFill/>
          <ns1:ln w="635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7" name="TextBox 6"/>
          <ns0:cNvSpPr txBox="1"/>
          <ns0:nvPr/>
        </ns0:nvSpPr>
        <ns0:spPr>
          <ns1:xfrm>
            <ns1:off x="502920" y="1371600"/>
            <ns1:ext cx="2743200" cy="256032"/>
          </ns1:xfrm>
          <ns1:prstGeom prst="rect">
            <ns1:avLst/>
          </ns1:prstGeom>
          <ns1:noFill/>
        </ns0:spPr>
        <ns0:txBody>
          <ns1:bodyPr wrap="square" anchor="t">
            <ns1:spAutoFit/>
          </ns1:bodyPr>
          <ns1:lstStyle/>
          <ns1:p>
            <ns1:pPr algn="l"/>
            <ns1:r>
              <ns1:rPr sz="900" b="1">
                <ns1:solidFill>
                  <ns1:srgbClr val="222222"/>
                </ns1:solidFill>
                <ns1:latin typeface="Arial"/>
              </ns1:rPr>
              <ns1:t>Offline: indexing</ns1:t>
            </ns1:r>
          </ns1:p>
        </ns0:txBody>
      </ns0:sp>
      <ns0:sp>
        <ns0:nvSpPr>
          <ns0:cNvPr id="8" name="Rounded Rectangle 7"/>
          <ns0:cNvSpPr/>
          <ns0:nvPr/>
        </ns0:nvSpPr>
        <ns0:spPr>
          <ns1:xfrm>
            <ns1:off x="886967" y="1691640"/>
            <ns1:ext cx="1691640" cy="105156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9" name="TextBox 8"/>
          <ns0:cNvSpPr txBox="1"/>
          <ns0:nvPr/>
        </ns0:nvSpPr>
        <ns0:spPr>
          <ns1:xfrm>
            <ns1:off x="886967" y="1783080"/>
            <ns1:ext cx="1691640" cy="365760"/>
          </ns1:xfrm>
          <ns1:prstGeom prst="rect">
            <ns1:avLst/>
          </ns1:prstGeom>
          <ns1:noFill/>
        </ns0:spPr>
        <ns0:txBody>
          <ns1:bodyPr wrap="square" anchor="ctr">
            <ns1:spAutoFit/>
          </ns1:bodyPr>
          <ns1:lstStyle/>
          <ns1:p>
            <ns1:pPr algn="ctr"/>
            <ns1:r>
              <ns1:rPr sz="1100" b="1">
                <ns1:solidFill>
                  <ns1:srgbClr val="005587"/>
                </ns1:solidFill>
                <ns1:latin typeface="Whitney Bold"/>
              </ns1:rPr>
              <ns1:t>Documents</ns1:t>
            </ns1:r>
          </ns1:p>
        </ns0:txBody>
      </ns0:sp>
      <ns0:sp>
        <ns0:nvSpPr>
          <ns0:cNvPr id="10" name="TextBox 9"/>
          <ns0:cNvSpPr txBox="1"/>
          <ns0:nvPr/>
        </ns0:nvSpPr>
        <ns0:spPr>
          <ns1:xfrm>
            <ns1:off x="941831" y="2194560"/>
            <ns1:ext cx="1581912" cy="502920"/>
          </ns1:xfrm>
          <ns1:prstGeom prst="rect">
            <ns1:avLst/>
          </ns1:prstGeom>
          <ns1:noFill/>
        </ns0:spPr>
        <ns0:txBody>
          <ns1:bodyPr wrap="square" anchor="t">
            <ns1:spAutoFit/>
          </ns1:bodyPr>
          <ns1:lstStyle/>
          <ns1:p>
            <ns1:pPr algn="ctr"/>
            <ns1:r>
              <ns1:rPr sz="900" b="0">
                <ns1:solidFill>
                  <ns1:srgbClr val="1F1F1F"/>
                </ns1:solidFill>
                <ns1:latin typeface="Arial"/>
              </ns1:rPr>
              <ns1:t>PDFs, policies,
web pages, DB</ns1:t>
            </ns1:r>
          </ns1:p>
        </ns0:txBody>
      </ns0:sp>
      <ns0:sp>
        <ns0:nvSpPr>
          <ns0:cNvPr id="11" name="Rounded Rectangle 10"/>
          <ns0:cNvSpPr/>
          <ns0:nvPr/>
        </ns0:nvSpPr>
        <ns0:spPr>
          <ns1:xfrm>
            <ns1:off x="2779775" y="1691640"/>
            <ns1:ext cx="1691640" cy="1051560"/>
          </ns1:xfrm>
          <ns1:prstGeom prst="rect">
            <ns1:avLst/>
          </ns1:prstGeom>
          <ns1:solidFill>
            <ns1:srgbClr val="FFFFFF"/>
          </ns1:solidFill>
          <ns1:ln w="1016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2" name="TextBox 11"/>
          <ns0:cNvSpPr txBox="1"/>
          <ns0:nvPr/>
        </ns0:nvSpPr>
        <ns0:spPr>
          <ns1:xfrm>
            <ns1:off x="2779775" y="1783080"/>
            <ns1:ext cx="1691640" cy="365760"/>
          </ns1:xfrm>
          <ns1:prstGeom prst="rect">
            <ns1:avLst/>
          </ns1:prstGeom>
          <ns1:noFill/>
        </ns0:spPr>
        <ns0:txBody>
          <ns1:bodyPr wrap="square" anchor="ctr">
            <ns1:spAutoFit/>
          </ns1:bodyPr>
          <ns1:lstStyle/>
          <ns1:p>
            <ns1:pPr algn="ctr"/>
            <ns1:r>
              <ns1:rPr sz="1100" b="1">
                <ns1:solidFill>
                  <ns1:srgbClr val="005587"/>
                </ns1:solidFill>
                <ns1:latin typeface="Whitney Bold"/>
              </ns1:rPr>
              <ns1:t>Chunking</ns1:t>
            </ns1:r>
          </ns1:p>
        </ns0:txBody>
      </ns0:sp>
      <ns0:sp>
        <ns0:nvSpPr>
          <ns0:cNvPr id="13" name="TextBox 12"/>
          <ns0:cNvSpPr txBox="1"/>
          <ns0:nvPr/>
        </ns0:nvSpPr>
        <ns0:spPr>
          <ns1:xfrm>
            <ns1:off x="2834639" y="2194560"/>
            <ns1:ext cx="1581912" cy="502920"/>
          </ns1:xfrm>
          <ns1:prstGeom prst="rect">
            <ns1:avLst/>
          </ns1:prstGeom>
          <ns1:noFill/>
        </ns0:spPr>
        <ns0:txBody>
          <ns1:bodyPr wrap="square" anchor="t">
            <ns1:spAutoFit/>
          </ns1:bodyPr>
          <ns1:lstStyle/>
          <ns1:p>
            <ns1:pPr algn="ctr"/>
            <ns1:r>
              <ns1:rPr sz="900" b="0">
                <ns1:solidFill>
                  <ns1:srgbClr val="1F1F1F"/>
                </ns1:solidFill>
                <ns1:latin typeface="Arial"/>
              </ns1:rPr>
              <ns1:t>Split into
overlapping chunks</ns1:t>
            </ns1:r>
          </ns1:p>
        </ns0:txBody>
      </ns0:sp>
      <ns0:sp>
        <ns0:nvSpPr>
          <ns0:cNvPr id="14" name="Rounded Rectangle 13"/>
          <ns0:cNvSpPr/>
          <ns0:nvPr/>
        </ns0:nvSpPr>
        <ns0:spPr>
          <ns1:xfrm>
            <ns1:off x="4672584" y="1691640"/>
            <ns1:ext cx="1691640" cy="105156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5" name="TextBox 14"/>
          <ns0:cNvSpPr txBox="1"/>
          <ns0:nvPr/>
        </ns0:nvSpPr>
        <ns0:spPr>
          <ns1:xfrm>
            <ns1:off x="4672584" y="1783080"/>
            <ns1:ext cx="1691640" cy="365760"/>
          </ns1:xfrm>
          <ns1:prstGeom prst="rect">
            <ns1:avLst/>
          </ns1:prstGeom>
          <ns1:noFill/>
        </ns0:spPr>
        <ns0:txBody>
          <ns1:bodyPr wrap="square" anchor="ctr">
            <ns1:spAutoFit/>
          </ns1:bodyPr>
          <ns1:lstStyle/>
          <ns1:p>
            <ns1:pPr algn="ctr"/>
            <ns1:r>
              <ns1:rPr sz="1100" b="1">
                <ns1:solidFill>
                  <ns1:srgbClr val="005587"/>
                </ns1:solidFill>
                <ns1:latin typeface="Whitney Bold"/>
              </ns1:rPr>
              <ns1:t>Embedding
model</ns1:t>
            </ns1:r>
          </ns1:p>
        </ns0:txBody>
      </ns0:sp>
      <ns0:sp>
        <ns0:nvSpPr>
          <ns0:cNvPr id="16" name="TextBox 15"/>
          <ns0:cNvSpPr txBox="1"/>
          <ns0:nvPr/>
        </ns0:nvSpPr>
        <ns0:spPr>
          <ns1:xfrm>
            <ns1:off x="4727448" y="2194560"/>
            <ns1:ext cx="1581912" cy="502920"/>
          </ns1:xfrm>
          <ns1:prstGeom prst="rect">
            <ns1:avLst/>
          </ns1:prstGeom>
          <ns1:noFill/>
        </ns0:spPr>
        <ns0:txBody>
          <ns1:bodyPr wrap="square" anchor="t">
            <ns1:spAutoFit/>
          </ns1:bodyPr>
          <ns1:lstStyle/>
          <ns1:p>
            <ns1:pPr algn="ctr"/>
            <ns1:r>
              <ns1:rPr sz="900" b="0">
                <ns1:solidFill>
                  <ns1:srgbClr val="1F1F1F"/>
                </ns1:solidFill>
                <ns1:latin typeface="Arial"/>
              </ns1:rPr>
              <ns1:t>Map each chunk
to a vector</ns1:t>
            </ns1:r>
          </ns1:p>
        </ns0:txBody>
      </ns0:sp>
      <ns0:sp>
        <ns0:nvSpPr>
          <ns0:cNvPr id="17" name="Rounded Rectangle 16"/>
          <ns0:cNvSpPr/>
          <ns0:nvPr/>
        </ns0:nvSpPr>
        <ns0:spPr>
          <ns1:xfrm>
            <ns1:off x="6565392" y="1691640"/>
            <ns1:ext cx="1691640" cy="105156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8" name="TextBox 17"/>
          <ns0:cNvSpPr txBox="1"/>
          <ns0:nvPr/>
        </ns0:nvSpPr>
        <ns0:spPr>
          <ns1:xfrm>
            <ns1:off x="6565392" y="1783080"/>
            <ns1:ext cx="1691640" cy="365760"/>
          </ns1:xfrm>
          <ns1:prstGeom prst="rect">
            <ns1:avLst/>
          </ns1:prstGeom>
          <ns1:noFill/>
        </ns0:spPr>
        <ns0:txBody>
          <ns1:bodyPr wrap="square" anchor="ctr">
            <ns1:spAutoFit/>
          </ns1:bodyPr>
          <ns1:lstStyle/>
          <ns1:p>
            <ns1:pPr algn="ctr"/>
            <ns1:r>
              <ns1:rPr sz="1100" b="1">
                <ns1:solidFill>
                  <ns1:srgbClr val="005587"/>
                </ns1:solidFill>
                <ns1:latin typeface="Whitney Bold"/>
              </ns1:rPr>
              <ns1:t>Vector DB</ns1:t>
            </ns1:r>
          </ns1:p>
        </ns0:txBody>
      </ns0:sp>
      <ns0:sp>
        <ns0:nvSpPr>
          <ns0:cNvPr id="19" name="TextBox 18"/>
          <ns0:cNvSpPr txBox="1"/>
          <ns0:nvPr/>
        </ns0:nvSpPr>
        <ns0:spPr>
          <ns1:xfrm>
            <ns1:off x="6620256" y="2194560"/>
            <ns1:ext cx="1581912" cy="502920"/>
          </ns1:xfrm>
          <ns1:prstGeom prst="rect">
            <ns1:avLst/>
          </ns1:prstGeom>
          <ns1:noFill/>
        </ns0:spPr>
        <ns0:txBody>
          <ns1:bodyPr wrap="square" anchor="t">
            <ns1:spAutoFit/>
          </ns1:bodyPr>
          <ns1:lstStyle/>
          <ns1:p>
            <ns1:pPr algn="ctr"/>
            <ns1:r>
              <ns1:rPr sz="900" b="0">
                <ns1:solidFill>
                  <ns1:srgbClr val="1F1F1F"/>
                </ns1:solidFill>
                <ns1:latin typeface="Arial"/>
              </ns1:rPr>
              <ns1:t>Store vectors +
metadata + IDs</ns1:t>
            </ns1:r>
          </ns1:p>
        </ns0:txBody>
      </ns0:sp>
      <ns0:cxnSp>
        <ns0:nvCxnSpPr>
          <ns0:cNvPr id="20" name="Connector 19"/>
          <ns0:cNvCxnSpPr/>
          <ns0:nvPr/>
        </ns0:nvCxnSpPr>
        <ns0:spPr>
          <ns1:xfrm>
            <ns1:off x="2578607" y="2217420"/>
            <ns1:ext cx="201168" cy="0"/>
          </ns1:xfrm>
          <ns1:prstGeom prst="line">
            <ns1:avLst/>
          </ns1:prstGeom>
          <ns1:ln w="1524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21" name="Connector 20"/>
          <ns0:cNvCxnSpPr/>
          <ns0:nvPr/>
        </ns0:nvCxnSpPr>
        <ns0:spPr>
          <ns1:xfrm>
            <ns1:off x="4471416" y="2217420"/>
            <ns1:ext cx="201168" cy="0"/>
          </ns1:xfrm>
          <ns1:prstGeom prst="line">
            <ns1:avLst/>
          </ns1:prstGeom>
          <ns1:ln w="1524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22" name="Connector 21"/>
          <ns0:cNvCxnSpPr/>
          <ns0:nvPr/>
        </ns0:nvCxnSpPr>
        <ns0:spPr>
          <ns1:xfrm>
            <ns1:off x="6364224" y="2217420"/>
            <ns1:ext cx="201168" cy="0"/>
          </ns1:xfrm>
          <ns1:prstGeom prst="line">
            <ns1:avLst/>
          </ns1:prstGeom>
          <ns1:ln w="1524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sp>
        <ns0:nvSpPr>
          <ns0:cNvPr id="23" name="Rounded Rectangle 22"/>
          <ns0:cNvSpPr/>
          <ns0:nvPr/>
        </ns0:nvSpPr>
        <ns0:spPr>
          <ns1:xfrm>
            <ns1:off x="365760" y="3035808"/>
            <ns1:ext cx="8412480" cy="178308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4" name="TextBox 23"/>
          <ns0:cNvSpPr txBox="1"/>
          <ns0:nvPr/>
        </ns0:nvSpPr>
        <ns0:spPr>
          <ns1:xfrm>
            <ns1:off x="502920" y="3063240"/>
            <ns1:ext cx="2743200" cy="256032"/>
          </ns1:xfrm>
          <ns1:prstGeom prst="rect">
            <ns1:avLst/>
          </ns1:prstGeom>
          <ns1:noFill/>
        </ns0:spPr>
        <ns0:txBody>
          <ns1:bodyPr wrap="square" anchor="t">
            <ns1:spAutoFit/>
          </ns1:bodyPr>
          <ns1:lstStyle/>
          <ns1:p>
            <ns1:pPr algn="l"/>
            <ns1:r>
              <ns1:rPr sz="900" b="1">
                <ns1:solidFill>
                  <ns1:srgbClr val="222222"/>
                </ns1:solidFill>
                <ns1:latin typeface="Arial"/>
              </ns1:rPr>
              <ns1:t>Online: per query</ns1:t>
            </ns1:r>
          </ns1:p>
        </ns0:txBody>
      </ns0:sp>
      <ns0:sp>
        <ns0:nvSpPr>
          <ns0:cNvPr id="25" name="Rounded Rectangle 24"/>
          <ns0:cNvSpPr/>
          <ns0:nvPr/>
        </ns0:nvSpPr>
        <ns0:spPr>
          <ns1:xfrm>
            <ns1:off x="699515" y="3383279"/>
            <ns1:ext cx="1417320" cy="1280160"/>
          </ns1:xfrm>
          <ns1:prstGeom prst="rect">
            <ns1:avLst/>
          </ns1:prstGeom>
          <ns1:solidFill>
            <ns1:srgbClr val="FFFFFF"/>
          </ns1:solidFill>
          <ns1:ln w="1016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6" name="TextBox 25"/>
          <ns0:cNvSpPr txBox="1"/>
          <ns0:nvPr/>
        </ns0:nvSpPr>
        <ns0:spPr>
          <ns1:xfrm>
            <ns1:off x="699515" y="3474720"/>
            <ns1:ext cx="1417320" cy="411480"/>
          </ns1:xfrm>
          <ns1:prstGeom prst="rect">
            <ns1:avLst/>
          </ns1:prstGeom>
          <ns1:noFill/>
        </ns0:spPr>
        <ns0:txBody>
          <ns1:bodyPr wrap="square" anchor="ctr">
            <ns1:spAutoFit/>
          </ns1:bodyPr>
          <ns1:lstStyle/>
          <ns1:p>
            <ns1:pPr algn="ctr"/>
            <ns1:r>
              <ns1:rPr sz="1050" b="1">
                <ns1:solidFill>
                  <ns1:srgbClr val="005587"/>
                </ns1:solidFill>
                <ns1:latin typeface="Whitney Bold"/>
              </ns1:rPr>
              <ns1:t>User query</ns1:t>
            </ns1:r>
          </ns1:p>
        </ns0:txBody>
      </ns0:sp>
      <ns0:sp>
        <ns0:nvSpPr>
          <ns0:cNvPr id="27" name="TextBox 26"/>
          <ns0:cNvSpPr txBox="1"/>
          <ns0:nvPr/>
        </ns0:nvSpPr>
        <ns0:spPr>
          <ns1:xfrm>
            <ns1:off x="754379" y="3977639"/>
            <ns1:ext cx="1307592" cy="640080"/>
          </ns1:xfrm>
          <ns1:prstGeom prst="rect">
            <ns1:avLst/>
          </ns1:prstGeom>
          <ns1:noFill/>
        </ns0:spPr>
        <ns0:txBody>
          <ns1:bodyPr wrap="square" anchor="t">
            <ns1:spAutoFit/>
          </ns1:bodyPr>
          <ns1:lstStyle/>
          <ns1:p>
            <ns1:pPr algn="ctr"/>
            <ns1:r>
              <ns1:rPr sz="900" b="0">
                <ns1:solidFill>
                  <ns1:srgbClr val="1F1F1F"/>
                </ns1:solidFill>
                <ns1:latin typeface="Arial"/>
              </ns1:rPr>
              <ns1:t>what the user
asked</ns1:t>
            </ns1:r>
          </ns1:p>
        </ns0:txBody>
      </ns0:sp>
      <ns0:sp>
        <ns0:nvSpPr>
          <ns0:cNvPr id="28" name="Rounded Rectangle 27"/>
          <ns0:cNvSpPr/>
          <ns0:nvPr/>
        </ns0:nvSpPr>
        <ns0:spPr>
          <ns1:xfrm>
            <ns1:off x="2281427" y="3383279"/>
            <ns1:ext cx="1417320" cy="128016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9" name="TextBox 28"/>
          <ns0:cNvSpPr txBox="1"/>
          <ns0:nvPr/>
        </ns0:nvSpPr>
        <ns0:spPr>
          <ns1:xfrm>
            <ns1:off x="2281427" y="3474720"/>
            <ns1:ext cx="1417320" cy="411480"/>
          </ns1:xfrm>
          <ns1:prstGeom prst="rect">
            <ns1:avLst/>
          </ns1:prstGeom>
          <ns1:noFill/>
        </ns0:spPr>
        <ns0:txBody>
          <ns1:bodyPr wrap="square" anchor="ctr">
            <ns1:spAutoFit/>
          </ns1:bodyPr>
          <ns1:lstStyle/>
          <ns1:p>
            <ns1:pPr algn="ctr"/>
            <ns1:r>
              <ns1:rPr sz="1050" b="1">
                <ns1:solidFill>
                  <ns1:srgbClr val="005587"/>
                </ns1:solidFill>
                <ns1:latin typeface="Whitney Bold"/>
              </ns1:rPr>
              <ns1:t>Embed query</ns1:t>
            </ns1:r>
          </ns1:p>
        </ns0:txBody>
      </ns0:sp>
      <ns0:sp>
        <ns0:nvSpPr>
          <ns0:cNvPr id="30" name="TextBox 29"/>
          <ns0:cNvSpPr txBox="1"/>
          <ns0:nvPr/>
        </ns0:nvSpPr>
        <ns0:spPr>
          <ns1:xfrm>
            <ns1:off x="2336291" y="3977639"/>
            <ns1:ext cx="1307592" cy="640080"/>
          </ns1:xfrm>
          <ns1:prstGeom prst="rect">
            <ns1:avLst/>
          </ns1:prstGeom>
          <ns1:noFill/>
        </ns0:spPr>
        <ns0:txBody>
          <ns1:bodyPr wrap="square" anchor="t">
            <ns1:spAutoFit/>
          </ns1:bodyPr>
          <ns1:lstStyle/>
          <ns1:p>
            <ns1:pPr algn="ctr"/>
            <ns1:r>
              <ns1:rPr sz="900" b="0">
                <ns1:solidFill>
                  <ns1:srgbClr val="1F1F1F"/>
                </ns1:solidFill>
                <ns1:latin typeface="Arial"/>
              </ns1:rPr>
              <ns1:t>same model as
indexing side</ns1:t>
            </ns1:r>
          </ns1:p>
        </ns0:txBody>
      </ns0:sp>
      <ns0:sp>
        <ns0:nvSpPr>
          <ns0:cNvPr id="31" name="Rounded Rectangle 30"/>
          <ns0:cNvSpPr/>
          <ns0:nvPr/>
        </ns0:nvSpPr>
        <ns0:spPr>
          <ns1:xfrm>
            <ns1:off x="3863339" y="3383279"/>
            <ns1:ext cx="1417320" cy="128016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2" name="TextBox 31"/>
          <ns0:cNvSpPr txBox="1"/>
          <ns0:nvPr/>
        </ns0:nvSpPr>
        <ns0:spPr>
          <ns1:xfrm>
            <ns1:off x="3863339" y="3474720"/>
            <ns1:ext cx="1417320" cy="411480"/>
          </ns1:xfrm>
          <ns1:prstGeom prst="rect">
            <ns1:avLst/>
          </ns1:prstGeom>
          <ns1:noFill/>
        </ns0:spPr>
        <ns0:txBody>
          <ns1:bodyPr wrap="square" anchor="ctr">
            <ns1:spAutoFit/>
          </ns1:bodyPr>
          <ns1:lstStyle/>
          <ns1:p>
            <ns1:pPr algn="ctr"/>
            <ns1:r>
              <ns1:rPr sz="1050" b="1">
                <ns1:solidFill>
                  <ns1:srgbClr val="005587"/>
                </ns1:solidFill>
                <ns1:latin typeface="Whitney Bold"/>
              </ns1:rPr>
              <ns1:t>Similarity
search</ns1:t>
            </ns1:r>
          </ns1:p>
        </ns0:txBody>
      </ns0:sp>
      <ns0:sp>
        <ns0:nvSpPr>
          <ns0:cNvPr id="33" name="TextBox 32"/>
          <ns0:cNvSpPr txBox="1"/>
          <ns0:nvPr/>
        </ns0:nvSpPr>
        <ns0:spPr>
          <ns1:xfrm>
            <ns1:off x="3918203" y="3977639"/>
            <ns1:ext cx="1307592" cy="640080"/>
          </ns1:xfrm>
          <ns1:prstGeom prst="rect">
            <ns1:avLst/>
          </ns1:prstGeom>
          <ns1:noFill/>
        </ns0:spPr>
        <ns0:txBody>
          <ns1:bodyPr wrap="square" anchor="t">
            <ns1:spAutoFit/>
          </ns1:bodyPr>
          <ns1:lstStyle/>
          <ns1:p>
            <ns1:pPr algn="ctr"/>
            <ns1:r>
              <ns1:rPr sz="900" b="0">
                <ns1:solidFill>
                  <ns1:srgbClr val="1F1F1F"/>
                </ns1:solidFill>
                <ns1:latin typeface="Arial"/>
              </ns1:rPr>
              <ns1:t>k nearest chunks
in vector DB</ns1:t>
            </ns1:r>
          </ns1:p>
        </ns0:txBody>
      </ns0:sp>
      <ns0:sp>
        <ns0:nvSpPr>
          <ns0:cNvPr id="34" name="Rounded Rectangle 33"/>
          <ns0:cNvSpPr/>
          <ns0:nvPr/>
        </ns0:nvSpPr>
        <ns0:spPr>
          <ns1:xfrm>
            <ns1:off x="5445251" y="3383279"/>
            <ns1:ext cx="1417320" cy="128016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5" name="TextBox 34"/>
          <ns0:cNvSpPr txBox="1"/>
          <ns0:nvPr/>
        </ns0:nvSpPr>
        <ns0:spPr>
          <ns1:xfrm>
            <ns1:off x="5445251" y="3474720"/>
            <ns1:ext cx="1417320" cy="411480"/>
          </ns1:xfrm>
          <ns1:prstGeom prst="rect">
            <ns1:avLst/>
          </ns1:prstGeom>
          <ns1:noFill/>
        </ns0:spPr>
        <ns0:txBody>
          <ns1:bodyPr wrap="square" anchor="ctr">
            <ns1:spAutoFit/>
          </ns1:bodyPr>
          <ns1:lstStyle/>
          <ns1:p>
            <ns1:pPr algn="ctr"/>
            <ns1:r>
              <ns1:rPr sz="1050" b="1">
                <ns1:solidFill>
                  <ns1:srgbClr val="005587"/>
                </ns1:solidFill>
                <ns1:latin typeface="Whitney Bold"/>
              </ns1:rPr>
              <ns1:t>Build prompt</ns1:t>
            </ns1:r>
          </ns1:p>
        </ns0:txBody>
      </ns0:sp>
      <ns0:sp>
        <ns0:nvSpPr>
          <ns0:cNvPr id="36" name="TextBox 35"/>
          <ns0:cNvSpPr txBox="1"/>
          <ns0:nvPr/>
        </ns0:nvSpPr>
        <ns0:spPr>
          <ns1:xfrm>
            <ns1:off x="5500115" y="3977639"/>
            <ns1:ext cx="1307592" cy="640080"/>
          </ns1:xfrm>
          <ns1:prstGeom prst="rect">
            <ns1:avLst/>
          </ns1:prstGeom>
          <ns1:noFill/>
        </ns0:spPr>
        <ns0:txBody>
          <ns1:bodyPr wrap="square" anchor="t">
            <ns1:spAutoFit/>
          </ns1:bodyPr>
          <ns1:lstStyle/>
          <ns1:p>
            <ns1:pPr algn="ctr"/>
            <ns1:r>
              <ns1:rPr sz="900" b="0">
                <ns1:solidFill>
                  <ns1:srgbClr val="1F1F1F"/>
                </ns1:solidFill>
                <ns1:latin typeface="Arial"/>
              </ns1:rPr>
              <ns1:t>system + chunks
+ user query</ns1:t>
            </ns1:r>
          </ns1:p>
        </ns0:txBody>
      </ns0:sp>
      <ns0:sp>
        <ns0:nvSpPr>
          <ns0:cNvPr id="37" name="Rounded Rectangle 36"/>
          <ns0:cNvSpPr/>
          <ns0:nvPr/>
        </ns0:nvSpPr>
        <ns0:spPr>
          <ns1:xfrm>
            <ns1:off x="7027164" y="3383279"/>
            <ns1:ext cx="1417320" cy="1280160"/>
          </ns1:xfrm>
          <ns1:prstGeom prst="rect">
            <ns1:avLst/>
          </ns1:prstGeom>
          <ns1:solidFill>
            <ns1:srgbClr val="ECF4FB"/>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8" name="TextBox 37"/>
          <ns0:cNvSpPr txBox="1"/>
          <ns0:nvPr/>
        </ns0:nvSpPr>
        <ns0:spPr>
          <ns1:xfrm>
            <ns1:off x="7027164" y="3474720"/>
            <ns1:ext cx="1417320" cy="411480"/>
          </ns1:xfrm>
          <ns1:prstGeom prst="rect">
            <ns1:avLst/>
          </ns1:prstGeom>
          <ns1:noFill/>
        </ns0:spPr>
        <ns0:txBody>
          <ns1:bodyPr wrap="square" anchor="ctr">
            <ns1:spAutoFit/>
          </ns1:bodyPr>
          <ns1:lstStyle/>
          <ns1:p>
            <ns1:pPr algn="ctr"/>
            <ns1:r>
              <ns1:rPr sz="1050" b="1">
                <ns1:solidFill>
                  <ns1:srgbClr val="005587"/>
                </ns1:solidFill>
                <ns1:latin typeface="Whitney Bold"/>
              </ns1:rPr>
              <ns1:t>LLM answer</ns1:t>
            </ns1:r>
          </ns1:p>
        </ns0:txBody>
      </ns0:sp>
      <ns0:sp>
        <ns0:nvSpPr>
          <ns0:cNvPr id="39" name="TextBox 38"/>
          <ns0:cNvSpPr txBox="1"/>
          <ns0:nvPr/>
        </ns0:nvSpPr>
        <ns0:spPr>
          <ns1:xfrm>
            <ns1:off x="7082027" y="3977639"/>
            <ns1:ext cx="1307592" cy="640080"/>
          </ns1:xfrm>
          <ns1:prstGeom prst="rect">
            <ns1:avLst/>
          </ns1:prstGeom>
          <ns1:noFill/>
        </ns0:spPr>
        <ns0:txBody>
          <ns1:bodyPr wrap="square" anchor="t">
            <ns1:spAutoFit/>
          </ns1:bodyPr>
          <ns1:lstStyle/>
          <ns1:p>
            <ns1:pPr algn="ctr"/>
            <ns1:r>
              <ns1:rPr sz="900" b="0">
                <ns1:solidFill>
                  <ns1:srgbClr val="1F1F1F"/>
                </ns1:solidFill>
                <ns1:latin typeface="Arial"/>
              </ns1:rPr>
              <ns1:t>grounded on
retrieved text</ns1:t>
            </ns1:r>
          </ns1:p>
        </ns0:txBody>
      </ns0:sp>
      <ns0:cxnSp>
        <ns0:nvCxnSpPr>
          <ns0:cNvPr id="40" name="Connector 39"/>
          <ns0:cNvCxnSpPr/>
          <ns0:nvPr/>
        </ns0:nvCxnSpPr>
        <ns0:spPr>
          <ns1:xfrm>
            <ns1:off x="2116835" y="4023359"/>
            <ns1:ext cx="164592" cy="0"/>
          </ns1:xfrm>
          <ns1:prstGeom prst="line">
            <ns1:avLst/>
          </ns1:prstGeom>
          <ns1:ln w="1524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41" name="Connector 40"/>
          <ns0:cNvCxnSpPr/>
          <ns0:nvPr/>
        </ns0:nvCxnSpPr>
        <ns0:spPr>
          <ns1:xfrm>
            <ns1:off x="3698747" y="4023359"/>
            <ns1:ext cx="164592" cy="0"/>
          </ns1:xfrm>
          <ns1:prstGeom prst="line">
            <ns1:avLst/>
          </ns1:prstGeom>
          <ns1:ln w="1524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42" name="Connector 41"/>
          <ns0:cNvCxnSpPr/>
          <ns0:nvPr/>
        </ns0:nvCxnSpPr>
        <ns0:spPr>
          <ns1:xfrm>
            <ns1:off x="5280659" y="4023359"/>
            <ns1:ext cx="164592" cy="0"/>
          </ns1:xfrm>
          <ns1:prstGeom prst="line">
            <ns1:avLst/>
          </ns1:prstGeom>
          <ns1:ln w="1524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43" name="Connector 42"/>
          <ns0:cNvCxnSpPr/>
          <ns0:nvPr/>
        </ns0:nvCxnSpPr>
        <ns0:spPr>
          <ns1:xfrm>
            <ns1:off x="6862571" y="4023359"/>
            <ns1:ext cx="164593" cy="0"/>
          </ns1:xfrm>
          <ns1:prstGeom prst="line">
            <ns1:avLst/>
          </ns1:prstGeom>
          <ns1:ln w="1524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cxnSp>
        <ns0:nvCxnSpPr>
          <ns0:cNvPr id="44" name="Connector 43"/>
          <ns0:cNvCxnSpPr/>
          <ns0:nvPr/>
        </ns0:nvCxnSpPr>
        <ns0:spPr>
          <ns1:xfrm>
            <ns1:off x="7411212" y="2743200"/>
            <ns1:ext cx="0" cy="594360"/>
          </ns1:xfrm>
          <ns1:prstGeom prst="line">
            <ns1:avLst/>
          </ns1:prstGeom>
          <ns1:ln w="12700">
            <ns1:solidFill>
              <ns1:srgbClr val="005587"/>
            </ns1:solidFill>
          </ns1:ln>
        </ns0:spPr>
        <ns0:style>
          <ns1:lnRef idx="2">
            <ns1:schemeClr val="accent1"/>
          </ns1:lnRef>
          <ns1:fillRef idx="0">
            <ns1:schemeClr val="accent1"/>
          </ns1:fillRef>
          <ns1:effectRef idx="1">
            <ns1:schemeClr val="accent1"/>
          </ns1:effectRef>
          <ns1:fontRef idx="minor">
            <ns1:schemeClr val="tx1"/>
          </ns1:fontRef>
        </ns0:style>
      </ns0:cxnSp>
      <ns0:cxnSp>
        <ns0:nvCxnSpPr>
          <ns0:cNvPr id="45" name="Connector 44"/>
          <ns0:cNvCxnSpPr/>
          <ns0:nvPr/>
        </ns0:nvCxnSpPr>
        <ns0:spPr>
          <ns1:xfrm flipH="1">
            <ns1:off x="4572000" y="3337560"/>
            <ns1:ext cx="2839212" cy="0"/>
          </ns1:xfrm>
          <ns1:prstGeom prst="line">
            <ns1:avLst/>
          </ns1:prstGeom>
          <ns1:ln w="12700">
            <ns1:solidFill>
              <ns1:srgbClr val="005587"/>
            </ns1:solidFill>
          </ns1:ln>
        </ns0:spPr>
        <ns0:style>
          <ns1:lnRef idx="2">
            <ns1:schemeClr val="accent1"/>
          </ns1:lnRef>
          <ns1:fillRef idx="0">
            <ns1:schemeClr val="accent1"/>
          </ns1:fillRef>
          <ns1:effectRef idx="1">
            <ns1:schemeClr val="accent1"/>
          </ns1:effectRef>
          <ns1:fontRef idx="minor">
            <ns1:schemeClr val="tx1"/>
          </ns1:fontRef>
        </ns0:style>
      </ns0:cxnSp>
      <ns0:cxnSp>
        <ns0:nvCxnSpPr>
          <ns0:cNvPr id="46" name="Connector 45"/>
          <ns0:cNvCxnSpPr/>
          <ns0:nvPr/>
        </ns0:nvCxnSpPr>
        <ns0:spPr>
          <ns1:xfrm>
            <ns1:off x="4572000" y="3337560"/>
            <ns1:ext cx="0" cy="45719"/>
          </ns1:xfrm>
          <ns1:prstGeom prst="line">
            <ns1:avLst/>
          </ns1:prstGeom>
          <ns1:ln w="12700">
            <ns1:solidFill>
              <ns1:srgbClr val="005587"/>
            </ns1:solidFill>
            <ns1:tailEnd type="triangle" w="med"/>
          </ns1:ln>
        </ns0:spPr>
        <ns0:style>
          <ns1:lnRef idx="2">
            <ns1:schemeClr val="accent1"/>
          </ns1:lnRef>
          <ns1:fillRef idx="0">
            <ns1:schemeClr val="accent1"/>
          </ns1:fillRef>
          <ns1:effectRef idx="1">
            <ns1:schemeClr val="accent1"/>
          </ns1:effectRef>
          <ns1:fontRef idx="minor">
            <ns1:schemeClr val="tx1"/>
          </ns1:fontRef>
        </ns0:style>
      </ns0:cxnSp>
      <ns0:sp>
        <ns0:nvSpPr>
          <ns0:cNvPr id="47" name="TextBox 46"/>
          <ns0:cNvSpPr txBox="1"/>
          <ns0:nvPr/>
        </ns0:nvSpPr>
        <ns0:spPr>
          <ns1:xfrm>
            <ns1:off x="457200" y="4937760"/>
            <ns1:ext cx="8321040" cy="182880"/>
          </ns1:xfrm>
          <ns1:prstGeom prst="rect">
            <ns1:avLst/>
          </ns1:prstGeom>
          <ns1:noFill/>
        </ns0:spPr>
        <ns0:txBody>
          <ns1:bodyPr wrap="square" anchor="t">
            <ns1:spAutoFit/>
          </ns1:bodyPr>
          <ns1:lstStyle/>
          <ns1:p>
            <ns1:pPr algn="l"/>
            <ns1:r>
              <ns1:rPr sz="700" b="0">
                <ns1:solidFill>
                  <ns1:srgbClr val="000000"/>
                </ns1:solidFill>
                <ns1:latin typeface="Arial"/>
              </ns1:rPr>
              <ns1:t>Source: Lewis et al. (2020), Retrieval-Augmented Generation for Knowledge-Intensive NLP Tasks</ns1:t>
            </ns1:r>
          </ns1:p>
        </ns0:txBody>
      </ns0:sp>
    </ns0:spTree>
  </ns0:cSld>
  <ns0:clrMapOvr>
    <ns1:masterClrMapping/>
  </ns0:clrMapOvr>
</ns0:sld>
</file>

<file path=ppt/slides/slide12.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lIns="0" tIns="0" rIns="0" bIns="0">
            <ns1:spAutoFit/>
          </ns1:bodyPr>
          <ns1:lstStyle/>
          <ns1:p>
            <ns1:pPr algn="l"/>
            <ns1:r>
              <ns1:rPr sz="2800" b="1">
                <ns1:solidFill>
                  <ns1:srgbClr val="005587"/>
                </ns1:solidFill>
                <ns1:latin typeface="Whitney Bold"/>
              </ns1:rPr>
              <ns1:t>Chunking Is a Technical Design Choice</ns1:t>
            </ns1:r>
          </ns1:p>
        </ns0:txBody>
      </ns0:sp>
      <ns0:sp>
        <ns0:nvSpPr>
          <ns0:cNvPr id="4" name="Rectangle 3"/>
          <ns0:cNvSpPr/>
          <ns0:nvPr/>
        </ns0:nvSpPr>
        <ns0:spPr>
          <ns1:xfrm>
            <ns1:off x="457200" y="914400"/>
            <ns1:ext cx="8321040" cy="0"/>
          </ns1:xfrm>
          <ns1:prstGeom prst="rect">
            <ns1:avLst/>
          </ns1:prstGeom>
          <ns1:solidFill>
            <ns1:srgbClr val="C8C8C8"/>
          </ns1:solid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5" name="TextBox 4"/>
          <ns0:cNvSpPr txBox="1"/>
          <ns0:nvPr/>
        </ns0:nvSpPr>
        <ns0:spPr>
          <ns1:xfrm>
            <ns1:off x="457200" y="1046446"/>
            <ns1:ext cx="8321040" cy="3570000"/>
          </ns1:xfrm>
          <ns1:prstGeom prst="rect">
            <ns1:avLst/>
          </ns1:prstGeom>
          <ns1:noFill/>
        </ns0:spPr>
        <ns0:txBody>
          <ns1:bodyPr wrap="square" lIns="0" tIns="0" rIns="0" bIns="0">
            <ns1:noAutofit/>
          </ns1:bodyPr>
          <ns1:lstStyle/>
          <ns1:p>
            <ns1:pPr algn="l">
              <ns1:lnSpc>
                <ns1:spcPct val="112000"/>
              </ns1:lnSpc>
              <ns1:spcAft>
                <ns1:spcPts val="1400"/>
              </ns1:spcAft>
            </ns1:pPr>
            <ns1:r>
              <ns1:rPr sz="1650" b="1">
                <ns1:solidFill>
                  <ns1:srgbClr val="000000"/>
                </ns1:solidFill>
                <ns1:latin typeface="Arial"/>
              </ns1:rPr>
              <ns1:t>Chunking shapes what retrieval can find.</ns1:t>
            </ns1:r>
          </ns1:p>
          <ns1:p>
            <ns1:pPr algn="l">
              <ns1:lnSpc>
                <ns1:spcPct val="112000"/>
              </ns1:lnSpc>
              <ns1:spcAft>
                <ns1:spcPts val="1200"/>
              </ns1:spcAft>
            </ns1:pPr>
            <ns1:r>
              <ns1:rPr sz="1650" b="0">
                <ns1:solidFill>
                  <ns1:srgbClr val="000000"/>
                </ns1:solidFill>
                <ns1:latin typeface="Arial"/>
              </ns1:rPr>
              <ns1:t>Small chunks are precise; large chunks preserve context. Overlap helps avoid splitting an idea in half.</ns1:t>
            </ns1:r>
          </ns1:p>
          <ns1:p>
            <ns1:pPr algn="l">
              <ns1:lnSpc>
                <ns1:spcPct val="112000"/>
              </ns1:lnSpc>
              <ns1:spcAft>
                <ns1:spcPts val="1200"/>
              </ns1:spcAft>
            </ns1:pPr>
            <ns1:r>
              <ns1:rPr sz="1650" b="0">
                <ns1:solidFill>
                  <ns1:srgbClr val="000000"/>
                </ns1:solidFill>
                <ns1:latin typeface="Arial"/>
              </ns1:rPr>
              <ns1:t>Metadata and refresh rate matter because real document collections have dates, permissions, and source boundaries.</ns1:t>
            </ns1:r>
          </ns1:p>
        </ns0:txBody>
      </ns0:sp>
    </ns0:spTree>
  </ns0:cSld>
  <ns0:clrMapOvr>
    <ns1:masterClrMapping/>
  </ns0:clrMapOvr>
</ns0:sld>
</file>

<file path=ppt/slides/slide13.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RAG: Failure Modes and Evaluation</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TextBox 4"/>
          <ns0:cNvSpPr txBox="1"/>
          <ns0:nvPr/>
        </ns0:nvSpPr>
        <ns0:spPr>
          <ns1:xfrm>
            <ns1:off x="457200" y="1005840"/>
            <ns1:ext cx="8321040" cy="365760"/>
          </ns1:xfrm>
          <ns1:prstGeom prst="rect">
            <ns1:avLst/>
          </ns1:prstGeom>
          <ns1:noFill/>
        </ns0:spPr>
        <ns0:txBody>
          <ns1:bodyPr wrap="square" anchor="t">
            <ns1:spAutoFit/>
          </ns1:bodyPr>
          <ns1:lstStyle/>
          <ns1:p>
            <ns1:pPr algn="l"/>
            <ns1:r>
              <ns1:rPr sz="1200" b="1">
                <ns1:solidFill>
                  <ns1:srgbClr val="1F1F1F"/>
                </ns1:solidFill>
                <ns1:latin typeface="Arial"/>
              </ns1:rPr>
              <ns1:t>RAG reduces hallucination, but it does not eliminate it. Debug in two layers, then watch for known failure modes.</ns1:t>
            </ns1:r>
          </ns1:p>
        </ns0:txBody>
      </ns0:sp>
      <ns0:sp>
        <ns0:nvSpPr>
          <ns0:cNvPr id="6" name="Rounded Rectangle 5"/>
          <ns0:cNvSpPr/>
          <ns0:nvPr/>
        </ns0:nvSpPr>
        <ns0:spPr>
          <ns1:xfrm>
            <ns1:off x="457200" y="1508760"/>
            <ns1:ext cx="3931920" cy="3200400"/>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7" name="TextBox 6"/>
          <ns0:cNvSpPr txBox="1"/>
          <ns0:nvPr/>
        </ns0:nvSpPr>
        <ns0:spPr>
          <ns1:xfrm>
            <ns1:off x="457200" y="1600200"/>
            <ns1:ext cx="3931920" cy="292608"/>
          </ns1:xfrm>
          <ns1:prstGeom prst="rect">
            <ns1:avLst/>
          </ns1:prstGeom>
          <ns1:noFill/>
        </ns0:spPr>
        <ns0:txBody>
          <ns1:bodyPr wrap="square" anchor="t">
            <ns1:spAutoFit/>
          </ns1:bodyPr>
          <ns1:lstStyle/>
          <ns1:p>
            <ns1:pPr algn="ctr"/>
            <ns1:r>
              <ns1:rPr sz="1300" b="1">
                <ns1:solidFill>
                  <ns1:srgbClr val="005587"/>
                </ns1:solidFill>
                <ns1:latin typeface="Whitney Bold"/>
              </ns1:rPr>
              <ns1:t>Evaluate in two layers</ns1:t>
            </ns1:r>
          </ns1:p>
        </ns0:txBody>
      </ns0:sp>
      <ns0:sp>
        <ns0:nvSpPr>
          <ns0:cNvPr id="8" name="Rounded Rectangle 7"/>
          <ns0:cNvSpPr/>
          <ns0:nvPr/>
        </ns0:nvSpPr>
        <ns0:spPr>
          <ns1:xfrm>
            <ns1:off x="640080" y="2011680"/>
            <ns1:ext cx="3566160" cy="1005840"/>
          </ns1:xfrm>
          <ns1:prstGeom prst="rect">
            <ns1:avLst/>
          </ns1:prstGeom>
          <ns1:noFill/>
          <ns1:ln w="889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9" name="TextBox 8"/>
          <ns0:cNvSpPr txBox="1"/>
          <ns0:nvPr/>
        </ns0:nvSpPr>
        <ns0:spPr>
          <ns1:xfrm>
            <ns1:off x="731520" y="2084832"/>
            <ns1:ext cx="3383279" cy="274320"/>
          </ns1:xfrm>
          <ns1:prstGeom prst="rect">
            <ns1:avLst/>
          </ns1:prstGeom>
          <ns1:noFill/>
        </ns0:spPr>
        <ns0:txBody>
          <ns1:bodyPr wrap="square" anchor="t">
            <ns1:spAutoFit/>
          </ns1:bodyPr>
          <ns1:lstStyle/>
          <ns1:p>
            <ns1:pPr algn="l"/>
            <ns1:r>
              <ns1:rPr sz="1100" b="1">
                <ns1:solidFill>
                  <ns1:srgbClr val="005587"/>
                </ns1:solidFill>
                <ns1:latin typeface="Arial"/>
              </ns1:rPr>
              <ns1:t>1. Retrieval</ns1:t>
            </ns1:r>
          </ns1:p>
        </ns0:txBody>
      </ns0:sp>
      <ns0:sp>
        <ns0:nvSpPr>
          <ns0:cNvPr id="10" name="TextBox 9"/>
          <ns0:cNvSpPr txBox="1"/>
          <ns0:nvPr/>
        </ns0:nvSpPr>
        <ns0:spPr>
          <ns1:xfrm>
            <ns1:off x="731520" y="2359152"/>
            <ns1:ext cx="3383279" cy="594360"/>
          </ns1:xfrm>
          <ns1:prstGeom prst="rect">
            <ns1:avLst/>
          </ns1:prstGeom>
          <ns1:noFill/>
        </ns0:spPr>
        <ns0:txBody>
          <ns1:bodyPr wrap="square" anchor="t">
            <ns1:spAutoFit/>
          </ns1:bodyPr>
          <ns1:lstStyle/>
          <ns1:p>
            <ns1:pPr algn="l"/>
            <ns1:r>
              <ns1:rPr sz="1000" b="0">
                <ns1:solidFill>
                  <ns1:srgbClr val="1F1F1F"/>
                </ns1:solidFill>
                <ns1:latin typeface="Arial"/>
              </ns1:rPr>
              <ns1:t>Did the right evidence enter the prompt?
Measure: recall@k, MRR, coverage on labeled queries.</ns1:t>
            </ns1:r>
          </ns1:p>
        </ns0:txBody>
      </ns0:sp>
      <ns0:sp>
        <ns0:nvSpPr>
          <ns0:cNvPr id="11" name="Rounded Rectangle 10"/>
          <ns0:cNvSpPr/>
          <ns0:nvPr/>
        </ns0:nvSpPr>
        <ns0:spPr>
          <ns1:xfrm>
            <ns1:off x="640080" y="3200400"/>
            <ns1:ext cx="3566160" cy="1188720"/>
          </ns1:xfrm>
          <ns1:prstGeom prst="rect">
            <ns1:avLst/>
          </ns1:prstGeom>
          <ns1:noFill/>
          <ns1:ln w="889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2" name="TextBox 11"/>
          <ns0:cNvSpPr txBox="1"/>
          <ns0:nvPr/>
        </ns0:nvSpPr>
        <ns0:spPr>
          <ns1:xfrm>
            <ns1:off x="731520" y="3273552"/>
            <ns1:ext cx="3383279" cy="274320"/>
          </ns1:xfrm>
          <ns1:prstGeom prst="rect">
            <ns1:avLst/>
          </ns1:prstGeom>
          <ns1:noFill/>
        </ns0:spPr>
        <ns0:txBody>
          <ns1:bodyPr wrap="square" anchor="t">
            <ns1:spAutoFit/>
          </ns1:bodyPr>
          <ns1:lstStyle/>
          <ns1:p>
            <ns1:pPr algn="l"/>
            <ns1:r>
              <ns1:rPr sz="1100" b="1">
                <ns1:solidFill>
                  <ns1:srgbClr val="005587"/>
                </ns1:solidFill>
                <ns1:latin typeface="Arial"/>
              </ns1:rPr>
              <ns1:t>2. Generation</ns1:t>
            </ns1:r>
          </ns1:p>
        </ns0:txBody>
      </ns0:sp>
      <ns0:sp>
        <ns0:nvSpPr>
          <ns0:cNvPr id="13" name="TextBox 12"/>
          <ns0:cNvSpPr txBox="1"/>
          <ns0:nvPr/>
        </ns0:nvSpPr>
        <ns0:spPr>
          <ns1:xfrm>
            <ns1:off x="731520" y="3547872"/>
            <ns1:ext cx="3383279" cy="777240"/>
          </ns1:xfrm>
          <ns1:prstGeom prst="rect">
            <ns1:avLst/>
          </ns1:prstGeom>
          <ns1:noFill/>
        </ns0:spPr>
        <ns0:txBody>
          <ns1:bodyPr wrap="square" anchor="t">
            <ns1:spAutoFit/>
          </ns1:bodyPr>
          <ns1:lstStyle/>
          <ns1:p>
            <ns1:pPr algn="l"/>
            <ns1:r>
              <ns1:rPr sz="1000" b="0">
                <ns1:solidFill>
                  <ns1:srgbClr val="1F1F1F"/>
                </ns1:solidFill>
                <ns1:latin typeface="Arial"/>
              </ns1:rPr>
              <ns1:t>Did the model use the evidence faithfully and cite the right sources?
Measure: faithfulness, citation accuracy, answer correctness.</ns1:t>
            </ns1:r>
          </ns1:p>
        </ns0:txBody>
      </ns0:sp>
      <ns0:sp>
        <ns0:nvSpPr>
          <ns0:cNvPr id="14" name="Rounded Rectangle 13"/>
          <ns0:cNvSpPr/>
          <ns0:nvPr/>
        </ns0:nvSpPr>
        <ns0:spPr>
          <ns1:xfrm>
            <ns1:off x="4617720" y="1508760"/>
            <ns1:ext cx="4069080" cy="3200400"/>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5" name="TextBox 14"/>
          <ns0:cNvSpPr txBox="1"/>
          <ns0:nvPr/>
        </ns0:nvSpPr>
        <ns0:spPr>
          <ns1:xfrm>
            <ns1:off x="4617720" y="1600200"/>
            <ns1:ext cx="4069080" cy="292608"/>
          </ns1:xfrm>
          <ns1:prstGeom prst="rect">
            <ns1:avLst/>
          </ns1:prstGeom>
          <ns1:noFill/>
        </ns0:spPr>
        <ns0:txBody>
          <ns1:bodyPr wrap="square" anchor="t">
            <ns1:spAutoFit/>
          </ns1:bodyPr>
          <ns1:lstStyle/>
          <ns1:p>
            <ns1:pPr algn="ctr"/>
            <ns1:r>
              <ns1:rPr sz="1300" b="1">
                <ns1:solidFill>
                  <ns1:srgbClr val="005587"/>
                </ns1:solidFill>
                <ns1:latin typeface="Whitney Bold"/>
              </ns1:rPr>
              <ns1:t>Common failure modes</ns1:t>
            </ns1:r>
          </ns1:p>
        </ns0:txBody>
      </ns0:sp>
      <ns0:cxnSp>
        <ns0:nvCxnSpPr>
          <ns0:cNvPr id="16" name="Connector 15"/>
          <ns0:cNvCxnSpPr/>
          <ns0:nvPr/>
        </ns0:nvCxnSpPr>
        <ns0:spPr>
          <ns1:xfrm>
            <ns1:off x="4892040" y="1965960"/>
            <ns1:ext cx="3520440" cy="0"/>
          </ns1:xfrm>
          <ns1:prstGeom prst="line">
            <ns1:avLst/>
          </ns1:prstGeom>
          <ns1:no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17" name="TextBox 16"/>
          <ns0:cNvSpPr txBox="1"/>
          <ns0:nvPr/>
        </ns0:nvSpPr>
        <ns0:spPr>
          <ns1:xfrm>
            <ns1:off x="4800600" y="2103120"/>
            <ns1:ext cx="3703320" cy="274320"/>
          </ns1:xfrm>
          <ns1:prstGeom prst="rect">
            <ns1:avLst/>
          </ns1:prstGeom>
          <ns1:noFill/>
        </ns0:spPr>
        <ns0:txBody>
          <ns1:bodyPr wrap="square" anchor="t">
            <ns1:spAutoFit/>
          </ns1:bodyPr>
          <ns1:lstStyle/>
          <ns1:p>
            <ns1:pPr algn="l"/>
            <ns1:r>
              <ns1:rPr sz="1100" b="1">
                <ns1:solidFill>
                  <ns1:srgbClr val="005587"/>
                </ns1:solidFill>
                <ns1:latin typeface="Arial"/>
              </ns1:rPr>
              <ns1:t>•  Missed retrieval</ns1:t>
            </ns1:r>
          </ns1:p>
        </ns0:txBody>
      </ns0:sp>
      <ns0:sp>
        <ns0:nvSpPr>
          <ns0:cNvPr id="18" name="TextBox 17"/>
          <ns0:cNvSpPr txBox="1"/>
          <ns0:nvPr/>
        </ns0:nvSpPr>
        <ns0:spPr>
          <ns1:xfrm>
            <ns1:off x="5029200" y="2322576"/>
            <ns1:ext cx="3474720" cy="274320"/>
          </ns1:xfrm>
          <ns1:prstGeom prst="rect">
            <ns1:avLst/>
          </ns1:prstGeom>
          <ns1:noFill/>
        </ns0:spPr>
        <ns0:txBody>
          <ns1:bodyPr wrap="square" anchor="t">
            <ns1:spAutoFit/>
          </ns1:bodyPr>
          <ns1:lstStyle/>
          <ns1:p>
            <ns1:pPr algn="l"/>
            <ns1:r>
              <ns1:rPr sz="1000" b="0">
                <ns1:solidFill>
                  <ns1:srgbClr val="1F1F1F"/>
                </ns1:solidFill>
                <ns1:latin typeface="Arial"/>
              </ns1:rPr>
              <ns1:t>the right chunk exists but wasn't found</ns1:t>
            </ns1:r>
          </ns1:p>
        </ns0:txBody>
      </ns0:sp>
      <ns0:sp>
        <ns0:nvSpPr>
          <ns0:cNvPr id="19" name="TextBox 18"/>
          <ns0:cNvSpPr txBox="1"/>
          <ns0:nvPr/>
        </ns0:nvSpPr>
        <ns0:spPr>
          <ns1:xfrm>
            <ns1:off x="4800600" y="2606039"/>
            <ns1:ext cx="3703320" cy="274320"/>
          </ns1:xfrm>
          <ns1:prstGeom prst="rect">
            <ns1:avLst/>
          </ns1:prstGeom>
          <ns1:noFill/>
        </ns0:spPr>
        <ns0:txBody>
          <ns1:bodyPr wrap="square" anchor="t">
            <ns1:spAutoFit/>
          </ns1:bodyPr>
          <ns1:lstStyle/>
          <ns1:p>
            <ns1:pPr algn="l"/>
            <ns1:r>
              <ns1:rPr sz="1100" b="1">
                <ns1:solidFill>
                  <ns1:srgbClr val="005587"/>
                </ns1:solidFill>
                <ns1:latin typeface="Arial"/>
              </ns1:rPr>
              <ns1:t>•  Stale index</ns1:t>
            </ns1:r>
          </ns1:p>
        </ns0:txBody>
      </ns0:sp>
      <ns0:sp>
        <ns0:nvSpPr>
          <ns0:cNvPr id="20" name="TextBox 19"/>
          <ns0:cNvSpPr txBox="1"/>
          <ns0:nvPr/>
        </ns0:nvSpPr>
        <ns0:spPr>
          <ns1:xfrm>
            <ns1:off x="5029200" y="2825496"/>
            <ns1:ext cx="3474720" cy="274320"/>
          </ns1:xfrm>
          <ns1:prstGeom prst="rect">
            <ns1:avLst/>
          </ns1:prstGeom>
          <ns1:noFill/>
        </ns0:spPr>
        <ns0:txBody>
          <ns1:bodyPr wrap="square" anchor="t">
            <ns1:spAutoFit/>
          </ns1:bodyPr>
          <ns1:lstStyle/>
          <ns1:p>
            <ns1:pPr algn="l"/>
            <ns1:r>
              <ns1:rPr sz="1000" b="0">
                <ns1:solidFill>
                  <ns1:srgbClr val="1F1F1F"/>
                </ns1:solidFill>
                <ns1:latin typeface="Arial"/>
              </ns1:rPr>
              <ns1:t>indexed text is older than the question</ns1:t>
            </ns1:r>
          </ns1:p>
        </ns0:txBody>
      </ns0:sp>
      <ns0:sp>
        <ns0:nvSpPr>
          <ns0:cNvPr id="21" name="TextBox 20"/>
          <ns0:cNvSpPr txBox="1"/>
          <ns0:nvPr/>
        </ns0:nvSpPr>
        <ns0:spPr>
          <ns1:xfrm>
            <ns1:off x="4800600" y="3108959"/>
            <ns1:ext cx="3703320" cy="274320"/>
          </ns1:xfrm>
          <ns1:prstGeom prst="rect">
            <ns1:avLst/>
          </ns1:prstGeom>
          <ns1:noFill/>
        </ns0:spPr>
        <ns0:txBody>
          <ns1:bodyPr wrap="square" anchor="t">
            <ns1:spAutoFit/>
          </ns1:bodyPr>
          <ns1:lstStyle/>
          <ns1:p>
            <ns1:pPr algn="l"/>
            <ns1:r>
              <ns1:rPr sz="1100" b="1">
                <ns1:solidFill>
                  <ns1:srgbClr val="005587"/>
                </ns1:solidFill>
                <ns1:latin typeface="Arial"/>
              </ns1:rPr>
              <ns1:t>•  Permission leaks</ns1:t>
            </ns1:r>
          </ns1:p>
        </ns0:txBody>
      </ns0:sp>
      <ns0:sp>
        <ns0:nvSpPr>
          <ns0:cNvPr id="22" name="TextBox 21"/>
          <ns0:cNvSpPr txBox="1"/>
          <ns0:nvPr/>
        </ns0:nvSpPr>
        <ns0:spPr>
          <ns1:xfrm>
            <ns1:off x="5029200" y="3328415"/>
            <ns1:ext cx="3474720" cy="274320"/>
          </ns1:xfrm>
          <ns1:prstGeom prst="rect">
            <ns1:avLst/>
          </ns1:prstGeom>
          <ns1:noFill/>
        </ns0:spPr>
        <ns0:txBody>
          <ns1:bodyPr wrap="square" anchor="t">
            <ns1:spAutoFit/>
          </ns1:bodyPr>
          <ns1:lstStyle/>
          <ns1:p>
            <ns1:pPr algn="l"/>
            <ns1:r>
              <ns1:rPr sz="1000" b="0">
                <ns1:solidFill>
                  <ns1:srgbClr val="1F1F1F"/>
                </ns1:solidFill>
                <ns1:latin typeface="Arial"/>
              </ns1:rPr>
              <ns1:t>user sees a chunk they shouldn't</ns1:t>
            </ns1:r>
          </ns1:p>
        </ns0:txBody>
      </ns0:sp>
      <ns0:sp>
        <ns0:nvSpPr>
          <ns0:cNvPr id="23" name="TextBox 22"/>
          <ns0:cNvSpPr txBox="1"/>
          <ns0:nvPr/>
        </ns0:nvSpPr>
        <ns0:spPr>
          <ns1:xfrm>
            <ns1:off x="4800600" y="3611879"/>
            <ns1:ext cx="3703320" cy="274320"/>
          </ns1:xfrm>
          <ns1:prstGeom prst="rect">
            <ns1:avLst/>
          </ns1:prstGeom>
          <ns1:noFill/>
        </ns0:spPr>
        <ns0:txBody>
          <ns1:bodyPr wrap="square" anchor="t">
            <ns1:spAutoFit/>
          </ns1:bodyPr>
          <ns1:lstStyle/>
          <ns1:p>
            <ns1:pPr algn="l"/>
            <ns1:r>
              <ns1:rPr sz="1100" b="1">
                <ns1:solidFill>
                  <ns1:srgbClr val="005587"/>
                </ns1:solidFill>
                <ns1:latin typeface="Arial"/>
              </ns1:rPr>
              <ns1:t>•  Context overload</ns1:t>
            </ns1:r>
          </ns1:p>
        </ns0:txBody>
      </ns0:sp>
      <ns0:sp>
        <ns0:nvSpPr>
          <ns0:cNvPr id="24" name="TextBox 23"/>
          <ns0:cNvSpPr txBox="1"/>
          <ns0:nvPr/>
        </ns0:nvSpPr>
        <ns0:spPr>
          <ns1:xfrm>
            <ns1:off x="5029200" y="3831335"/>
            <ns1:ext cx="3474720" cy="274320"/>
          </ns1:xfrm>
          <ns1:prstGeom prst="rect">
            <ns1:avLst/>
          </ns1:prstGeom>
          <ns1:noFill/>
        </ns0:spPr>
        <ns0:txBody>
          <ns1:bodyPr wrap="square" anchor="t">
            <ns1:spAutoFit/>
          </ns1:bodyPr>
          <ns1:lstStyle/>
          <ns1:p>
            <ns1:pPr algn="l"/>
            <ns1:r>
              <ns1:rPr sz="1000" b="0">
                <ns1:solidFill>
                  <ns1:srgbClr val="1F1F1F"/>
                </ns1:solidFill>
                <ns1:latin typeface="Arial"/>
              </ns1:rPr>
              <ns1:t>too many chunks confuse the model</ns1:t>
            </ns1:r>
          </ns1:p>
        </ns0:txBody>
      </ns0:sp>
      <ns0:sp>
        <ns0:nvSpPr>
          <ns0:cNvPr id="25" name="TextBox 24"/>
          <ns0:cNvSpPr txBox="1"/>
          <ns0:nvPr/>
        </ns0:nvSpPr>
        <ns0:spPr>
          <ns1:xfrm>
            <ns1:off x="4800600" y="4114799"/>
            <ns1:ext cx="3703320" cy="274320"/>
          </ns1:xfrm>
          <ns1:prstGeom prst="rect">
            <ns1:avLst/>
          </ns1:prstGeom>
          <ns1:noFill/>
        </ns0:spPr>
        <ns0:txBody>
          <ns1:bodyPr wrap="square" anchor="t">
            <ns1:spAutoFit/>
          </ns1:bodyPr>
          <ns1:lstStyle/>
          <ns1:p>
            <ns1:pPr algn="l"/>
            <ns1:r>
              <ns1:rPr sz="1100" b="1">
                <ns1:solidFill>
                  <ns1:srgbClr val="005587"/>
                </ns1:solidFill>
                <ns1:latin typeface="Arial"/>
              </ns1:rPr>
              <ns1:t>•  Answer drift</ns1:t>
            </ns1:r>
          </ns1:p>
        </ns0:txBody>
      </ns0:sp>
      <ns0:sp>
        <ns0:nvSpPr>
          <ns0:cNvPr id="26" name="TextBox 25"/>
          <ns0:cNvSpPr txBox="1"/>
          <ns0:nvPr/>
        </ns0:nvSpPr>
        <ns0:spPr>
          <ns1:xfrm>
            <ns1:off x="5029200" y="4334255"/>
            <ns1:ext cx="3474720" cy="274320"/>
          </ns1:xfrm>
          <ns1:prstGeom prst="rect">
            <ns1:avLst/>
          </ns1:prstGeom>
          <ns1:noFill/>
        </ns0:spPr>
        <ns0:txBody>
          <ns1:bodyPr wrap="square" anchor="t">
            <ns1:spAutoFit/>
          </ns1:bodyPr>
          <ns1:lstStyle/>
          <ns1:p>
            <ns1:pPr algn="l"/>
            <ns1:r>
              <ns1:rPr sz="1000" b="0">
                <ns1:solidFill>
                  <ns1:srgbClr val="1F1F1F"/>
                </ns1:solidFill>
                <ns1:latin typeface="Arial"/>
              </ns1:rPr>
              <ns1:t>model ignores evidence, falls back to memory</ns1:t>
            </ns1:r>
          </ns1:p>
        </ns0:txBody>
      </ns0:sp>
      <ns0:sp>
        <ns0:nvSpPr>
          <ns0:cNvPr id="27" name="TextBox 26"/>
          <ns0:cNvSpPr txBox="1"/>
          <ns0:nvPr/>
        </ns0:nvSpPr>
        <ns0:spPr>
          <ns1:xfrm>
            <ns1:off x="457200" y="4846320"/>
            <ns1:ext cx="8321040" cy="182880"/>
          </ns1:xfrm>
          <ns1:prstGeom prst="rect">
            <ns1:avLst/>
          </ns1:prstGeom>
          <ns1:noFill/>
        </ns0:spPr>
        <ns0:txBody>
          <ns1:bodyPr wrap="square" anchor="t">
            <ns1:spAutoFit/>
          </ns1:bodyPr>
          <ns1:lstStyle/>
          <ns1:p>
            <ns1:pPr algn="ctr"/>
            <ns1:r>
              <ns1:rPr sz="1100" b="0">
                <ns1:solidFill>
                  <ns1:srgbClr val="000000"/>
                </ns1:solidFill>
                <ns1:latin typeface="Arial"/>
              </ns1:rPr>
              <ns1:t>Most production RAG work is measuring and reducing these failures</ns1:t>
            </ns1:r>
          </ns1:p>
        </ns0:txBody>
      </ns0:sp>
    </ns0:spTree>
  </ns0:cSld>
  <ns0:clrMapOvr>
    <ns1:masterClrMapping/>
  </ns0:clrMapOvr>
</ns0:sld>
</file>

<file path=ppt/slides/slide14.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RAG: Strengths, Weaknesses, Use Cases</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Rounded Rectangle 4"/>
          <ns0:cNvSpPr/>
          <ns0:nvPr/>
        </ns0:nvSpPr>
        <ns0:spPr>
          <ns1:xfrm>
            <ns1:off x="457200" y="1097280"/>
            <ns1:ext cx="4069080" cy="3749039"/>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6" name="TextBox 5"/>
          <ns0:cNvSpPr txBox="1"/>
          <ns0:nvPr/>
        </ns0:nvSpPr>
        <ns0:spPr>
          <ns1:xfrm>
            <ns1:off x="457200" y="1188720"/>
            <ns1:ext cx="4069080" cy="292608"/>
          </ns1:xfrm>
          <ns1:prstGeom prst="rect">
            <ns1:avLst/>
          </ns1:prstGeom>
          <ns1:noFill/>
        </ns0:spPr>
        <ns0:txBody>
          <ns1:bodyPr wrap="square" anchor="t">
            <ns1:spAutoFit/>
          </ns1:bodyPr>
          <ns1:lstStyle/>
          <ns1:p>
            <ns1:pPr algn="ctr"/>
            <ns1:r>
              <ns1:rPr sz="1400" b="1">
                <ns1:solidFill>
                  <ns1:srgbClr val="005587"/>
                </ns1:solidFill>
                <ns1:latin typeface="Whitney Bold"/>
              </ns1:rPr>
              <ns1:t>Strengths</ns1:t>
            </ns1:r>
          </ns1:p>
        </ns0:txBody>
      </ns0:sp>
      <ns0:cxnSp>
        <ns0:nvCxnSpPr>
          <ns0:cNvPr id="7" name="Connector 6"/>
          <ns0:cNvCxnSpPr/>
          <ns0:nvPr/>
        </ns0:nvCxnSpPr>
        <ns0:spPr>
          <ns1:xfrm>
            <ns1:off x="731520" y="1554480"/>
            <ns1:ext cx="3520440" cy="0"/>
          </ns1:xfrm>
          <ns1:prstGeom prst="line">
            <ns1:avLst/>
          </ns1:prstGeom>
          <ns1:no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8" name="TextBox 7"/>
          <ns0:cNvSpPr txBox="1"/>
          <ns0:nvPr/>
        </ns0:nvSpPr>
        <ns0:spPr>
          <ns1:xfrm>
            <ns1:off x="640080" y="1645919"/>
            <ns1:ext cx="3703320" cy="3108959"/>
          </ns1:xfrm>
          <ns1:prstGeom prst="rect">
            <ns1:avLst/>
          </ns1:prstGeom>
          <ns1:noFill/>
        </ns0:spPr>
        <ns0:txBody>
          <ns1:bodyPr wrap="square" anchor="t">
            <ns1:spAutoFit/>
          </ns1:bodyPr>
          <ns1:lstStyle/>
          <ns1:p>
            <ns1:pPr algn="l"/>
            <ns1:r>
              <ns1:rPr sz="1100" b="0">
                <ns1:solidFill>
                  <ns1:srgbClr val="1F1F1F"/>
                </ns1:solidFill>
                <ns1:latin typeface="Arial"/>
              </ns1:rPr>
              <ns1:t>•  Adds fresh, proprietary knowledge without retraining</ns1:t>
            </ns1:r>
          </ns1:p>
          <ns1:p>
            <ns1:pPr algn="l"/>
            <ns1:r>
              <ns1:rPr sz="1100" b="0">
                <ns1:solidFill>
                  <ns1:srgbClr val="1F1F1F"/>
                </ns1:solidFill>
                <ns1:latin typeface="Arial"/>
              </ns1:rPr>
              <ns1:t>•  Index updates instantly; re-embed new docs and you're done</ns1:t>
            </ns1:r>
          </ns1:p>
          <ns1:p>
            <ns1:pPr algn="l"/>
            <ns1:r>
              <ns1:rPr sz="1100" b="0">
                <ns1:solidFill>
                  <ns1:srgbClr val="1F1F1F"/>
                </ns1:solidFill>
                <ns1:latin typeface="Arial"/>
              </ns1:rPr>
              <ns1:t>•  Citations are traceable; answers point at source chunks</ns1:t>
            </ns1:r>
          </ns1:p>
          <ns1:p>
            <ns1:pPr algn="l"/>
            <ns1:r>
              <ns1:rPr sz="1100" b="0">
                <ns1:solidFill>
                  <ns1:srgbClr val="1F1F1F"/>
                </ns1:solidFill>
                <ns1:latin typeface="Arial"/>
              </ns1:rPr>
              <ns1:t>•  Permission-friendly; different users see different chunks</ns1:t>
            </ns1:r>
          </ns1:p>
          <ns1:p>
            <ns1:pPr algn="l"/>
            <ns1:r>
              <ns1:rPr sz="1100" b="0">
                <ns1:solidFill>
                  <ns1:srgbClr val="1F1F1F"/>
                </ns1:solidFill>
                <ns1:latin typeface="Arial"/>
              </ns1:rPr>
              <ns1:t>•  Pairs well with prompting; doesn't preclude later fine-tuning</ns1:t>
            </ns1:r>
          </ns1:p>
        </ns0:txBody>
      </ns0:sp>
      <ns0:sp>
        <ns0:nvSpPr>
          <ns0:cNvPr id="9" name="Rounded Rectangle 8"/>
          <ns0:cNvSpPr/>
          <ns0:nvPr/>
        </ns0:nvSpPr>
        <ns0:spPr>
          <ns1:xfrm>
            <ns1:off x="4617720" y="1097280"/>
            <ns1:ext cx="4069080" cy="3749039"/>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0" name="TextBox 9"/>
          <ns0:cNvSpPr txBox="1"/>
          <ns0:nvPr/>
        </ns0:nvSpPr>
        <ns0:spPr>
          <ns1:xfrm>
            <ns1:off x="4617720" y="1188720"/>
            <ns1:ext cx="4069080" cy="292608"/>
          </ns1:xfrm>
          <ns1:prstGeom prst="rect">
            <ns1:avLst/>
          </ns1:prstGeom>
          <ns1:noFill/>
        </ns0:spPr>
        <ns0:txBody>
          <ns1:bodyPr wrap="square" anchor="t">
            <ns1:spAutoFit/>
          </ns1:bodyPr>
          <ns1:lstStyle/>
          <ns1:p>
            <ns1:pPr algn="ctr"/>
            <ns1:r>
              <ns1:rPr sz="1400" b="1">
                <ns1:solidFill>
                  <ns1:srgbClr val="005587"/>
                </ns1:solidFill>
                <ns1:latin typeface="Whitney Bold"/>
              </ns1:rPr>
              <ns1:t>Limitations</ns1:t>
            </ns1:r>
          </ns1:p>
        </ns0:txBody>
      </ns0:sp>
      <ns0:cxnSp>
        <ns0:nvCxnSpPr>
          <ns0:cNvPr id="11" name="Connector 10"/>
          <ns0:cNvCxnSpPr/>
          <ns0:nvPr/>
        </ns0:nvCxnSpPr>
        <ns0:spPr>
          <ns1:xfrm>
            <ns1:off x="4892040" y="1554480"/>
            <ns1:ext cx="3520440" cy="0"/>
          </ns1:xfrm>
          <ns1:prstGeom prst="line">
            <ns1:avLst/>
          </ns1:prstGeom>
          <ns1:no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12" name="TextBox 11"/>
          <ns0:cNvSpPr txBox="1"/>
          <ns0:nvPr/>
        </ns0:nvSpPr>
        <ns0:spPr>
          <ns1:xfrm>
            <ns1:off x="4800600" y="1645919"/>
            <ns1:ext cx="3703320" cy="3108959"/>
          </ns1:xfrm>
          <ns1:prstGeom prst="rect">
            <ns1:avLst/>
          </ns1:prstGeom>
          <ns1:noFill/>
        </ns0:spPr>
        <ns0:txBody>
          <ns1:bodyPr wrap="square" anchor="t">
            <ns1:spAutoFit/>
          </ns1:bodyPr>
          <ns1:lstStyle/>
          <ns1:p>
            <ns1:pPr algn="l"/>
            <ns1:r>
              <ns1:rPr sz="1100" b="0">
                <ns1:solidFill>
                  <ns1:srgbClr val="1F1F1F"/>
                </ns1:solidFill>
                <ns1:latin typeface="Arial"/>
              </ns1:rPr>
              <ns1:t>•  Retrieval quality is your main bottleneck; bad chunk, bad answer</ns1:t>
            </ns1:r>
          </ns1:p>
          <ns1:p>
            <ns1:pPr algn="l"/>
            <ns1:r>
              <ns1:rPr sz="1100" b="0">
                <ns1:solidFill>
                  <ns1:srgbClr val="1F1F1F"/>
                </ns1:solidFill>
                <ns1:latin typeface="Arial"/>
              </ns1:rPr>
              <ns1:t>•  Chunking, indexing, and re-ranking are real engineering work</ns1:t>
            </ns1:r>
          </ns1:p>
          <ns1:p>
            <ns1:pPr algn="l"/>
            <ns1:r>
              <ns1:rPr sz="1100" b="0">
                <ns1:solidFill>
                  <ns1:srgbClr val="1F1F1F"/>
                </ns1:solidFill>
                <ns1:latin typeface="Arial"/>
              </ns1:rPr>
              <ns1:t>•  Latency overhead at every query (vector search + larger prompt)</ns1:t>
            </ns1:r>
          </ns1:p>
          <ns1:p>
            <ns1:pPr algn="l"/>
            <ns1:r>
              <ns1:rPr sz="1100" b="0">
                <ns1:solidFill>
                  <ns1:srgbClr val="1F1F1F"/>
                </ns1:solidFill>
                <ns1:latin typeface="Arial"/>
              </ns1:rPr>
              <ns1:t>•  Doesn't change the model's style or default refusal behavior</ns1:t>
            </ns1:r>
          </ns1:p>
          <ns1:p>
            <ns1:pPr algn="l"/>
            <ns1:r>
              <ns1:rPr sz="1100" b="0">
                <ns1:solidFill>
                  <ns1:srgbClr val="1F1F1F"/>
                </ns1:solidFill>
                <ns1:latin typeface="Arial"/>
              </ns1:rPr>
              <ns1:t>•  Stale or unauthorized chunks become silent failure modes</ns1:t>
            </ns1:r>
          </ns1:p>
        </ns0:txBody>
      </ns0:sp>
      <ns0:sp>
        <ns0:nvSpPr>
          <ns0:cNvPr id="13" name="TextBox 12"/>
          <ns0:cNvSpPr txBox="1"/>
          <ns0:nvPr/>
        </ns0:nvSpPr>
        <ns0:spPr>
          <ns1:xfrm>
            <ns1:off x="457200" y="4937760"/>
            <ns1:ext cx="8321040" cy="182880"/>
          </ns1:xfrm>
          <ns1:prstGeom prst="rect">
            <ns1:avLst/>
          </ns1:prstGeom>
          <ns1:noFill/>
        </ns0:spPr>
        <ns0:txBody>
          <ns1:bodyPr wrap="square" anchor="t">
            <ns1:spAutoFit/>
          </ns1:bodyPr>
          <ns1:lstStyle/>
          <ns1:p>
            <ns1:pPr algn="ctr"/>
            <ns1:r>
              <ns1:rPr sz="1100" b="0">
                <ns1:solidFill>
                  <ns1:srgbClr val="000000"/>
                </ns1:solidFill>
                <ns1:latin typeface="Arial"/>
              </ns1:rPr>
              <ns1:t>Use RAG when the question is "do you know about my documents?" Use prompting when the question is "what should you say?"</ns1:t>
            </ns1:r>
          </ns1:p>
        </ns0:txBody>
      </ns0:sp>
    </ns0:spTree>
  </ns0:cSld>
  <ns0:clrMapOvr>
    <ns1:masterClrMapping/>
  </ns0:clrMapOvr>
</ns0:sld>
</file>

<file path=ppt/slides/slide15.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9144000" cy="5143500"/>
          </ns1:xfrm>
          <ns1:prstGeom prst="rect">
            <ns1:avLst/>
          </ns1:prstGeom>
          <ns1:solidFill>
            <ns1:srgbClr val="00558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0" y="1645920"/>
            <ns1:ext cx="9144000" cy="1828800"/>
          </ns1:xfrm>
          <ns1:prstGeom prst="rect">
            <ns1:avLst/>
          </ns1:prstGeom>
          <ns1:noFill/>
        </ns0:spPr>
        <ns0:txBody>
          <ns1:bodyPr wrap="square" anchor="ctr">
            <ns1:spAutoFit/>
          </ns1:bodyPr>
          <ns1:lstStyle/>
          <ns1:p>
            <ns1:pPr algn="ctr"/>
            <ns1:r>
              <ns1:rPr sz="4000" b="1">
                <ns1:solidFill>
                  <ns1:srgbClr val="FFFFFF"/>
                </ns1:solidFill>
                <ns1:latin typeface="Whitney Bold"/>
              </ns1:rPr>
              <ns1:t>Approach 3: Fine-Tuning</ns1:t>
            </ns1:r>
          </ns1:p>
        </ns0:txBody>
      </ns0:sp>
    </ns0:spTree>
  </ns0:cSld>
  <ns0:clrMapOvr>
    <ns1:masterClrMapping/>
  </ns0:clrMapOvr>
</ns0:sld>
</file>

<file path=ppt/slides/slide16.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What Fine-Tuning Looks Like for Builders</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TextBox 4"/>
          <ns0:cNvSpPr txBox="1"/>
          <ns0:nvPr/>
        </ns0:nvSpPr>
        <ns0:spPr>
          <ns1:xfrm>
            <ns1:off x="457200" y="1005840"/>
            <ns1:ext cx="8321040" cy="365760"/>
          </ns1:xfrm>
          <ns1:prstGeom prst="rect">
            <ns1:avLst/>
          </ns1:prstGeom>
          <ns1:noFill/>
        </ns0:spPr>
        <ns0:txBody>
          <ns1:bodyPr wrap="square" anchor="t">
            <ns1:spAutoFit/>
          </ns1:bodyPr>
          <ns1:lstStyle/>
          <ns1:p>
            <ns1:pPr algn="l"/>
            <ns1:r>
              <ns1:rPr sz="1300" b="1">
                <ns1:solidFill>
                  <ns1:srgbClr val="1F1F1F"/>
                </ns1:solidFill>
                <ns1:latin typeface="Arial"/>
              </ns1:rPr>
              <ns1:t>Realistic builder fine-tuning is SFT, i.e., supervised fine-tuning on your own (prompt, ideal answer) data.</ns1:t>
            </ns1:r>
          </ns1:p>
        </ns0:txBody>
      </ns0:sp>
      <ns0:sp>
        <ns0:nvSpPr>
          <ns0:cNvPr id="6" name="Rounded Rectangle 5"/>
          <ns0:cNvSpPr/>
          <ns0:nvPr/>
        </ns0:nvSpPr>
        <ns0:spPr>
          <ns1:xfrm>
            <ns1:off x="457200" y="1508760"/>
            <ns1:ext cx="4069080" cy="3246120"/>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7" name="TextBox 6"/>
          <ns0:cNvSpPr txBox="1"/>
          <ns0:nvPr/>
        </ns0:nvSpPr>
        <ns0:spPr>
          <ns1:xfrm>
            <ns1:off x="457200" y="1600200"/>
            <ns1:ext cx="4069080" cy="292608"/>
          </ns1:xfrm>
          <ns1:prstGeom prst="rect">
            <ns1:avLst/>
          </ns1:prstGeom>
          <ns1:noFill/>
        </ns0:spPr>
        <ns0:txBody>
          <ns1:bodyPr wrap="square" anchor="t">
            <ns1:spAutoFit/>
          </ns1:bodyPr>
          <ns1:lstStyle/>
          <ns1:p>
            <ns1:pPr algn="ctr"/>
            <ns1:r>
              <ns1:rPr sz="1300" b="1">
                <ns1:solidFill>
                  <ns1:srgbClr val="005587"/>
                </ns1:solidFill>
                <ns1:latin typeface="Whitney Bold"/>
              </ns1:rPr>
              <ns1:t>Realistic for builders</ns1:t>
            </ns1:r>
          </ns1:p>
        </ns0:txBody>
      </ns0:sp>
      <ns0:sp>
        <ns0:nvSpPr>
          <ns0:cNvPr id="8" name="TextBox 7"/>
          <ns0:cNvSpPr txBox="1"/>
          <ns0:nvPr/>
        </ns0:nvSpPr>
        <ns0:spPr>
          <ns1:xfrm>
            <ns1:off x="640080" y="199339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METHOD</ns1:t>
            </ns1:r>
          </ns1:p>
        </ns0:txBody>
      </ns0:sp>
      <ns0:sp>
        <ns0:nvSpPr>
          <ns0:cNvPr id="9" name="TextBox 8"/>
          <ns0:cNvSpPr txBox="1"/>
          <ns0:nvPr/>
        </ns0:nvSpPr>
        <ns0:spPr>
          <ns1:xfrm>
            <ns1:off x="1691640" y="199339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Supervised fine-tuning (SFT)</ns1:t>
            </ns1:r>
          </ns1:p>
        </ns0:txBody>
      </ns0:sp>
      <ns0:sp>
        <ns0:nvSpPr>
          <ns0:cNvPr id="10" name="TextBox 9"/>
          <ns0:cNvSpPr txBox="1"/>
          <ns0:nvPr/>
        </ns0:nvSpPr>
        <ns0:spPr>
          <ns1:xfrm>
            <ns1:off x="640080" y="254203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DATA</ns1:t>
            </ns1:r>
          </ns1:p>
        </ns0:txBody>
      </ns0:sp>
      <ns0:sp>
        <ns0:nvSpPr>
          <ns0:cNvPr id="11" name="TextBox 10"/>
          <ns0:cNvSpPr txBox="1"/>
          <ns0:nvPr/>
        </ns0:nvSpPr>
        <ns0:spPr>
          <ns1:xfrm>
            <ns1:off x="1691640" y="254203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Hundreds to a few thousand
(prompt, ideal answer) pairs</ns1:t>
            </ns1:r>
          </ns1:p>
        </ns0:txBody>
      </ns0:sp>
      <ns0:sp>
        <ns0:nvSpPr>
          <ns0:cNvPr id="12" name="TextBox 11"/>
          <ns0:cNvSpPr txBox="1"/>
          <ns0:nvPr/>
        </ns0:nvSpPr>
        <ns0:spPr>
          <ns1:xfrm>
            <ns1:off x="640080" y="309067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APPROACH</ns1:t>
            </ns1:r>
          </ns1:p>
        </ns0:txBody>
      </ns0:sp>
      <ns0:sp>
        <ns0:nvSpPr>
          <ns0:cNvPr id="13" name="TextBox 12"/>
          <ns0:cNvSpPr txBox="1"/>
          <ns0:nvPr/>
        </ns0:nvSpPr>
        <ns0:spPr>
          <ns1:xfrm>
            <ns1:off x="1691640" y="309067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Use OpenAI / Anthropic /
open-source SFT APIs;
often LoRA adapters</ns1:t>
            </ns1:r>
          </ns1:p>
        </ns0:txBody>
      </ns0:sp>
      <ns0:sp>
        <ns0:nvSpPr>
          <ns0:cNvPr id="14" name="TextBox 13"/>
          <ns0:cNvSpPr txBox="1"/>
          <ns0:nvPr/>
        </ns0:nvSpPr>
        <ns0:spPr>
          <ns1:xfrm>
            <ns1:off x="640080" y="363931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COST</ns1:t>
            </ns1:r>
          </ns1:p>
        </ns0:txBody>
      </ns0:sp>
      <ns0:sp>
        <ns0:nvSpPr>
          <ns0:cNvPr id="15" name="TextBox 14"/>
          <ns0:cNvSpPr txBox="1"/>
          <ns0:nvPr/>
        </ns0:nvSpPr>
        <ns0:spPr>
          <ns1:xfrm>
            <ns1:off x="1691640" y="363931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Tens to thousands of dollars;
minutes to hours</ns1:t>
            </ns1:r>
          </ns1:p>
        </ns0:txBody>
      </ns0:sp>
      <ns0:sp>
        <ns0:nvSpPr>
          <ns0:cNvPr id="16" name="TextBox 15"/>
          <ns0:cNvSpPr txBox="1"/>
          <ns0:nvPr/>
        </ns0:nvSpPr>
        <ns0:spPr>
          <ns1:xfrm>
            <ns1:off x="640080" y="418795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USE CASE</ns1:t>
            </ns1:r>
          </ns1:p>
        </ns0:txBody>
      </ns0:sp>
      <ns0:sp>
        <ns0:nvSpPr>
          <ns0:cNvPr id="17" name="TextBox 16"/>
          <ns0:cNvSpPr txBox="1"/>
          <ns0:nvPr/>
        </ns0:nvSpPr>
        <ns0:spPr>
          <ns1:xfrm>
            <ns1:off x="1691640" y="418795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Lock in style, format, or
domain language that
prompting can't reliably get</ns1:t>
            </ns1:r>
          </ns1:p>
        </ns0:txBody>
      </ns0:sp>
      <ns0:sp>
        <ns0:nvSpPr>
          <ns0:cNvPr id="18" name="Rounded Rectangle 17"/>
          <ns0:cNvSpPr/>
          <ns0:nvPr/>
        </ns0:nvSpPr>
        <ns0:spPr>
          <ns1:xfrm>
            <ns1:off x="4617720" y="1508760"/>
            <ns1:ext cx="4069080" cy="3246120"/>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9" name="TextBox 18"/>
          <ns0:cNvSpPr txBox="1"/>
          <ns0:nvPr/>
        </ns0:nvSpPr>
        <ns0:spPr>
          <ns1:xfrm>
            <ns1:off x="4617720" y="1600200"/>
            <ns1:ext cx="4069080" cy="292608"/>
          </ns1:xfrm>
          <ns1:prstGeom prst="rect">
            <ns1:avLst/>
          </ns1:prstGeom>
          <ns1:noFill/>
        </ns0:spPr>
        <ns0:txBody>
          <ns1:bodyPr wrap="square" anchor="t">
            <ns1:spAutoFit/>
          </ns1:bodyPr>
          <ns1:lstStyle/>
          <ns1:p>
            <ns1:pPr algn="ctr"/>
            <ns1:r>
              <ns1:rPr sz="1300" b="1">
                <ns1:solidFill>
                  <ns1:srgbClr val="005587"/>
                </ns1:solidFill>
                <ns1:latin typeface="Whitney Bold"/>
              </ns1:rPr>
              <ns1:t>Frontier-lab territory</ns1:t>
            </ns1:r>
          </ns1:p>
        </ns0:txBody>
      </ns0:sp>
      <ns0:sp>
        <ns0:nvSpPr>
          <ns0:cNvPr id="20" name="TextBox 19"/>
          <ns0:cNvSpPr txBox="1"/>
          <ns0:nvPr/>
        </ns0:nvSpPr>
        <ns0:spPr>
          <ns1:xfrm>
            <ns1:off x="4800600" y="199339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METHOD</ns1:t>
            </ns1:r>
          </ns1:p>
        </ns0:txBody>
      </ns0:sp>
      <ns0:sp>
        <ns0:nvSpPr>
          <ns0:cNvPr id="21" name="TextBox 20"/>
          <ns0:cNvSpPr txBox="1"/>
          <ns0:nvPr/>
        </ns0:nvSpPr>
        <ns0:spPr>
          <ns1:xfrm>
            <ns1:off x="5852160" y="199339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RLHF (reward model + PPO)</ns1:t>
            </ns1:r>
          </ns1:p>
        </ns0:txBody>
      </ns0:sp>
      <ns0:sp>
        <ns0:nvSpPr>
          <ns0:cNvPr id="22" name="TextBox 21"/>
          <ns0:cNvSpPr txBox="1"/>
          <ns0:nvPr/>
        </ns0:nvSpPr>
        <ns0:spPr>
          <ns1:xfrm>
            <ns1:off x="4800600" y="254203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DATA</ns1:t>
            </ns1:r>
          </ns1:p>
        </ns0:txBody>
      </ns0:sp>
      <ns0:sp>
        <ns0:nvSpPr>
          <ns0:cNvPr id="23" name="TextBox 22"/>
          <ns0:cNvSpPr txBox="1"/>
          <ns0:nvPr/>
        </ns0:nvSpPr>
        <ns0:spPr>
          <ns1:xfrm>
            <ns1:off x="5852160" y="254203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Tens of thousands of human
preference rankings</ns1:t>
            </ns1:r>
          </ns1:p>
        </ns0:txBody>
      </ns0:sp>
      <ns0:sp>
        <ns0:nvSpPr>
          <ns0:cNvPr id="24" name="TextBox 23"/>
          <ns0:cNvSpPr txBox="1"/>
          <ns0:nvPr/>
        </ns0:nvSpPr>
        <ns0:spPr>
          <ns1:xfrm>
            <ns1:off x="4800600" y="309067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APPROACH</ns1:t>
            </ns1:r>
          </ns1:p>
        </ns0:txBody>
      </ns0:sp>
      <ns0:sp>
        <ns0:nvSpPr>
          <ns0:cNvPr id="25" name="TextBox 24"/>
          <ns0:cNvSpPr txBox="1"/>
          <ns0:nvPr/>
        </ns0:nvSpPr>
        <ns0:spPr>
          <ns1:xfrm>
            <ns1:off x="5852160" y="309067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Build dedicated labeling teams,
train reward model, run PPO
at scale</ns1:t>
            </ns1:r>
          </ns1:p>
        </ns0:txBody>
      </ns0:sp>
      <ns0:sp>
        <ns0:nvSpPr>
          <ns0:cNvPr id="26" name="TextBox 25"/>
          <ns0:cNvSpPr txBox="1"/>
          <ns0:nvPr/>
        </ns0:nvSpPr>
        <ns0:spPr>
          <ns1:xfrm>
            <ns1:off x="4800600" y="363931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COST</ns1:t>
            </ns1:r>
          </ns1:p>
        </ns0:txBody>
      </ns0:sp>
      <ns0:sp>
        <ns0:nvSpPr>
          <ns0:cNvPr id="27" name="TextBox 26"/>
          <ns0:cNvSpPr txBox="1"/>
          <ns0:nvPr/>
        </ns0:nvSpPr>
        <ns0:spPr>
          <ns1:xfrm>
            <ns1:off x="5852160" y="363931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Millions of dollars;
months of work</ns1:t>
            </ns1:r>
          </ns1:p>
        </ns0:txBody>
      </ns0:sp>
      <ns0:sp>
        <ns0:nvSpPr>
          <ns0:cNvPr id="28" name="TextBox 27"/>
          <ns0:cNvSpPr txBox="1"/>
          <ns0:nvPr/>
        </ns0:nvSpPr>
        <ns0:spPr>
          <ns1:xfrm>
            <ns1:off x="4800600" y="4187952"/>
            <ns1:ext cx="1005840" cy="182880"/>
          </ns1:xfrm>
          <ns1:prstGeom prst="rect">
            <ns1:avLst/>
          </ns1:prstGeom>
          <ns1:noFill/>
        </ns0:spPr>
        <ns0:txBody>
          <ns1:bodyPr wrap="square" anchor="t">
            <ns1:spAutoFit/>
          </ns1:bodyPr>
          <ns1:lstStyle/>
          <ns1:p>
            <ns1:pPr algn="l"/>
            <ns1:r>
              <ns1:rPr sz="800" b="1">
                <ns1:solidFill>
                  <ns1:srgbClr val="005587"/>
                </ns1:solidFill>
                <ns1:latin typeface="Arial"/>
              </ns1:rPr>
              <ns1:t>USE CASE</ns1:t>
            </ns1:r>
          </ns1:p>
        </ns0:txBody>
      </ns0:sp>
      <ns0:sp>
        <ns0:nvSpPr>
          <ns0:cNvPr id="29" name="TextBox 28"/>
          <ns0:cNvSpPr txBox="1"/>
          <ns0:nvPr/>
        </ns0:nvSpPr>
        <ns0:spPr>
          <ns1:xfrm>
            <ns1:off x="5852160" y="4187952"/>
            <ns1:ext cx="2743200" cy="502920"/>
          </ns1:xfrm>
          <ns1:prstGeom prst="rect">
            <ns1:avLst/>
          </ns1:prstGeom>
          <ns1:noFill/>
        </ns0:spPr>
        <ns0:txBody>
          <ns1:bodyPr wrap="square" anchor="t">
            <ns1:spAutoFit/>
          </ns1:bodyPr>
          <ns1:lstStyle/>
          <ns1:p>
            <ns1:pPr algn="l"/>
            <ns1:r>
              <ns1:rPr sz="1000" b="0">
                <ns1:solidFill>
                  <ns1:srgbClr val="1F1F1F"/>
                </ns1:solidFill>
                <ns1:latin typeface="Arial"/>
              </ns1:rPr>
              <ns1:t>Aligning a frontier model's
overall behavior, usually
not what a single product needs</ns1:t>
            </ns1:r>
          </ns1:p>
        </ns0:txBody>
      </ns0:sp>
      <ns0:sp>
        <ns0:nvSpPr>
          <ns0:cNvPr id="30" name="TextBox 29"/>
          <ns0:cNvSpPr txBox="1"/>
          <ns0:nvPr/>
        </ns0:nvSpPr>
        <ns0:spPr>
          <ns1:xfrm>
            <ns1:off x="457200" y="4846320"/>
            <ns1:ext cx="8321040" cy="274320"/>
          </ns1:xfrm>
          <ns1:prstGeom prst="rect">
            <ns1:avLst/>
          </ns1:prstGeom>
          <ns1:noFill/>
        </ns0:spPr>
        <ns0:txBody>
          <ns1:bodyPr wrap="square" anchor="t">
            <ns1:spAutoFit/>
          </ns1:bodyPr>
          <ns1:lstStyle/>
          <ns1:p>
            <ns1:pPr algn="ctr"/>
            <ns1:r>
              <ns1:rPr sz="1200" b="0">
                <ns1:solidFill>
                  <ns1:srgbClr val="000000"/>
                </ns1:solidFill>
                <ns1:latin typeface="Arial"/>
              </ns1:rPr>
              <ns1:t>If you say "we should fine-tune," you almost always mean SFT</ns1:t>
            </ns1:r>
          </ns1:p>
        </ns0:txBody>
      </ns0:sp>
    </ns0:spTree>
  </ns0:cSld>
  <ns0:clrMapOvr>
    <ns1:masterClrMapping/>
  </ns0:clrMapOvr>
</ns0:sld>
</file>

<file path=ppt/slides/slide17.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Fine-Tuning: Strengths, Weaknesses, Use Cases</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Rounded Rectangle 4"/>
          <ns0:cNvSpPr/>
          <ns0:nvPr/>
        </ns0:nvSpPr>
        <ns0:spPr>
          <ns1:xfrm>
            <ns1:off x="457200" y="1097280"/>
            <ns1:ext cx="4069080" cy="3749039"/>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6" name="TextBox 5"/>
          <ns0:cNvSpPr txBox="1"/>
          <ns0:nvPr/>
        </ns0:nvSpPr>
        <ns0:spPr>
          <ns1:xfrm>
            <ns1:off x="457200" y="1188720"/>
            <ns1:ext cx="4069080" cy="292608"/>
          </ns1:xfrm>
          <ns1:prstGeom prst="rect">
            <ns1:avLst/>
          </ns1:prstGeom>
          <ns1:noFill/>
        </ns0:spPr>
        <ns0:txBody>
          <ns1:bodyPr wrap="square" anchor="t">
            <ns1:spAutoFit/>
          </ns1:bodyPr>
          <ns1:lstStyle/>
          <ns1:p>
            <ns1:pPr algn="ctr"/>
            <ns1:r>
              <ns1:rPr sz="1400" b="1">
                <ns1:solidFill>
                  <ns1:srgbClr val="005587"/>
                </ns1:solidFill>
                <ns1:latin typeface="Whitney Bold"/>
              </ns1:rPr>
              <ns1:t>Strengths</ns1:t>
            </ns1:r>
          </ns1:p>
        </ns0:txBody>
      </ns0:sp>
      <ns0:cxnSp>
        <ns0:nvCxnSpPr>
          <ns0:cNvPr id="7" name="Connector 6"/>
          <ns0:cNvCxnSpPr/>
          <ns0:nvPr/>
        </ns0:nvCxnSpPr>
        <ns0:spPr>
          <ns1:xfrm>
            <ns1:off x="731520" y="1554480"/>
            <ns1:ext cx="3520440" cy="0"/>
          </ns1:xfrm>
          <ns1:prstGeom prst="line">
            <ns1:avLst/>
          </ns1:prstGeom>
          <ns1:no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8" name="TextBox 7"/>
          <ns0:cNvSpPr txBox="1"/>
          <ns0:nvPr/>
        </ns0:nvSpPr>
        <ns0:spPr>
          <ns1:xfrm>
            <ns1:off x="640080" y="1645919"/>
            <ns1:ext cx="3703320" cy="3108959"/>
          </ns1:xfrm>
          <ns1:prstGeom prst="rect">
            <ns1:avLst/>
          </ns1:prstGeom>
          <ns1:noFill/>
        </ns0:spPr>
        <ns0:txBody>
          <ns1:bodyPr wrap="square" anchor="t">
            <ns1:spAutoFit/>
          </ns1:bodyPr>
          <ns1:lstStyle/>
          <ns1:p>
            <ns1:pPr algn="l"/>
            <ns1:r>
              <ns1:rPr sz="1100" b="0">
                <ns1:solidFill>
                  <ns1:srgbClr val="1F1F1F"/>
                </ns1:solidFill>
                <ns1:latin typeface="Arial"/>
              </ns1:rPr>
              <ns1:t>•  Bakes behavior into weights; no per-call prompt overhead</ns1:t>
            </ns1:r>
          </ns1:p>
          <ns1:p>
            <ns1:pPr algn="l"/>
            <ns1:r>
              <ns1:rPr sz="1100" b="0">
                <ns1:solidFill>
                  <ns1:srgbClr val="1F1F1F"/>
                </ns1:solidFill>
                <ns1:latin typeface="Arial"/>
              </ns1:rPr>
              <ns1:t>•  Best for consistent style, format, or domain language</ns1:t>
            </ns1:r>
          </ns1:p>
          <ns1:p>
            <ns1:pPr algn="l"/>
            <ns1:r>
              <ns1:rPr sz="1100" b="0">
                <ns1:solidFill>
                  <ns1:srgbClr val="1F1F1F"/>
                </ns1:solidFill>
                <ns1:latin typeface="Arial"/>
              </ns1:rPr>
              <ns1:t>•  Smaller open-source models can match larger ones on narrow tasks</ns1:t>
            </ns1:r>
          </ns1:p>
          <ns1:p>
            <ns1:pPr algn="l"/>
            <ns1:r>
              <ns1:rPr sz="1100" b="0">
                <ns1:solidFill>
                  <ns1:srgbClr val="1F1F1F"/>
                </ns1:solidFill>
                <ns1:latin typeface="Arial"/>
              </ns1:rPr>
              <ns1:t>•  Can produce specialized assistants (medical, legal, code)</ns1:t>
            </ns1:r>
          </ns1:p>
          <ns1:p>
            <ns1:pPr algn="l"/>
            <ns1:r>
              <ns1:rPr sz="1100" b="0">
                <ns1:solidFill>
                  <ns1:srgbClr val="1F1F1F"/>
                </ns1:solidFill>
                <ns1:latin typeface="Arial"/>
              </ns1:rPr>
              <ns1:t>•  Adapter methods (LoRA) make it cheap and reversible</ns1:t>
            </ns1:r>
          </ns1:p>
        </ns0:txBody>
      </ns0:sp>
      <ns0:sp>
        <ns0:nvSpPr>
          <ns0:cNvPr id="9" name="Rounded Rectangle 8"/>
          <ns0:cNvSpPr/>
          <ns0:nvPr/>
        </ns0:nvSpPr>
        <ns0:spPr>
          <ns1:xfrm>
            <ns1:off x="4617720" y="1097280"/>
            <ns1:ext cx="4069080" cy="3749039"/>
          </ns1:xfrm>
          <ns1:prstGeom prst="rect">
            <ns1:avLst/>
          </ns1:prstGeom>
          <ns1:noFill/>
          <ns1:ln w="12700">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0" name="TextBox 9"/>
          <ns0:cNvSpPr txBox="1"/>
          <ns0:nvPr/>
        </ns0:nvSpPr>
        <ns0:spPr>
          <ns1:xfrm>
            <ns1:off x="4617720" y="1188720"/>
            <ns1:ext cx="4069080" cy="292608"/>
          </ns1:xfrm>
          <ns1:prstGeom prst="rect">
            <ns1:avLst/>
          </ns1:prstGeom>
          <ns1:noFill/>
        </ns0:spPr>
        <ns0:txBody>
          <ns1:bodyPr wrap="square" anchor="t">
            <ns1:spAutoFit/>
          </ns1:bodyPr>
          <ns1:lstStyle/>
          <ns1:p>
            <ns1:pPr algn="ctr"/>
            <ns1:r>
              <ns1:rPr sz="1400" b="1">
                <ns1:solidFill>
                  <ns1:srgbClr val="005587"/>
                </ns1:solidFill>
                <ns1:latin typeface="Whitney Bold"/>
              </ns1:rPr>
              <ns1:t>Limitations</ns1:t>
            </ns1:r>
          </ns1:p>
        </ns0:txBody>
      </ns0:sp>
      <ns0:cxnSp>
        <ns0:nvCxnSpPr>
          <ns0:cNvPr id="11" name="Connector 10"/>
          <ns0:cNvCxnSpPr/>
          <ns0:nvPr/>
        </ns0:nvCxnSpPr>
        <ns0:spPr>
          <ns1:xfrm>
            <ns1:off x="4892040" y="1554480"/>
            <ns1:ext cx="3520440" cy="0"/>
          </ns1:xfrm>
          <ns1:prstGeom prst="line">
            <ns1:avLst/>
          </ns1:prstGeom>
          <ns1:no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12" name="TextBox 11"/>
          <ns0:cNvSpPr txBox="1"/>
          <ns0:nvPr/>
        </ns0:nvSpPr>
        <ns0:spPr>
          <ns1:xfrm>
            <ns1:off x="4800600" y="1645919"/>
            <ns1:ext cx="3703320" cy="3108959"/>
          </ns1:xfrm>
          <ns1:prstGeom prst="rect">
            <ns1:avLst/>
          </ns1:prstGeom>
          <ns1:noFill/>
        </ns0:spPr>
        <ns0:txBody>
          <ns1:bodyPr wrap="square" anchor="t">
            <ns1:spAutoFit/>
          </ns1:bodyPr>
          <ns1:lstStyle/>
          <ns1:p>
            <ns1:pPr algn="l"/>
            <ns1:r>
              <ns1:rPr sz="1100" b="0">
                <ns1:solidFill>
                  <ns1:srgbClr val="1F1F1F"/>
                </ns1:solidFill>
                <ns1:latin typeface="Arial"/>
              </ns1:rPr>
              <ns1:t>•  Needs labeled data; usually the binding constraint</ns1:t>
            </ns1:r>
          </ns1:p>
          <ns1:p>
            <ns1:pPr algn="l"/>
            <ns1:r>
              <ns1:rPr sz="1100" b="0">
                <ns1:solidFill>
                  <ns1:srgbClr val="1F1F1F"/>
                </ns1:solidFill>
                <ns1:latin typeface="Arial"/>
              </ns1:rPr>
              <ns1:t>•  Risk of catastrophic forgetting on general capabilities</ns1:t>
            </ns1:r>
          </ns1:p>
          <ns1:p>
            <ns1:pPr algn="l"/>
            <ns1:r>
              <ns1:rPr sz="1100" b="0">
                <ns1:solidFill>
                  <ns1:srgbClr val="1F1F1F"/>
                </ns1:solidFill>
                <ns1:latin typeface="Arial"/>
              </ns1:rPr>
              <ns1:t>•  Training, eval, and deployment loop is real engineering</ns1:t>
            </ns1:r>
          </ns1:p>
          <ns1:p>
            <ns1:pPr algn="l"/>
            <ns1:r>
              <ns1:rPr sz="1100" b="0">
                <ns1:solidFill>
                  <ns1:srgbClr val="1F1F1F"/>
                </ns1:solidFill>
                <ns1:latin typeface="Arial"/>
              </ns1:rPr>
              <ns1:t>•  Doesn't add fresh facts; that's still a retrieval problem</ns1:t>
            </ns1:r>
          </ns1:p>
          <ns1:p>
            <ns1:pPr algn="l"/>
            <ns1:r>
              <ns1:rPr sz="1100" b="0">
                <ns1:solidFill>
                  <ns1:srgbClr val="1F1F1F"/>
                </ns1:solidFill>
                <ns1:latin typeface="Arial"/>
              </ns1:rPr>
              <ns1:t>•  Vendor model upgrades may obsolete your fine-tune</ns1:t>
            </ns1:r>
          </ns1:p>
        </ns0:txBody>
      </ns0:sp>
      <ns0:sp>
        <ns0:nvSpPr>
          <ns0:cNvPr id="13" name="TextBox 12"/>
          <ns0:cNvSpPr txBox="1"/>
          <ns0:nvPr/>
        </ns0:nvSpPr>
        <ns0:spPr>
          <ns1:xfrm>
            <ns1:off x="457200" y="4937760"/>
            <ns1:ext cx="8321040" cy="182880"/>
          </ns1:xfrm>
          <ns1:prstGeom prst="rect">
            <ns1:avLst/>
          </ns1:prstGeom>
          <ns1:noFill/>
        </ns0:spPr>
        <ns0:txBody>
          <ns1:bodyPr wrap="square" anchor="t">
            <ns1:spAutoFit/>
          </ns1:bodyPr>
          <ns1:lstStyle/>
          <ns1:p>
            <ns1:pPr algn="ctr"/>
            <ns1:r>
              <ns1:rPr sz="1100" b="0">
                <ns1:solidFill>
                  <ns1:srgbClr val="000000"/>
                </ns1:solidFill>
                <ns1:latin typeface="Arial"/>
              </ns1:rPr>
              <ns1:t>Fine-tune when you have data, prompting plateaued, and the behavior should be the same every time</ns1:t>
            </ns1:r>
          </ns1:p>
        </ns0:txBody>
      </ns0:sp>
    </ns0:spTree>
  </ns0:cSld>
  <ns0:clrMapOvr>
    <ns1:masterClrMapping/>
  </ns0:clrMapOvr>
</ns0:sld>
</file>

<file path=ppt/slides/slide18.xml><?xml version="1.0" encoding="utf-8"?>
<ns0:sld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54864" cy="5148072"/>
          </ns1:xfrm>
          <ns1:prstGeom prst="rect">
            <ns1:avLst/>
          </ns1:prstGeom>
          <ns1:solidFill>
            <ns1:srgbClr val="005587"/>
          </ns1:solidFill>
          <ns1:ln w="6350">
            <ns1:solidFill>
              <ns1:srgbClr val="005587"/>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TextBox 2"/>
          <ns0:cNvSpPr txBox="1"/>
          <ns0:nvPr/>
        </ns0:nvSpPr>
        <ns0:spPr>
          <ns1:xfrm>
            <ns1:off x="457200" y="310336"/>
            <ns1:ext cx="8321040" cy="685800"/>
          </ns1:xfrm>
          <ns1:prstGeom prst="rect">
            <ns1:avLst/>
          </ns1:prstGeom>
          <ns1:noFill/>
          <ns1:ln>
            <ns1:noFill/>
          </ns1:ln>
        </ns0:spPr>
        <ns0:txBody>
          <ns1:bodyPr wrap="square" anchor="ctr">
            <ns1:spAutoFit/>
          </ns1:bodyPr>
          <ns1:lstStyle/>
          <ns1:p>
            <ns1:pPr algn="l"/>
            <ns1:r>
              <ns1:rPr sz="2800" b="1">
                <ns1:solidFill>
                  <ns1:srgbClr val="005587"/>
                </ns1:solidFill>
                <ns1:latin typeface="Whitney Bold"/>
              </ns1:rPr>
              <ns1:t>The Three Levers Compared</ns1:t>
            </ns1:r>
          </ns1:p>
        </ns0:txBody>
      </ns0:sp>
      <ns0:cxnSp>
        <ns0:nvCxnSpPr>
          <ns0:cNvPr id="4" name="Connector 3"/>
          <ns0:cNvCxnSpPr/>
          <ns0:nvPr/>
        </ns0:nvCxnSpPr>
        <ns0:spPr>
          <ns1:xfrm>
            <ns1:off x="457200" y="914400"/>
            <ns1:ext cx="8321040" cy="0"/>
          </ns1:xfrm>
          <ns1:prstGeom prst="line">
            <ns1:avLst/>
          </ns1:prstGeom>
          <ns1:solidFill>
            <ns1:srgbClr val="C8C8C8"/>
          </ns1:solidFill>
          <ns1:ln w="6350">
            <ns1:noFill/>
          </ns1:ln>
        </ns0:spPr>
        <ns0:style>
          <ns1:lnRef idx="2">
            <ns1:schemeClr val="accent1"/>
          </ns1:lnRef>
          <ns1:fillRef idx="0">
            <ns1:schemeClr val="accent1"/>
          </ns1:fillRef>
          <ns1:effectRef idx="1">
            <ns1:schemeClr val="accent1"/>
          </ns1:effectRef>
          <ns1:fontRef idx="minor">
            <ns1:schemeClr val="tx1"/>
          </ns1:fontRef>
        </ns0:style>
      </ns0:cxnSp>
      <ns0:sp>
        <ns0:nvSpPr>
          <ns0:cNvPr id="5" name="TextBox 4"/>
          <ns0:cNvSpPr txBox="1"/>
          <ns0:nvPr/>
        </ns0:nvSpPr>
        <ns0:spPr>
          <ns1:xfrm>
            <ns1:off x="457200" y="960120"/>
            <ns1:ext cx="8321040" cy="274320"/>
          </ns1:xfrm>
          <ns1:prstGeom prst="rect">
            <ns1:avLst/>
          </ns1:prstGeom>
          <ns1:noFill/>
        </ns0:spPr>
        <ns0:txBody>
          <ns1:bodyPr wrap="square" anchor="t">
            <ns1:spAutoFit/>
          </ns1:bodyPr>
          <ns1:lstStyle/>
          <ns1:p>
            <ns1:pPr algn="l"/>
            <ns1:r>
              <ns1:rPr sz="1200" b="1">
                <ns1:solidFill>
                  <ns1:srgbClr val="1F1F1F"/>
                </ns1:solidFill>
                <ns1:latin typeface="Arial"/>
              </ns1:rPr>
              <ns1:t>Most products end up using all three. The art is matching each lever to the right problem.</ns1:t>
            </ns1:r>
          </ns1:p>
        </ns0:txBody>
      </ns0:sp>
      <ns0:sp>
        <ns0:nvSpPr>
          <ns0:cNvPr id="6" name="Rectangle 5"/>
          <ns0:cNvSpPr/>
          <ns0:nvPr/>
        </ns0:nvSpPr>
        <ns0:spPr>
          <ns1:xfrm>
            <ns1:off x="365760" y="1371600"/>
            <ns1:ext cx="8412480" cy="411480"/>
          </ns1:xfrm>
          <ns1:prstGeom prst="rect">
            <ns1:avLst/>
          </ns1:prstGeom>
          <ns1:solidFill>
            <ns1:srgbClr val="00558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7" name="TextBox 6"/>
          <ns0:cNvSpPr txBox="1"/>
          <ns0:nvPr/>
        </ns0:nvSpPr>
        <ns0:spPr>
          <ns1:xfrm>
            <ns1:off x="365760" y="1371600"/>
            <ns1:ext cx="2011680" cy="411480"/>
          </ns1:xfrm>
          <ns1:prstGeom prst="rect">
            <ns1:avLst/>
          </ns1:prstGeom>
          <ns1:noFill/>
        </ns0:spPr>
        <ns0:txBody>
          <ns1:bodyPr wrap="square" anchor="ctr">
            <ns1:spAutoFit/>
          </ns1:bodyPr>
          <ns1:lstStyle/>
          <ns1:p>
            <ns1:pPr algn="ctr"/>
            <ns1:endParaRPr/>
          </ns1:p>
        </ns0:txBody>
      </ns0:sp>
      <ns0:sp>
        <ns0:nvSpPr>
          <ns0:cNvPr id="8" name="TextBox 7"/>
          <ns0:cNvSpPr txBox="1"/>
          <ns0:nvPr/>
        </ns0:nvSpPr>
        <ns0:spPr>
          <ns1:xfrm>
            <ns1:off x="2377440" y="1371600"/>
            <ns1:ext cx="2103120" cy="411480"/>
          </ns1:xfrm>
          <ns1:prstGeom prst="rect">
            <ns1:avLst/>
          </ns1:prstGeom>
          <ns1:noFill/>
        </ns0:spPr>
        <ns0:txBody>
          <ns1:bodyPr wrap="square" anchor="ctr">
            <ns1:spAutoFit/>
          </ns1:bodyPr>
          <ns1:lstStyle/>
          <ns1:p>
            <ns1:pPr algn="ctr"/>
            <ns1:r>
              <ns1:rPr sz="1200" b="1">
                <ns1:solidFill>
                  <ns1:srgbClr val="005587"/>
                </ns1:solidFill>
                <ns1:latin typeface="Whitney Bold"/>
              </ns1:rPr>
              <ns1:t>Prompting</ns1:t>
            </ns1:r>
          </ns1:p>
        </ns0:txBody>
      </ns0:sp>
      <ns0:sp>
        <ns0:nvSpPr>
          <ns0:cNvPr id="9" name="TextBox 8"/>
          <ns0:cNvSpPr txBox="1"/>
          <ns0:nvPr/>
        </ns0:nvSpPr>
        <ns0:spPr>
          <ns1:xfrm>
            <ns1:off x="4480560" y="1371600"/>
            <ns1:ext cx="2103120" cy="411480"/>
          </ns1:xfrm>
          <ns1:prstGeom prst="rect">
            <ns1:avLst/>
          </ns1:prstGeom>
          <ns1:noFill/>
        </ns0:spPr>
        <ns0:txBody>
          <ns1:bodyPr wrap="square" anchor="ctr">
            <ns1:spAutoFit/>
          </ns1:bodyPr>
          <ns1:lstStyle/>
          <ns1:p>
            <ns1:pPr algn="ctr"/>
            <ns1:r>
              <ns1:rPr sz="1200" b="1">
                <ns1:solidFill>
                  <ns1:srgbClr val="005587"/>
                </ns1:solidFill>
                <ns1:latin typeface="Whitney Bold"/>
              </ns1:rPr>
              <ns1:t>RAG</ns1:t>
            </ns1:r>
          </ns1:p>
        </ns0:txBody>
      </ns0:sp>
      <ns0:sp>
        <ns0:nvSpPr>
          <ns0:cNvPr id="10" name="TextBox 9"/>
          <ns0:cNvSpPr txBox="1"/>
          <ns0:nvPr/>
        </ns0:nvSpPr>
        <ns0:spPr>
          <ns1:xfrm>
            <ns1:off x="6583680" y="1371600"/>
            <ns1:ext cx="2194560" cy="411480"/>
          </ns1:xfrm>
          <ns1:prstGeom prst="rect">
            <ns1:avLst/>
          </ns1:prstGeom>
          <ns1:noFill/>
        </ns0:spPr>
        <ns0:txBody>
          <ns1:bodyPr wrap="square" anchor="ctr">
            <ns1:spAutoFit/>
          </ns1:bodyPr>
          <ns1:lstStyle/>
          <ns1:p>
            <ns1:pPr algn="ctr"/>
            <ns1:r>
              <ns1:rPr sz="1200" b="1">
                <ns1:solidFill>
                  <ns1:srgbClr val="005587"/>
                </ns1:solidFill>
                <ns1:latin typeface="Whitney Bold"/>
              </ns1:rPr>
              <ns1:t>Fine-tuning</ns1:t>
            </ns1:r>
          </ns1:p>
        </ns0:txBody>
      </ns0:sp>
      <ns0:sp>
        <ns0:nvSpPr>
          <ns0:cNvPr id="11" name="Rectangle 10"/>
          <ns0:cNvSpPr/>
          <ns0:nvPr/>
        </ns0:nvSpPr>
        <ns0:spPr>
          <ns1:xfrm>
            <ns1:off x="365760" y="1783080"/>
            <ns1:ext cx="8412480" cy="457200"/>
          </ns1:xfrm>
          <ns1:prstGeom prst="rect">
            <ns1:avLst/>
          </ns1:prstGeom>
          <ns1:solidFill>
            <ns1:srgbClr val="FFFFFF"/>
          </ns1:solidFill>
          <ns1:ln w="3175">
            <ns1:solidFill>
              <ns1:srgbClr val="C8C8C8"/>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2" name="TextBox 11"/>
          <ns0:cNvSpPr txBox="1"/>
          <ns0:nvPr/>
        </ns0:nvSpPr>
        <ns0:spPr>
          <ns1:xfrm>
            <ns1:off x="457200" y="1828800"/>
            <ns1:ext cx="1828800" cy="365760"/>
          </ns1:xfrm>
          <ns1:prstGeom prst="rect">
            <ns1:avLst/>
          </ns1:prstGeom>
          <ns1:noFill/>
        </ns0:spPr>
        <ns0:txBody>
          <ns1:bodyPr wrap="square" anchor="ctr">
            <ns1:spAutoFit/>
          </ns1:bodyPr>
          <ns1:lstStyle/>
          <ns1:p>
            <ns1:pPr algn="l"/>
            <ns1:r>
              <ns1:rPr sz="1000" b="1">
                <ns1:solidFill>
                  <ns1:srgbClr val="005587"/>
                </ns1:solidFill>
                <ns1:latin typeface="Arial"/>
              </ns1:rPr>
              <ns1:t>Changes weights?</ns1:t>
            </ns1:r>
          </ns1:p>
        </ns0:txBody>
      </ns0:sp>
      <ns0:sp>
        <ns0:nvSpPr>
          <ns0:cNvPr id="13" name="TextBox 12"/>
          <ns0:cNvSpPr txBox="1"/>
          <ns0:nvPr/>
        </ns0:nvSpPr>
        <ns0:spPr>
          <ns1:xfrm>
            <ns1:off x="2468880" y="18288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No</ns1:t>
            </ns1:r>
          </ns1:p>
        </ns0:txBody>
      </ns0:sp>
      <ns0:sp>
        <ns0:nvSpPr>
          <ns0:cNvPr id="14" name="TextBox 13"/>
          <ns0:cNvSpPr txBox="1"/>
          <ns0:nvPr/>
        </ns0:nvSpPr>
        <ns0:spPr>
          <ns1:xfrm>
            <ns1:off x="4572000" y="18288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No</ns1:t>
            </ns1:r>
          </ns1:p>
        </ns0:txBody>
      </ns0:sp>
      <ns0:sp>
        <ns0:nvSpPr>
          <ns0:cNvPr id="15" name="TextBox 14"/>
          <ns0:cNvSpPr txBox="1"/>
          <ns0:nvPr/>
        </ns0:nvSpPr>
        <ns0:spPr>
          <ns1:xfrm>
            <ns1:off x="6675120" y="1828800"/>
            <ns1:ext cx="2011679" cy="365760"/>
          </ns1:xfrm>
          <ns1:prstGeom prst="rect">
            <ns1:avLst/>
          </ns1:prstGeom>
          <ns1:noFill/>
        </ns0:spPr>
        <ns0:txBody>
          <ns1:bodyPr wrap="square" anchor="ctr">
            <ns1:spAutoFit/>
          </ns1:bodyPr>
          <ns1:lstStyle/>
          <ns1:p>
            <ns1:pPr algn="l"/>
            <ns1:r>
              <ns1:rPr sz="900" b="0">
                <ns1:solidFill>
                  <ns1:srgbClr val="1F1F1F"/>
                </ns1:solidFill>
                <ns1:latin typeface="Arial"/>
              </ns1:rPr>
              <ns1:t>Yes (SFT or LoRA)</ns1:t>
            </ns1:r>
          </ns1:p>
        </ns0:txBody>
      </ns0:sp>
      <ns0:sp>
        <ns0:nvSpPr>
          <ns0:cNvPr id="16" name="Rectangle 15"/>
          <ns0:cNvSpPr/>
          <ns0:nvPr/>
        </ns0:nvSpPr>
        <ns0:spPr>
          <ns1:xfrm>
            <ns1:off x="365760" y="2240280"/>
            <ns1:ext cx="8412480" cy="457200"/>
          </ns1:xfrm>
          <ns1:prstGeom prst="rect">
            <ns1:avLst/>
          </ns1:prstGeom>
          <ns1:solidFill>
            <ns1:srgbClr val="FFFFFF"/>
          </ns1:solidFill>
          <ns1:ln w="3175">
            <ns1:solidFill>
              <ns1:srgbClr val="C8C8C8"/>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17" name="TextBox 16"/>
          <ns0:cNvSpPr txBox="1"/>
          <ns0:nvPr/>
        </ns0:nvSpPr>
        <ns0:spPr>
          <ns1:xfrm>
            <ns1:off x="457200" y="2286000"/>
            <ns1:ext cx="1828800" cy="365760"/>
          </ns1:xfrm>
          <ns1:prstGeom prst="rect">
            <ns1:avLst/>
          </ns1:prstGeom>
          <ns1:noFill/>
        </ns0:spPr>
        <ns0:txBody>
          <ns1:bodyPr wrap="square" anchor="ctr">
            <ns1:spAutoFit/>
          </ns1:bodyPr>
          <ns1:lstStyle/>
          <ns1:p>
            <ns1:pPr algn="l"/>
            <ns1:r>
              <ns1:rPr sz="1000" b="1">
                <ns1:solidFill>
                  <ns1:srgbClr val="005587"/>
                </ns1:solidFill>
                <ns1:latin typeface="Arial"/>
              </ns1:rPr>
              <ns1:t>Setup cost</ns1:t>
            </ns1:r>
          </ns1:p>
        </ns0:txBody>
      </ns0:sp>
      <ns0:sp>
        <ns0:nvSpPr>
          <ns0:cNvPr id="18" name="TextBox 17"/>
          <ns0:cNvSpPr txBox="1"/>
          <ns0:nvPr/>
        </ns0:nvSpPr>
        <ns0:spPr>
          <ns1:xfrm>
            <ns1:off x="2468880" y="22860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Hours</ns1:t>
            </ns1:r>
          </ns1:p>
        </ns0:txBody>
      </ns0:sp>
      <ns0:sp>
        <ns0:nvSpPr>
          <ns0:cNvPr id="19" name="TextBox 18"/>
          <ns0:cNvSpPr txBox="1"/>
          <ns0:nvPr/>
        </ns0:nvSpPr>
        <ns0:spPr>
          <ns1:xfrm>
            <ns1:off x="4572000" y="22860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Days to weeks</ns1:t>
            </ns1:r>
          </ns1:p>
        </ns0:txBody>
      </ns0:sp>
      <ns0:sp>
        <ns0:nvSpPr>
          <ns0:cNvPr id="20" name="TextBox 19"/>
          <ns0:cNvSpPr txBox="1"/>
          <ns0:nvPr/>
        </ns0:nvSpPr>
        <ns0:spPr>
          <ns1:xfrm>
            <ns1:off x="6675120" y="2286000"/>
            <ns1:ext cx="2011679" cy="365760"/>
          </ns1:xfrm>
          <ns1:prstGeom prst="rect">
            <ns1:avLst/>
          </ns1:prstGeom>
          <ns1:noFill/>
        </ns0:spPr>
        <ns0:txBody>
          <ns1:bodyPr wrap="square" anchor="ctr">
            <ns1:spAutoFit/>
          </ns1:bodyPr>
          <ns1:lstStyle/>
          <ns1:p>
            <ns1:pPr algn="l"/>
            <ns1:r>
              <ns1:rPr sz="900" b="0">
                <ns1:solidFill>
                  <ns1:srgbClr val="1F1F1F"/>
                </ns1:solidFill>
                <ns1:latin typeface="Arial"/>
              </ns1:rPr>
              <ns1:t>Days to weeks (+labels)</ns1:t>
            </ns1:r>
          </ns1:p>
        </ns0:txBody>
      </ns0:sp>
      <ns0:sp>
        <ns0:nvSpPr>
          <ns0:cNvPr id="21" name="Rectangle 20"/>
          <ns0:cNvSpPr/>
          <ns0:nvPr/>
        </ns0:nvSpPr>
        <ns0:spPr>
          <ns1:xfrm>
            <ns1:off x="365760" y="2697480"/>
            <ns1:ext cx="8412480" cy="457200"/>
          </ns1:xfrm>
          <ns1:prstGeom prst="rect">
            <ns1:avLst/>
          </ns1:prstGeom>
          <ns1:solidFill>
            <ns1:srgbClr val="FFFFFF"/>
          </ns1:solidFill>
          <ns1:ln w="3175">
            <ns1:solidFill>
              <ns1:srgbClr val="C8C8C8"/>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2" name="TextBox 21"/>
          <ns0:cNvSpPr txBox="1"/>
          <ns0:nvPr/>
        </ns0:nvSpPr>
        <ns0:spPr>
          <ns1:xfrm>
            <ns1:off x="457200" y="2743200"/>
            <ns1:ext cx="1828800" cy="365760"/>
          </ns1:xfrm>
          <ns1:prstGeom prst="rect">
            <ns1:avLst/>
          </ns1:prstGeom>
          <ns1:noFill/>
        </ns0:spPr>
        <ns0:txBody>
          <ns1:bodyPr wrap="square" anchor="ctr">
            <ns1:spAutoFit/>
          </ns1:bodyPr>
          <ns1:lstStyle/>
          <ns1:p>
            <ns1:pPr algn="l"/>
            <ns1:r>
              <ns1:rPr sz="1000" b="1">
                <ns1:solidFill>
                  <ns1:srgbClr val="005587"/>
                </ns1:solidFill>
                <ns1:latin typeface="Arial"/>
              </ns1:rPr>
              <ns1:t>Per-query cost</ns1:t>
            </ns1:r>
          </ns1:p>
        </ns0:txBody>
      </ns0:sp>
      <ns0:sp>
        <ns0:nvSpPr>
          <ns0:cNvPr id="23" name="TextBox 22"/>
          <ns0:cNvSpPr txBox="1"/>
          <ns0:nvPr/>
        </ns0:nvSpPr>
        <ns0:spPr>
          <ns1:xfrm>
            <ns1:off x="2468880" y="27432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Just inference</ns1:t>
            </ns1:r>
          </ns1:p>
        </ns0:txBody>
      </ns0:sp>
      <ns0:sp>
        <ns0:nvSpPr>
          <ns0:cNvPr id="24" name="TextBox 23"/>
          <ns0:cNvSpPr txBox="1"/>
          <ns0:nvPr/>
        </ns0:nvSpPr>
        <ns0:spPr>
          <ns1:xfrm>
            <ns1:off x="4572000" y="27432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Inference + retrieval</ns1:t>
            </ns1:r>
          </ns1:p>
        </ns0:txBody>
      </ns0:sp>
      <ns0:sp>
        <ns0:nvSpPr>
          <ns0:cNvPr id="25" name="TextBox 24"/>
          <ns0:cNvSpPr txBox="1"/>
          <ns0:nvPr/>
        </ns0:nvSpPr>
        <ns0:spPr>
          <ns1:xfrm>
            <ns1:off x="6675120" y="2743200"/>
            <ns1:ext cx="2011679" cy="365760"/>
          </ns1:xfrm>
          <ns1:prstGeom prst="rect">
            <ns1:avLst/>
          </ns1:prstGeom>
          <ns1:noFill/>
        </ns0:spPr>
        <ns0:txBody>
          <ns1:bodyPr wrap="square" anchor="ctr">
            <ns1:spAutoFit/>
          </ns1:bodyPr>
          <ns1:lstStyle/>
          <ns1:p>
            <ns1:pPr algn="l"/>
            <ns1:r>
              <ns1:rPr sz="900" b="0">
                <ns1:solidFill>
                  <ns1:srgbClr val="1F1F1F"/>
                </ns1:solidFill>
                <ns1:latin typeface="Arial"/>
              </ns1:rPr>
              <ns1:t>Just inference</ns1:t>
            </ns1:r>
          </ns1:p>
        </ns0:txBody>
      </ns0:sp>
      <ns0:sp>
        <ns0:nvSpPr>
          <ns0:cNvPr id="26" name="Rectangle 25"/>
          <ns0:cNvSpPr/>
          <ns0:nvPr/>
        </ns0:nvSpPr>
        <ns0:spPr>
          <ns1:xfrm>
            <ns1:off x="365760" y="3154680"/>
            <ns1:ext cx="8412480" cy="457200"/>
          </ns1:xfrm>
          <ns1:prstGeom prst="rect">
            <ns1:avLst/>
          </ns1:prstGeom>
          <ns1:solidFill>
            <ns1:srgbClr val="FFFFFF"/>
          </ns1:solidFill>
          <ns1:ln w="3175">
            <ns1:solidFill>
              <ns1:srgbClr val="C8C8C8"/>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27" name="TextBox 26"/>
          <ns0:cNvSpPr txBox="1"/>
          <ns0:nvPr/>
        </ns0:nvSpPr>
        <ns0:spPr>
          <ns1:xfrm>
            <ns1:off x="457200" y="3200400"/>
            <ns1:ext cx="1828800" cy="365760"/>
          </ns1:xfrm>
          <ns1:prstGeom prst="rect">
            <ns1:avLst/>
          </ns1:prstGeom>
          <ns1:noFill/>
        </ns0:spPr>
        <ns0:txBody>
          <ns1:bodyPr wrap="square" anchor="ctr">
            <ns1:spAutoFit/>
          </ns1:bodyPr>
          <ns1:lstStyle/>
          <ns1:p>
            <ns1:pPr algn="l"/>
            <ns1:r>
              <ns1:rPr sz="1000" b="1">
                <ns1:solidFill>
                  <ns1:srgbClr val="005587"/>
                </ns1:solidFill>
                <ns1:latin typeface="Arial"/>
              </ns1:rPr>
              <ns1:t>Adds fresh facts?</ns1:t>
            </ns1:r>
          </ns1:p>
        </ns0:txBody>
      </ns0:sp>
      <ns0:sp>
        <ns0:nvSpPr>
          <ns0:cNvPr id="28" name="TextBox 27"/>
          <ns0:cNvSpPr txBox="1"/>
          <ns0:nvPr/>
        </ns0:nvSpPr>
        <ns0:spPr>
          <ns1:xfrm>
            <ns1:off x="2468880" y="32004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No</ns1:t>
            </ns1:r>
          </ns1:p>
        </ns0:txBody>
      </ns0:sp>
      <ns0:sp>
        <ns0:nvSpPr>
          <ns0:cNvPr id="29" name="TextBox 28"/>
          <ns0:cNvSpPr txBox="1"/>
          <ns0:nvPr/>
        </ns0:nvSpPr>
        <ns0:spPr>
          <ns1:xfrm>
            <ns1:off x="4572000" y="32004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Yes (anything indexed)</ns1:t>
            </ns1:r>
          </ns1:p>
        </ns0:txBody>
      </ns0:sp>
      <ns0:sp>
        <ns0:nvSpPr>
          <ns0:cNvPr id="30" name="TextBox 29"/>
          <ns0:cNvSpPr txBox="1"/>
          <ns0:nvPr/>
        </ns0:nvSpPr>
        <ns0:spPr>
          <ns1:xfrm>
            <ns1:off x="6675120" y="3200400"/>
            <ns1:ext cx="2011679" cy="365760"/>
          </ns1:xfrm>
          <ns1:prstGeom prst="rect">
            <ns1:avLst/>
          </ns1:prstGeom>
          <ns1:noFill/>
        </ns0:spPr>
        <ns0:txBody>
          <ns1:bodyPr wrap="square" anchor="ctr">
            <ns1:spAutoFit/>
          </ns1:bodyPr>
          <ns1:lstStyle/>
          <ns1:p>
            <ns1:pPr algn="l"/>
            <ns1:r>
              <ns1:rPr sz="900" b="0">
                <ns1:solidFill>
                  <ns1:srgbClr val="1F1F1F"/>
                </ns1:solidFill>
                <ns1:latin typeface="Arial"/>
              </ns1:rPr>
              <ns1:t>Limited; bakes into weights</ns1:t>
            </ns1:r>
          </ns1:p>
        </ns0:txBody>
      </ns0:sp>
      <ns0:sp>
        <ns0:nvSpPr>
          <ns0:cNvPr id="31" name="Rectangle 30"/>
          <ns0:cNvSpPr/>
          <ns0:nvPr/>
        </ns0:nvSpPr>
        <ns0:spPr>
          <ns1:xfrm>
            <ns1:off x="365760" y="3611880"/>
            <ns1:ext cx="8412480" cy="457200"/>
          </ns1:xfrm>
          <ns1:prstGeom prst="rect">
            <ns1:avLst/>
          </ns1:prstGeom>
          <ns1:solidFill>
            <ns1:srgbClr val="FFFFFF"/>
          </ns1:solidFill>
          <ns1:ln w="3175">
            <ns1:solidFill>
              <ns1:srgbClr val="C8C8C8"/>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2" name="TextBox 31"/>
          <ns0:cNvSpPr txBox="1"/>
          <ns0:nvPr/>
        </ns0:nvSpPr>
        <ns0:spPr>
          <ns1:xfrm>
            <ns1:off x="457200" y="3657600"/>
            <ns1:ext cx="1828800" cy="365760"/>
          </ns1:xfrm>
          <ns1:prstGeom prst="rect">
            <ns1:avLst/>
          </ns1:prstGeom>
          <ns1:noFill/>
        </ns0:spPr>
        <ns0:txBody>
          <ns1:bodyPr wrap="square" anchor="ctr">
            <ns1:spAutoFit/>
          </ns1:bodyPr>
          <ns1:lstStyle/>
          <ns1:p>
            <ns1:pPr algn="l"/>
            <ns1:r>
              <ns1:rPr sz="1000" b="1">
                <ns1:solidFill>
                  <ns1:srgbClr val="005587"/>
                </ns1:solidFill>
                <ns1:latin typeface="Arial"/>
              </ns1:rPr>
              <ns1:t>Best for</ns1:t>
            </ns1:r>
          </ns1:p>
        </ns0:txBody>
      </ns0:sp>
      <ns0:sp>
        <ns0:nvSpPr>
          <ns0:cNvPr id="33" name="TextBox 32"/>
          <ns0:cNvSpPr txBox="1"/>
          <ns0:nvPr/>
        </ns0:nvSpPr>
        <ns0:spPr>
          <ns1:xfrm>
            <ns1:off x="2468880" y="36576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Style, instructions,
quick wins</ns1:t>
            </ns1:r>
          </ns1:p>
        </ns0:txBody>
      </ns0:sp>
      <ns0:sp>
        <ns0:nvSpPr>
          <ns0:cNvPr id="34" name="TextBox 33"/>
          <ns0:cNvSpPr txBox="1"/>
          <ns0:nvPr/>
        </ns0:nvSpPr>
        <ns0:spPr>
          <ns1:xfrm>
            <ns1:off x="4572000" y="36576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Grounding on private or
fast-changing data</ns1:t>
            </ns1:r>
          </ns1:p>
        </ns0:txBody>
      </ns0:sp>
      <ns0:sp>
        <ns0:nvSpPr>
          <ns0:cNvPr id="35" name="TextBox 34"/>
          <ns0:cNvSpPr txBox="1"/>
          <ns0:nvPr/>
        </ns0:nvSpPr>
        <ns0:spPr>
          <ns1:xfrm>
            <ns1:off x="6675120" y="3657600"/>
            <ns1:ext cx="2011679" cy="365760"/>
          </ns1:xfrm>
          <ns1:prstGeom prst="rect">
            <ns1:avLst/>
          </ns1:prstGeom>
          <ns1:noFill/>
        </ns0:spPr>
        <ns0:txBody>
          <ns1:bodyPr wrap="square" anchor="ctr">
            <ns1:spAutoFit/>
          </ns1:bodyPr>
          <ns1:lstStyle/>
          <ns1:p>
            <ns1:pPr algn="l"/>
            <ns1:r>
              <ns1:rPr sz="900" b="0">
                <ns1:solidFill>
                  <ns1:srgbClr val="1F1F1F"/>
                </ns1:solidFill>
                <ns1:latin typeface="Arial"/>
              </ns1:rPr>
              <ns1:t>Locking in consistent
style / format / domain</ns1:t>
            </ns1:r>
          </ns1:p>
        </ns0:txBody>
      </ns0:sp>
      <ns0:sp>
        <ns0:nvSpPr>
          <ns0:cNvPr id="36" name="Rectangle 35"/>
          <ns0:cNvSpPr/>
          <ns0:nvPr/>
        </ns0:nvSpPr>
        <ns0:spPr>
          <ns1:xfrm>
            <ns1:off x="365760" y="4069080"/>
            <ns1:ext cx="8412480" cy="457200"/>
          </ns1:xfrm>
          <ns1:prstGeom prst="rect">
            <ns1:avLst/>
          </ns1:prstGeom>
          <ns1:solidFill>
            <ns1:srgbClr val="FFFFFF"/>
          </ns1:solidFill>
          <ns1:ln w="3175">
            <ns1:solidFill>
              <ns1:srgbClr val="C8C8C8"/>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7" name="TextBox 36"/>
          <ns0:cNvSpPr txBox="1"/>
          <ns0:nvPr/>
        </ns0:nvSpPr>
        <ns0:spPr>
          <ns1:xfrm>
            <ns1:off x="457200" y="4114800"/>
            <ns1:ext cx="1828800" cy="365760"/>
          </ns1:xfrm>
          <ns1:prstGeom prst="rect">
            <ns1:avLst/>
          </ns1:prstGeom>
          <ns1:noFill/>
        </ns0:spPr>
        <ns0:txBody>
          <ns1:bodyPr wrap="square" anchor="ctr">
            <ns1:spAutoFit/>
          </ns1:bodyPr>
          <ns1:lstStyle/>
          <ns1:p>
            <ns1:pPr algn="l"/>
            <ns1:r>
              <ns1:rPr sz="1000" b="1">
                <ns1:solidFill>
                  <ns1:srgbClr val="005587"/>
                </ns1:solidFill>
                <ns1:latin typeface="Arial"/>
              </ns1:rPr>
              <ns1:t>Weakness</ns1:t>
            </ns1:r>
          </ns1:p>
        </ns0:txBody>
      </ns0:sp>
      <ns0:sp>
        <ns0:nvSpPr>
          <ns0:cNvPr id="38" name="TextBox 37"/>
          <ns0:cNvSpPr txBox="1"/>
          <ns0:nvPr/>
        </ns0:nvSpPr>
        <ns0:spPr>
          <ns1:xfrm>
            <ns1:off x="2468880" y="41148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Fragile, finite context</ns1:t>
            </ns1:r>
          </ns1:p>
        </ns0:txBody>
      </ns0:sp>
      <ns0:sp>
        <ns0:nvSpPr>
          <ns0:cNvPr id="39" name="TextBox 38"/>
          <ns0:cNvSpPr txBox="1"/>
          <ns0:nvPr/>
        </ns0:nvSpPr>
        <ns0:spPr>
          <ns1:xfrm>
            <ns1:off x="4572000" y="41148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Retrieval quality,
latency, stale data</ns1:t>
            </ns1:r>
          </ns1:p>
        </ns0:txBody>
      </ns0:sp>
      <ns0:sp>
        <ns0:nvSpPr>
          <ns0:cNvPr id="40" name="TextBox 39"/>
          <ns0:cNvSpPr txBox="1"/>
          <ns0:nvPr/>
        </ns0:nvSpPr>
        <ns0:spPr>
          <ns1:xfrm>
            <ns1:off x="6675120" y="4114800"/>
            <ns1:ext cx="2011679" cy="365760"/>
          </ns1:xfrm>
          <ns1:prstGeom prst="rect">
            <ns1:avLst/>
          </ns1:prstGeom>
          <ns1:noFill/>
        </ns0:spPr>
        <ns0:txBody>
          <ns1:bodyPr wrap="square" anchor="ctr">
            <ns1:spAutoFit/>
          </ns1:bodyPr>
          <ns1:lstStyle/>
          <ns1:p>
            <ns1:pPr algn="l"/>
            <ns1:r>
              <ns1:rPr sz="900" b="0">
                <ns1:solidFill>
                  <ns1:srgbClr val="1F1F1F"/>
                </ns1:solidFill>
                <ns1:latin typeface="Arial"/>
              </ns1:rPr>
              <ns1:t>Catastrophic forgetting,
label cost</ns1:t>
            </ns1:r>
          </ns1:p>
        </ns0:txBody>
      </ns0:sp>
      <ns0:sp>
        <ns0:nvSpPr>
          <ns0:cNvPr id="41" name="Rectangle 40"/>
          <ns0:cNvSpPr/>
          <ns0:nvPr/>
        </ns0:nvSpPr>
        <ns0:spPr>
          <ns1:xfrm>
            <ns1:off x="365760" y="4526280"/>
            <ns1:ext cx="8412480" cy="457200"/>
          </ns1:xfrm>
          <ns1:prstGeom prst="rect">
            <ns1:avLst/>
          </ns1:prstGeom>
          <ns1:solidFill>
            <ns1:srgbClr val="FFFFFF"/>
          </ns1:solidFill>
          <ns1:ln w="3175">
            <ns1:solidFill>
              <ns1:srgbClr val="C8C8C8"/>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42" name="TextBox 41"/>
          <ns0:cNvSpPr txBox="1"/>
          <ns0:nvPr/>
        </ns0:nvSpPr>
        <ns0:spPr>
          <ns1:xfrm>
            <ns1:off x="457200" y="4572000"/>
            <ns1:ext cx="1828800" cy="365760"/>
          </ns1:xfrm>
          <ns1:prstGeom prst="rect">
            <ns1:avLst/>
          </ns1:prstGeom>
          <ns1:noFill/>
        </ns0:spPr>
        <ns0:txBody>
          <ns1:bodyPr wrap="square" anchor="ctr">
            <ns1:spAutoFit/>
          </ns1:bodyPr>
          <ns1:lstStyle/>
          <ns1:p>
            <ns1:pPr algn="l"/>
            <ns1:r>
              <ns1:rPr sz="1000" b="1">
                <ns1:solidFill>
                  <ns1:srgbClr val="005587"/>
                </ns1:solidFill>
                <ns1:latin typeface="Arial"/>
              </ns1:rPr>
              <ns1:t>Reach for it when…</ns1:t>
            </ns1:r>
          </ns1:p>
        </ns0:txBody>
      </ns0:sp>
      <ns0:sp>
        <ns0:nvSpPr>
          <ns0:cNvPr id="43" name="TextBox 42"/>
          <ns0:cNvSpPr txBox="1"/>
          <ns0:nvPr/>
        </ns0:nvSpPr>
        <ns0:spPr>
          <ns1:xfrm>
            <ns1:off x="2468880" y="45720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You haven't tried
prompting yet</ns1:t>
            </ns1:r>
          </ns1:p>
        </ns0:txBody>
      </ns0:sp>
      <ns0:sp>
        <ns0:nvSpPr>
          <ns0:cNvPr id="44" name="TextBox 43"/>
          <ns0:cNvSpPr txBox="1"/>
          <ns0:nvPr/>
        </ns0:nvSpPr>
        <ns0:spPr>
          <ns1:xfrm>
            <ns1:off x="4572000" y="4572000"/>
            <ns1:ext cx="1920239" cy="365760"/>
          </ns1:xfrm>
          <ns1:prstGeom prst="rect">
            <ns1:avLst/>
          </ns1:prstGeom>
          <ns1:noFill/>
        </ns0:spPr>
        <ns0:txBody>
          <ns1:bodyPr wrap="square" anchor="ctr">
            <ns1:spAutoFit/>
          </ns1:bodyPr>
          <ns1:lstStyle/>
          <ns1:p>
            <ns1:pPr algn="l"/>
            <ns1:r>
              <ns1:rPr sz="900" b="0">
                <ns1:solidFill>
                  <ns1:srgbClr val="1F1F1F"/>
                </ns1:solidFill>
                <ns1:latin typeface="Arial"/>
              </ns1:rPr>
              <ns1:t>Answers must cite
your documents</ns1:t>
            </ns1:r>
          </ns1:p>
        </ns0:txBody>
      </ns0:sp>
      <ns0:sp>
        <ns0:nvSpPr>
          <ns0:cNvPr id="45" name="TextBox 44"/>
          <ns0:cNvSpPr txBox="1"/>
          <ns0:nvPr/>
        </ns0:nvSpPr>
        <ns0:spPr>
          <ns1:xfrm>
            <ns1:off x="6675120" y="4572000"/>
            <ns1:ext cx="2011679" cy="365760"/>
          </ns1:xfrm>
          <ns1:prstGeom prst="rect">
            <ns1:avLst/>
          </ns1:prstGeom>
          <ns1:noFill/>
        </ns0:spPr>
        <ns0:txBody>
          <ns1:bodyPr wrap="square" anchor="ctr">
            <ns1:spAutoFit/>
          </ns1:bodyPr>
          <ns1:lstStyle/>
          <ns1:p>
            <ns1:pPr algn="l"/>
            <ns1:r>
              <ns1:rPr sz="900" b="0">
                <ns1:solidFill>
                  <ns1:srgbClr val="1F1F1F"/>
                </ns1:solidFill>
                <ns1:latin typeface="Arial"/>
              </ns1:rPr>
              <ns1:t>Prompting plateaued and
you have labeled data</ns1:t>
            </ns1:r>
          </ns1:p>
        </ns0:txBody>
      </ns0:sp>
    </ns0:spTree>
  </ns0:cSld>
  <ns0:clrMapOvr>
    <ns1:masterClrMapping/>
  </ns0:clrMapOvr>
</ns0:sld>
</file>

<file path=ppt/slides/slide19.xml><?xml version="1.0" encoding="utf-8"?>
<ns0:sld xmlns:ns0="http://schemas.openxmlformats.org/presentationml/2006/main" xmlns:ns1="http://schemas.openxmlformats.org/drawingml/2006/main">
  <ns0:cSld name="Slide 17">
    <ns0:bg>
      <ns0:bgPr>
        <ns1:solidFill>
          <ns1:srgbClr val="005587"/>
        </ns1:solidFill>
      </ns0:bgPr>
    </ns0:bg>
    <ns0:spTree>
      <ns0:nvGrpSpPr>
        <ns0:cNvPr id="1" name=""/>
        <ns0:cNvGrpSpPr/>
        <ns0:nvPr/>
      </ns0:nvGrpSpPr>
      <ns0:grpSpPr>
        <ns1:xfrm>
          <ns1:off x="0" y="0"/>
          <ns1:ext cx="0" cy="0"/>
          <ns1:chOff x="0" y="0"/>
          <ns1:chExt cx="0" cy="0"/>
        </ns1:xfrm>
      </ns0:grpSpPr>
      <ns0:sp>
        <ns0:nvSpPr>
          <ns0:cNvPr id="2" name="Text 0"/>
          <ns0:cNvSpPr/>
          <ns0:nvPr/>
        </ns0:nvSpPr>
        <ns0:spPr>
          <ns1:xfrm>
            <ns1:off x="914400" y="1371600"/>
            <ns1:ext cx="7315200" cy="2286000"/>
          </ns1:xfrm>
          <ns1:prstGeom prst="rect">
            <ns1:avLst/>
          </ns1:prstGeom>
          <ns1:noFill/>
          <ns1:ln/>
        </ns0:spPr>
        <ns0:txBody>
          <ns1:bodyPr wrap="square" rtlCol="0" anchor="ctr"/>
          <ns1:lstStyle/>
          <ns1:p>
            <ns1:pPr marL="0" indent="0" algn="ctr">
              <ns1:buNone/>
            </ns1:pPr>
            <ns1:r>
              <ns1:rPr lang="en-US" sz="3600" b="1" dirty="0">
                <ns1:solidFill>
                  <ns1:srgbClr val="FFFFFF"/>
                </ns1:solidFill>
                <ns1:latin typeface="Whitney Bold" pitchFamily="34" charset="0"/>
                <ns1:ea typeface="Whitney Bold" pitchFamily="34" charset="-122"/>
                <ns1:cs typeface="Whitney Bold" pitchFamily="34" charset="-120"/>
              </ns1:rPr>
              <ns1:t>15-min Break</ns1:t>
            </ns1:r>
            <ns1:endParaRPr lang="en-US" sz="3600" dirty="0"/>
          </ns1:p>
        </ns0:txBody>
      </ns0:sp>
    </ns0:spTree>
  </ns0:cSld>
  <ns0:clrMapOvr>
    <ns1:masterClrMapping/>
  </ns0:clrMapOvr>
</ns0:sld>
</file>

<file path=ppt/slides/slide20.xml><?xml version="1.0" encoding="utf-8"?>
<ns0:sld xmlns:ns0="http://schemas.openxmlformats.org/presentationml/2006/main" xmlns:ns1="http://schemas.openxmlformats.org/drawingml/2006/main">
  <ns0:cSld name="Slide 18">
    <ns0:bg>
      <ns0:bgPr>
        <ns1:solidFill>
          <ns1:srgbClr val="005587"/>
        </ns1:solidFill>
      </ns0:bgPr>
    </ns0:bg>
    <ns0:spTree>
      <ns0:nvGrpSpPr>
        <ns0:cNvPr id="1" name=""/>
        <ns0:cNvGrpSpPr/>
        <ns0:nvPr/>
      </ns0:nvGrpSpPr>
      <ns0:grpSpPr>
        <ns1:xfrm>
          <ns1:off x="0" y="0"/>
          <ns1:ext cx="0" cy="0"/>
          <ns1:chOff x="0" y="0"/>
          <ns1:chExt cx="0" cy="0"/>
        </ns1:xfrm>
      </ns0:grpSpPr>
      <ns0:sp>
        <ns0:nvSpPr>
          <ns0:cNvPr id="2" name="Text 0"/>
          <ns0:cNvSpPr/>
          <ns0:nvPr/>
        </ns0:nvSpPr>
        <ns0:spPr>
          <ns1:xfrm>
            <ns1:off x="914400" y="1371600"/>
            <ns1:ext cx="7315200" cy="2286000"/>
          </ns1:xfrm>
          <ns1:prstGeom prst="rect">
            <ns1:avLst/>
          </ns1:prstGeom>
          <ns1:noFill/>
          <ns1:ln/>
        </ns0:spPr>
        <ns0:txBody>
          <ns1:bodyPr wrap="square" rtlCol="0" anchor="ctr"/>
          <ns1:lstStyle/>
          <ns1:p>
            <ns1:pPr marL="0" indent="0" algn="ctr">
              <ns1:buNone/>
            </ns1:pPr>
            <ns1:r>
              <ns1:rPr lang="en-US" sz="3600" b="1" dirty="0">
                <ns1:solidFill>
                  <ns1:srgbClr val="FFFFFF"/>
                </ns1:solidFill>
                <ns1:latin typeface="Whitney Bold" pitchFamily="34" charset="0"/>
                <ns1:ea typeface="Whitney Bold" pitchFamily="34" charset="-122"/>
                <ns1:cs typeface="Whitney Bold" pitchFamily="34" charset="-120"/>
              </ns1:rPr>
              <ns1:t>Part 2: App Project + Toolkit</ns1:t>
            </ns1:r>
            <ns1:endParaRPr lang="en-US" sz="3600" dirty="0"/>
          </ns1:p>
          <ns1:p>
            <ns1:pPr marL="0" indent="0" algn="ctr">
              <ns1:buNone/>
            </ns1:pPr>
            <ns1:r>
              <ns1:rPr lang="en-US" sz="3600" b="1" dirty="0">
                <ns1:solidFill>
                  <ns1:srgbClr val="FFFFFF"/>
                </ns1:solidFill>
                <ns1:latin typeface="Whitney Bold" pitchFamily="34" charset="0"/>
                <ns1:ea typeface="Whitney Bold" pitchFamily="34" charset="-122"/>
                <ns1:cs typeface="Whitney Bold" pitchFamily="34" charset="-120"/>
              </ns1:rPr>
              <ns1:t/>
            </ns1:r>
            <ns1:endParaRPr lang="en-US" sz="3600" dirty="0"/>
          </ns1:p>
        </ns0:txBody>
      </ns0:sp>
    </ns0:spTree>
  </ns0:cSld>
  <ns0:clrMapOvr>
    <ns1:masterClrMapping/>
  </ns0:clrMapOvr>
</ns0:sld>
</file>

<file path=ppt/slides/slide21.xml><?xml version="1.0" encoding="utf-8"?>
<ns0:sld xmlns:ns0="http://schemas.openxmlformats.org/presentationml/2006/main" xmlns:ns1="http://schemas.openxmlformats.org/drawingml/2006/main">
  <ns0:cSld name="Slide 19">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App Project: Overview</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Shape 3"/>
          <ns0:cNvSpPr/>
          <ns0:nvPr/>
        </ns0:nvSpPr>
        <ns0:spPr>
          <ns1:xfrm>
            <ns1:off x="457200" y="1051560"/>
            <ns1:ext cx="54864" cy="502920"/>
          </ns1:xfrm>
          <ns1:prstGeom prst="rect">
            <ns1:avLst/>
          </ns1:prstGeom>
          <ns1:solidFill>
            <ns1:srgbClr val="005587"/>
          </ns1:solidFill>
          <ns1:ln/>
        </ns0:spPr>
        <ns0:txBody>
          <ns1:bodyPr/>
          <ns1:lstStyle/>
          <ns1:p>
            <ns1:endParaRPr lang="en-US"/>
          </ns1:p>
        </ns0:txBody>
      </ns0:sp>
      <ns0:sp>
        <ns0:nvSpPr>
          <ns0:cNvPr id="6" name="Text 4"/>
          <ns0:cNvSpPr/>
          <ns0:nvPr/>
        </ns0:nvSpPr>
        <ns0:spPr>
          <ns1:xfrm>
            <ns1:off x="621792" y="1051560"/>
            <ns1:ext cx="2286000" cy="50292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Teams</ns1:t>
            </ns1:r>
            <ns1:endParaRPr lang="en-US" sz="1400" dirty="0"/>
          </ns1:p>
        </ns0:txBody>
      </ns0:sp>
      <ns0:sp>
        <ns0:nvSpPr>
          <ns0:cNvPr id="7" name="Text 5"/>
          <ns0:cNvSpPr/>
          <ns0:nvPr/>
        </ns0:nvSpPr>
        <ns0:spPr>
          <ns1:xfrm>
            <ns1:off x="3044952" y="1051560"/>
            <ns1:ext cx="5577840" cy="502920"/>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Groups of 3 students. Form your team today.</ns1:t>
            </ns1:r>
            <ns1:endParaRPr lang="en-US" sz="1400" dirty="0"/>
          </ns1:p>
        </ns0:txBody>
      </ns0:sp>
      <ns0:sp>
        <ns0:nvSpPr>
          <ns0:cNvPr id="8" name="Shape 6"/>
          <ns0:cNvSpPr/>
          <ns0:nvPr/>
        </ns0:nvSpPr>
        <ns0:spPr>
          <ns1:xfrm>
            <ns1:off x="457200" y="1618488"/>
            <ns1:ext cx="54864" cy="502920"/>
          </ns1:xfrm>
          <ns1:prstGeom prst="rect">
            <ns1:avLst/>
          </ns1:prstGeom>
          <ns1:solidFill>
            <ns1:srgbClr val="005587"/>
          </ns1:solidFill>
          <ns1:ln/>
        </ns0:spPr>
        <ns0:txBody>
          <ns1:bodyPr/>
          <ns1:lstStyle/>
          <ns1:p>
            <ns1:endParaRPr lang="en-US"/>
          </ns1:p>
        </ns0:txBody>
      </ns0:sp>
      <ns0:sp>
        <ns0:nvSpPr>
          <ns0:cNvPr id="9" name="Text 7"/>
          <ns0:cNvSpPr/>
          <ns0:nvPr/>
        </ns0:nvSpPr>
        <ns0:spPr>
          <ns1:xfrm>
            <ns1:off x="621792" y="1618488"/>
            <ns1:ext cx="2286000" cy="50292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Objective</ns1:t>
            </ns1:r>
            <ns1:endParaRPr lang="en-US" sz="1400" dirty="0"/>
          </ns1:p>
        </ns0:txBody>
      </ns0:sp>
      <ns0:sp>
        <ns0:nvSpPr>
          <ns0:cNvPr id="10" name="Text 8"/>
          <ns0:cNvSpPr/>
          <ns0:nvPr/>
        </ns0:nvSpPr>
        <ns0:spPr>
          <ns1:xfrm>
            <ns1:off x="3044952" y="1618488"/>
            <ns1:ext cx="5577840" cy="502920"/>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Build a web app that incorporates an LLM to solve a specific use case.</ns1:t>
            </ns1:r>
            <ns1:endParaRPr lang="en-US" sz="1400" dirty="0"/>
          </ns1:p>
        </ns0:txBody>
      </ns0:sp>
      <ns0:sp>
        <ns0:nvSpPr>
          <ns0:cNvPr id="11" name="Shape 9"/>
          <ns0:cNvSpPr/>
          <ns0:nvPr/>
        </ns0:nvSpPr>
        <ns0:spPr>
          <ns1:xfrm>
            <ns1:off x="457200" y="2185416"/>
            <ns1:ext cx="54864" cy="502920"/>
          </ns1:xfrm>
          <ns1:prstGeom prst="rect">
            <ns1:avLst/>
          </ns1:prstGeom>
          <ns1:solidFill>
            <ns1:srgbClr val="005587"/>
          </ns1:solidFill>
          <ns1:ln/>
        </ns0:spPr>
        <ns0:txBody>
          <ns1:bodyPr/>
          <ns1:lstStyle/>
          <ns1:p>
            <ns1:endParaRPr lang="en-US"/>
          </ns1:p>
        </ns0:txBody>
      </ns0:sp>
      <ns0:sp>
        <ns0:nvSpPr>
          <ns0:cNvPr id="12" name="Text 10"/>
          <ns0:cNvSpPr/>
          <ns0:nvPr/>
        </ns0:nvSpPr>
        <ns0:spPr>
          <ns1:xfrm>
            <ns1:off x="621792" y="2185416"/>
            <ns1:ext cx="2286000" cy="50292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Value proposition</ns1:t>
            </ns1:r>
            <ns1:endParaRPr lang="en-US" sz="1400" dirty="0"/>
          </ns1:p>
        </ns0:txBody>
      </ns0:sp>
      <ns0:sp>
        <ns0:nvSpPr>
          <ns0:cNvPr id="13" name="Text 11"/>
          <ns0:cNvSpPr/>
          <ns0:nvPr/>
        </ns0:nvSpPr>
        <ns0:spPr>
          <ns1:xfrm>
            <ns1:off x="3044952" y="2185416"/>
            <ns1:ext cx="5577840" cy="502920"/>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Explain why AI makes this app meaningfully better than the non-AI alternative.</ns1:t>
            </ns1:r>
            <ns1:endParaRPr lang="en-US" sz="1400" dirty="0"/>
          </ns1:p>
        </ns0:txBody>
      </ns0:sp>
      <ns0:sp>
        <ns0:nvSpPr>
          <ns0:cNvPr id="14" name="Shape 12"/>
          <ns0:cNvSpPr/>
          <ns0:nvPr/>
        </ns0:nvSpPr>
        <ns0:spPr>
          <ns1:xfrm>
            <ns1:off x="457200" y="2752344"/>
            <ns1:ext cx="54864" cy="502920"/>
          </ns1:xfrm>
          <ns1:prstGeom prst="rect">
            <ns1:avLst/>
          </ns1:prstGeom>
          <ns1:solidFill>
            <ns1:srgbClr val="005587"/>
          </ns1:solidFill>
          <ns1:ln/>
        </ns0:spPr>
        <ns0:txBody>
          <ns1:bodyPr/>
          <ns1:lstStyle/>
          <ns1:p>
            <ns1:endParaRPr lang="en-US"/>
          </ns1:p>
        </ns0:txBody>
      </ns0:sp>
      <ns0:sp>
        <ns0:nvSpPr>
          <ns0:cNvPr id="15" name="Text 13"/>
          <ns0:cNvSpPr/>
          <ns0:nvPr/>
        </ns0:nvSpPr>
        <ns0:spPr>
          <ns1:xfrm>
            <ns1:off x="621792" y="2752344"/>
            <ns1:ext cx="2286000" cy="50292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Deliverable</ns1:t>
            </ns1:r>
            <ns1:endParaRPr lang="en-US" sz="1400" dirty="0"/>
          </ns1:p>
        </ns0:txBody>
      </ns0:sp>
      <ns0:sp>
        <ns0:nvSpPr>
          <ns0:cNvPr id="16" name="Text 14"/>
          <ns0:cNvSpPr/>
          <ns0:nvPr/>
        </ns0:nvSpPr>
        <ns0:spPr>
          <ns1:xfrm>
            <ns1:off x="3044952" y="2752344"/>
            <ns1:ext cx="5577840" cy="502920"/>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A working deployed web app + a short presentation explaining the use case and value add.</ns1:t>
            </ns1:r>
            <ns1:endParaRPr lang="en-US" sz="1400" dirty="0"/>
          </ns1:p>
        </ns0:txBody>
      </ns0:sp>
      <ns0:sp>
        <ns0:nvSpPr>
          <ns0:cNvPr id="17" name="Shape 15"/>
          <ns0:cNvSpPr/>
          <ns0:nvPr/>
        </ns0:nvSpPr>
        <ns0:spPr>
          <ns1:xfrm>
            <ns1:off x="457200" y="3319272"/>
            <ns1:ext cx="54864" cy="502920"/>
          </ns1:xfrm>
          <ns1:prstGeom prst="rect">
            <ns1:avLst/>
          </ns1:prstGeom>
          <ns1:solidFill>
            <ns1:srgbClr val="005587"/>
          </ns1:solidFill>
          <ns1:ln/>
        </ns0:spPr>
        <ns0:txBody>
          <ns1:bodyPr/>
          <ns1:lstStyle/>
          <ns1:p>
            <ns1:endParaRPr lang="en-US"/>
          </ns1:p>
        </ns0:txBody>
      </ns0:sp>
      <ns0:sp>
        <ns0:nvSpPr>
          <ns0:cNvPr id="18" name="Text 16"/>
          <ns0:cNvSpPr/>
          <ns0:nvPr/>
        </ns0:nvSpPr>
        <ns0:spPr>
          <ns1:xfrm>
            <ns1:off x="621792" y="3319272"/>
            <ns1:ext cx="2286000" cy="50292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Hosting</ns1:t>
            </ns1:r>
            <ns1:endParaRPr lang="en-US" sz="1400" dirty="0"/>
          </ns1:p>
        </ns0:txBody>
      </ns0:sp>
      <ns0:sp>
        <ns0:nvSpPr>
          <ns0:cNvPr id="19" name="Text 17"/>
          <ns0:cNvSpPr/>
          <ns0:nvPr/>
        </ns0:nvSpPr>
        <ns0:spPr>
          <ns1:xfrm>
            <ns1:off x="3044952" y="3319272"/>
            <ns1:ext cx="5577840" cy="502920"/>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Deployed on Railway so anyone can access it via a URL.</ns1:t>
            </ns1:r>
            <ns1:endParaRPr lang="en-US" sz="1400" dirty="0"/>
          </ns1:p>
        </ns0:txBody>
      </ns0:sp>
    </ns0:spTree>
  </ns0:cSld>
  <ns0:clrMapOvr>
    <ns1:masterClrMapping/>
  </ns0:clrMapOvr>
</ns0:sld>
</file>

<file path=ppt/slides/slide22.xml><?xml version="1.0" encoding="utf-8"?>
<ns0:sld xmlns:ns0="http://schemas.openxmlformats.org/presentationml/2006/main" xmlns:ns1="http://schemas.openxmlformats.org/drawingml/2006/main">
  <ns0:cSld name="Slide 20">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Picking a Use Case</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Text 3"/>
          <ns0:cNvSpPr/>
          <ns0:nvPr/>
        </ns0:nvSpPr>
        <ns0:spPr>
          <ns1:xfrm>
            <ns1:off x="457200" y="960120"/>
            <ns1:ext cx="8321040" cy="365760"/>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Start from a problem, not from the technology. Ask: "What task is painful, repetitive, or requires judgment that an LLM can assist with?"</ns1:t>
            </ns1:r>
            <ns1:endParaRPr lang="en-US" sz="1200" dirty="0"/>
          </ns1:p>
        </ns0:txBody>
      </ns0:sp>
      <ns0:sp>
        <ns0:nvSpPr>
          <ns0:cNvPr id="6" name="Shape 4"/>
          <ns0:cNvSpPr/>
          <ns0:nvPr/>
        </ns0:nvSpPr>
        <ns0:spPr>
          <ns1:xfrm>
            <ns1:off x="457200" y="1508760"/>
            <ns1:ext cx="2606040" cy="1737360"/>
          </ns1:xfrm>
          <ns1:prstGeom prst="rect">
            <ns1:avLst/>
          </ns1:prstGeom>
          <ns1:noFill/>
          <ns1:ln w="9525">
            <ns1:noFill/>
          </ns1:ln>
        </ns0:spPr>
        <ns0:txBody>
          <ns1:bodyPr/>
          <ns1:lstStyle/>
          <ns1:p>
            <ns1:endParaRPr lang="en-US"/>
          </ns1:p>
        </ns0:txBody>
      </ns0:sp>
      <ns0:sp>
        <ns0:nvSpPr>
          <ns0:cNvPr id="7" name="Shape 5"/>
          <ns0:cNvSpPr/>
          <ns0:nvPr/>
        </ns0:nvSpPr>
        <ns0:spPr>
          <ns1:xfrm>
            <ns1:off x="457200" y="1508760"/>
            <ns1:ext cx="2606040" cy="73152"/>
          </ns1:xfrm>
          <ns1:prstGeom prst="rect">
            <ns1:avLst/>
          </ns1:prstGeom>
          <ns1:solidFill>
            <ns1:srgbClr val="005587"/>
          </ns1:solidFill>
          <ns1:ln/>
        </ns0:spPr>
        <ns0:txBody>
          <ns1:bodyPr/>
          <ns1:lstStyle/>
          <ns1:p>
            <ns1:endParaRPr lang="en-US"/>
          </ns1:p>
        </ns0:txBody>
      </ns0:sp>
      <ns0:sp>
        <ns0:nvSpPr>
          <ns0:cNvPr id="8" name="Text 6"/>
          <ns0:cNvSpPr/>
          <ns0:nvPr/>
        </ns0:nvSpPr>
        <ns0:spPr>
          <ns1:xfrm>
            <ns1:off x="566928" y="1645920"/>
            <ns1:ext cx="2386584" cy="274320"/>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Customer-facing</ns1:t>
            </ns1:r>
            <ns1:endParaRPr lang="en-US" sz="1300" dirty="0"/>
          </ns1:p>
        </ns0:txBody>
      </ns0:sp>
      <ns0:sp>
        <ns0:nvSpPr>
          <ns0:cNvPr id="9" name="Text 7"/>
          <ns0:cNvSpPr/>
          <ns0:nvPr/>
        </ns0:nvSpPr>
        <ns0:spPr>
          <ns1:xfrm>
            <ns1:off x="594360" y="1965960"/>
            <ns1:ext cx="2331720" cy="1188720"/>
          </ns1:xfrm>
          <ns1:prstGeom prst="rect">
            <ns1:avLst/>
          </ns1:prstGeom>
          <ns1:noFill/>
          <ns1:ln/>
        </ns0:spPr>
        <ns0:txBody>
          <ns1:bodyPr wrap="square" lIns="0" tIns="0" rIns="0" bIns="0" rtlCol="0" anchor="ctr"/>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 AI tutor for a subject</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Travel itinerary builder</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Product recommendation</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Legal FAQ assistant</ns1:t>
            </ns1:r>
            <ns1:endParaRPr lang="en-US" sz="1100" dirty="0"/>
          </ns1:p>
        </ns0:txBody>
      </ns0:sp>
      <ns0:sp>
        <ns0:nvSpPr>
          <ns0:cNvPr id="10" name="Shape 8"/>
          <ns0:cNvSpPr/>
          <ns0:nvPr/>
        </ns0:nvSpPr>
        <ns0:spPr>
          <ns1:xfrm>
            <ns1:off x="3200400" y="1508760"/>
            <ns1:ext cx="2606040" cy="1737360"/>
          </ns1:xfrm>
          <ns1:prstGeom prst="rect">
            <ns1:avLst/>
          </ns1:prstGeom>
          <ns1:noFill/>
          <ns1:ln w="9525">
            <ns1:noFill/>
          </ns1:ln>
        </ns0:spPr>
        <ns0:txBody>
          <ns1:bodyPr/>
          <ns1:lstStyle/>
          <ns1:p>
            <ns1:endParaRPr lang="en-US"/>
          </ns1:p>
        </ns0:txBody>
      </ns0:sp>
      <ns0:sp>
        <ns0:nvSpPr>
          <ns0:cNvPr id="11" name="Shape 9"/>
          <ns0:cNvSpPr/>
          <ns0:nvPr/>
        </ns0:nvSpPr>
        <ns0:spPr>
          <ns1:xfrm>
            <ns1:off x="3200400" y="1508760"/>
            <ns1:ext cx="2606040" cy="73152"/>
          </ns1:xfrm>
          <ns1:prstGeom prst="rect">
            <ns1:avLst/>
          </ns1:prstGeom>
          <ns1:solidFill>
            <ns1:srgbClr val="2774AE"/>
          </ns1:solidFill>
          <ns1:ln/>
        </ns0:spPr>
        <ns0:txBody>
          <ns1:bodyPr/>
          <ns1:lstStyle/>
          <ns1:p>
            <ns1:endParaRPr lang="en-US"/>
          </ns1:p>
        </ns0:txBody>
      </ns0:sp>
      <ns0:sp>
        <ns0:nvSpPr>
          <ns0:cNvPr id="12" name="Text 10"/>
          <ns0:cNvSpPr/>
          <ns0:nvPr/>
        </ns0:nvSpPr>
        <ns0:spPr>
          <ns1:xfrm>
            <ns1:off x="3310128" y="1645920"/>
            <ns1:ext cx="2386584" cy="274320"/>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Internal / business</ns1:t>
            </ns1:r>
            <ns1:endParaRPr lang="en-US" sz="1300" dirty="0"/>
          </ns1:p>
        </ns0:txBody>
      </ns0:sp>
      <ns0:sp>
        <ns0:nvSpPr>
          <ns0:cNvPr id="13" name="Text 11"/>
          <ns0:cNvSpPr/>
          <ns0:nvPr/>
        </ns0:nvSpPr>
        <ns0:spPr>
          <ns1:xfrm>
            <ns1:off x="3337560" y="1965960"/>
            <ns1:ext cx="2331720" cy="1188720"/>
          </ns1:xfrm>
          <ns1:prstGeom prst="rect">
            <ns1:avLst/>
          </ns1:prstGeom>
          <ns1:noFill/>
          <ns1:ln/>
        </ns0:spPr>
        <ns0:txBody>
          <ns1:bodyPr wrap="square" lIns="0" tIns="0" rIns="0" bIns="0" rtlCol="0" anchor="ctr"/>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 Meeting notes summarizer</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Contract clause reviewer</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Job posting generator</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Expense categorizer</ns1:t>
            </ns1:r>
            <ns1:endParaRPr lang="en-US" sz="1100" dirty="0"/>
          </ns1:p>
        </ns0:txBody>
      </ns0:sp>
      <ns0:sp>
        <ns0:nvSpPr>
          <ns0:cNvPr id="14" name="Shape 12"/>
          <ns0:cNvSpPr/>
          <ns0:nvPr/>
        </ns0:nvSpPr>
        <ns0:spPr>
          <ns1:xfrm>
            <ns1:off x="5943600" y="1508760"/>
            <ns1:ext cx="2606040" cy="1737360"/>
          </ns1:xfrm>
          <ns1:prstGeom prst="rect">
            <ns1:avLst/>
          </ns1:prstGeom>
          <ns1:noFill/>
          <ns1:ln w="9525">
            <ns1:noFill/>
          </ns1:ln>
        </ns0:spPr>
        <ns0:txBody>
          <ns1:bodyPr/>
          <ns1:lstStyle/>
          <ns1:p>
            <ns1:endParaRPr lang="en-US"/>
          </ns1:p>
        </ns0:txBody>
      </ns0:sp>
      <ns0:sp>
        <ns0:nvSpPr>
          <ns0:cNvPr id="15" name="Shape 13"/>
          <ns0:cNvSpPr/>
          <ns0:nvPr/>
        </ns0:nvSpPr>
        <ns0:spPr>
          <ns1:xfrm>
            <ns1:off x="5943600" y="1508760"/>
            <ns1:ext cx="2606040" cy="73152"/>
          </ns1:xfrm>
          <ns1:prstGeom prst="rect">
            <ns1:avLst/>
          </ns1:prstGeom>
          <ns1:solidFill>
            <ns1:srgbClr val="C4820E"/>
          </ns1:solidFill>
          <ns1:ln/>
        </ns0:spPr>
        <ns0:txBody>
          <ns1:bodyPr/>
          <ns1:lstStyle/>
          <ns1:p>
            <ns1:endParaRPr lang="en-US"/>
          </ns1:p>
        </ns0:txBody>
      </ns0:sp>
      <ns0:sp>
        <ns0:nvSpPr>
          <ns0:cNvPr id="16" name="Text 14"/>
          <ns0:cNvSpPr/>
          <ns0:nvPr/>
        </ns0:nvSpPr>
        <ns0:spPr>
          <ns1:xfrm>
            <ns1:off x="6053328" y="1645920"/>
            <ns1:ext cx="2386584" cy="274320"/>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Creative / other</ns1:t>
            </ns1:r>
            <ns1:endParaRPr lang="en-US" sz="1300" dirty="0"/>
          </ns1:p>
        </ns0:txBody>
      </ns0:sp>
      <ns0:sp>
        <ns0:nvSpPr>
          <ns0:cNvPr id="17" name="Text 15"/>
          <ns0:cNvSpPr/>
          <ns0:nvPr/>
        </ns0:nvSpPr>
        <ns0:spPr>
          <ns1:xfrm>
            <ns1:off x="6080760" y="1965960"/>
            <ns1:ext cx="2331720" cy="1188720"/>
          </ns1:xfrm>
          <ns1:prstGeom prst="rect">
            <ns1:avLst/>
          </ns1:prstGeom>
          <ns1:noFill/>
          <ns1:ln/>
        </ns0:spPr>
        <ns0:txBody>
          <ns1:bodyPr wrap="square" lIns="0" tIns="0" rIns="0" bIns="0" rtlCol="0" anchor="ctr"/>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 Recipe generator from pantry</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Workout plan builder</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Email draft assistant</ns1:t>
            </ns1:r>
            <ns1:endParaRPr lang="en-US" sz="1100" dirty="0"/>
          </ns1:p>
          <ns1:p>
            <ns1:pPr marL="0" indent="0">
              <ns1:buNone/>
            </ns1:pPr>
            <ns1:r>
              <ns1:rPr lang="en-US" sz="1100" dirty="0">
                <ns1:solidFill>
                  <ns1:srgbClr val="000000"/>
                </ns1:solidFill>
                <ns1:latin typeface="Arial" pitchFamily="34" charset="0"/>
                <ns1:ea typeface="Arial" pitchFamily="34" charset="-122"/>
                <ns1:cs typeface="Arial" pitchFamily="34" charset="-120"/>
              </ns1:rPr>
              <ns1:t>• Interview prep coach</ns1:t>
            </ns1:r>
            <ns1:endParaRPr lang="en-US" sz="1100" dirty="0"/>
          </ns1:p>
        </ns0:txBody>
      </ns0:sp>
    </ns0:spTree>
  </ns0:cSld>
  <ns0:clrMapOvr>
    <ns1:masterClrMapping/>
  </ns0:clrMapOvr>
</ns0:sld>
</file>

<file path=ppt/slides/slide23.xml><?xml version="1.0" encoding="utf-8"?>
<ns0:sld xmlns:ns0="http://schemas.openxmlformats.org/presentationml/2006/main" xmlns:ns1="http://schemas.openxmlformats.org/drawingml/2006/main">
  <ns0:cSld name="Slide 21">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Development Toolkit</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Text 3"/>
          <ns0:cNvSpPr/>
          <ns0:nvPr/>
        </ns0:nvSpPr>
        <ns0:spPr>
          <ns1:xfrm>
            <ns1:off x="457200" y="960120"/>
            <ns1:ext cx="8321040" cy="274320"/>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You'll build with an AI coding assistant plus a simple deployment stack. Here's what you need:</ns1:t>
            </ns1:r>
            <ns1:endParaRPr lang="en-US" sz="1200" dirty="0"/>
          </ns1:p>
        </ns0:txBody>
      </ns0:sp>
      <ns0:sp>
        <ns0:nvSpPr>
          <ns0:cNvPr id="6" name="Shape 4"/>
          <ns0:cNvSpPr/>
          <ns0:nvPr/>
        </ns0:nvSpPr>
        <ns0:spPr>
          <ns1:xfrm>
            <ns1:off x="457200" y="1371600"/>
            <ns1:ext cx="8321040" cy="685800"/>
          </ns1:xfrm>
          <ns1:prstGeom prst="rect">
            <ns1:avLst/>
          </ns1:prstGeom>
          <ns1:noFill/>
          <ns1:ln w="9525">
            <ns1:noFill/>
          </ns1:ln>
        </ns0:spPr>
        <ns0:txBody>
          <ns1:bodyPr/>
          <ns1:lstStyle/>
          <ns1:p>
            <ns1:endParaRPr lang="en-US"/>
          </ns1:p>
        </ns0:txBody>
      </ns0:sp>
      <ns0:sp>
        <ns0:nvSpPr>
          <ns0:cNvPr id="7" name="Shape 5"/>
          <ns0:cNvSpPr/>
          <ns0:nvPr/>
        </ns0:nvSpPr>
        <ns0:spPr>
          <ns1:xfrm>
            <ns1:off x="457200" y="1371600"/>
            <ns1:ext cx="54864" cy="685800"/>
          </ns1:xfrm>
          <ns1:prstGeom prst="rect">
            <ns1:avLst/>
          </ns1:prstGeom>
          <ns1:solidFill>
            <ns1:srgbClr val="005587"/>
          </ns1:solidFill>
          <ns1:ln/>
        </ns0:spPr>
        <ns0:txBody>
          <ns1:bodyPr/>
          <ns1:lstStyle/>
          <ns1:p>
            <ns1:endParaRPr lang="en-US"/>
          </ns1:p>
        </ns0:txBody>
      </ns0:sp>
      <ns0:sp>
        <ns0:nvSpPr>
          <ns0:cNvPr id="8" name="Text 6"/>
          <ns0:cNvSpPr/>
          <ns0:nvPr/>
        </ns0:nvSpPr>
        <ns0:spPr>
          <ns1:xfrm>
            <ns1:off x="621792" y="1426464"/>
            <ns1:ext cx="8046720" cy="237744"/>
          </ns1:xfrm>
          <ns1:prstGeom prst="rect">
            <ns1:avLst/>
          </ns1:prstGeom>
          <ns1:noFill/>
          <ns1:ln/>
        </ns0:spPr>
        <ns0:txBody>
          <ns1:bodyPr wrap="square" lIns="0" tIns="0" rIns="0" bIns="0" rtlCol="0" anchor="ctr"/>
          <ns1:lstStyle/>
          <ns1:p>
            <ns1:pPr marL="0" indent="0">
              <ns1:buNone/>
            </ns1:pPr>
            <ns1:r>
              <ns1:rPr lang="en-US" sz="1000" b="1" dirty="0">
                <ns1:solidFill>
                  <ns1:srgbClr val="005587"/>
                </ns1:solidFill>
                <ns1:latin typeface="Arial" pitchFamily="34" charset="0"/>
                <ns1:ea typeface="Arial" pitchFamily="34" charset="-122"/>
                <ns1:cs typeface="Arial" pitchFamily="34" charset="-120"/>
              </ns1:rPr>
              <ns1:t>Language</ns1:t>
            </ns1:r>
            <ns1:endParaRPr lang="en-US" sz="1000" dirty="0"/>
          </ns1:p>
        </ns0:txBody>
      </ns0:sp>
      <ns0:sp>
        <ns0:nvSpPr>
          <ns0:cNvPr id="9" name="Text 7"/>
          <ns0:cNvSpPr/>
          <ns0:nvPr/>
        </ns0:nvSpPr>
        <ns0:spPr>
          <ns1:xfrm>
            <ns1:off x="621792" y="1645920"/>
            <ns1:ext cx="8046720" cy="256032"/>
          </ns1:xfrm>
          <ns1:prstGeom prst="rect">
            <ns1:avLst/>
          </ns1:prstGeom>
          <ns1:noFill/>
          <ns1:ln/>
        </ns0:spPr>
        <ns0:txBody>
          <ns1:bodyPr wrap="square" lIns="0" tIns="0" rIns="0" bIns="0" rtlCol="0" anchor="ctr"/>
          <ns1:lstStyle/>
          <ns1:p>
            <ns1:pPr marL="0" indent="0">
              <ns1:buNone/>
            </ns1:pPr>
            <ns1:r>
              <ns1:rPr lang="en-US" sz="1500" b="1" dirty="0">
                <ns1:solidFill>
                  <ns1:srgbClr val="000000"/>
                </ns1:solidFill>
                <ns1:latin typeface="Arial" pitchFamily="34" charset="0"/>
                <ns1:ea typeface="Arial" pitchFamily="34" charset="-122"/>
                <ns1:cs typeface="Arial" pitchFamily="34" charset="-120"/>
              </ns1:rPr>
              <ns1:t>Node.js + Express + HTML</ns1:t>
            </ns1:r>
            <ns1:endParaRPr lang="en-US" sz="1500" dirty="0"/>
          </ns1:p>
        </ns0:txBody>
      </ns0:sp>
      <ns0:sp>
        <ns0:nvSpPr>
          <ns0:cNvPr id="10" name="Text 8"/>
          <ns0:cNvSpPr/>
          <ns0:nvPr/>
        </ns0:nvSpPr>
        <ns0:spPr>
          <ns1:xfrm>
            <ns1:off x="621792" y="1883664"/>
            <ns1:ext cx="8046720" cy="365760"/>
          </ns1:xfrm>
          <ns1:prstGeom prst="rect">
            <ns1:avLst/>
          </ns1:prstGeom>
          <ns1:noFill/>
          <ns1:ln/>
        </ns0:spPr>
        <ns0:txBody>
          <ns1:bodyPr wrap="square" lIns="0" tIns="0" rIns="0" bIns="0" rtlCol="0" anchor="ctr"/>
          <ns1:lstStyle/>
          <ns1:p>
            <ns1:pPr marL="0" indent="0">
              <ns1:buNone/>
            </ns1:pPr>
            <ns1:r>
              <ns1:rPr lang="en-US" sz="950" dirty="0">
                <ns1:solidFill>
                  <ns1:srgbClr val="000000"/>
                </ns1:solidFill>
                <ns1:latin typeface="Arial" pitchFamily="34" charset="0"/>
                <ns1:ea typeface="Arial" pitchFamily="34" charset="-122"/>
                <ns1:cs typeface="Arial" pitchFamily="34" charset="-120"/>
              </ns1:rPr>
              <ns1:t>Small Node/Express server; optional plain HTML or React frontend.</ns1:t>
            </ns1:r>
            <ns1:endParaRPr lang="en-US" sz="950" dirty="0"/>
          </ns1:p>
        </ns0:txBody>
      </ns0:sp>
      <ns0:sp>
        <ns0:nvSpPr>
          <ns0:cNvPr id="11" name="Shape 9"/>
          <ns0:cNvSpPr/>
          <ns0:nvPr/>
        </ns0:nvSpPr>
        <ns0:spPr>
          <ns1:xfrm>
            <ns1:off x="457200" y="2121408"/>
            <ns1:ext cx="8321040" cy="685800"/>
          </ns1:xfrm>
          <ns1:prstGeom prst="rect">
            <ns1:avLst/>
          </ns1:prstGeom>
          <ns1:noFill/>
          <ns1:ln w="9525">
            <ns1:noFill/>
          </ns1:ln>
        </ns0:spPr>
        <ns0:txBody>
          <ns1:bodyPr/>
          <ns1:lstStyle/>
          <ns1:p>
            <ns1:endParaRPr lang="en-US"/>
          </ns1:p>
        </ns0:txBody>
      </ns0:sp>
      <ns0:sp>
        <ns0:nvSpPr>
          <ns0:cNvPr id="12" name="Shape 10"/>
          <ns0:cNvSpPr/>
          <ns0:nvPr/>
        </ns0:nvSpPr>
        <ns0:spPr>
          <ns1:xfrm>
            <ns1:off x="457200" y="2121408"/>
            <ns1:ext cx="54864" cy="685800"/>
          </ns1:xfrm>
          <ns1:prstGeom prst="rect">
            <ns1:avLst/>
          </ns1:prstGeom>
          <ns1:solidFill>
            <ns1:srgbClr val="005587"/>
          </ns1:solidFill>
          <ns1:ln/>
        </ns0:spPr>
        <ns0:txBody>
          <ns1:bodyPr/>
          <ns1:lstStyle/>
          <ns1:p>
            <ns1:endParaRPr lang="en-US"/>
          </ns1:p>
        </ns0:txBody>
      </ns0:sp>
      <ns0:sp>
        <ns0:nvSpPr>
          <ns0:cNvPr id="13" name="Text 11"/>
          <ns0:cNvSpPr/>
          <ns0:nvPr/>
        </ns0:nvSpPr>
        <ns0:spPr>
          <ns1:xfrm>
            <ns1:off x="621792" y="2176272"/>
            <ns1:ext cx="8046720" cy="237744"/>
          </ns1:xfrm>
          <ns1:prstGeom prst="rect">
            <ns1:avLst/>
          </ns1:prstGeom>
          <ns1:noFill/>
          <ns1:ln/>
        </ns0:spPr>
        <ns0:txBody>
          <ns1:bodyPr wrap="square" lIns="0" tIns="0" rIns="0" bIns="0" rtlCol="0" anchor="ctr"/>
          <ns1:lstStyle/>
          <ns1:p>
            <ns1:pPr marL="0" indent="0">
              <ns1:buNone/>
            </ns1:pPr>
            <ns1:r>
              <ns1:rPr lang="en-US" sz="1000" b="1" dirty="0">
                <ns1:solidFill>
                  <ns1:srgbClr val="005587"/>
                </ns1:solidFill>
                <ns1:latin typeface="Arial" pitchFamily="34" charset="0"/>
                <ns1:ea typeface="Arial" pitchFamily="34" charset="-122"/>
                <ns1:cs typeface="Arial" pitchFamily="34" charset="-120"/>
              </ns1:rPr>
              <ns1:t>LLM API</ns1:t>
            </ns1:r>
            <ns1:endParaRPr lang="en-US" sz="1000" dirty="0"/>
          </ns1:p>
        </ns0:txBody>
      </ns0:sp>
      <ns0:sp>
        <ns0:nvSpPr>
          <ns0:cNvPr id="14" name="Text 12"/>
          <ns0:cNvSpPr/>
          <ns0:nvPr/>
        </ns0:nvSpPr>
        <ns0:spPr>
          <ns1:xfrm>
            <ns1:off x="621792" y="2395728"/>
            <ns1:ext cx="8046720" cy="256032"/>
          </ns1:xfrm>
          <ns1:prstGeom prst="rect">
            <ns1:avLst/>
          </ns1:prstGeom>
          <ns1:noFill/>
          <ns1:ln/>
        </ns0:spPr>
        <ns0:txBody>
          <ns1:bodyPr wrap="square" lIns="0" tIns="0" rIns="0" bIns="0" rtlCol="0" anchor="ctr"/>
          <ns1:lstStyle/>
          <ns1:p>
            <ns1:pPr marL="0" indent="0">
              <ns1:buNone/>
            </ns1:pPr>
            <ns1:r>
              <ns1:rPr lang="en-US" sz="1500" b="1" dirty="0">
                <ns1:solidFill>
                  <ns1:srgbClr val="000000"/>
                </ns1:solidFill>
                <ns1:latin typeface="Arial" pitchFamily="34" charset="0"/>
                <ns1:ea typeface="Arial" pitchFamily="34" charset="-122"/>
                <ns1:cs typeface="Arial" pitchFamily="34" charset="-120"/>
              </ns1:rPr>
              <ns1:t>Gemini Flash API</ns1:t>
            </ns1:r>
            <ns1:endParaRPr lang="en-US" sz="1500" dirty="0"/>
          </ns1:p>
        </ns0:txBody>
      </ns0:sp>
      <ns0:sp>
        <ns0:nvSpPr>
          <ns0:cNvPr id="15" name="Text 13"/>
          <ns0:cNvSpPr/>
          <ns0:nvPr/>
        </ns0:nvSpPr>
        <ns0:spPr>
          <ns1:xfrm>
            <ns1:off x="621792" y="2633472"/>
            <ns1:ext cx="8046720" cy="365760"/>
          </ns1:xfrm>
          <ns1:prstGeom prst="rect">
            <ns1:avLst/>
          </ns1:prstGeom>
          <ns1:noFill/>
          <ns1:ln/>
        </ns0:spPr>
        <ns0:txBody>
          <ns1:bodyPr wrap="square" lIns="0" tIns="0" rIns="0" bIns="0" rtlCol="0" anchor="ctr"/>
          <ns1:lstStyle/>
          <ns1:p>
            <ns1:pPr marL="0" indent="0">
              <ns1:buNone/>
            </ns1:pPr>
            <ns1:r>
              <ns1:rPr lang="en-US" sz="950" dirty="0">
                <ns1:solidFill>
                  <ns1:srgbClr val="000000"/>
                </ns1:solidFill>
                <ns1:latin typeface="Arial" pitchFamily="34" charset="0"/>
                <ns1:ea typeface="Arial" pitchFamily="34" charset="-122"/>
                <ns1:cs typeface="Arial" pitchFamily="34" charset="-120"/>
              </ns1:rPr>
              <ns1:t>Fast, inexpensive model access through Google AI Studio.</ns1:t>
            </ns1:r>
            <ns1:endParaRPr lang="en-US" sz="950" dirty="0"/>
          </ns1:p>
        </ns0:txBody>
      </ns0:sp>
      <ns0:sp>
        <ns0:nvSpPr>
          <ns0:cNvPr id="16" name="Shape 14"/>
          <ns0:cNvSpPr/>
          <ns0:nvPr/>
        </ns0:nvSpPr>
        <ns0:spPr>
          <ns1:xfrm>
            <ns1:off x="457200" y="2871216"/>
            <ns1:ext cx="8321040" cy="685800"/>
          </ns1:xfrm>
          <ns1:prstGeom prst="rect">
            <ns1:avLst/>
          </ns1:prstGeom>
          <ns1:noFill/>
          <ns1:ln w="9525">
            <ns1:noFill/>
          </ns1:ln>
        </ns0:spPr>
        <ns0:txBody>
          <ns1:bodyPr/>
          <ns1:lstStyle/>
          <ns1:p>
            <ns1:endParaRPr lang="en-US"/>
          </ns1:p>
        </ns0:txBody>
      </ns0:sp>
      <ns0:sp>
        <ns0:nvSpPr>
          <ns0:cNvPr id="17" name="Shape 15"/>
          <ns0:cNvSpPr/>
          <ns0:nvPr/>
        </ns0:nvSpPr>
        <ns0:spPr>
          <ns1:xfrm>
            <ns1:off x="457200" y="2871216"/>
            <ns1:ext cx="54864" cy="685800"/>
          </ns1:xfrm>
          <ns1:prstGeom prst="rect">
            <ns1:avLst/>
          </ns1:prstGeom>
          <ns1:solidFill>
            <ns1:srgbClr val="005587"/>
          </ns1:solidFill>
          <ns1:ln/>
        </ns0:spPr>
        <ns0:txBody>
          <ns1:bodyPr/>
          <ns1:lstStyle/>
          <ns1:p>
            <ns1:endParaRPr lang="en-US"/>
          </ns1:p>
        </ns0:txBody>
      </ns0:sp>
      <ns0:sp>
        <ns0:nvSpPr>
          <ns0:cNvPr id="18" name="Text 16"/>
          <ns0:cNvSpPr/>
          <ns0:nvPr/>
        </ns0:nvSpPr>
        <ns0:spPr>
          <ns1:xfrm>
            <ns1:off x="621792" y="2926080"/>
            <ns1:ext cx="8046720" cy="237744"/>
          </ns1:xfrm>
          <ns1:prstGeom prst="rect">
            <ns1:avLst/>
          </ns1:prstGeom>
          <ns1:noFill/>
          <ns1:ln/>
        </ns0:spPr>
        <ns0:txBody>
          <ns1:bodyPr wrap="square" lIns="0" tIns="0" rIns="0" bIns="0" rtlCol="0" anchor="ctr"/>
          <ns1:lstStyle/>
          <ns1:p>
            <ns1:pPr marL="0" indent="0">
              <ns1:buNone/>
            </ns1:pPr>
            <ns1:r>
              <ns1:rPr lang="en-US" sz="1000" b="1" dirty="0">
                <ns1:solidFill>
                  <ns1:srgbClr val="005587"/>
                </ns1:solidFill>
                <ns1:latin typeface="Arial" pitchFamily="34" charset="0"/>
                <ns1:ea typeface="Arial" pitchFamily="34" charset="-122"/>
                <ns1:cs typeface="Arial" pitchFamily="34" charset="-120"/>
              </ns1:rPr>
              <ns1:t>AI coding assistant</ns1:t>
            </ns1:r>
            <ns1:endParaRPr lang="en-US" sz="1000" dirty="0"/>
          </ns1:p>
        </ns0:txBody>
      </ns0:sp>
      <ns0:sp>
        <ns0:nvSpPr>
          <ns0:cNvPr id="19" name="Text 17"/>
          <ns0:cNvSpPr/>
          <ns0:nvPr/>
        </ns0:nvSpPr>
        <ns0:spPr>
          <ns1:xfrm>
            <ns1:off x="621792" y="3145536"/>
            <ns1:ext cx="8046720" cy="256032"/>
          </ns1:xfrm>
          <ns1:prstGeom prst="rect">
            <ns1:avLst/>
          </ns1:prstGeom>
          <ns1:noFill/>
          <ns1:ln/>
        </ns0:spPr>
        <ns0:txBody>
          <ns1:bodyPr wrap="square" lIns="0" tIns="0" rIns="0" bIns="0" rtlCol="0" anchor="ctr"/>
          <ns1:lstStyle/>
          <ns1:p>
            <ns1:pPr marL="0" indent="0">
              <ns1:buNone/>
            </ns1:pPr>
            <ns1:r>
              <ns1:rPr lang="en-US" sz="1500" b="1" dirty="0">
                <ns1:solidFill>
                  <ns1:srgbClr val="000000"/>
                </ns1:solidFill>
                <ns1:latin typeface="Arial" pitchFamily="34" charset="0"/>
                <ns1:ea typeface="Arial" pitchFamily="34" charset="-122"/>
                <ns1:cs typeface="Arial" pitchFamily="34" charset="-120"/>
              </ns1:rPr>
              <ns1:t>Cowork/Codex</ns1:t>
            </ns1:r>
            <ns1:endParaRPr lang="en-US" sz="1500" dirty="0"/>
          </ns1:p>
        </ns0:txBody>
      </ns0:sp>
      <ns0:sp>
        <ns0:nvSpPr>
          <ns0:cNvPr id="20" name="Text 18"/>
          <ns0:cNvSpPr/>
          <ns0:nvPr/>
        </ns0:nvSpPr>
        <ns0:spPr>
          <ns1:xfrm>
            <ns1:off x="621792" y="3383280"/>
            <ns1:ext cx="8046720" cy="365760"/>
          </ns1:xfrm>
          <ns1:prstGeom prst="rect">
            <ns1:avLst/>
          </ns1:prstGeom>
          <ns1:noFill/>
          <ns1:ln/>
        </ns0:spPr>
        <ns0:txBody>
          <ns1:bodyPr wrap="square" lIns="0" tIns="0" rIns="0" bIns="0" rtlCol="0" anchor="ctr"/>
          <ns1:lstStyle/>
          <ns1:p>
            <ns1:pPr marL="0" indent="0">
              <ns1:buNone/>
            </ns1:pPr>
            <ns1:r>
              <ns1:rPr lang="en-US" sz="950" dirty="0">
                <ns1:solidFill>
                  <ns1:srgbClr val="000000"/>
                </ns1:solidFill>
                <ns1:latin typeface="Arial" pitchFamily="34" charset="0"/>
                <ns1:ea typeface="Arial" pitchFamily="34" charset="-122"/>
                <ns1:cs typeface="Arial" pitchFamily="34" charset="-120"/>
              </ns1:rPr>
              <ns1:t>Use Cowork/Codex to edit files, debug errors, and prepare Railway deployment.</ns1:t>
            </ns1:r>
            <ns1:endParaRPr lang="en-US" sz="950" dirty="0"/>
          </ns1:p>
        </ns0:txBody>
      </ns0:sp>
      <ns0:sp>
        <ns0:nvSpPr>
          <ns0:cNvPr id="21" name="Shape 19"/>
          <ns0:cNvSpPr/>
          <ns0:nvPr/>
        </ns0:nvSpPr>
        <ns0:spPr>
          <ns1:xfrm>
            <ns1:off x="457200" y="3621024"/>
            <ns1:ext cx="8321040" cy="685800"/>
          </ns1:xfrm>
          <ns1:prstGeom prst="rect">
            <ns1:avLst/>
          </ns1:prstGeom>
          <ns1:noFill/>
          <ns1:ln w="9525">
            <ns1:noFill/>
          </ns1:ln>
        </ns0:spPr>
        <ns0:txBody>
          <ns1:bodyPr/>
          <ns1:lstStyle/>
          <ns1:p>
            <ns1:endParaRPr lang="en-US"/>
          </ns1:p>
        </ns0:txBody>
      </ns0:sp>
      <ns0:sp>
        <ns0:nvSpPr>
          <ns0:cNvPr id="22" name="Shape 20"/>
          <ns0:cNvSpPr/>
          <ns0:nvPr/>
        </ns0:nvSpPr>
        <ns0:spPr>
          <ns1:xfrm>
            <ns1:off x="457200" y="3621024"/>
            <ns1:ext cx="54864" cy="685800"/>
          </ns1:xfrm>
          <ns1:prstGeom prst="rect">
            <ns1:avLst/>
          </ns1:prstGeom>
          <ns1:solidFill>
            <ns1:srgbClr val="005587"/>
          </ns1:solidFill>
          <ns1:ln/>
        </ns0:spPr>
        <ns0:txBody>
          <ns1:bodyPr/>
          <ns1:lstStyle/>
          <ns1:p>
            <ns1:endParaRPr lang="en-US"/>
          </ns1:p>
        </ns0:txBody>
      </ns0:sp>
      <ns0:sp>
        <ns0:nvSpPr>
          <ns0:cNvPr id="23" name="Text 21"/>
          <ns0:cNvSpPr/>
          <ns0:nvPr/>
        </ns0:nvSpPr>
        <ns0:spPr>
          <ns1:xfrm>
            <ns1:off x="621792" y="3675888"/>
            <ns1:ext cx="8046720" cy="237744"/>
          </ns1:xfrm>
          <ns1:prstGeom prst="rect">
            <ns1:avLst/>
          </ns1:prstGeom>
          <ns1:noFill/>
          <ns1:ln/>
        </ns0:spPr>
        <ns0:txBody>
          <ns1:bodyPr wrap="square" lIns="0" tIns="0" rIns="0" bIns="0" rtlCol="0" anchor="ctr"/>
          <ns1:lstStyle/>
          <ns1:p>
            <ns1:pPr marL="0" indent="0">
              <ns1:buNone/>
            </ns1:pPr>
            <ns1:r>
              <ns1:rPr lang="en-US" sz="1000" b="1" dirty="0">
                <ns1:solidFill>
                  <ns1:srgbClr val="005587"/>
                </ns1:solidFill>
                <ns1:latin typeface="Arial" pitchFamily="34" charset="0"/>
                <ns1:ea typeface="Arial" pitchFamily="34" charset="-122"/>
                <ns1:cs typeface="Arial" pitchFamily="34" charset="-120"/>
              </ns1:rPr>
              <ns1:t>Hosting</ns1:t>
            </ns1:r>
            <ns1:endParaRPr lang="en-US" sz="1000" dirty="0"/>
          </ns1:p>
        </ns0:txBody>
      </ns0:sp>
      <ns0:sp>
        <ns0:nvSpPr>
          <ns0:cNvPr id="24" name="Text 22"/>
          <ns0:cNvSpPr/>
          <ns0:nvPr/>
        </ns0:nvSpPr>
        <ns0:spPr>
          <ns1:xfrm>
            <ns1:off x="621792" y="3895344"/>
            <ns1:ext cx="8046720" cy="256032"/>
          </ns1:xfrm>
          <ns1:prstGeom prst="rect">
            <ns1:avLst/>
          </ns1:prstGeom>
          <ns1:noFill/>
          <ns1:ln/>
        </ns0:spPr>
        <ns0:txBody>
          <ns1:bodyPr wrap="square" lIns="0" tIns="0" rIns="0" bIns="0" rtlCol="0" anchor="ctr"/>
          <ns1:lstStyle/>
          <ns1:p>
            <ns1:pPr marL="0" indent="0">
              <ns1:buNone/>
            </ns1:pPr>
            <ns1:r>
              <ns1:rPr lang="en-US" sz="1500" b="1" dirty="0">
                <ns1:solidFill>
                  <ns1:srgbClr val="000000"/>
                </ns1:solidFill>
                <ns1:latin typeface="Arial" pitchFamily="34" charset="0"/>
                <ns1:ea typeface="Arial" pitchFamily="34" charset="-122"/>
                <ns1:cs typeface="Arial" pitchFamily="34" charset="-120"/>
              </ns1:rPr>
              <ns1:t>Railway</ns1:t>
            </ns1:r>
            <ns1:endParaRPr lang="en-US" sz="1500" dirty="0"/>
          </ns1:p>
        </ns0:txBody>
      </ns0:sp>
      <ns0:sp>
        <ns0:nvSpPr>
          <ns0:cNvPr id="25" name="Text 23"/>
          <ns0:cNvSpPr/>
          <ns0:nvPr/>
        </ns0:nvSpPr>
        <ns0:spPr>
          <ns1:xfrm>
            <ns1:off x="621792" y="4133088"/>
            <ns1:ext cx="8046720" cy="365760"/>
          </ns1:xfrm>
          <ns1:prstGeom prst="rect">
            <ns1:avLst/>
          </ns1:prstGeom>
          <ns1:noFill/>
          <ns1:ln/>
        </ns0:spPr>
        <ns0:txBody>
          <ns1:bodyPr wrap="square" lIns="0" tIns="0" rIns="0" bIns="0" rtlCol="0" anchor="ctr"/>
          <ns1:lstStyle/>
          <ns1:p>
            <ns1:pPr marL="0" indent="0">
              <ns1:buNone/>
            </ns1:pPr>
            <ns1:r>
              <ns1:rPr lang="en-US" sz="950" dirty="0">
                <ns1:solidFill>
                  <ns1:srgbClr val="000000"/>
                </ns1:solidFill>
                <ns1:latin typeface="Arial" pitchFamily="34" charset="0"/>
                <ns1:ea typeface="Arial" pitchFamily="34" charset="-122"/>
                <ns1:cs typeface="Arial" pitchFamily="34" charset="-120"/>
              </ns1:rPr>
              <ns1:t>Hobby tier ($5/mo). Deploy via CLI with one command.</ns1:t>
            </ns1:r>
            <ns1:endParaRPr lang="en-US" sz="950" dirty="0"/>
          </ns1:p>
        </ns0:txBody>
      </ns0:sp>
    </ns0:spTree>
  </ns0:cSld>
  <ns0:clrMapOvr>
    <ns1:masterClrMapping/>
  </ns0:clrMapOvr>
</ns0:sld>
</file>

<file path=ppt/slides/slide24.xml><?xml version="1.0" encoding="utf-8"?>
<ns0:sld xmlns:ns0="http://schemas.openxmlformats.org/presentationml/2006/main" xmlns:ns1="http://schemas.openxmlformats.org/drawingml/2006/main">
  <ns0:cSld name="Slide 22">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AI Coding With Cowork/Codex</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Text 3"/>
          <ns0:cNvSpPr/>
          <ns0:nvPr/>
        </ns0:nvSpPr>
        <ns0:spPr>
          <ns1:xfrm>
            <ns1:off x="457200" y="960120"/>
            <ns1:ext cx="8321040" cy="274320"/>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You do not need to write every line manually. Use Cowork/Codex to inspect the folder, edit files, debug errors, and explain changes.</ns1:t>
            </ns1:r>
            <ns1:endParaRPr lang="en-US" sz="1200" dirty="0"/>
          </ns1:p>
        </ns0:txBody>
      </ns0:sp>
      <ns0:sp>
        <ns0:nvSpPr>
          <ns0:cNvPr id="6" name="Shape 4"/>
          <ns0:cNvSpPr/>
          <ns0:nvPr/>
        </ns0:nvSpPr>
        <ns0:spPr>
          <ns1:xfrm>
            <ns1:off x="457200" y="1417320"/>
            <ns1:ext cx="3931920" cy="2011680"/>
          </ns1:xfrm>
          <ns1:prstGeom prst="rect">
            <ns1:avLst/>
          </ns1:prstGeom>
          <ns1:noFill/>
          <ns1:ln w="9525">
            <ns1:noFill/>
          </ns1:ln>
        </ns0:spPr>
        <ns0:txBody>
          <ns1:bodyPr/>
          <ns1:lstStyle/>
          <ns1:p>
            <ns1:endParaRPr lang="en-US"/>
          </ns1:p>
        </ns0:txBody>
      </ns0:sp>
      <ns0:sp>
        <ns0:nvSpPr>
          <ns0:cNvPr id="7" name="Shape 5"/>
          <ns0:cNvSpPr/>
          <ns0:nvPr/>
        </ns0:nvSpPr>
        <ns0:spPr>
          <ns1:xfrm>
            <ns1:off x="457200" y="1417320"/>
            <ns1:ext cx="3931920" cy="73152"/>
          </ns1:xfrm>
          <ns1:prstGeom prst="rect">
            <ns1:avLst/>
          </ns1:prstGeom>
          <ns1:solidFill>
            <ns1:srgbClr val="005587"/>
          </ns1:solidFill>
          <ns1:ln/>
        </ns0:spPr>
        <ns0:txBody>
          <ns1:bodyPr/>
          <ns1:lstStyle/>
          <ns1:p>
            <ns1:endParaRPr lang="en-US"/>
          </ns1:p>
        </ns0:txBody>
      </ns0:sp>
      <ns0:sp>
        <ns0:nvSpPr>
          <ns0:cNvPr id="8" name="Text 6"/>
          <ns0:cNvSpPr/>
          <ns0:nvPr/>
        </ns0:nvSpPr>
        <ns0:spPr>
          <ns1:xfrm>
            <ns1:off x="566928" y="1527048"/>
            <ns1:ext cx="3712464" cy="320040"/>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Cowork</ns1:t>
            </ns1:r>
            <ns1:endParaRPr lang="en-US" sz="1300" dirty="0"/>
          </ns1:p>
        </ns0:txBody>
      </ns0:sp>
      <ns0:sp>
        <ns0:nvSpPr>
          <ns0:cNvPr id="9" name="Shape 7"/>
          <ns0:cNvSpPr/>
          <ns0:nvPr/>
        </ns0:nvSpPr>
        <ns0:spPr>
          <ns1:xfrm>
            <ns1:off x="566928" y="1856232"/>
            <ns1:ext cx="3712464" cy="0"/>
          </ns1:xfrm>
          <ns1:prstGeom prst="line">
            <ns1:avLst/>
          </ns1:prstGeom>
          <ns1:noFill/>
          <ns1:ln w="6350">
            <ns1:solidFill>
              <ns1:srgbClr val="E8E8E8"/>
            </ns1:solidFill>
            <ns1:prstDash val="solid"/>
          </ns1:ln>
        </ns0:spPr>
        <ns0:txBody>
          <ns1:bodyPr/>
          <ns1:lstStyle/>
          <ns1:p>
            <ns1:endParaRPr lang="en-US"/>
          </ns1:p>
        </ns0:txBody>
      </ns0:sp>
      <ns0:sp>
        <ns0:nvSpPr>
          <ns0:cNvPr id="10" name="Text 8"/>
          <ns0:cNvSpPr/>
          <ns0:nvPr/>
        </ns0:nvSpPr>
        <ns0:spPr>
          <ns1:xfrm>
            <ns1:off x="566928" y="1920240"/>
            <ns1:ext cx="3712464" cy="201168"/>
          </ns1:xfrm>
          <ns1:prstGeom prst="rect">
            <ns1:avLst/>
          </ns1:prstGeom>
          <ns1:noFill/>
          <ns1:ln/>
        </ns0:spPr>
        <ns0:txBody>
          <ns1:bodyPr wrap="square" lIns="0" tIns="0" rIns="0" bIns="0" rtlCol="0" anchor="ctr"/>
          <ns1:lstStyle/>
          <ns1:p>
            <ns1:pPr marL="0" indent="0" algn="ctr">
              <ns1:buNone/>
            </ns1:pPr>
            <ns1:r>
              <ns1:rPr lang="en-US" sz="900" dirty="0">
                <ns1:solidFill>
                  <ns1:srgbClr val="000000"/>
                </ns1:solidFill>
                <ns1:latin typeface="Arial" pitchFamily="34" charset="0"/>
                <ns1:ea typeface="Arial" pitchFamily="34" charset="-122"/>
                <ns1:cs typeface="Arial" pitchFamily="34" charset="-120"/>
              </ns1:rPr>
              <ns1:t>Best for</ns1:t>
            </ns1:r>
            <ns1:endParaRPr lang="en-US" sz="900" dirty="0"/>
          </ns1:p>
        </ns0:txBody>
      </ns0:sp>
      <ns0:sp>
        <ns0:nvSpPr>
          <ns0:cNvPr id="11" name="Text 9"/>
          <ns0:cNvSpPr/>
          <ns0:nvPr/>
        </ns0:nvSpPr>
        <ns0:spPr>
          <ns1:xfrm>
            <ns1:off x="566928" y="2084832"/>
            <ns1:ext cx="3712464" cy="274320"/>
          </ns1:xfrm>
          <ns1:prstGeom prst="rect">
            <ns1:avLst/>
          </ns1:prstGeom>
          <ns1:noFill/>
          <ns1:ln/>
        </ns0:spPr>
        <ns0:txBody>
          <ns1:bodyPr wrap="square" lIns="0" tIns="0" rIns="0" bIns="0" rtlCol="0" anchor="ctr"/>
          <ns1:lstStyle/>
          <ns1:p>
            <ns1:pPr marL="0" indent="0" algn="ctr">
              <ns1:buNone/>
            </ns1:pPr>
            <ns1:r>
              <ns1:rPr lang="en-US" sz="1600" b="1" dirty="0">
                <ns1:solidFill>
                  <ns1:srgbClr val="000000"/>
                </ns1:solidFill>
                <ns1:latin typeface="Arial" pitchFamily="34" charset="0"/>
                <ns1:ea typeface="Arial" pitchFamily="34" charset="-122"/>
                <ns1:cs typeface="Arial" pitchFamily="34" charset="-120"/>
              </ns1:rPr>
              <ns1:t>Guided app-building</ns1:t>
            </ns1:r>
            <ns1:endParaRPr lang="en-US" sz="1600" dirty="0"/>
          </ns1:p>
        </ns0:txBody>
      </ns0:sp>
      <ns0:sp>
        <ns0:nvSpPr>
          <ns0:cNvPr id="12" name="Shape 10"/>
          <ns0:cNvSpPr/>
          <ns0:nvPr/>
        </ns0:nvSpPr>
        <ns0:spPr>
          <ns1:xfrm>
            <ns1:off x="640080" y="2377440"/>
            <ns1:ext cx="3566160" cy="0"/>
          </ns1:xfrm>
          <ns1:prstGeom prst="line">
            <ns1:avLst/>
          </ns1:prstGeom>
          <ns1:noFill/>
          <ns1:ln w="6350">
            <ns1:solidFill>
              <ns1:srgbClr val="E8E8E8"/>
            </ns1:solidFill>
            <ns1:prstDash val="solid"/>
          </ns1:ln>
        </ns0:spPr>
        <ns0:txBody>
          <ns1:bodyPr/>
          <ns1:lstStyle/>
          <ns1:p>
            <ns1:endParaRPr lang="en-US"/>
          </ns1:p>
        </ns0:txBody>
      </ns0:sp>
      <ns0:sp>
        <ns0:nvSpPr>
          <ns0:cNvPr id="13" name="Text 11"/>
          <ns0:cNvSpPr/>
          <ns0:nvPr/>
        </ns0:nvSpPr>
        <ns0:spPr>
          <ns1:xfrm>
            <ns1:off x="566928" y="2423160"/>
            <ns1:ext cx="3712464" cy="201168"/>
          </ns1:xfrm>
          <ns1:prstGeom prst="rect">
            <ns1:avLst/>
          </ns1:prstGeom>
          <ns1:noFill/>
          <ns1:ln/>
        </ns0:spPr>
        <ns0:txBody>
          <ns1:bodyPr wrap="square" lIns="0" tIns="0" rIns="0" bIns="0" rtlCol="0" anchor="ctr"/>
          <ns1:lstStyle/>
          <ns1:p>
            <ns1:pPr marL="0" indent="0" algn="ctr">
              <ns1:buNone/>
            </ns1:pPr>
            <ns1:r>
              <ns1:rPr lang="en-US" sz="900" dirty="0">
                <ns1:solidFill>
                  <ns1:srgbClr val="000000"/>
                </ns1:solidFill>
                <ns1:latin typeface="Arial" pitchFamily="34" charset="0"/>
                <ns1:ea typeface="Arial" pitchFamily="34" charset="-122"/>
                <ns1:cs typeface="Arial" pitchFamily="34" charset="-120"/>
              </ns1:rPr>
              <ns1:t>Access</ns1:t>
            </ns1:r>
            <ns1:endParaRPr lang="en-US" sz="900" dirty="0"/>
          </ns1:p>
        </ns0:txBody>
      </ns0:sp>
      <ns0:sp>
        <ns0:nvSpPr>
          <ns0:cNvPr id="14" name="Text 12"/>
          <ns0:cNvSpPr/>
          <ns0:nvPr/>
        </ns0:nvSpPr>
        <ns0:spPr>
          <ns1:xfrm>
            <ns1:off x="566928" y="2587752"/>
            <ns1:ext cx="3712464" cy="274320"/>
          </ns1:xfrm>
          <ns1:prstGeom prst="rect">
            <ns1:avLst/>
          </ns1:prstGeom>
          <ns1:noFill/>
          <ns1:ln/>
        </ns0:spPr>
        <ns0:txBody>
          <ns1:bodyPr wrap="square" lIns="0" tIns="0" rIns="0" bIns="0" rtlCol="0" anchor="ctr"/>
          <ns1:lstStyle/>
          <ns1:p>
            <ns1:pPr marL="0" indent="0" algn="ctr">
              <ns1:buNone/>
            </ns1:pPr>
            <ns1:r>
              <ns1:rPr lang="en-US" sz="1600" b="1" dirty="0">
                <ns1:solidFill>
                  <ns1:srgbClr val="000000"/>
                </ns1:solidFill>
                <ns1:latin typeface="Arial" pitchFamily="34" charset="0"/>
                <ns1:ea typeface="Arial" pitchFamily="34" charset="-122"/>
                <ns1:cs typeface="Arial" pitchFamily="34" charset="-120"/>
              </ns1:rPr>
              <ns1:t>Desktop app / workspace</ns1:t>
            </ns1:r>
            <ns1:endParaRPr lang="en-US" sz="1600" dirty="0"/>
          </ns1:p>
        </ns0:txBody>
      </ns0:sp>
      <ns0:sp>
        <ns0:nvSpPr>
          <ns0:cNvPr id="15" name="Shape 13"/>
          <ns0:cNvSpPr/>
          <ns0:nvPr/>
        </ns0:nvSpPr>
        <ns0:spPr>
          <ns1:xfrm>
            <ns1:off x="640080" y="2880360"/>
            <ns1:ext cx="3566160" cy="0"/>
          </ns1:xfrm>
          <ns1:prstGeom prst="line">
            <ns1:avLst/>
          </ns1:prstGeom>
          <ns1:noFill/>
          <ns1:ln w="6350">
            <ns1:solidFill>
              <ns1:srgbClr val="E8E8E8"/>
            </ns1:solidFill>
            <ns1:prstDash val="solid"/>
          </ns1:ln>
        </ns0:spPr>
        <ns0:txBody>
          <ns1:bodyPr/>
          <ns1:lstStyle/>
          <ns1:p>
            <ns1:endParaRPr lang="en-US"/>
          </ns1:p>
        </ns0:txBody>
      </ns0:sp>
      <ns0:sp>
        <ns0:nvSpPr>
          <ns0:cNvPr id="16" name="Text 14"/>
          <ns0:cNvSpPr/>
          <ns0:nvPr/>
        </ns0:nvSpPr>
        <ns0:spPr>
          <ns1:xfrm>
            <ns1:off x="566928" y="3017520"/>
            <ns1:ext cx="3712464" cy="320040"/>
          </ns1:xfrm>
          <ns1:prstGeom prst="rect">
            <ns1:avLst/>
          </ns1:prstGeom>
          <ns1:noFill/>
          <ns1:ln/>
        </ns0:spPr>
        <ns0:txBody>
          <ns1:bodyPr wrap="square" lIns="0" tIns="0" rIns="0" bIns="0" rtlCol="0" anchor="ctr"/>
          <ns1:lstStyle/>
          <ns1:p>
            <ns1:pPr marL="0" indent="0" algn="ctr">
              <ns1:buNone/>
            </ns1:pPr>
            <ns1:r>
              <ns1:rPr lang="en-US" sz="900" i="1" dirty="0">
                <ns1:solidFill>
                  <ns1:srgbClr val="000000"/>
                </ns1:solidFill>
                <ns1:latin typeface="Arial" pitchFamily="34" charset="0"/>
                <ns1:ea typeface="Arial" pitchFamily="34" charset="-122"/>
                <ns1:cs typeface="Arial" pitchFamily="34" charset="-120"/>
              </ns1:rPr>
              <ns1:t>Reads your folder and applies edits directly</ns1:t>
            </ns1:r>
            <ns1:endParaRPr lang="en-US" sz="900" dirty="0"/>
          </ns1:p>
        </ns0:txBody>
      </ns0:sp>
      <ns0:sp>
        <ns0:nvSpPr>
          <ns0:cNvPr id="17" name="Shape 15"/>
          <ns0:cNvSpPr/>
          <ns0:nvPr/>
        </ns0:nvSpPr>
        <ns0:spPr>
          <ns1:xfrm>
            <ns1:off x="4754880" y="1417320"/>
            <ns1:ext cx="3931920" cy="2011680"/>
          </ns1:xfrm>
          <ns1:prstGeom prst="rect">
            <ns1:avLst/>
          </ns1:prstGeom>
          <ns1:noFill/>
          <ns1:ln w="9525">
            <ns1:noFill/>
          </ns1:ln>
        </ns0:spPr>
        <ns0:txBody>
          <ns1:bodyPr/>
          <ns1:lstStyle/>
          <ns1:p>
            <ns1:endParaRPr lang="en-US"/>
          </ns1:p>
        </ns0:txBody>
      </ns0:sp>
      <ns0:sp>
        <ns0:nvSpPr>
          <ns0:cNvPr id="18" name="Shape 16"/>
          <ns0:cNvSpPr/>
          <ns0:nvPr/>
        </ns0:nvSpPr>
        <ns0:spPr>
          <ns1:xfrm>
            <ns1:off x="4754880" y="1417320"/>
            <ns1:ext cx="3931920" cy="73152"/>
          </ns1:xfrm>
          <ns1:prstGeom prst="rect">
            <ns1:avLst/>
          </ns1:prstGeom>
          <ns1:solidFill>
            <ns1:srgbClr val="C4820E"/>
          </ns1:solidFill>
          <ns1:ln/>
        </ns0:spPr>
        <ns0:txBody>
          <ns1:bodyPr/>
          <ns1:lstStyle/>
          <ns1:p>
            <ns1:endParaRPr lang="en-US"/>
          </ns1:p>
        </ns0:txBody>
      </ns0:sp>
      <ns0:sp>
        <ns0:nvSpPr>
          <ns0:cNvPr id="19" name="Text 17"/>
          <ns0:cNvSpPr/>
          <ns0:nvPr/>
        </ns0:nvSpPr>
        <ns0:spPr>
          <ns1:xfrm>
            <ns1:off x="4864608" y="1527048"/>
            <ns1:ext cx="3712464" cy="320040"/>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Codex</ns1:t>
            </ns1:r>
            <ns1:endParaRPr lang="en-US" sz="1300" dirty="0"/>
          </ns1:p>
        </ns0:txBody>
      </ns0:sp>
      <ns0:sp>
        <ns0:nvSpPr>
          <ns0:cNvPr id="20" name="Shape 18"/>
          <ns0:cNvSpPr/>
          <ns0:nvPr/>
        </ns0:nvSpPr>
        <ns0:spPr>
          <ns1:xfrm>
            <ns1:off x="4864608" y="1856232"/>
            <ns1:ext cx="3712464" cy="0"/>
          </ns1:xfrm>
          <ns1:prstGeom prst="line">
            <ns1:avLst/>
          </ns1:prstGeom>
          <ns1:noFill/>
          <ns1:ln w="6350">
            <ns1:solidFill>
              <ns1:srgbClr val="E8E8E8"/>
            </ns1:solidFill>
            <ns1:prstDash val="solid"/>
          </ns1:ln>
        </ns0:spPr>
        <ns0:txBody>
          <ns1:bodyPr/>
          <ns1:lstStyle/>
          <ns1:p>
            <ns1:endParaRPr lang="en-US"/>
          </ns1:p>
        </ns0:txBody>
      </ns0:sp>
      <ns0:sp>
        <ns0:nvSpPr>
          <ns0:cNvPr id="21" name="Text 19"/>
          <ns0:cNvSpPr/>
          <ns0:nvPr/>
        </ns0:nvSpPr>
        <ns0:spPr>
          <ns1:xfrm>
            <ns1:off x="4864608" y="1920240"/>
            <ns1:ext cx="3712464" cy="201168"/>
          </ns1:xfrm>
          <ns1:prstGeom prst="rect">
            <ns1:avLst/>
          </ns1:prstGeom>
          <ns1:noFill/>
          <ns1:ln/>
        </ns0:spPr>
        <ns0:txBody>
          <ns1:bodyPr wrap="square" lIns="0" tIns="0" rIns="0" bIns="0" rtlCol="0" anchor="ctr"/>
          <ns1:lstStyle/>
          <ns1:p>
            <ns1:pPr marL="0" indent="0" algn="ctr">
              <ns1:buNone/>
            </ns1:pPr>
            <ns1:r>
              <ns1:rPr lang="en-US" sz="900" dirty="0">
                <ns1:solidFill>
                  <ns1:srgbClr val="000000"/>
                </ns1:solidFill>
                <ns1:latin typeface="Arial" pitchFamily="34" charset="0"/>
                <ns1:ea typeface="Arial" pitchFamily="34" charset="-122"/>
                <ns1:cs typeface="Arial" pitchFamily="34" charset="-120"/>
              </ns1:rPr>
              <ns1:t>Best for</ns1:t>
            </ns1:r>
            <ns1:endParaRPr lang="en-US" sz="900" dirty="0"/>
          </ns1:p>
        </ns0:txBody>
      </ns0:sp>
      <ns0:sp>
        <ns0:nvSpPr>
          <ns0:cNvPr id="22" name="Text 20"/>
          <ns0:cNvSpPr/>
          <ns0:nvPr/>
        </ns0:nvSpPr>
        <ns0:spPr>
          <ns1:xfrm>
            <ns1:off x="4864608" y="2084832"/>
            <ns1:ext cx="3712464" cy="274320"/>
          </ns1:xfrm>
          <ns1:prstGeom prst="rect">
            <ns1:avLst/>
          </ns1:prstGeom>
          <ns1:noFill/>
          <ns1:ln/>
        </ns0:spPr>
        <ns0:txBody>
          <ns1:bodyPr wrap="square" lIns="0" tIns="0" rIns="0" bIns="0" rtlCol="0" anchor="ctr"/>
          <ns1:lstStyle/>
          <ns1:p>
            <ns1:pPr marL="0" indent="0" algn="ctr">
              <ns1:buNone/>
            </ns1:pPr>
            <ns1:r>
              <ns1:rPr lang="en-US" sz="1600" b="1" dirty="0">
                <ns1:solidFill>
                  <ns1:srgbClr val="000000"/>
                </ns1:solidFill>
                <ns1:latin typeface="Arial" pitchFamily="34" charset="0"/>
                <ns1:ea typeface="Arial" pitchFamily="34" charset="-122"/>
                <ns1:cs typeface="Arial" pitchFamily="34" charset="-120"/>
              </ns1:rPr>
              <ns1:t>Codebase work + deployment prep</ns1:t>
            </ns1:r>
            <ns1:endParaRPr lang="en-US" sz="1600" dirty="0"/>
          </ns1:p>
        </ns0:txBody>
      </ns0:sp>
      <ns0:sp>
        <ns0:nvSpPr>
          <ns0:cNvPr id="23" name="Shape 21"/>
          <ns0:cNvSpPr/>
          <ns0:nvPr/>
        </ns0:nvSpPr>
        <ns0:spPr>
          <ns1:xfrm>
            <ns1:off x="4937760" y="2377440"/>
            <ns1:ext cx="3566160" cy="0"/>
          </ns1:xfrm>
          <ns1:prstGeom prst="line">
            <ns1:avLst/>
          </ns1:prstGeom>
          <ns1:noFill/>
          <ns1:ln w="6350">
            <ns1:solidFill>
              <ns1:srgbClr val="E8E8E8"/>
            </ns1:solidFill>
            <ns1:prstDash val="solid"/>
          </ns1:ln>
        </ns0:spPr>
        <ns0:txBody>
          <ns1:bodyPr/>
          <ns1:lstStyle/>
          <ns1:p>
            <ns1:endParaRPr lang="en-US"/>
          </ns1:p>
        </ns0:txBody>
      </ns0:sp>
      <ns0:sp>
        <ns0:nvSpPr>
          <ns0:cNvPr id="24" name="Text 22"/>
          <ns0:cNvSpPr/>
          <ns0:nvPr/>
        </ns0:nvSpPr>
        <ns0:spPr>
          <ns1:xfrm>
            <ns1:off x="4864608" y="2423160"/>
            <ns1:ext cx="3712464" cy="201168"/>
          </ns1:xfrm>
          <ns1:prstGeom prst="rect">
            <ns1:avLst/>
          </ns1:prstGeom>
          <ns1:noFill/>
          <ns1:ln/>
        </ns0:spPr>
        <ns0:txBody>
          <ns1:bodyPr wrap="square" lIns="0" tIns="0" rIns="0" bIns="0" rtlCol="0" anchor="ctr"/>
          <ns1:lstStyle/>
          <ns1:p>
            <ns1:pPr marL="0" indent="0" algn="ctr">
              <ns1:buNone/>
            </ns1:pPr>
            <ns1:r>
              <ns1:rPr lang="en-US" sz="900" dirty="0">
                <ns1:solidFill>
                  <ns1:srgbClr val="000000"/>
                </ns1:solidFill>
                <ns1:latin typeface="Arial" pitchFamily="34" charset="0"/>
                <ns1:ea typeface="Arial" pitchFamily="34" charset="-122"/>
                <ns1:cs typeface="Arial" pitchFamily="34" charset="-120"/>
              </ns1:rPr>
              <ns1:t>Access</ns1:t>
            </ns1:r>
            <ns1:endParaRPr lang="en-US" sz="900" dirty="0"/>
          </ns1:p>
        </ns0:txBody>
      </ns0:sp>
      <ns0:sp>
        <ns0:nvSpPr>
          <ns0:cNvPr id="25" name="Text 23"/>
          <ns0:cNvSpPr/>
          <ns0:nvPr/>
        </ns0:nvSpPr>
        <ns0:spPr>
          <ns1:xfrm>
            <ns1:off x="4864608" y="2587752"/>
            <ns1:ext cx="3712464" cy="274320"/>
          </ns1:xfrm>
          <ns1:prstGeom prst="rect">
            <ns1:avLst/>
          </ns1:prstGeom>
          <ns1:noFill/>
          <ns1:ln/>
        </ns0:spPr>
        <ns0:txBody>
          <ns1:bodyPr wrap="square" lIns="0" tIns="0" rIns="0" bIns="0" rtlCol="0" anchor="ctr"/>
          <ns1:lstStyle/>
          <ns1:p>
            <ns1:pPr marL="0" indent="0" algn="ctr">
              <ns1:buNone/>
            </ns1:pPr>
            <ns1:r>
              <ns1:rPr lang="en-US" sz="1600" b="1" dirty="0">
                <ns1:solidFill>
                  <ns1:srgbClr val="000000"/>
                </ns1:solidFill>
                <ns1:latin typeface="Arial" pitchFamily="34" charset="0"/>
                <ns1:ea typeface="Arial" pitchFamily="34" charset="-122"/>
                <ns1:cs typeface="Arial" pitchFamily="34" charset="-120"/>
              </ns1:rPr>
              <ns1:t>Desktop app / workspace</ns1:t>
            </ns1:r>
            <ns1:endParaRPr lang="en-US" sz="1600" dirty="0"/>
          </ns1:p>
        </ns0:txBody>
      </ns0:sp>
      <ns0:sp>
        <ns0:nvSpPr>
          <ns0:cNvPr id="26" name="Shape 24"/>
          <ns0:cNvSpPr/>
          <ns0:nvPr/>
        </ns0:nvSpPr>
        <ns0:spPr>
          <ns1:xfrm>
            <ns1:off x="4937760" y="2880360"/>
            <ns1:ext cx="3566160" cy="0"/>
          </ns1:xfrm>
          <ns1:prstGeom prst="line">
            <ns1:avLst/>
          </ns1:prstGeom>
          <ns1:noFill/>
          <ns1:ln w="6350">
            <ns1:solidFill>
              <ns1:srgbClr val="E8E8E8"/>
            </ns1:solidFill>
            <ns1:prstDash val="solid"/>
          </ns1:ln>
        </ns0:spPr>
        <ns0:txBody>
          <ns1:bodyPr/>
          <ns1:lstStyle/>
          <ns1:p>
            <ns1:endParaRPr lang="en-US"/>
          </ns1:p>
        </ns0:txBody>
      </ns0:sp>
      <ns0:sp>
        <ns0:nvSpPr>
          <ns0:cNvPr id="27" name="Text 25"/>
          <ns0:cNvSpPr/>
          <ns0:nvPr/>
        </ns0:nvSpPr>
        <ns0:spPr>
          <ns1:xfrm>
            <ns1:off x="4864608" y="3017520"/>
            <ns1:ext cx="3712464" cy="320040"/>
          </ns1:xfrm>
          <ns1:prstGeom prst="rect">
            <ns1:avLst/>
          </ns1:prstGeom>
          <ns1:noFill/>
          <ns1:ln/>
        </ns0:spPr>
        <ns0:txBody>
          <ns1:bodyPr wrap="square" lIns="0" tIns="0" rIns="0" bIns="0" rtlCol="0" anchor="ctr"/>
          <ns1:lstStyle/>
          <ns1:p>
            <ns1:pPr marL="0" indent="0" algn="ctr">
              <ns1:buNone/>
            </ns1:pPr>
            <ns1:r>
              <ns1:rPr lang="en-US" sz="900" i="1" dirty="0">
                <ns1:solidFill>
                  <ns1:srgbClr val="000000"/>
                </ns1:solidFill>
                <ns1:latin typeface="Arial" pitchFamily="34" charset="0"/>
                <ns1:ea typeface="Arial" pitchFamily="34" charset="-122"/>
                <ns1:cs typeface="Arial" pitchFamily="34" charset="-120"/>
              </ns1:rPr>
              <ns1:t>Creates files, runs commands, and verifies fixes</ns1:t>
            </ns1:r>
            <ns1:endParaRPr lang="en-US" sz="900" dirty="0"/>
          </ns1:p>
        </ns0:txBody>
      </ns0:sp>
      <ns0:sp>
        <ns0:nvSpPr>
          <ns0:cNvPr id="28" name="Text 26"/>
          <ns0:cNvSpPr/>
          <ns0:nvPr/>
        </ns0:nvSpPr>
        <ns0:spPr>
          <ns1:xfrm>
            <ns1:off x="457200" y="3703320"/>
            <ns1:ext cx="8321040" cy="365760"/>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rPr>
              <ns1:t>Tip: </ns1:t>
            </ns1:r>
            <ns1:r>
              <ns1:rPr lang="en-US" sz="1200" dirty="0">
                <ns1:solidFill>
                  <ns1:srgbClr val="000000"/>
                </ns1:solidFill>
              </ns1:rPr>
              <ns1:t>Put the lab kit inside the project folder first. Then ask Cowork/Codex to read the kit, create app files, and give you the exact Railway commands.</ns1:t>
            </ns1:r>
            <ns1:endParaRPr lang="en-US" sz="1200" dirty="0"/>
          </ns1:p>
        </ns0:txBody>
      </ns0:sp>
    </ns0:spTree>
  </ns0:cSld>
  <ns0:clrMapOvr>
    <ns1:masterClrMapping/>
  </ns0:clrMapOvr>
</ns0:sld>
</file>

<file path=ppt/slides/slide25.xml><?xml version="1.0" encoding="utf-8"?>
<ns0:sld xmlns:ns0="http://schemas.openxmlformats.org/presentationml/2006/main" xmlns:ns1="http://schemas.openxmlformats.org/drawingml/2006/main">
  <ns0:cSld name="Slide 23">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Getting Your Gemini API Key</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Shape 3"/>
          <ns0:cNvSpPr/>
          <ns0:nvPr/>
        </ns0:nvSpPr>
        <ns0:spPr>
          <ns1:xfrm>
            <ns1:off x="548640" y="1152144"/>
            <ns1:ext cx="329184" cy="329184"/>
          </ns1:xfrm>
          <ns1:prstGeom prst="ellipse">
            <ns1:avLst/>
          </ns1:prstGeom>
          <ns1:solidFill>
            <ns1:srgbClr val="005587"/>
          </ns1:solidFill>
          <ns1:ln/>
        </ns0:spPr>
        <ns0:txBody>
          <ns1:bodyPr/>
          <ns1:lstStyle/>
          <ns1:p>
            <ns1:endParaRPr lang="en-US"/>
          </ns1:p>
        </ns0:txBody>
      </ns0:sp>
      <ns0:sp>
        <ns0:nvSpPr>
          <ns0:cNvPr id="6" name="Text 4"/>
          <ns0:cNvSpPr/>
          <ns0:nvPr/>
        </ns0:nvSpPr>
        <ns0:spPr>
          <ns1:xfrm>
            <ns1:off x="548640" y="115214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1</ns1:t>
            </ns1:r>
            <ns1:endParaRPr lang="en-US" sz="1300" dirty="0"/>
          </ns1:p>
        </ns0:txBody>
      </ns0:sp>
      <ns0:sp>
        <ns0:nvSpPr>
          <ns0:cNvPr id="7" name="Text 5"/>
          <ns0:cNvSpPr/>
          <ns0:nvPr/>
        </ns0:nvSpPr>
        <ns0:spPr>
          <ns1:xfrm>
            <ns1:off x="1051560" y="1097280"/>
            <ns1:ext cx="7315200" cy="438912"/>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Go to aistudio.google.com</ns1:t>
            </ns1:r>
            <ns1:endParaRPr lang="en-US" sz="1400" dirty="0"/>
          </ns1:p>
        </ns0:txBody>
      </ns0:sp>
      <ns0:sp>
        <ns0:nvSpPr>
          <ns0:cNvPr id="8" name="Shape 6"/>
          <ns0:cNvSpPr/>
          <ns0:nvPr/>
        </ns0:nvSpPr>
        <ns0:spPr>
          <ns1:xfrm>
            <ns1:off x="548640" y="1655064"/>
            <ns1:ext cx="329184" cy="329184"/>
          </ns1:xfrm>
          <ns1:prstGeom prst="ellipse">
            <ns1:avLst/>
          </ns1:prstGeom>
          <ns1:solidFill>
            <ns1:srgbClr val="005587"/>
          </ns1:solidFill>
          <ns1:ln/>
        </ns0:spPr>
        <ns0:txBody>
          <ns1:bodyPr/>
          <ns1:lstStyle/>
          <ns1:p>
            <ns1:endParaRPr lang="en-US"/>
          </ns1:p>
        </ns0:txBody>
      </ns0:sp>
      <ns0:sp>
        <ns0:nvSpPr>
          <ns0:cNvPr id="9" name="Text 7"/>
          <ns0:cNvSpPr/>
          <ns0:nvPr/>
        </ns0:nvSpPr>
        <ns0:spPr>
          <ns1:xfrm>
            <ns1:off x="548640" y="165506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2</ns1:t>
            </ns1:r>
            <ns1:endParaRPr lang="en-US" sz="1300" dirty="0"/>
          </ns1:p>
        </ns0:txBody>
      </ns0:sp>
      <ns0:sp>
        <ns0:nvSpPr>
          <ns0:cNvPr id="10" name="Text 8"/>
          <ns0:cNvSpPr/>
          <ns0:nvPr/>
        </ns0:nvSpPr>
        <ns0:spPr>
          <ns1:xfrm>
            <ns1:off x="1051560" y="1600200"/>
            <ns1:ext cx="7315200" cy="438912"/>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Sign in with your Google account</ns1:t>
            </ns1:r>
            <ns1:endParaRPr lang="en-US" sz="1400" dirty="0"/>
          </ns1:p>
        </ns0:txBody>
      </ns0:sp>
      <ns0:sp>
        <ns0:nvSpPr>
          <ns0:cNvPr id="11" name="Shape 9"/>
          <ns0:cNvSpPr/>
          <ns0:nvPr/>
        </ns0:nvSpPr>
        <ns0:spPr>
          <ns1:xfrm>
            <ns1:off x="548640" y="2157984"/>
            <ns1:ext cx="329184" cy="329184"/>
          </ns1:xfrm>
          <ns1:prstGeom prst="ellipse">
            <ns1:avLst/>
          </ns1:prstGeom>
          <ns1:solidFill>
            <ns1:srgbClr val="005587"/>
          </ns1:solidFill>
          <ns1:ln/>
        </ns0:spPr>
        <ns0:txBody>
          <ns1:bodyPr/>
          <ns1:lstStyle/>
          <ns1:p>
            <ns1:endParaRPr lang="en-US"/>
          </ns1:p>
        </ns0:txBody>
      </ns0:sp>
      <ns0:sp>
        <ns0:nvSpPr>
          <ns0:cNvPr id="12" name="Text 10"/>
          <ns0:cNvSpPr/>
          <ns0:nvPr/>
        </ns0:nvSpPr>
        <ns0:spPr>
          <ns1:xfrm>
            <ns1:off x="548640" y="215798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3</ns1:t>
            </ns1:r>
            <ns1:endParaRPr lang="en-US" sz="1300" dirty="0"/>
          </ns1:p>
        </ns0:txBody>
      </ns0:sp>
      <ns0:sp>
        <ns0:nvSpPr>
          <ns0:cNvPr id="13" name="Text 11"/>
          <ns0:cNvSpPr/>
          <ns0:nvPr/>
        </ns0:nvSpPr>
        <ns0:spPr>
          <ns1:xfrm>
            <ns1:off x="1051560" y="2103120"/>
            <ns1:ext cx="7315200" cy="438912"/>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Click "Get API Key" in the left sidebar</ns1:t>
            </ns1:r>
            <ns1:endParaRPr lang="en-US" sz="1400" dirty="0"/>
          </ns1:p>
        </ns0:txBody>
      </ns0:sp>
      <ns0:sp>
        <ns0:nvSpPr>
          <ns0:cNvPr id="14" name="Shape 12"/>
          <ns0:cNvSpPr/>
          <ns0:nvPr/>
        </ns0:nvSpPr>
        <ns0:spPr>
          <ns1:xfrm>
            <ns1:off x="548640" y="2660904"/>
            <ns1:ext cx="329184" cy="329184"/>
          </ns1:xfrm>
          <ns1:prstGeom prst="ellipse">
            <ns1:avLst/>
          </ns1:prstGeom>
          <ns1:solidFill>
            <ns1:srgbClr val="005587"/>
          </ns1:solidFill>
          <ns1:ln/>
        </ns0:spPr>
        <ns0:txBody>
          <ns1:bodyPr/>
          <ns1:lstStyle/>
          <ns1:p>
            <ns1:endParaRPr lang="en-US"/>
          </ns1:p>
        </ns0:txBody>
      </ns0:sp>
      <ns0:sp>
        <ns0:nvSpPr>
          <ns0:cNvPr id="15" name="Text 13"/>
          <ns0:cNvSpPr/>
          <ns0:nvPr/>
        </ns0:nvSpPr>
        <ns0:spPr>
          <ns1:xfrm>
            <ns1:off x="548640" y="266090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4</ns1:t>
            </ns1:r>
            <ns1:endParaRPr lang="en-US" sz="1300" dirty="0"/>
          </ns1:p>
        </ns0:txBody>
      </ns0:sp>
      <ns0:sp>
        <ns0:nvSpPr>
          <ns0:cNvPr id="16" name="Text 14"/>
          <ns0:cNvSpPr/>
          <ns0:nvPr/>
        </ns0:nvSpPr>
        <ns0:spPr>
          <ns1:xfrm>
            <ns1:off x="1051560" y="2606040"/>
            <ns1:ext cx="7315200" cy="438912"/>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Create a new API key (select "Create API key in new project")</ns1:t>
            </ns1:r>
            <ns1:endParaRPr lang="en-US" sz="1400" dirty="0"/>
          </ns1:p>
        </ns0:txBody>
      </ns0:sp>
      <ns0:sp>
        <ns0:nvSpPr>
          <ns0:cNvPr id="17" name="Shape 15"/>
          <ns0:cNvSpPr/>
          <ns0:nvPr/>
        </ns0:nvSpPr>
        <ns0:spPr>
          <ns1:xfrm>
            <ns1:off x="548640" y="3163824"/>
            <ns1:ext cx="329184" cy="329184"/>
          </ns1:xfrm>
          <ns1:prstGeom prst="ellipse">
            <ns1:avLst/>
          </ns1:prstGeom>
          <ns1:solidFill>
            <ns1:srgbClr val="005587"/>
          </ns1:solidFill>
          <ns1:ln/>
        </ns0:spPr>
        <ns0:txBody>
          <ns1:bodyPr/>
          <ns1:lstStyle/>
          <ns1:p>
            <ns1:endParaRPr lang="en-US"/>
          </ns1:p>
        </ns0:txBody>
      </ns0:sp>
      <ns0:sp>
        <ns0:nvSpPr>
          <ns0:cNvPr id="18" name="Text 16"/>
          <ns0:cNvSpPr/>
          <ns0:nvPr/>
        </ns0:nvSpPr>
        <ns0:spPr>
          <ns1:xfrm>
            <ns1:off x="548640" y="316382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5</ns1:t>
            </ns1:r>
            <ns1:endParaRPr lang="en-US" sz="1300" dirty="0"/>
          </ns1:p>
        </ns0:txBody>
      </ns0:sp>
      <ns0:sp>
        <ns0:nvSpPr>
          <ns0:cNvPr id="19" name="Text 17"/>
          <ns0:cNvSpPr/>
          <ns0:nvPr/>
        </ns0:nvSpPr>
        <ns0:spPr>
          <ns1:xfrm>
            <ns1:off x="1051560" y="3108960"/>
            <ns1:ext cx="7315200" cy="438912"/>
          </ns1:xfrm>
          <ns1:prstGeom prst="rect">
            <ns1:avLst/>
          </ns1:prstGeom>
          <ns1:noFill/>
          <ns1:ln/>
        </ns0:spPr>
        <ns0:txBody>
          <ns1:bodyPr wrap="square" lIns="0" tIns="0" rIns="0" bIns="0" rtlCol="0" anchor="ctr"/>
          <ns1:lstStyle/>
          <ns1:p>
            <ns1:pPr marL="0" indent="0">
              <ns1:buNone/>
            </ns1:pPr>
            <ns1:r>
              <ns1:rPr lang="en-US" sz="1400" dirty="0">
                <ns1:solidFill>
                  <ns1:srgbClr val="000000"/>
                </ns1:solidFill>
                <ns1:latin typeface="Arial" pitchFamily="34" charset="0"/>
                <ns1:ea typeface="Arial" pitchFamily="34" charset="-122"/>
                <ns1:cs typeface="Arial" pitchFamily="34" charset="-120"/>
              </ns1:rPr>
              <ns1:t>Copy the key and store it safely; don't commit it to GitHub!</ns1:t>
            </ns1:r>
            <ns1:endParaRPr lang="en-US" sz="1400" dirty="0"/>
          </ns1:p>
        </ns0:txBody>
      </ns0:sp>
      <ns0:sp>
        <ns0:nvSpPr>
          <ns0:cNvPr id="20" name="Shape 18"/>
          <ns0:cNvSpPr/>
          <ns0:nvPr/>
        </ns0:nvSpPr>
        <ns0:spPr>
          <ns1:xfrm>
            <ns1:off x="457200" y="3657600"/>
            <ns1:ext cx="8321040" cy="502920"/>
          </ns1:xfrm>
          <ns1:prstGeom prst="rect">
            <ns1:avLst/>
          </ns1:prstGeom>
          <ns1:noFill/>
          <ns1:ln>
            <ns1:noFill/>
          </ns1:ln>
        </ns0:spPr>
        <ns0:txBody>
          <ns1:bodyPr/>
          <ns1:lstStyle/>
          <ns1:p>
            <ns1:endParaRPr lang="en-US"/>
          </ns1:p>
        </ns0:txBody>
      </ns0:sp>
      <ns0:sp>
        <ns0:nvSpPr>
          <ns0:cNvPr id="21" name="Text 19"/>
          <ns0:cNvSpPr/>
          <ns0:nvPr/>
        </ns0:nvSpPr>
        <ns0:spPr>
          <ns1:xfrm>
            <ns1:off x="640080" y="3657600"/>
            <ns1:ext cx="7955280" cy="502920"/>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rPr>
              <ns1:t>Free tier: </ns1:t>
            </ns1:r>
            <ns1:r>
              <ns1:rPr lang="en-US" sz="1200" dirty="0">
                <ns1:solidFill>
                  <ns1:srgbClr val="000000"/>
                </ns1:solidFill>
              </ns1:rPr>
              <ns1:t>Gemini 2.5 Flash, free, no credit card required. Sufficient for your class project (up to ~1,000 requests/day).</ns1:t>
            </ns1:r>
            <ns1:endParaRPr lang="en-US" sz="1200" dirty="0"/>
          </ns1:p>
        </ns0:txBody>
      </ns0:sp>
    </ns0:spTree>
  </ns0:cSld>
  <ns0:clrMapOvr>
    <ns1:masterClrMapping/>
  </ns0:clrMapOvr>
</ns0:sld>
</file>

<file path=ppt/slides/slide26.xml><?xml version="1.0" encoding="utf-8"?>
<ns0:sld xmlns:ns0="http://schemas.openxmlformats.org/presentationml/2006/main" xmlns:ns1="http://schemas.openxmlformats.org/drawingml/2006/main">
  <ns0:cSld name="Slide 24">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Deploying on Railway from the CLI</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Shape 3"/>
          <ns0:cNvSpPr/>
          <ns0:nvPr/>
        </ns0:nvSpPr>
        <ns0:spPr>
          <ns1:xfrm>
            <ns1:off x="548640" y="1152144"/>
            <ns1:ext cx="329184" cy="329184"/>
          </ns1:xfrm>
          <ns1:prstGeom prst="ellipse">
            <ns1:avLst/>
          </ns1:prstGeom>
          <ns1:solidFill>
            <ns1:srgbClr val="005587"/>
          </ns1:solidFill>
          <ns1:ln/>
        </ns0:spPr>
        <ns0:txBody>
          <ns1:bodyPr/>
          <ns1:lstStyle/>
          <ns1:p>
            <ns1:endParaRPr lang="en-US"/>
          </ns1:p>
        </ns0:txBody>
      </ns0:sp>
      <ns0:sp>
        <ns0:nvSpPr>
          <ns0:cNvPr id="6" name="Text 4"/>
          <ns0:cNvSpPr/>
          <ns0:nvPr/>
        </ns0:nvSpPr>
        <ns0:spPr>
          <ns1:xfrm>
            <ns1:off x="548640" y="115214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1</ns1:t>
            </ns1:r>
            <ns1:endParaRPr lang="en-US" sz="1300" dirty="0"/>
          </ns1:p>
        </ns0:txBody>
      </ns0:sp>
      <ns0:sp>
        <ns0:nvSpPr>
          <ns0:cNvPr id="7" name="Text 5"/>
          <ns0:cNvSpPr/>
          <ns0:nvPr/>
        </ns0:nvSpPr>
        <ns0:spPr>
          <ns1:xfrm>
            <ns1:off x="1051560" y="1097280"/>
            <ns1:ext cx="7315200" cy="438912"/>
          </ns1:xfrm>
          <ns1:prstGeom prst="rect">
            <ns1:avLst/>
          </ns1:prstGeom>
          <ns1:noFill/>
          <ns1:ln/>
        </ns0:spPr>
        <ns0:txBody>
          <ns1:bodyPr wrap="square" lIns="0" tIns="0" rIns="0" bIns="0" rtlCol="0" anchor="ctr"/>
          <ns1:lstStyle/>
          <ns1:p>
            <ns1:pPr marL="0" indent="0">
              <ns1:buNone/>
            </ns1:pPr>
            <ns1:r>
              <ns1:rPr lang="en-US" sz="1300" dirty="0">
                <ns1:solidFill>
                  <ns1:srgbClr val="000000"/>
                </ns1:solidFill>
                <ns1:latin typeface="Arial" pitchFamily="34" charset="0"/>
                <ns1:ea typeface="Arial" pitchFamily="34" charset="-122"/>
                <ns1:cs typeface="Arial" pitchFamily="34" charset="-120"/>
              </ns1:rPr>
              <ns1:t>Sign up at railway.com and upgrade to the Hobby tier ($5/mo, includes $5 usage)</ns1:t>
            </ns1:r>
            <ns1:endParaRPr lang="en-US" sz="1300" dirty="0"/>
          </ns1:p>
        </ns0:txBody>
      </ns0:sp>
      <ns0:sp>
        <ns0:nvSpPr>
          <ns0:cNvPr id="8" name="Shape 6"/>
          <ns0:cNvSpPr/>
          <ns0:nvPr/>
        </ns0:nvSpPr>
        <ns0:spPr>
          <ns1:xfrm>
            <ns1:off x="548640" y="1655064"/>
            <ns1:ext cx="329184" cy="329184"/>
          </ns1:xfrm>
          <ns1:prstGeom prst="ellipse">
            <ns1:avLst/>
          </ns1:prstGeom>
          <ns1:solidFill>
            <ns1:srgbClr val="005587"/>
          </ns1:solidFill>
          <ns1:ln/>
        </ns0:spPr>
        <ns0:txBody>
          <ns1:bodyPr/>
          <ns1:lstStyle/>
          <ns1:p>
            <ns1:endParaRPr lang="en-US"/>
          </ns1:p>
        </ns0:txBody>
      </ns0:sp>
      <ns0:sp>
        <ns0:nvSpPr>
          <ns0:cNvPr id="9" name="Text 7"/>
          <ns0:cNvSpPr/>
          <ns0:nvPr/>
        </ns0:nvSpPr>
        <ns0:spPr>
          <ns1:xfrm>
            <ns1:off x="548640" y="165506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2</ns1:t>
            </ns1:r>
            <ns1:endParaRPr lang="en-US" sz="1300" dirty="0"/>
          </ns1:p>
        </ns0:txBody>
      </ns0:sp>
      <ns0:sp>
        <ns0:nvSpPr>
          <ns0:cNvPr id="10" name="Text 8"/>
          <ns0:cNvSpPr/>
          <ns0:nvPr/>
        </ns0:nvSpPr>
        <ns0:spPr>
          <ns1:xfrm>
            <ns1:off x="1051560" y="1600200"/>
            <ns1:ext cx="7315200" cy="438912"/>
          </ns1:xfrm>
          <ns1:prstGeom prst="rect">
            <ns1:avLst/>
          </ns1:prstGeom>
          <ns1:noFill/>
          <ns1:ln/>
        </ns0:spPr>
        <ns0:txBody>
          <ns1:bodyPr wrap="square" lIns="0" tIns="0" rIns="0" bIns="0" rtlCol="0" anchor="ctr"/>
          <ns1:lstStyle/>
          <ns1:p>
            <ns1:pPr marL="0" indent="0">
              <ns1:buNone/>
            </ns1:pPr>
            <ns1:r>
              <ns1:rPr lang="en-US" sz="1300" dirty="0">
                <ns1:solidFill>
                  <ns1:srgbClr val="000000"/>
                </ns1:solidFill>
                <ns1:latin typeface="Arial" pitchFamily="34" charset="0"/>
                <ns1:ea typeface="Arial" pitchFamily="34" charset="-122"/>
                <ns1:cs typeface="Arial" pitchFamily="34" charset="-120"/>
              </ns1:rPr>
              <ns1:t>Install the Railway CLI:  brew install railway  or  npm install -g @railway/cli</ns1:t>
            </ns1:r>
            <ns1:endParaRPr lang="en-US" sz="1300" dirty="0">
              <ns1:latin typeface="Arial"/>
            </ns1:endParaRPr>
          </ns1:p>
        </ns0:txBody>
      </ns0:sp>
      <ns0:sp>
        <ns0:nvSpPr>
          <ns0:cNvPr id="11" name="Shape 9"/>
          <ns0:cNvSpPr/>
          <ns0:nvPr/>
        </ns0:nvSpPr>
        <ns0:spPr>
          <ns1:xfrm>
            <ns1:off x="548640" y="2157984"/>
            <ns1:ext cx="329184" cy="329184"/>
          </ns1:xfrm>
          <ns1:prstGeom prst="ellipse">
            <ns1:avLst/>
          </ns1:prstGeom>
          <ns1:solidFill>
            <ns1:srgbClr val="005587"/>
          </ns1:solidFill>
          <ns1:ln/>
        </ns0:spPr>
        <ns0:txBody>
          <ns1:bodyPr/>
          <ns1:lstStyle/>
          <ns1:p>
            <ns1:endParaRPr lang="en-US"/>
          </ns1:p>
        </ns0:txBody>
      </ns0:sp>
      <ns0:sp>
        <ns0:nvSpPr>
          <ns0:cNvPr id="12" name="Text 10"/>
          <ns0:cNvSpPr/>
          <ns0:nvPr/>
        </ns0:nvSpPr>
        <ns0:spPr>
          <ns1:xfrm>
            <ns1:off x="548640" y="215798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3</ns1:t>
            </ns1:r>
            <ns1:endParaRPr lang="en-US" sz="1300" dirty="0"/>
          </ns1:p>
        </ns0:txBody>
      </ns0:sp>
      <ns0:sp>
        <ns0:nvSpPr>
          <ns0:cNvPr id="13" name="Text 11"/>
          <ns0:cNvSpPr/>
          <ns0:nvPr/>
        </ns0:nvSpPr>
        <ns0:spPr>
          <ns1:xfrm>
            <ns1:off x="1051560" y="2103120"/>
            <ns1:ext cx="7315200" cy="438912"/>
          </ns1:xfrm>
          <ns1:prstGeom prst="rect">
            <ns1:avLst/>
          </ns1:prstGeom>
          <ns1:noFill/>
          <ns1:ln/>
        </ns0:spPr>
        <ns0:txBody>
          <ns1:bodyPr wrap="square" lIns="0" tIns="0" rIns="0" bIns="0" rtlCol="0" anchor="ctr"/>
          <ns1:lstStyle/>
          <ns1:p>
            <ns1:pPr marL="0" indent="0">
              <ns1:buNone/>
            </ns1:pPr>
            <ns1:r>
              <ns1:rPr lang="en-US" sz="1300" dirty="0">
                <ns1:solidFill>
                  <ns1:srgbClr val="000000"/>
                </ns1:solidFill>
                <ns1:latin typeface="Arial" pitchFamily="34" charset="0"/>
                <ns1:ea typeface="Arial" pitchFamily="34" charset="-122"/>
                <ns1:cs typeface="Arial" pitchFamily="34" charset="-120"/>
              </ns1:rPr>
              <ns1:t>Login from your terminal:  railway login</ns1:t>
            </ns1:r>
            <ns1:endParaRPr lang="en-US" sz="1300" dirty="0">
              <ns1:latin typeface="Arial"/>
            </ns1:endParaRPr>
          </ns1:p>
        </ns0:txBody>
      </ns0:sp>
      <ns0:sp>
        <ns0:nvSpPr>
          <ns0:cNvPr id="14" name="Shape 12"/>
          <ns0:cNvSpPr/>
          <ns0:nvPr/>
        </ns0:nvSpPr>
        <ns0:spPr>
          <ns1:xfrm>
            <ns1:off x="548640" y="2660904"/>
            <ns1:ext cx="329184" cy="329184"/>
          </ns1:xfrm>
          <ns1:prstGeom prst="ellipse">
            <ns1:avLst/>
          </ns1:prstGeom>
          <ns1:solidFill>
            <ns1:srgbClr val="005587"/>
          </ns1:solidFill>
          <ns1:ln/>
        </ns0:spPr>
        <ns0:txBody>
          <ns1:bodyPr/>
          <ns1:lstStyle/>
          <ns1:p>
            <ns1:endParaRPr lang="en-US"/>
          </ns1:p>
        </ns0:txBody>
      </ns0:sp>
      <ns0:sp>
        <ns0:nvSpPr>
          <ns0:cNvPr id="15" name="Text 13"/>
          <ns0:cNvSpPr/>
          <ns0:nvPr/>
        </ns0:nvSpPr>
        <ns0:spPr>
          <ns1:xfrm>
            <ns1:off x="548640" y="266090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4</ns1:t>
            </ns1:r>
            <ns1:endParaRPr lang="en-US" sz="1300" dirty="0"/>
          </ns1:p>
        </ns0:txBody>
      </ns0:sp>
      <ns0:sp>
        <ns0:nvSpPr>
          <ns0:cNvPr id="16" name="Text 14"/>
          <ns0:cNvSpPr/>
          <ns0:nvPr/>
        </ns0:nvSpPr>
        <ns0:spPr>
          <ns1:xfrm>
            <ns1:off x="1051560" y="2606040"/>
            <ns1:ext cx="7315200" cy="438912"/>
          </ns1:xfrm>
          <ns1:prstGeom prst="rect">
            <ns1:avLst/>
          </ns1:prstGeom>
          <ns1:noFill/>
          <ns1:ln/>
        </ns0:spPr>
        <ns0:txBody>
          <ns1:bodyPr wrap="square" lIns="0" tIns="0" rIns="0" bIns="0" rtlCol="0" anchor="ctr"/>
          <ns1:lstStyle/>
          <ns1:p>
            <ns1:pPr marL="0" indent="0">
              <ns1:buNone/>
            </ns1:pPr>
            <ns1:r>
              <ns1:rPr lang="en-US" sz="1300" dirty="0">
                <ns1:solidFill>
                  <ns1:srgbClr val="000000"/>
                </ns1:solidFill>
                <ns1:latin typeface="Arial" pitchFamily="34" charset="0"/>
                <ns1:ea typeface="Arial" pitchFamily="34" charset="-122"/>
                <ns1:cs typeface="Arial" pitchFamily="34" charset="-120"/>
              </ns1:rPr>
              <ns1:t>In your project folder:  railway init  →  railway up</ns1:t>
            </ns1:r>
            <ns1:endParaRPr lang="en-US" sz="1300" dirty="0">
              <ns1:latin typeface="Arial"/>
            </ns1:endParaRPr>
          </ns1:p>
        </ns0:txBody>
      </ns0:sp>
      <ns0:sp>
        <ns0:nvSpPr>
          <ns0:cNvPr id="17" name="Shape 15"/>
          <ns0:cNvSpPr/>
          <ns0:nvPr/>
        </ns0:nvSpPr>
        <ns0:spPr>
          <ns1:xfrm>
            <ns1:off x="548640" y="3163824"/>
            <ns1:ext cx="329184" cy="329184"/>
          </ns1:xfrm>
          <ns1:prstGeom prst="ellipse">
            <ns1:avLst/>
          </ns1:prstGeom>
          <ns1:solidFill>
            <ns1:srgbClr val="005587"/>
          </ns1:solidFill>
          <ns1:ln/>
        </ns0:spPr>
        <ns0:txBody>
          <ns1:bodyPr/>
          <ns1:lstStyle/>
          <ns1:p>
            <ns1:endParaRPr lang="en-US"/>
          </ns1:p>
        </ns0:txBody>
      </ns0:sp>
      <ns0:sp>
        <ns0:nvSpPr>
          <ns0:cNvPr id="18" name="Text 16"/>
          <ns0:cNvSpPr/>
          <ns0:nvPr/>
        </ns0:nvSpPr>
        <ns0:spPr>
          <ns1:xfrm>
            <ns1:off x="548640" y="3163824"/>
            <ns1:ext cx="329184" cy="329184"/>
          </ns1:xfrm>
          <ns1:prstGeom prst="rect">
            <ns1:avLst/>
          </ns1:prstGeom>
          <ns1:noFill/>
          <ns1:ln/>
        </ns0:spPr>
        <ns0:txBody>
          <ns1:bodyPr wrap="square" lIns="0" tIns="0" rIns="0" bIns="0" rtlCol="0" anchor="ctr"/>
          <ns1:lstStyle/>
          <ns1:p>
            <ns1:pPr marL="0" indent="0" algn="ctr">
              <ns1:buNone/>
            </ns1:pPr>
            <ns1:r>
              <ns1:rPr lang="en-US" sz="1300" b="1" dirty="0">
                <ns1:solidFill>
                  <ns1:srgbClr val="005587"/>
                </ns1:solidFill>
                <ns1:latin typeface="Arial" pitchFamily="34" charset="0"/>
                <ns1:ea typeface="Arial" pitchFamily="34" charset="-122"/>
                <ns1:cs typeface="Arial" pitchFamily="34" charset="-120"/>
              </ns1:rPr>
              <ns1:t>5</ns1:t>
            </ns1:r>
            <ns1:endParaRPr lang="en-US" sz="1300" dirty="0"/>
          </ns1:p>
        </ns0:txBody>
      </ns0:sp>
      <ns0:sp>
        <ns0:nvSpPr>
          <ns0:cNvPr id="19" name="Text 17"/>
          <ns0:cNvSpPr/>
          <ns0:nvPr/>
        </ns0:nvSpPr>
        <ns0:spPr>
          <ns1:xfrm>
            <ns1:off x="1051560" y="3108960"/>
            <ns1:ext cx="7315200" cy="438912"/>
          </ns1:xfrm>
          <ns1:prstGeom prst="rect">
            <ns1:avLst/>
          </ns1:prstGeom>
          <ns1:noFill/>
          <ns1:ln/>
        </ns0:spPr>
        <ns0:txBody>
          <ns1:bodyPr wrap="square" lIns="0" tIns="0" rIns="0" bIns="0" rtlCol="0" anchor="ctr"/>
          <ns1:lstStyle/>
          <ns1:p>
            <ns1:pPr marL="0" indent="0">
              <ns1:buNone/>
            </ns1:pPr>
            <ns1:r>
              <ns1:rPr lang="en-US" sz="1300" dirty="0">
                <ns1:solidFill>
                  <ns1:srgbClr val="000000"/>
                </ns1:solidFill>
                <ns1:latin typeface="Arial" pitchFamily="34" charset="0"/>
                <ns1:ea typeface="Arial" pitchFamily="34" charset="-122"/>
                <ns1:cs typeface="Arial" pitchFamily="34" charset="-120"/>
              </ns1:rPr>
              <ns1:t>Railway auto-detects your stack, builds, and gives you a public URL</ns1:t>
            </ns1:r>
            <ns1:endParaRPr lang="en-US" sz="1300" dirty="0"/>
          </ns1:p>
        </ns0:txBody>
      </ns0:sp>
      <ns0:sp>
        <ns0:nvSpPr>
          <ns0:cNvPr id="20" name="Shape 18"/>
          <ns0:cNvSpPr/>
          <ns0:nvPr/>
        </ns0:nvSpPr>
        <ns0:spPr>
          <ns1:xfrm>
            <ns1:off x="457200" y="3657600"/>
            <ns1:ext cx="8321040" cy="502920"/>
          </ns1:xfrm>
          <ns1:prstGeom prst="rect">
            <ns1:avLst/>
          </ns1:prstGeom>
          <ns1:noFill/>
          <ns1:ln>
            <ns1:noFill/>
          </ns1:ln>
        </ns0:spPr>
        <ns0:txBody>
          <ns1:bodyPr/>
          <ns1:lstStyle/>
          <ns1:p>
            <ns1:endParaRPr lang="en-US"/>
          </ns1:p>
        </ns0:txBody>
      </ns0:sp>
      <ns0:sp>
        <ns0:nvSpPr>
          <ns0:cNvPr id="21" name="Text 19"/>
          <ns0:cNvSpPr/>
          <ns0:nvPr/>
        </ns0:nvSpPr>
        <ns0:spPr>
          <ns1:xfrm>
            <ns1:off x="640080" y="3657600"/>
            <ns1:ext cx="7955280" cy="502920"/>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latin typeface="Arial"/>
              </ns1:rPr>
              <ns1:t>Environment variables: </ns1:t>
            </ns1:r>
            <ns1:r>
              <ns1:rPr lang="en-US" sz="1200" dirty="0">
                <ns1:solidFill>
                  <ns1:srgbClr val="000000"/>
                </ns1:solidFill>
                <ns1:latin typeface="Arial"/>
              </ns1:rPr>
              <ns1:t>Set your Gemini API key via  railway variable set GEMINI_API_KEY=your_key_here. Keeps secrets out of your code.</ns1:t>
            </ns1:r>
            <ns1:endParaRPr lang="en-US" sz="1200" dirty="0">
              <ns1:latin typeface="Arial"/>
            </ns1:endParaRPr>
          </ns1:p>
        </ns0:txBody>
      </ns0:sp>
    </ns0:spTree>
  </ns0:cSld>
  <ns0:clrMapOvr>
    <ns1:masterClrMapping/>
  </ns0:clrMapOvr>
</ns0:sld>
</file>

<file path=ppt/slides/slide27.xml><?xml version="1.0" encoding="utf-8"?>
<ns0:sld xmlns:ns0="http://schemas.openxmlformats.org/presentationml/2006/main" xmlns:ns1="http://schemas.openxmlformats.org/drawingml/2006/main">
  <ns0:cSld name="Slide 25">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Setup Checklist</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Text 3"/>
          <ns0:cNvSpPr/>
          <ns0:nvPr/>
        </ns0:nvSpPr>
        <ns0:spPr>
          <ns1:xfrm>
            <ns1:off x="457200" y="960120"/>
            <ns1:ext cx="8321040" cy="274320"/>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Get these set up before next class. Ask your team's most technical member to lead the setup.</ns1:t>
            </ns1:r>
            <ns1:endParaRPr lang="en-US" sz="1200" dirty="0"/>
          </ns1:p>
        </ns0:txBody>
      </ns0:sp>
      <ns0:sp>
        <ns0:nvSpPr>
          <ns0:cNvPr id="6" name="Shape 4"/>
          <ns0:cNvSpPr/>
          <ns0:nvPr/>
        </ns0:nvSpPr>
        <ns0:spPr>
          <ns1:xfrm>
            <ns1:off x="502920" y="1435608"/>
            <ns1:ext cx="201168" cy="201168"/>
          </ns1:xfrm>
          <ns1:prstGeom prst="rect">
            <ns1:avLst/>
          </ns1:prstGeom>
          <ns1:solidFill>
            <ns1:srgbClr val="FFFFFF"/>
          </ns1:solidFill>
          <ns1:ln w="19050">
            <ns1:solidFill>
              <ns1:srgbClr val="005587"/>
            </ns1:solidFill>
            <ns1:prstDash val="solid"/>
          </ns1:ln>
        </ns0:spPr>
        <ns0:txBody>
          <ns1:bodyPr/>
          <ns1:lstStyle/>
          <ns1:p>
            <ns1:endParaRPr lang="en-US"/>
          </ns1:p>
        </ns0:txBody>
      </ns0:sp>
      <ns0:sp>
        <ns0:nvSpPr>
          <ns0:cNvPr id="7" name="Text 5"/>
          <ns0:cNvSpPr/>
          <ns0:nvPr/>
        </ns0:nvSpPr>
        <ns0:spPr>
          <ns1:xfrm>
            <ns1:off x="822960" y="1371600"/>
            <ns1:ext cx="1828800" cy="329184"/>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Python 3.10+</ns1:t>
            </ns1:r>
            <ns1:endParaRPr lang="en-US" sz="1200" dirty="0"/>
          </ns1:p>
        </ns0:txBody>
      </ns0:sp>
      <ns0:sp>
        <ns0:nvSpPr>
          <ns0:cNvPr id="8" name="Text 6"/>
          <ns0:cNvSpPr/>
          <ns0:nvPr/>
        </ns0:nvSpPr>
        <ns0:spPr>
          <ns1:xfrm>
            <ns1:off x="2651760" y="1371600"/>
            <ns1:ext cx="5943600" cy="329184"/>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Install from python.org. Verify:  python --version</ns1:t>
            </ns1:r>
            <ns1:endParaRPr lang="en-US" sz="1200" dirty="0"/>
          </ns1:p>
        </ns0:txBody>
      </ns0:sp>
      <ns0:sp>
        <ns0:nvSpPr>
          <ns0:cNvPr id="9" name="Shape 7"/>
          <ns0:cNvSpPr/>
          <ns0:nvPr/>
        </ns0:nvSpPr>
        <ns0:spPr>
          <ns1:xfrm>
            <ns1:off x="502920" y="1856232"/>
            <ns1:ext cx="201168" cy="201168"/>
          </ns1:xfrm>
          <ns1:prstGeom prst="rect">
            <ns1:avLst/>
          </ns1:prstGeom>
          <ns1:solidFill>
            <ns1:srgbClr val="FFFFFF"/>
          </ns1:solidFill>
          <ns1:ln w="19050">
            <ns1:solidFill>
              <ns1:srgbClr val="005587"/>
            </ns1:solidFill>
            <ns1:prstDash val="solid"/>
          </ns1:ln>
        </ns0:spPr>
        <ns0:txBody>
          <ns1:bodyPr/>
          <ns1:lstStyle/>
          <ns1:p>
            <ns1:endParaRPr lang="en-US"/>
          </ns1:p>
        </ns0:txBody>
      </ns0:sp>
      <ns0:sp>
        <ns0:nvSpPr>
          <ns0:cNvPr id="10" name="Text 8"/>
          <ns0:cNvSpPr/>
          <ns0:nvPr/>
        </ns0:nvSpPr>
        <ns0:spPr>
          <ns1:xfrm>
            <ns1:off x="822960" y="1792224"/>
            <ns1:ext cx="1828800" cy="329184"/>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Node.js</ns1:t>
            </ns1:r>
            <ns1:endParaRPr lang="en-US" sz="1200" dirty="0"/>
          </ns1:p>
        </ns0:txBody>
      </ns0:sp>
      <ns0:sp>
        <ns0:nvSpPr>
          <ns0:cNvPr id="11" name="Text 9"/>
          <ns0:cNvSpPr/>
          <ns0:nvPr/>
        </ns0:nvSpPr>
        <ns0:spPr>
          <ns1:xfrm>
            <ns1:off x="2651760" y="1792224"/>
            <ns1:ext cx="5943600" cy="329184"/>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Install from nodejs.org. Needed for Railway CLI and React.</ns1:t>
            </ns1:r>
            <ns1:endParaRPr lang="en-US" sz="1200" dirty="0"/>
          </ns1:p>
        </ns0:txBody>
      </ns0:sp>
      <ns0:sp>
        <ns0:nvSpPr>
          <ns0:cNvPr id="12" name="Shape 10"/>
          <ns0:cNvSpPr/>
          <ns0:nvPr/>
        </ns0:nvSpPr>
        <ns0:spPr>
          <ns1:xfrm>
            <ns1:off x="502920" y="2276856"/>
            <ns1:ext cx="201168" cy="201168"/>
          </ns1:xfrm>
          <ns1:prstGeom prst="rect">
            <ns1:avLst/>
          </ns1:prstGeom>
          <ns1:solidFill>
            <ns1:srgbClr val="FFFFFF"/>
          </ns1:solidFill>
          <ns1:ln w="19050">
            <ns1:solidFill>
              <ns1:srgbClr val="005587"/>
            </ns1:solidFill>
            <ns1:prstDash val="solid"/>
          </ns1:ln>
        </ns0:spPr>
        <ns0:txBody>
          <ns1:bodyPr/>
          <ns1:lstStyle/>
          <ns1:p>
            <ns1:endParaRPr lang="en-US"/>
          </ns1:p>
        </ns0:txBody>
      </ns0:sp>
      <ns0:sp>
        <ns0:nvSpPr>
          <ns0:cNvPr id="13" name="Text 11"/>
          <ns0:cNvSpPr/>
          <ns0:nvPr/>
        </ns0:nvSpPr>
        <ns0:spPr>
          <ns1:xfrm>
            <ns1:off x="822960" y="2212848"/>
            <ns1:ext cx="1828800" cy="329184"/>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Railway CLI</ns1:t>
            </ns1:r>
            <ns1:endParaRPr lang="en-US" sz="1200" dirty="0"/>
          </ns1:p>
        </ns0:txBody>
      </ns0:sp>
      <ns0:sp>
        <ns0:nvSpPr>
          <ns0:cNvPr id="14" name="Text 12"/>
          <ns0:cNvSpPr/>
          <ns0:nvPr/>
        </ns0:nvSpPr>
        <ns0:spPr>
          <ns1:xfrm>
            <ns1:off x="2651760" y="2212848"/>
            <ns1:ext cx="5943600" cy="329184"/>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brew install railway  or  npm install -g @railway/cli  →  railway login</ns1:t>
            </ns1:r>
            <ns1:endParaRPr lang="en-US" sz="1200" dirty="0">
              <ns1:latin typeface="Arial"/>
            </ns1:endParaRPr>
          </ns1:p>
        </ns0:txBody>
      </ns0:sp>
      <ns0:sp>
        <ns0:nvSpPr>
          <ns0:cNvPr id="15" name="Shape 13"/>
          <ns0:cNvSpPr/>
          <ns0:nvPr/>
        </ns0:nvSpPr>
        <ns0:spPr>
          <ns1:xfrm>
            <ns1:off x="502920" y="2697480"/>
            <ns1:ext cx="201168" cy="201168"/>
          </ns1:xfrm>
          <ns1:prstGeom prst="rect">
            <ns1:avLst/>
          </ns1:prstGeom>
          <ns1:solidFill>
            <ns1:srgbClr val="FFFFFF"/>
          </ns1:solidFill>
          <ns1:ln w="19050">
            <ns1:solidFill>
              <ns1:srgbClr val="005587"/>
            </ns1:solidFill>
            <ns1:prstDash val="solid"/>
          </ns1:ln>
        </ns0:spPr>
        <ns0:txBody>
          <ns1:bodyPr/>
          <ns1:lstStyle/>
          <ns1:p>
            <ns1:endParaRPr lang="en-US"/>
          </ns1:p>
        </ns0:txBody>
      </ns0:sp>
      <ns0:sp>
        <ns0:nvSpPr>
          <ns0:cNvPr id="16" name="Text 14"/>
          <ns0:cNvSpPr/>
          <ns0:nvPr/>
        </ns0:nvSpPr>
        <ns0:spPr>
          <ns1:xfrm>
            <ns1:off x="822960" y="2633472"/>
            <ns1:ext cx="1828800" cy="329184"/>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Railway Hobby tier</ns1:t>
            </ns1:r>
            <ns1:endParaRPr lang="en-US" sz="1200" dirty="0"/>
          </ns1:p>
        </ns0:txBody>
      </ns0:sp>
      <ns0:sp>
        <ns0:nvSpPr>
          <ns0:cNvPr id="17" name="Text 15"/>
          <ns0:cNvSpPr/>
          <ns0:nvPr/>
        </ns0:nvSpPr>
        <ns0:spPr>
          <ns1:xfrm>
            <ns1:off x="2651760" y="2633472"/>
            <ns1:ext cx="5943600" cy="329184"/>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Sign up at railway.com, add payment method ($5/mo).</ns1:t>
            </ns1:r>
            <ns1:endParaRPr lang="en-US" sz="1200" dirty="0"/>
          </ns1:p>
        </ns0:txBody>
      </ns0:sp>
      <ns0:sp>
        <ns0:nvSpPr>
          <ns0:cNvPr id="18" name="Shape 16"/>
          <ns0:cNvSpPr/>
          <ns0:nvPr/>
        </ns0:nvSpPr>
        <ns0:spPr>
          <ns1:xfrm>
            <ns1:off x="502920" y="3118104"/>
            <ns1:ext cx="201168" cy="201168"/>
          </ns1:xfrm>
          <ns1:prstGeom prst="rect">
            <ns1:avLst/>
          </ns1:prstGeom>
          <ns1:solidFill>
            <ns1:srgbClr val="FFFFFF"/>
          </ns1:solidFill>
          <ns1:ln w="19050">
            <ns1:solidFill>
              <ns1:srgbClr val="005587"/>
            </ns1:solidFill>
            <ns1:prstDash val="solid"/>
          </ns1:ln>
        </ns0:spPr>
        <ns0:txBody>
          <ns1:bodyPr/>
          <ns1:lstStyle/>
          <ns1:p>
            <ns1:endParaRPr lang="en-US"/>
          </ns1:p>
        </ns0:txBody>
      </ns0:sp>
      <ns0:sp>
        <ns0:nvSpPr>
          <ns0:cNvPr id="19" name="Text 17"/>
          <ns0:cNvSpPr/>
          <ns0:nvPr/>
        </ns0:nvSpPr>
        <ns0:spPr>
          <ns1:xfrm>
            <ns1:off x="822960" y="3054096"/>
            <ns1:ext cx="1828800" cy="329184"/>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Gemini API key</ns1:t>
            </ns1:r>
            <ns1:endParaRPr lang="en-US" sz="1200" dirty="0"/>
          </ns1:p>
        </ns0:txBody>
      </ns0:sp>
      <ns0:sp>
        <ns0:nvSpPr>
          <ns0:cNvPr id="20" name="Text 18"/>
          <ns0:cNvSpPr/>
          <ns0:nvPr/>
        </ns0:nvSpPr>
        <ns0:spPr>
          <ns1:xfrm>
            <ns1:off x="2651760" y="3054096"/>
            <ns1:ext cx="5943600" cy="329184"/>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Get from aistudio.google.com. Store as env variable.</ns1:t>
            </ns1:r>
            <ns1:endParaRPr lang="en-US" sz="1200" dirty="0"/>
          </ns1:p>
        </ns0:txBody>
      </ns0:sp>
      <ns0:sp>
        <ns0:nvSpPr>
          <ns0:cNvPr id="21" name="Shape 19"/>
          <ns0:cNvSpPr/>
          <ns0:nvPr/>
        </ns0:nvSpPr>
        <ns0:spPr>
          <ns1:xfrm>
            <ns1:off x="502920" y="3538728"/>
            <ns1:ext cx="201168" cy="201168"/>
          </ns1:xfrm>
          <ns1:prstGeom prst="rect">
            <ns1:avLst/>
          </ns1:prstGeom>
          <ns1:solidFill>
            <ns1:srgbClr val="FFFFFF"/>
          </ns1:solidFill>
          <ns1:ln w="19050">
            <ns1:solidFill>
              <ns1:srgbClr val="005587"/>
            </ns1:solidFill>
            <ns1:prstDash val="solid"/>
          </ns1:ln>
        </ns0:spPr>
        <ns0:txBody>
          <ns1:bodyPr/>
          <ns1:lstStyle/>
          <ns1:p>
            <ns1:endParaRPr lang="en-US"/>
          </ns1:p>
        </ns0:txBody>
      </ns0:sp>
      <ns0:sp>
        <ns0:nvSpPr>
          <ns0:cNvPr id="22" name="Text 20"/>
          <ns0:cNvSpPr/>
          <ns0:nvPr/>
        </ns0:nvSpPr>
        <ns0:spPr>
          <ns1:xfrm>
            <ns1:off x="822960" y="3474720"/>
            <ns1:ext cx="1828800" cy="329184"/>
          </ns1:xfrm>
          <ns1:prstGeom prst="rect">
            <ns1:avLst/>
          </ns1:prstGeom>
          <ns1:noFill/>
          <ns1:ln/>
        </ns0:spPr>
        <ns0:txBody>
          <ns1:bodyPr wrap="square" lIns="0" tIns="0" rIns="0" bIns="0" rtlCol="0" anchor="ctr"/>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Code editor</ns1:t>
            </ns1:r>
            <ns1:endParaRPr lang="en-US" sz="1200" dirty="0"/>
          </ns1:p>
        </ns0:txBody>
      </ns0:sp>
      <ns0:sp>
        <ns0:nvSpPr>
          <ns0:cNvPr id="23" name="Text 21"/>
          <ns0:cNvSpPr/>
          <ns0:nvPr/>
        </ns0:nvSpPr>
        <ns0:spPr>
          <ns1:xfrm>
            <ns1:off x="2651760" y="3474720"/>
            <ns1:ext cx="5943600" cy="329184"/>
          </ns1:xfrm>
          <ns1:prstGeom prst="rect">
            <ns1:avLst/>
          </ns1:prstGeom>
          <ns1:noFill/>
          <ns1:ln/>
        </ns0:spPr>
        <ns0:txBody>
          <ns1:bodyPr wrap="square" lIns="0" tIns="0" rIns="0" bIns="0" rtlCol="0" anchor="ctr"/>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VS Code recommended (free). Install the Python extension.</ns1:t>
            </ns1:r>
            <ns1:endParaRPr lang="en-US" sz="1200" dirty="0"/>
          </ns1:p>
        </ns0:txBody>
      </ns0:sp>
    </ns0:spTree>
  </ns0:cSld>
  <ns0:clrMapOvr>
    <ns1:masterClrMapping/>
  </ns0:clrMapOvr>
</ns0:sld>
</file>

<file path=ppt/slides/slide28.xml><?xml version="1.0" encoding="utf-8"?>
<ns0:sld xmlns:ns0="http://schemas.openxmlformats.org/presentationml/2006/main" xmlns:ns1="http://schemas.openxmlformats.org/drawingml/2006/main">
  <ns0:cSld name="Slide 26">
    <ns0:bg>
      <ns0:bgPr>
        <ns1:solidFill>
          <ns1:srgbClr val="005587"/>
        </ns1:solidFill>
      </ns0:bgPr>
    </ns0:bg>
    <ns0:spTree>
      <ns0:nvGrpSpPr>
        <ns0:cNvPr id="1" name=""/>
        <ns0:cNvGrpSpPr/>
        <ns0:nvPr/>
      </ns0:nvGrpSpPr>
      <ns0:grpSpPr>
        <ns1:xfrm>
          <ns1:off x="0" y="0"/>
          <ns1:ext cx="0" cy="0"/>
          <ns1:chOff x="0" y="0"/>
          <ns1:chExt cx="0" cy="0"/>
        </ns1:xfrm>
      </ns0:grpSpPr>
      <ns0:sp>
        <ns0:nvSpPr>
          <ns0:cNvPr id="2" name="Text 0"/>
          <ns0:cNvSpPr/>
          <ns0:nvPr/>
        </ns0:nvSpPr>
        <ns0:spPr>
          <ns1:xfrm>
            <ns1:off x="914400" y="1371600"/>
            <ns1:ext cx="7315200" cy="2286000"/>
          </ns1:xfrm>
          <ns1:prstGeom prst="rect">
            <ns1:avLst/>
          </ns1:prstGeom>
          <ns1:noFill/>
          <ns1:ln/>
        </ns0:spPr>
        <ns0:txBody>
          <ns1:bodyPr wrap="square" rtlCol="0" anchor="ctr"/>
          <ns1:lstStyle/>
          <ns1:p>
            <ns1:pPr marL="0" indent="0" algn="ctr">
              <ns1:buNone/>
            </ns1:pPr>
            <ns1:r>
              <ns1:rPr lang="en-US" sz="3600" b="1" dirty="0">
                <ns1:solidFill>
                  <ns1:srgbClr val="FFFFFF"/>
                </ns1:solidFill>
                <ns1:latin typeface="Whitney Bold" pitchFamily="34" charset="0"/>
                <ns1:ea typeface="Whitney Bold" pitchFamily="34" charset="-122"/>
                <ns1:cs typeface="Whitney Bold" pitchFamily="34" charset="-120"/>
              </ns1:rPr>
              <ns1:t>Work Session</ns1:t>
            </ns1:r>
            <ns1:endParaRPr lang="en-US" sz="3600" dirty="0"/>
          </ns1:p>
        </ns0:txBody>
      </ns0:sp>
    </ns0:spTree>
  </ns0:cSld>
  <ns0:clrMapOvr>
    <ns1:masterClrMapping/>
  </ns0:clrMapOvr>
</ns0:sld>
</file>

<file path=ppt/slides/slide29.xml><?xml version="1.0" encoding="utf-8"?>
<ns0:sld xmlns:ns0="http://schemas.openxmlformats.org/presentationml/2006/main" xmlns:ns1="http://schemas.openxmlformats.org/drawingml/2006/main">
  <ns0:cSld name="Slide 27">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Today's Work Session</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Shape 3"/>
          <ns0:cNvSpPr/>
          <ns0:nvPr/>
        </ns0:nvSpPr>
        <ns0:spPr>
          <ns1:xfrm>
            <ns1:off x="502920" y="1161288"/>
            <ns1:ext cx="365760" cy="365760"/>
          </ns1:xfrm>
          <ns1:prstGeom prst="ellipse">
            <ns1:avLst/>
          </ns1:prstGeom>
          <ns1:solidFill>
            <ns1:srgbClr val="005587"/>
          </ns1:solidFill>
          <ns1:ln/>
        </ns0:spPr>
        <ns0:txBody>
          <ns1:bodyPr/>
          <ns1:lstStyle/>
          <ns1:p>
            <ns1:endParaRPr lang="en-US"/>
          </ns1:p>
        </ns0:txBody>
      </ns0:sp>
      <ns0:sp>
        <ns0:nvSpPr>
          <ns0:cNvPr id="6" name="Text 4"/>
          <ns0:cNvSpPr/>
          <ns0:nvPr/>
        </ns0:nvSpPr>
        <ns0:spPr>
          <ns1:xfrm>
            <ns1:off x="502920" y="1161288"/>
            <ns1:ext cx="365760" cy="365760"/>
          </ns1:xfrm>
          <ns1:prstGeom prst="rect">
            <ns1:avLst/>
          </ns1:prstGeom>
          <ns1:noFill/>
          <ns1:ln/>
        </ns0:spPr>
        <ns0:txBody>
          <ns1:bodyPr wrap="square" lIns="0" tIns="0" rIns="0" bIns="0" rtlCol="0" anchor="ctr"/>
          <ns1:lstStyle/>
          <ns1:p>
            <ns1:pPr marL="0" indent="0" algn="ctr">
              <ns1:buNone/>
            </ns1:pPr>
            <ns1:r>
              <ns1:rPr lang="en-US" sz="1500" b="1" dirty="0">
                <ns1:solidFill>
                  <ns1:srgbClr val="005587"/>
                </ns1:solidFill>
                <ns1:latin typeface="Arial" pitchFamily="34" charset="0"/>
                <ns1:ea typeface="Arial" pitchFamily="34" charset="-122"/>
                <ns1:cs typeface="Arial" pitchFamily="34" charset="-120"/>
              </ns1:rPr>
              <ns1:t>1</ns1:t>
            </ns1:r>
            <ns1:endParaRPr lang="en-US" sz="1500" dirty="0"/>
          </ns1:p>
        </ns0:txBody>
      </ns0:sp>
      <ns0:sp>
        <ns0:nvSpPr>
          <ns0:cNvPr id="7" name="Text 5"/>
          <ns0:cNvSpPr/>
          <ns0:nvPr/>
        </ns0:nvSpPr>
        <ns0:spPr>
          <ns1:xfrm>
            <ns1:off x="1051560" y="1051560"/>
            <ns1:ext cx="2743200" cy="32004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Form your team</ns1:t>
            </ns1:r>
            <ns1:endParaRPr lang="en-US" sz="1400" dirty="0"/>
          </ns1:p>
        </ns0:txBody>
      </ns0:sp>
      <ns0:sp>
        <ns0:nvSpPr>
          <ns0:cNvPr id="8" name="Text 6"/>
          <ns0:cNvSpPr/>
          <ns0:nvPr/>
        </ns0:nvSpPr>
        <ns0:spPr>
          <ns1:xfrm>
            <ns1:off x="1051560" y="1344168"/>
            <ns1:ext cx="7315200" cy="320040"/>
          </ns1:xfrm>
          <ns1:prstGeom prst="rect">
            <ns1:avLst/>
          </ns1:prstGeom>
          <ns1:noFill/>
          <ns1:ln/>
        </ns0:spPr>
        <ns0:txBody>
          <ns1:bodyPr wrap="square" lIns="0" tIns="0" rIns="0" bIns="0" rtlCol="0" anchor="t"/>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Groups of 3. Write down your team members' names.</ns1:t>
            </ns1:r>
            <ns1:endParaRPr lang="en-US" sz="1200" dirty="0"/>
          </ns1:p>
        </ns0:txBody>
      </ns0:sp>
      <ns0:sp>
        <ns0:nvSpPr>
          <ns0:cNvPr id="9" name="Shape 7"/>
          <ns0:cNvSpPr/>
          <ns0:nvPr/>
        </ns0:nvSpPr>
        <ns0:spPr>
          <ns1:xfrm>
            <ns1:off x="502920" y="1892808"/>
            <ns1:ext cx="365760" cy="365760"/>
          </ns1:xfrm>
          <ns1:prstGeom prst="ellipse">
            <ns1:avLst/>
          </ns1:prstGeom>
          <ns1:solidFill>
            <ns1:srgbClr val="005587"/>
          </ns1:solidFill>
          <ns1:ln/>
        </ns0:spPr>
        <ns0:txBody>
          <ns1:bodyPr/>
          <ns1:lstStyle/>
          <ns1:p>
            <ns1:endParaRPr lang="en-US"/>
          </ns1:p>
        </ns0:txBody>
      </ns0:sp>
      <ns0:sp>
        <ns0:nvSpPr>
          <ns0:cNvPr id="10" name="Text 8"/>
          <ns0:cNvSpPr/>
          <ns0:nvPr/>
        </ns0:nvSpPr>
        <ns0:spPr>
          <ns1:xfrm>
            <ns1:off x="502920" y="1892808"/>
            <ns1:ext cx="365760" cy="365760"/>
          </ns1:xfrm>
          <ns1:prstGeom prst="rect">
            <ns1:avLst/>
          </ns1:prstGeom>
          <ns1:noFill/>
          <ns1:ln/>
        </ns0:spPr>
        <ns0:txBody>
          <ns1:bodyPr wrap="square" lIns="0" tIns="0" rIns="0" bIns="0" rtlCol="0" anchor="ctr"/>
          <ns1:lstStyle/>
          <ns1:p>
            <ns1:pPr marL="0" indent="0" algn="ctr">
              <ns1:buNone/>
            </ns1:pPr>
            <ns1:r>
              <ns1:rPr lang="en-US" sz="1500" b="1" dirty="0">
                <ns1:solidFill>
                  <ns1:srgbClr val="005587"/>
                </ns1:solidFill>
                <ns1:latin typeface="Arial" pitchFamily="34" charset="0"/>
                <ns1:ea typeface="Arial" pitchFamily="34" charset="-122"/>
                <ns1:cs typeface="Arial" pitchFamily="34" charset="-120"/>
              </ns1:rPr>
              <ns1:t>2</ns1:t>
            </ns1:r>
            <ns1:endParaRPr lang="en-US" sz="1500" dirty="0"/>
          </ns1:p>
        </ns0:txBody>
      </ns0:sp>
      <ns0:sp>
        <ns0:nvSpPr>
          <ns0:cNvPr id="11" name="Text 9"/>
          <ns0:cNvSpPr/>
          <ns0:nvPr/>
        </ns0:nvSpPr>
        <ns0:spPr>
          <ns1:xfrm>
            <ns1:off x="1051560" y="1783080"/>
            <ns1:ext cx="2743200" cy="32004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Brainstorm use cases</ns1:t>
            </ns1:r>
            <ns1:endParaRPr lang="en-US" sz="1400" dirty="0"/>
          </ns1:p>
        </ns0:txBody>
      </ns0:sp>
      <ns0:sp>
        <ns0:nvSpPr>
          <ns0:cNvPr id="12" name="Text 10"/>
          <ns0:cNvSpPr/>
          <ns0:nvPr/>
        </ns0:nvSpPr>
        <ns0:spPr>
          <ns1:xfrm>
            <ns1:off x="1051560" y="2075688"/>
            <ns1:ext cx="7315200" cy="320040"/>
          </ns1:xfrm>
          <ns1:prstGeom prst="rect">
            <ns1:avLst/>
          </ns1:prstGeom>
          <ns1:noFill/>
          <ns1:ln/>
        </ns0:spPr>
        <ns0:txBody>
          <ns1:bodyPr wrap="square" lIns="0" tIns="0" rIns="0" bIns="0" rtlCol="0" anchor="t"/>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Each person pitches 2 ideas. Discuss and pick one as a team.</ns1:t>
            </ns1:r>
            <ns1:endParaRPr lang="en-US" sz="1200" dirty="0"/>
          </ns1:p>
        </ns0:txBody>
      </ns0:sp>
      <ns0:sp>
        <ns0:nvSpPr>
          <ns0:cNvPr id="13" name="Shape 11"/>
          <ns0:cNvSpPr/>
          <ns0:nvPr/>
        </ns0:nvSpPr>
        <ns0:spPr>
          <ns1:xfrm>
            <ns1:off x="502920" y="2624328"/>
            <ns1:ext cx="365760" cy="365760"/>
          </ns1:xfrm>
          <ns1:prstGeom prst="ellipse">
            <ns1:avLst/>
          </ns1:prstGeom>
          <ns1:solidFill>
            <ns1:srgbClr val="005587"/>
          </ns1:solidFill>
          <ns1:ln/>
        </ns0:spPr>
        <ns0:txBody>
          <ns1:bodyPr/>
          <ns1:lstStyle/>
          <ns1:p>
            <ns1:endParaRPr lang="en-US"/>
          </ns1:p>
        </ns0:txBody>
      </ns0:sp>
      <ns0:sp>
        <ns0:nvSpPr>
          <ns0:cNvPr id="14" name="Text 12"/>
          <ns0:cNvSpPr/>
          <ns0:nvPr/>
        </ns0:nvSpPr>
        <ns0:spPr>
          <ns1:xfrm>
            <ns1:off x="502920" y="2624328"/>
            <ns1:ext cx="365760" cy="365760"/>
          </ns1:xfrm>
          <ns1:prstGeom prst="rect">
            <ns1:avLst/>
          </ns1:prstGeom>
          <ns1:noFill/>
          <ns1:ln/>
        </ns0:spPr>
        <ns0:txBody>
          <ns1:bodyPr wrap="square" lIns="0" tIns="0" rIns="0" bIns="0" rtlCol="0" anchor="ctr"/>
          <ns1:lstStyle/>
          <ns1:p>
            <ns1:pPr marL="0" indent="0" algn="ctr">
              <ns1:buNone/>
            </ns1:pPr>
            <ns1:r>
              <ns1:rPr lang="en-US" sz="1500" b="1" dirty="0">
                <ns1:solidFill>
                  <ns1:srgbClr val="005587"/>
                </ns1:solidFill>
                <ns1:latin typeface="Arial" pitchFamily="34" charset="0"/>
                <ns1:ea typeface="Arial" pitchFamily="34" charset="-122"/>
                <ns1:cs typeface="Arial" pitchFamily="34" charset="-120"/>
              </ns1:rPr>
              <ns1:t>3</ns1:t>
            </ns1:r>
            <ns1:endParaRPr lang="en-US" sz="1500" dirty="0"/>
          </ns1:p>
        </ns0:txBody>
      </ns0:sp>
      <ns0:sp>
        <ns0:nvSpPr>
          <ns0:cNvPr id="15" name="Text 13"/>
          <ns0:cNvSpPr/>
          <ns0:nvPr/>
        </ns0:nvSpPr>
        <ns0:spPr>
          <ns1:xfrm>
            <ns1:off x="1051560" y="2514600"/>
            <ns1:ext cx="2743200" cy="32004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Define the value add</ns1:t>
            </ns1:r>
            <ns1:endParaRPr lang="en-US" sz="1400" dirty="0"/>
          </ns1:p>
        </ns0:txBody>
      </ns0:sp>
      <ns0:sp>
        <ns0:nvSpPr>
          <ns0:cNvPr id="16" name="Text 14"/>
          <ns0:cNvSpPr/>
          <ns0:nvPr/>
        </ns0:nvSpPr>
        <ns0:spPr>
          <ns1:xfrm>
            <ns1:off x="1051560" y="2807208"/>
            <ns1:ext cx="7315200" cy="320040"/>
          </ns1:xfrm>
          <ns1:prstGeom prst="rect">
            <ns1:avLst/>
          </ns1:prstGeom>
          <ns1:noFill/>
          <ns1:ln/>
        </ns0:spPr>
        <ns0:txBody>
          <ns1:bodyPr wrap="square" lIns="0" tIns="0" rIns="0" bIns="0" rtlCol="0" anchor="t"/>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Write 1–2 sentences: why does AI make this app better than the non-AI version?</ns1:t>
            </ns1:r>
            <ns1:endParaRPr lang="en-US" sz="1200" dirty="0"/>
          </ns1:p>
        </ns0:txBody>
      </ns0:sp>
      <ns0:sp>
        <ns0:nvSpPr>
          <ns0:cNvPr id="17" name="Shape 15"/>
          <ns0:cNvSpPr/>
          <ns0:nvPr/>
        </ns0:nvSpPr>
        <ns0:spPr>
          <ns1:xfrm>
            <ns1:off x="502920" y="3355848"/>
            <ns1:ext cx="365760" cy="365760"/>
          </ns1:xfrm>
          <ns1:prstGeom prst="ellipse">
            <ns1:avLst/>
          </ns1:prstGeom>
          <ns1:solidFill>
            <ns1:srgbClr val="005587"/>
          </ns1:solidFill>
          <ns1:ln/>
        </ns0:spPr>
        <ns0:txBody>
          <ns1:bodyPr/>
          <ns1:lstStyle/>
          <ns1:p>
            <ns1:endParaRPr lang="en-US"/>
          </ns1:p>
        </ns0:txBody>
      </ns0:sp>
      <ns0:sp>
        <ns0:nvSpPr>
          <ns0:cNvPr id="18" name="Text 16"/>
          <ns0:cNvSpPr/>
          <ns0:nvPr/>
        </ns0:nvSpPr>
        <ns0:spPr>
          <ns1:xfrm>
            <ns1:off x="502920" y="3355848"/>
            <ns1:ext cx="365760" cy="365760"/>
          </ns1:xfrm>
          <ns1:prstGeom prst="rect">
            <ns1:avLst/>
          </ns1:prstGeom>
          <ns1:noFill/>
          <ns1:ln/>
        </ns0:spPr>
        <ns0:txBody>
          <ns1:bodyPr wrap="square" lIns="0" tIns="0" rIns="0" bIns="0" rtlCol="0" anchor="ctr"/>
          <ns1:lstStyle/>
          <ns1:p>
            <ns1:pPr marL="0" indent="0" algn="ctr">
              <ns1:buNone/>
            </ns1:pPr>
            <ns1:r>
              <ns1:rPr lang="en-US" sz="1500" b="1" dirty="0">
                <ns1:solidFill>
                  <ns1:srgbClr val="005587"/>
                </ns1:solidFill>
                <ns1:latin typeface="Arial" pitchFamily="34" charset="0"/>
                <ns1:ea typeface="Arial" pitchFamily="34" charset="-122"/>
                <ns1:cs typeface="Arial" pitchFamily="34" charset="-120"/>
              </ns1:rPr>
              <ns1:t>4</ns1:t>
            </ns1:r>
            <ns1:endParaRPr lang="en-US" sz="1500" dirty="0"/>
          </ns1:p>
        </ns0:txBody>
      </ns0:sp>
      <ns0:sp>
        <ns0:nvSpPr>
          <ns0:cNvPr id="19" name="Text 17"/>
          <ns0:cNvSpPr/>
          <ns0:nvPr/>
        </ns0:nvSpPr>
        <ns0:spPr>
          <ns1:xfrm>
            <ns1:off x="1051560" y="3246120"/>
            <ns1:ext cx="2743200" cy="320040"/>
          </ns1:xfrm>
          <ns1:prstGeom prst="rect">
            <ns1:avLst/>
          </ns1:prstGeom>
          <ns1:noFill/>
          <ns1:ln/>
        </ns0:spPr>
        <ns0:txBody>
          <ns1:bodyPr wrap="square" lIns="0" tIns="0" rIns="0" bIns="0" rtlCol="0" anchor="ctr"/>
          <ns1:lstStyle/>
          <ns1:p>
            <ns1:pPr marL="0" indent="0">
              <ns1:buNone/>
            </ns1:pPr>
            <ns1:r>
              <ns1:rPr lang="en-US" sz="1400" b="1" dirty="0">
                <ns1:solidFill>
                  <ns1:srgbClr val="005587"/>
                </ns1:solidFill>
                <ns1:latin typeface="Arial" pitchFamily="34" charset="0"/>
                <ns1:ea typeface="Arial" pitchFamily="34" charset="-122"/>
                <ns1:cs typeface="Arial" pitchFamily="34" charset="-120"/>
              </ns1:rPr>
              <ns1:t>Start setup</ns1:t>
            </ns1:r>
            <ns1:endParaRPr lang="en-US" sz="1400" dirty="0"/>
          </ns1:p>
        </ns0:txBody>
      </ns0:sp>
      <ns0:sp>
        <ns0:nvSpPr>
          <ns0:cNvPr id="20" name="Text 18"/>
          <ns0:cNvSpPr/>
          <ns0:nvPr/>
        </ns0:nvSpPr>
        <ns0:spPr>
          <ns1:xfrm>
            <ns1:off x="1051560" y="3538728"/>
            <ns1:ext cx="7315200" cy="320040"/>
          </ns1:xfrm>
          <ns1:prstGeom prst="rect">
            <ns1:avLst/>
          </ns1:prstGeom>
          <ns1:noFill/>
          <ns1:ln/>
        </ns0:spPr>
        <ns0:txBody>
          <ns1:bodyPr wrap="square" lIns="0" tIns="0" rIns="0" bIns="0" rtlCol="0" anchor="t"/>
          <ns1:lstStyle/>
          <ns1:p>
            <ns1:pPr marL="0" indent="0">
              <ns1:buNone/>
            </ns1:pPr>
            <ns1:r>
              <ns1:rPr lang="en-US" sz="1200" dirty="0">
                <ns1:solidFill>
                  <ns1:srgbClr val="000000"/>
                </ns1:solidFill>
                <ns1:latin typeface="Arial" pitchFamily="34" charset="0"/>
                <ns1:ea typeface="Arial" pitchFamily="34" charset="-122"/>
                <ns1:cs typeface="Arial" pitchFamily="34" charset="-120"/>
              </ns1:rPr>
              <ns1:t>Get Python, Node, Railway CLI, and your Gemini API key set up on at least one team member's laptop.</ns1:t>
            </ns1:r>
            <ns1:endParaRPr lang="en-US" sz="1200" dirty="0"/>
          </ns1:p>
        </ns0:txBody>
      </ns0:sp>
    </ns0:spTree>
  </ns0:cSld>
  <ns0:clrMapOvr>
    <ns1:masterClrMapping/>
  </ns0:clrMapOvr>
</ns0:sld>
</file>

<file path=ppt/slides/slide30.xml><?xml version="1.0" encoding="utf-8"?>
<ns0:sld xmlns:ns0="http://schemas.openxmlformats.org/presentationml/2006/main" xmlns:ns1="http://schemas.openxmlformats.org/drawingml/2006/main">
  <ns0:cSld name="Slide 28">
    <ns0:spTree>
      <ns0:nvGrpSpPr>
        <ns0:cNvPr id="1" name=""/>
        <ns0:cNvGrpSpPr/>
        <ns0:nvPr/>
      </ns0:nvGrpSpPr>
      <ns0:grpSpPr>
        <ns1:xfrm>
          <ns1:off x="0" y="0"/>
          <ns1:ext cx="0" cy="0"/>
          <ns1:chOff x="0" y="0"/>
          <ns1:chExt cx="0" cy="0"/>
        </ns1:xfrm>
      </ns0:grpSpPr>
      <ns0:sp>
        <ns0:nvSpPr>
          <ns0:cNvPr id="2" name="Shape 0"/>
          <ns0:cNvSpPr/>
          <ns0:nvPr/>
        </ns0:nvSpPr>
        <ns0:spPr>
          <ns1:xfrm>
            <ns1:off x="0" y="0"/>
            <ns1:ext cx="54864" cy="5148072"/>
          </ns1:xfrm>
          <ns1:prstGeom prst="rect">
            <ns1:avLst/>
          </ns1:prstGeom>
          <ns1:solidFill>
            <ns1:srgbClr val="005587"/>
          </ns1:solidFill>
          <ns1:ln w="6350">
            <ns1:solidFill>
              <ns1:srgbClr val="005587"/>
            </ns1:solidFill>
          </ns1:ln>
        </ns0:spPr>
        <ns0:txBody>
          <ns1:bodyPr/>
          <ns1:lstStyle/>
          <ns1:p>
            <ns1:endParaRPr lang="en-US"/>
          </ns1:p>
        </ns0:txBody>
      </ns0:sp>
      <ns0:sp>
        <ns0:nvSpPr>
          <ns0:cNvPr id="3" name="Text 1"/>
          <ns0:cNvSpPr/>
          <ns0:nvPr/>
        </ns0:nvSpPr>
        <ns0:spPr>
          <ns1:xfrm>
            <ns1:off x="457200" y="310336"/>
            <ns1:ext cx="8321040" cy="685800"/>
          </ns1:xfrm>
          <ns1:prstGeom prst="rect">
            <ns1:avLst/>
          </ns1:prstGeom>
          <ns1:noFill/>
          <ns1:ln>
            <ns1:noFill/>
          </ns1:ln>
        </ns0:spPr>
        <ns0:txBody>
          <ns1:bodyPr wrap="square" lIns="0" tIns="0" rIns="0" bIns="0" rtlCol="0" anchor="ctr"/>
          <ns1:lstStyle/>
          <ns1:p>
            <ns1:pPr marL="0" indent="0">
              <ns1:buNone/>
            </ns1:pPr>
            <ns1:r>
              <ns1:rPr lang="en-US" sz="2800" b="1" dirty="0">
                <ns1:solidFill>
                  <ns1:srgbClr val="005587"/>
                </ns1:solidFill>
                <ns1:latin typeface="Whitney Bold" pitchFamily="34" charset="0"/>
                <ns1:ea typeface="Whitney Bold" pitchFamily="34" charset="-122"/>
                <ns1:cs typeface="Whitney Bold" pitchFamily="34" charset="-120"/>
              </ns1:rPr>
              <ns1:t>Glossary</ns1:t>
            </ns1:r>
            <ns1:endParaRPr lang="en-US" sz="2800" dirty="0" b="1">
              <ns1:solidFill>
                <ns1:srgbClr val="005587"/>
              </ns1:solidFill>
              <ns1:latin typeface="Whitney Bold"/>
            </ns1:endParaRPr>
          </ns1:p>
        </ns0:txBody>
      </ns0:sp>
      <ns0:sp>
        <ns0:nvSpPr>
          <ns0:cNvPr id="4" name="Shape 2"/>
          <ns0:cNvSpPr/>
          <ns0:nvPr/>
        </ns0:nvSpPr>
        <ns0:spPr>
          <ns1:xfrm>
            <ns1:off x="457200" y="914400"/>
            <ns1:ext cx="8321040" cy="0"/>
          </ns1:xfrm>
          <ns1:prstGeom prst="line">
            <ns1:avLst/>
          </ns1:prstGeom>
          <ns1:solidFill>
            <ns1:srgbClr val="C8C8C8"/>
          </ns1:solidFill>
          <ns1:ln w="12700">
            <ns1:noFill/>
          </ns1:ln>
        </ns0:spPr>
        <ns0:txBody>
          <ns1:bodyPr/>
          <ns1:lstStyle/>
          <ns1:p>
            <ns1:endParaRPr lang="en-US"/>
          </ns1:p>
        </ns0:txBody>
      </ns0:sp>
      <ns0:sp>
        <ns0:nvSpPr>
          <ns0:cNvPr id="5" name="Text 3"/>
          <ns0:cNvSpPr/>
          <ns0:nvPr/>
        </ns0:nvSpPr>
        <ns0:spPr>
          <ns1:xfrm>
            <ns1:off x="457200" y="1005840"/>
            <ns1:ext cx="2286000" cy="420624"/>
          </ns1:xfrm>
          <ns1:prstGeom prst="rect">
            <ns1:avLst/>
          </ns1:prstGeom>
          <ns1:noFill/>
          <ns1:ln/>
        </ns0:spPr>
        <ns0:txBody>
          <ns1:bodyPr wrap="square" lIns="0" tIns="0" rIns="0" bIns="0" rtlCol="0" anchor="t"/>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AI Agent</ns1:t>
            </ns1:r>
            <ns1:endParaRPr lang="en-US" sz="1200" dirty="0"/>
          </ns1:p>
        </ns0:txBody>
      </ns0:sp>
      <ns0:sp>
        <ns0:nvSpPr>
          <ns0:cNvPr id="6" name="Text 4"/>
          <ns0:cNvSpPr/>
          <ns0:nvPr/>
        </ns0:nvSpPr>
        <ns0:spPr>
          <ns1:xfrm>
            <ns1:off x="2743200" y="1005840"/>
            <ns1:ext cx="6035040" cy="420624"/>
          </ns1:xfrm>
          <ns1:prstGeom prst="rect">
            <ns1:avLst/>
          </ns1:prstGeom>
          <ns1:noFill/>
          <ns1:ln/>
        </ns0:spPr>
        <ns0:txBody>
          <ns1:bodyPr wrap="square" lIns="0" tIns="0" rIns="0" bIns="0" rtlCol="0" anchor="t"/>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A system where an LLM operates in a loop, reasoning, using tools, and adapting based on feedback to accomplish a goal.</ns1:t>
            </ns1:r>
            <ns1:endParaRPr lang="en-US" sz="1100" dirty="0"/>
          </ns1:p>
        </ns0:txBody>
      </ns0:sp>
      <ns0:sp>
        <ns0:nvSpPr>
          <ns0:cNvPr id="7" name="Text 5"/>
          <ns0:cNvSpPr/>
          <ns0:nvPr/>
        </ns0:nvSpPr>
        <ns0:spPr>
          <ns1:xfrm>
            <ns1:off x="457200" y="1490472"/>
            <ns1:ext cx="2286000" cy="420624"/>
          </ns1:xfrm>
          <ns1:prstGeom prst="rect">
            <ns1:avLst/>
          </ns1:prstGeom>
          <ns1:noFill/>
          <ns1:ln/>
        </ns0:spPr>
        <ns0:txBody>
          <ns1:bodyPr wrap="square" lIns="0" tIns="0" rIns="0" bIns="0" rtlCol="0" anchor="t"/>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Agentic workflow</ns1:t>
            </ns1:r>
            <ns1:endParaRPr lang="en-US" sz="1200" dirty="0"/>
          </ns1:p>
        </ns0:txBody>
      </ns0:sp>
      <ns0:sp>
        <ns0:nvSpPr>
          <ns0:cNvPr id="8" name="Text 6"/>
          <ns0:cNvSpPr/>
          <ns0:nvPr/>
        </ns0:nvSpPr>
        <ns0:spPr>
          <ns1:xfrm>
            <ns1:off x="2743200" y="1490472"/>
            <ns1:ext cx="6035040" cy="420624"/>
          </ns1:xfrm>
          <ns1:prstGeom prst="rect">
            <ns1:avLst/>
          </ns1:prstGeom>
          <ns1:noFill/>
          <ns1:ln/>
        </ns0:spPr>
        <ns0:txBody>
          <ns1:bodyPr wrap="square" lIns="0" tIns="0" rIns="0" bIns="0" rtlCol="0" anchor="t"/>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A multi-step process that uses LLMs for decision-making, ranging from simple prompt chains to fully autonomous agents.</ns1:t>
            </ns1:r>
            <ns1:endParaRPr lang="en-US" sz="1100" dirty="0"/>
          </ns1:p>
        </ns0:txBody>
      </ns0:sp>
      <ns0:sp>
        <ns0:nvSpPr>
          <ns0:cNvPr id="9" name="Text 7"/>
          <ns0:cNvSpPr/>
          <ns0:nvPr/>
        </ns0:nvSpPr>
        <ns0:spPr>
          <ns1:xfrm>
            <ns1:off x="457200" y="1975104"/>
            <ns1:ext cx="2286000" cy="420624"/>
          </ns1:xfrm>
          <ns1:prstGeom prst="rect">
            <ns1:avLst/>
          </ns1:prstGeom>
          <ns1:noFill/>
          <ns1:ln/>
        </ns0:spPr>
        <ns0:txBody>
          <ns1:bodyPr wrap="square" lIns="0" tIns="0" rIns="0" bIns="0" rtlCol="0" anchor="t"/>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Reflection</ns1:t>
            </ns1:r>
            <ns1:endParaRPr lang="en-US" sz="1200" dirty="0"/>
          </ns1:p>
        </ns0:txBody>
      </ns0:sp>
      <ns0:sp>
        <ns0:nvSpPr>
          <ns0:cNvPr id="10" name="Text 8"/>
          <ns0:cNvSpPr/>
          <ns0:nvPr/>
        </ns0:nvSpPr>
        <ns0:spPr>
          <ns1:xfrm>
            <ns1:off x="2743200" y="1975104"/>
            <ns1:ext cx="6035040" cy="420624"/>
          </ns1:xfrm>
          <ns1:prstGeom prst="rect">
            <ns1:avLst/>
          </ns1:prstGeom>
          <ns1:noFill/>
          <ns1:ln/>
        </ns0:spPr>
        <ns0:txBody>
          <ns1:bodyPr wrap="square" lIns="0" tIns="0" rIns="0" bIns="0" rtlCol="0" anchor="t"/>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An agentic pattern where the LLM critiques and improves its own output through iterative self-review.</ns1:t>
            </ns1:r>
            <ns1:endParaRPr lang="en-US" sz="1100" dirty="0"/>
          </ns1:p>
        </ns0:txBody>
      </ns0:sp>
      <ns0:sp>
        <ns0:nvSpPr>
          <ns0:cNvPr id="11" name="Text 9"/>
          <ns0:cNvSpPr/>
          <ns0:nvPr/>
        </ns0:nvSpPr>
        <ns0:spPr>
          <ns1:xfrm>
            <ns1:off x="457200" y="2459736"/>
            <ns1:ext cx="2286000" cy="420624"/>
          </ns1:xfrm>
          <ns1:prstGeom prst="rect">
            <ns1:avLst/>
          </ns1:prstGeom>
          <ns1:noFill/>
          <ns1:ln/>
        </ns0:spPr>
        <ns0:txBody>
          <ns1:bodyPr wrap="square" lIns="0" tIns="0" rIns="0" bIns="0" rtlCol="0" anchor="t"/>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Tool use</ns1:t>
            </ns1:r>
            <ns1:endParaRPr lang="en-US" sz="1200" dirty="0"/>
          </ns1:p>
        </ns0:txBody>
      </ns0:sp>
      <ns0:sp>
        <ns0:nvSpPr>
          <ns0:cNvPr id="12" name="Text 10"/>
          <ns0:cNvSpPr/>
          <ns0:nvPr/>
        </ns0:nvSpPr>
        <ns0:spPr>
          <ns1:xfrm>
            <ns1:off x="2743200" y="2459736"/>
            <ns1:ext cx="6035040" cy="420624"/>
          </ns1:xfrm>
          <ns1:prstGeom prst="rect">
            <ns1:avLst/>
          </ns1:prstGeom>
          <ns1:noFill/>
          <ns1:ln/>
        </ns0:spPr>
        <ns0:txBody>
          <ns1:bodyPr wrap="square" lIns="0" tIns="0" rIns="0" bIns="0" rtlCol="0" anchor="t"/>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Giving an LLM the ability to call external functions (APIs, search, code execution) instead of relying only on its training data.</ns1:t>
            </ns1:r>
            <ns1:endParaRPr lang="en-US" sz="1100" dirty="0"/>
          </ns1:p>
        </ns0:txBody>
      </ns0:sp>
      <ns0:sp>
        <ns0:nvSpPr>
          <ns0:cNvPr id="13" name="Text 11"/>
          <ns0:cNvSpPr/>
          <ns0:nvPr/>
        </ns0:nvSpPr>
        <ns0:spPr>
          <ns1:xfrm>
            <ns1:off x="457200" y="2944368"/>
            <ns1:ext cx="2286000" cy="420624"/>
          </ns1:xfrm>
          <ns1:prstGeom prst="rect">
            <ns1:avLst/>
          </ns1:prstGeom>
          <ns1:noFill/>
          <ns1:ln/>
        </ns0:spPr>
        <ns0:txBody>
          <ns1:bodyPr wrap="square" lIns="0" tIns="0" rIns="0" bIns="0" rtlCol="0" anchor="t"/>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ReAct</ns1:t>
            </ns1:r>
            <ns1:endParaRPr lang="en-US" sz="1200" dirty="0"/>
          </ns1:p>
        </ns0:txBody>
      </ns0:sp>
      <ns0:sp>
        <ns0:nvSpPr>
          <ns0:cNvPr id="14" name="Text 12"/>
          <ns0:cNvSpPr/>
          <ns0:nvPr/>
        </ns0:nvSpPr>
        <ns0:spPr>
          <ns1:xfrm>
            <ns1:off x="2743200" y="2944368"/>
            <ns1:ext cx="6035040" cy="420624"/>
          </ns1:xfrm>
          <ns1:prstGeom prst="rect">
            <ns1:avLst/>
          </ns1:prstGeom>
          <ns1:noFill/>
          <ns1:ln/>
        </ns0:spPr>
        <ns0:txBody>
          <ns1:bodyPr wrap="square" lIns="0" tIns="0" rIns="0" bIns="0" rtlCol="0" anchor="t"/>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Reason + Act (Yao et al. 2023): each inference loop produces a Thought (reasoning tokens), an Action (structured tool call), and receives an Observation (tool result) appended to the context window before the next forward pass.</ns1:t>
            </ns1:r>
            <ns1:endParaRPr lang="en-US" sz="1100" dirty="0"/>
          </ns1:p>
        </ns0:txBody>
      </ns0:sp>
      <ns0:sp>
        <ns0:nvSpPr>
          <ns0:cNvPr id="15" name="Text 13"/>
          <ns0:cNvSpPr/>
          <ns0:nvPr/>
        </ns0:nvSpPr>
        <ns0:spPr>
          <ns1:xfrm>
            <ns1:off x="457200" y="3429000"/>
            <ns1:ext cx="2286000" cy="420624"/>
          </ns1:xfrm>
          <ns1:prstGeom prst="rect">
            <ns1:avLst/>
          </ns1:prstGeom>
          <ns1:noFill/>
          <ns1:ln/>
        </ns0:spPr>
        <ns0:txBody>
          <ns1:bodyPr wrap="square" lIns="0" tIns="0" rIns="0" bIns="0" rtlCol="0" anchor="t"/>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Multi-agent system</ns1:t>
            </ns1:r>
            <ns1:endParaRPr lang="en-US" sz="1200" dirty="0"/>
          </ns1:p>
        </ns0:txBody>
      </ns0:sp>
      <ns0:sp>
        <ns0:nvSpPr>
          <ns0:cNvPr id="16" name="Text 14"/>
          <ns0:cNvSpPr/>
          <ns0:nvPr/>
        </ns0:nvSpPr>
        <ns0:spPr>
          <ns1:xfrm>
            <ns1:off x="2743200" y="3429000"/>
            <ns1:ext cx="6035040" cy="420624"/>
          </ns1:xfrm>
          <ns1:prstGeom prst="rect">
            <ns1:avLst/>
          </ns1:prstGeom>
          <ns1:noFill/>
          <ns1:ln/>
        </ns0:spPr>
        <ns0:txBody>
          <ns1:bodyPr wrap="square" lIns="0" tIns="0" rIns="0" bIns="0" rtlCol="0" anchor="t"/>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Multiple specialized LLM agents collaborating on a task, each with distinct roles, tools, and system prompts.</ns1:t>
            </ns1:r>
            <ns1:endParaRPr lang="en-US" sz="1100" dirty="0"/>
          </ns1:p>
        </ns0:txBody>
      </ns0:sp>
      <ns0:sp>
        <ns0:nvSpPr>
          <ns0:cNvPr id="17" name="Text 15"/>
          <ns0:cNvSpPr/>
          <ns0:nvPr/>
        </ns0:nvSpPr>
        <ns0:spPr>
          <ns1:xfrm>
            <ns1:off x="457200" y="3913632"/>
            <ns1:ext cx="2286000" cy="420624"/>
          </ns1:xfrm>
          <ns1:prstGeom prst="rect">
            <ns1:avLst/>
          </ns1:prstGeom>
          <ns1:noFill/>
          <ns1:ln/>
        </ns0:spPr>
        <ns0:txBody>
          <ns1:bodyPr wrap="square" lIns="0" tIns="0" rIns="0" bIns="0" rtlCol="0" anchor="t"/>
          <ns1:lstStyle/>
          <ns1:p>
            <ns1:pPr marL="0" indent="0">
              <ns1:buNone/>
            </ns1:pPr>
            <ns1:r>
              <ns1:rPr lang="en-US" sz="1200" b="1" dirty="0">
                <ns1:solidFill>
                  <ns1:srgbClr val="005587"/>
                </ns1:solidFill>
                <ns1:latin typeface="Arial" pitchFamily="34" charset="0"/>
                <ns1:ea typeface="Arial" pitchFamily="34" charset="-122"/>
                <ns1:cs typeface="Arial" pitchFamily="34" charset="-120"/>
              </ns1:rPr>
              <ns1:t>Vibe coding</ns1:t>
            </ns1:r>
            <ns1:endParaRPr lang="en-US" sz="1200" dirty="0"/>
          </ns1:p>
        </ns0:txBody>
      </ns0:sp>
      <ns0:sp>
        <ns0:nvSpPr>
          <ns0:cNvPr id="18" name="Text 16"/>
          <ns0:cNvSpPr/>
          <ns0:nvPr/>
        </ns0:nvSpPr>
        <ns0:spPr>
          <ns1:xfrm>
            <ns1:off x="2743200" y="3913632"/>
            <ns1:ext cx="6035040" cy="420624"/>
          </ns1:xfrm>
          <ns1:prstGeom prst="rect">
            <ns1:avLst/>
          </ns1:prstGeom>
          <ns1:noFill/>
          <ns1:ln/>
        </ns0:spPr>
        <ns0:txBody>
          <ns1:bodyPr wrap="square" lIns="0" tIns="0" rIns="0" bIns="0" rtlCol="0" anchor="t"/>
          <ns1:lstStyle/>
          <ns1:p>
            <ns1:pPr marL="0" indent="0">
              <ns1:buNone/>
            </ns1:pPr>
            <ns1:r>
              <ns1:rPr lang="en-US" sz="1100" dirty="0">
                <ns1:solidFill>
                  <ns1:srgbClr val="000000"/>
                </ns1:solidFill>
                <ns1:latin typeface="Arial" pitchFamily="34" charset="0"/>
                <ns1:ea typeface="Arial" pitchFamily="34" charset="-122"/>
                <ns1:cs typeface="Arial" pitchFamily="34" charset="-120"/>
              </ns1:rPr>
              <ns1:t>Using AI coding assistants (like Gemini or Claude) to generate and iterate on code through natural-language prompts.</ns1:t>
            </ns1:r>
            <ns1:endParaRPr lang="en-US" sz="1100" dirty="0"/>
          </ns1:p>
        </ns0:txBody>
      </ns0:sp>
    </ns0:spTree>
  </ns0:cSld>
  <ns0:clrMapOvr>
    <ns1:masterClrMapping/>
  </ns0:clrMapOvr>
</ns0:sld>
</file>

<file path=ppt/slides/slide31.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457200" y="309982"/>
            <a:ext cx="8321040" cy="685800"/>
          </a:xfrm>
          <a:prstGeom prst="rect">
            <a:avLst/>
          </a:prstGeom>
          <a:noFill/>
          <a:ln>
            <a:noFill/>
          </a:ln>
        </p:spPr>
        <p:txBody>
          <a:bodyPr wrap="square"/>
          <a:lstStyle/>
          <a:p>
            <a:pPr/>
            <a:r>
              <a:rPr lang="en-US" sz="2800" b="1">
                <a:solidFill>
                  <a:srgbClr val="005587"/>
                </a:solidFill>
                <a:latin typeface="Whitney Bold"/>
              </a:rPr>
              <a:t>How the App Project Fits Together</a:t>
            </a:r>
            <a:endParaRPr lang="en-US" sz="2800"/>
          </a:p>
        </p:txBody>
      </p:sp>
      <p:sp>
        <p:nvSpPr>
          <p:cNvPr id="3" name="Shape 3"/>
          <p:cNvSpPr/>
          <p:nvPr/>
        </p:nvSpPr>
        <p:spPr>
          <a:xfrm>
            <a:off x="457200" y="914400"/>
            <a:ext cx="8321040" cy="9144"/>
          </a:xfrm>
          <a:prstGeom prst="rect">
            <a:avLst/>
          </a:prstGeom>
          <a:solidFill>
            <a:srgbClr val="C8C8C8"/>
          </a:solidFill>
          <a:ln>
            <a:noFill/>
          </a:ln>
        </p:spPr>
      </p:sp>
      <p:sp>
        <p:nvSpPr>
          <p:cNvPr id="4" name="Shape 4"/>
          <p:cNvSpPr txBox="1"/>
          <p:nvPr/>
        </p:nvSpPr>
        <p:spPr>
          <a:xfrm>
            <a:off x="640080" y="1170432"/>
            <a:ext cx="7955280" cy="347472"/>
          </a:xfrm>
          <a:prstGeom prst="rect">
            <a:avLst/>
          </a:prstGeom>
          <a:noFill/>
          <a:ln>
            <a:noFill/>
          </a:ln>
        </p:spPr>
        <p:txBody>
          <a:bodyPr wrap="square"/>
          <a:lstStyle/>
          <a:p>
            <a:pPr/>
            <a:r>
              <a:rPr lang="en-US" sz="1350">
                <a:solidFill>
                  <a:srgbClr val="222222"/>
                </a:solidFill>
                <a:latin typeface="Arial"/>
              </a:rPr>
              <a:t>One folder can contain the instructions, the code, the deployment settings, and the prompts Cowork/Codex should follow</a:t>
            </a:r>
            <a:endParaRPr lang="en-US" sz="1350"/>
          </a:p>
        </p:txBody>
      </p:sp>
      <p:sp>
        <p:nvSpPr>
          <p:cNvPr id="5" name="Shape 5"/>
          <p:cNvSpPr txBox="1"/>
          <p:nvPr/>
        </p:nvSpPr>
        <p:spPr>
          <a:xfrm>
            <a:off x="658368" y="1737360"/>
            <a:ext cx="3291840" cy="329184"/>
          </a:xfrm>
          <a:prstGeom prst="rect">
            <a:avLst/>
          </a:prstGeom>
          <a:noFill/>
          <a:ln>
            <a:noFill/>
          </a:ln>
        </p:spPr>
        <p:txBody>
          <a:bodyPr wrap="square"/>
          <a:lstStyle/>
          <a:p>
            <a:pPr/>
            <a:r>
              <a:rPr lang="en-US" sz="1500" b="1">
                <a:solidFill>
                  <a:srgbClr val="005587"/>
                </a:solidFill>
                <a:latin typeface="Arial"/>
              </a:rPr>
              <a:t>Project folder on desktop</a:t>
            </a:r>
            <a:endParaRPr lang="en-US" sz="1500"/>
          </a:p>
        </p:txBody>
      </p:sp>
      <p:sp>
        <p:nvSpPr>
          <p:cNvPr id="6" name="Shape 6"/>
          <p:cNvSpPr txBox="1"/>
          <p:nvPr/>
        </p:nvSpPr>
        <p:spPr>
          <a:xfrm>
            <a:off x="685800" y="2148840"/>
            <a:ext cx="3154680" cy="530352"/>
          </a:xfrm>
          <a:prstGeom prst="roundRect">
            <a:avLst/>
          </a:prstGeom>
          <a:solidFill>
            <a:srgbClr val="FFFFFF"/>
          </a:solidFill>
          <a:ln w="6350">
            <a:solidFill>
              <a:srgbClr val="C8C8C8"/>
            </a:solidFill>
          </a:ln>
        </p:spPr>
        <p:txBody>
          <a:bodyPr wrap="square"/>
          <a:lstStyle/>
          <a:p>
            <a:pPr/>
            <a:r>
              <a:rPr lang="en-US" sz="1050">
                <a:solidFill>
                  <a:srgbClr val="222222"/>
                </a:solidFill>
                <a:latin typeface="Arial"/>
              </a:rPr>
              <a:t>Lab kit / README</a:t>
            </a:r>
            <a:endParaRPr lang="en-US" sz="1050"/>
          </a:p>
          <a:p>
            <a:pPr/>
            <a:r>
              <a:rPr lang="en-US" sz="1050">
                <a:solidFill>
                  <a:srgbClr val="222222"/>
                </a:solidFill>
                <a:latin typeface="Arial"/>
              </a:rPr>
              <a:t>Defines the goal, setup steps, and what students can ask Cowork/Codex to do</a:t>
            </a:r>
            <a:endParaRPr lang="en-US" sz="1050"/>
          </a:p>
        </p:txBody>
      </p:sp>
      <p:sp>
        <p:nvSpPr>
          <p:cNvPr id="7" name="Shape 7"/>
          <p:cNvSpPr txBox="1"/>
          <p:nvPr/>
        </p:nvSpPr>
        <p:spPr>
          <a:xfrm>
            <a:off x="685800" y="2807208"/>
            <a:ext cx="3154680" cy="530352"/>
          </a:xfrm>
          <a:prstGeom prst="roundRect">
            <a:avLst/>
          </a:prstGeom>
          <a:solidFill>
            <a:srgbClr val="FFFFFF"/>
          </a:solidFill>
          <a:ln w="6350">
            <a:solidFill>
              <a:srgbClr val="C8C8C8"/>
            </a:solidFill>
          </a:ln>
        </p:spPr>
        <p:txBody>
          <a:bodyPr wrap="square"/>
          <a:lstStyle/>
          <a:p>
            <a:pPr/>
            <a:r>
              <a:rPr lang="en-US" sz="1050">
                <a:solidFill>
                  <a:srgbClr val="222222"/>
                </a:solidFill>
                <a:latin typeface="Arial"/>
              </a:rPr>
              <a:t>App files</a:t>
            </a:r>
            <a:endParaRPr lang="en-US" sz="1050"/>
          </a:p>
          <a:p>
            <a:pPr/>
            <a:r>
              <a:rPr lang="en-US" sz="1050">
                <a:solidFill>
                  <a:srgbClr val="222222"/>
                </a:solidFill>
                <a:latin typeface="Arial"/>
              </a:rPr>
              <a:t>The small web application students edit and run locally</a:t>
            </a:r>
            <a:endParaRPr lang="en-US" sz="1050"/>
          </a:p>
        </p:txBody>
      </p:sp>
      <p:sp>
        <p:nvSpPr>
          <p:cNvPr id="8" name="Shape 8"/>
          <p:cNvSpPr txBox="1"/>
          <p:nvPr/>
        </p:nvSpPr>
        <p:spPr>
          <a:xfrm>
            <a:off x="685800" y="3465576"/>
            <a:ext cx="3154680" cy="530352"/>
          </a:xfrm>
          <a:prstGeom prst="roundRect">
            <a:avLst/>
          </a:prstGeom>
          <a:solidFill>
            <a:srgbClr val="FFFFFF"/>
          </a:solidFill>
          <a:ln w="6350">
            <a:solidFill>
              <a:srgbClr val="C8C8C8"/>
            </a:solidFill>
          </a:ln>
        </p:spPr>
        <p:txBody>
          <a:bodyPr wrap="square"/>
          <a:lstStyle/>
          <a:p>
            <a:pPr/>
            <a:r>
              <a:rPr lang="en-US" sz="1050">
                <a:solidFill>
                  <a:srgbClr val="222222"/>
                </a:solidFill>
                <a:latin typeface="Arial"/>
              </a:rPr>
              <a:t>Environment variables</a:t>
            </a:r>
            <a:endParaRPr lang="en-US" sz="1050"/>
          </a:p>
          <a:p>
            <a:pPr/>
            <a:r>
              <a:rPr lang="en-US" sz="1050">
                <a:solidFill>
                  <a:srgbClr val="222222"/>
                </a:solidFill>
                <a:latin typeface="Arial"/>
              </a:rPr>
              <a:t>API keys and settings; kept out of the code and added to Railway</a:t>
            </a:r>
            <a:endParaRPr lang="en-US" sz="1050"/>
          </a:p>
        </p:txBody>
      </p:sp>
      <p:sp>
        <p:nvSpPr>
          <p:cNvPr id="9" name="Shape 9"/>
          <p:cNvSpPr txBox="1"/>
          <p:nvPr/>
        </p:nvSpPr>
        <p:spPr>
          <a:xfrm>
            <a:off x="685800" y="4123944"/>
            <a:ext cx="3154680" cy="530352"/>
          </a:xfrm>
          <a:prstGeom prst="roundRect">
            <a:avLst/>
          </a:prstGeom>
          <a:solidFill>
            <a:srgbClr val="FFFFFF"/>
          </a:solidFill>
          <a:ln w="6350">
            <a:solidFill>
              <a:srgbClr val="C8C8C8"/>
            </a:solidFill>
          </a:ln>
        </p:spPr>
        <p:txBody>
          <a:bodyPr wrap="square"/>
          <a:lstStyle/>
          <a:p>
            <a:pPr/>
            <a:r>
              <a:rPr lang="en-US" sz="1050">
                <a:solidFill>
                  <a:srgbClr val="222222"/>
                </a:solidFill>
                <a:latin typeface="Arial"/>
              </a:rPr>
              <a:t>Railway config</a:t>
            </a:r>
            <a:endParaRPr lang="en-US" sz="1050"/>
          </a:p>
          <a:p>
            <a:pPr/>
            <a:r>
              <a:rPr lang="en-US" sz="1050">
                <a:solidFill>
                  <a:srgbClr val="222222"/>
                </a:solidFill>
                <a:latin typeface="Arial"/>
              </a:rPr>
              <a:t>Tells Railway how to install, start, and expose the app</a:t>
            </a:r>
            <a:endParaRPr lang="en-US" sz="1050"/>
          </a:p>
        </p:txBody>
      </p:sp>
      <p:sp>
        <p:nvSpPr>
          <p:cNvPr id="10" name="Shape 10"/>
          <p:cNvSpPr txBox="1"/>
          <p:nvPr/>
        </p:nvSpPr>
        <p:spPr>
          <a:xfrm>
            <a:off x="4572000" y="1737360"/>
            <a:ext cx="3611880" cy="329184"/>
          </a:xfrm>
          <a:prstGeom prst="rect">
            <a:avLst/>
          </a:prstGeom>
          <a:noFill/>
          <a:ln>
            <a:noFill/>
          </a:ln>
        </p:spPr>
        <p:txBody>
          <a:bodyPr wrap="square"/>
          <a:lstStyle/>
          <a:p>
            <a:pPr/>
            <a:r>
              <a:rPr lang="en-US" sz="1500" b="1">
                <a:solidFill>
                  <a:srgbClr val="005587"/>
                </a:solidFill>
                <a:latin typeface="Arial"/>
              </a:rPr>
              <a:t>Runtime flow after deployment</a:t>
            </a:r>
            <a:endParaRPr lang="en-US" sz="1500"/>
          </a:p>
        </p:txBody>
      </p:sp>
      <p:sp>
        <p:nvSpPr>
          <p:cNvPr id="11" name="Shape 11"/>
          <p:cNvSpPr txBox="1"/>
          <p:nvPr/>
        </p:nvSpPr>
        <p:spPr>
          <a:xfrm>
            <a:off x="4709160" y="2176272"/>
            <a:ext cx="1298448" cy="530352"/>
          </a:xfrm>
          <a:prstGeom prst="roundRect">
            <a:avLst/>
          </a:prstGeom>
          <a:solidFill>
            <a:srgbClr val="FFFFFF"/>
          </a:solidFill>
          <a:ln w="6350">
            <a:solidFill>
              <a:srgbClr val="C8C8C8"/>
            </a:solidFill>
          </a:ln>
        </p:spPr>
        <p:txBody>
          <a:bodyPr wrap="square"/>
          <a:lstStyle/>
          <a:p>
            <a:pPr algn="center"/>
            <a:r>
              <a:rPr lang="en-US" sz="1220">
                <a:solidFill>
                  <a:srgbClr val="222222"/>
                </a:solidFill>
                <a:latin typeface="Arial"/>
              </a:rPr>
              <a:t>User</a:t>
            </a:r>
            <a:endParaRPr lang="en-US" sz="1220"/>
          </a:p>
          <a:p>
            <a:pPr algn="center"/>
            <a:r>
              <a:rPr lang="en-US" sz="1220">
                <a:solidFill>
                  <a:srgbClr val="222222"/>
                </a:solidFill>
                <a:latin typeface="Arial"/>
              </a:rPr>
              <a:t>browser</a:t>
            </a:r>
            <a:endParaRPr lang="en-US" sz="1220"/>
          </a:p>
        </p:txBody>
      </p:sp>
      <p:sp>
        <p:nvSpPr>
          <p:cNvPr id="12" name="Shape 12"/>
          <p:cNvSpPr txBox="1"/>
          <p:nvPr/>
        </p:nvSpPr>
        <p:spPr>
          <a:xfrm>
            <a:off x="6437376" y="2176272"/>
            <a:ext cx="1444752" cy="530352"/>
          </a:xfrm>
          <a:prstGeom prst="roundRect">
            <a:avLst/>
          </a:prstGeom>
          <a:solidFill>
            <a:srgbClr val="ECF4FB"/>
          </a:solidFill>
          <a:ln w="6350">
            <a:solidFill>
              <a:srgbClr val="005587"/>
            </a:solidFill>
          </a:ln>
        </p:spPr>
        <p:txBody>
          <a:bodyPr wrap="square"/>
          <a:lstStyle/>
          <a:p>
            <a:pPr algn="center"/>
            <a:r>
              <a:rPr lang="en-US" sz="1220">
                <a:solidFill>
                  <a:srgbClr val="222222"/>
                </a:solidFill>
                <a:latin typeface="Arial"/>
              </a:rPr>
              <a:t>Railway</a:t>
            </a:r>
            <a:endParaRPr lang="en-US" sz="1220"/>
          </a:p>
          <a:p>
            <a:pPr algn="center"/>
            <a:r>
              <a:rPr lang="en-US" sz="1220">
                <a:solidFill>
                  <a:srgbClr val="222222"/>
                </a:solidFill>
                <a:latin typeface="Arial"/>
              </a:rPr>
              <a:t>app</a:t>
            </a:r>
            <a:endParaRPr lang="en-US" sz="1220"/>
          </a:p>
        </p:txBody>
      </p:sp>
      <p:sp>
        <p:nvSpPr>
          <p:cNvPr id="13" name="Shape 13"/>
          <p:cNvSpPr txBox="1"/>
          <p:nvPr/>
        </p:nvSpPr>
        <p:spPr>
          <a:xfrm>
            <a:off x="6437376" y="3246120"/>
            <a:ext cx="1444752" cy="530352"/>
          </a:xfrm>
          <a:prstGeom prst="roundRect">
            <a:avLst/>
          </a:prstGeom>
          <a:solidFill>
            <a:srgbClr val="ECF4FB"/>
          </a:solidFill>
          <a:ln w="6350">
            <a:solidFill>
              <a:srgbClr val="005587"/>
            </a:solidFill>
          </a:ln>
        </p:spPr>
        <p:txBody>
          <a:bodyPr wrap="square"/>
          <a:lstStyle/>
          <a:p>
            <a:pPr algn="center"/>
            <a:r>
              <a:rPr lang="en-US" sz="1220">
                <a:solidFill>
                  <a:srgbClr val="222222"/>
                </a:solidFill>
                <a:latin typeface="Arial"/>
              </a:rPr>
              <a:t>Gemini</a:t>
            </a:r>
            <a:endParaRPr lang="en-US" sz="1220"/>
          </a:p>
          <a:p>
            <a:pPr algn="center"/>
            <a:r>
              <a:rPr lang="en-US" sz="1220">
                <a:solidFill>
                  <a:srgbClr val="222222"/>
                </a:solidFill>
                <a:latin typeface="Arial"/>
              </a:rPr>
              <a:t>API</a:t>
            </a:r>
            <a:endParaRPr lang="en-US" sz="1220"/>
          </a:p>
        </p:txBody>
      </p:sp>
      <p:sp>
        <p:nvSpPr>
          <p:cNvPr id="14" name="Shape 14"/>
          <p:cNvSpPr txBox="1"/>
          <p:nvPr/>
        </p:nvSpPr>
        <p:spPr>
          <a:xfrm>
            <a:off x="4709160" y="4315968"/>
            <a:ext cx="1298448" cy="530352"/>
          </a:xfrm>
          <a:prstGeom prst="roundRect">
            <a:avLst/>
          </a:prstGeom>
          <a:solidFill>
            <a:srgbClr val="FFFFFF"/>
          </a:solidFill>
          <a:ln w="6350">
            <a:solidFill>
              <a:srgbClr val="C8C8C8"/>
            </a:solidFill>
          </a:ln>
        </p:spPr>
        <p:txBody>
          <a:bodyPr wrap="square"/>
          <a:lstStyle/>
          <a:p>
            <a:pPr algn="center"/>
            <a:r>
              <a:rPr lang="en-US" sz="1220">
                <a:solidFill>
                  <a:srgbClr val="222222"/>
                </a:solidFill>
                <a:latin typeface="Arial"/>
              </a:rPr>
              <a:t>Cowork/</a:t>
            </a:r>
            <a:endParaRPr lang="en-US" sz="1220"/>
          </a:p>
          <a:p>
            <a:pPr algn="center"/>
            <a:r>
              <a:rPr lang="en-US" sz="1220">
                <a:solidFill>
                  <a:srgbClr val="222222"/>
                </a:solidFill>
                <a:latin typeface="Arial"/>
              </a:rPr>
              <a:t>Codex</a:t>
            </a:r>
            <a:endParaRPr lang="en-US" sz="1220"/>
          </a:p>
        </p:txBody>
      </p:sp>
      <p:sp>
        <p:nvSpPr>
          <p:cNvPr id="15" name="Shape 15"/>
          <p:cNvSpPr/>
          <p:nvPr/>
        </p:nvSpPr>
        <p:spPr>
          <a:xfrm>
            <a:off x="6016752" y="2432304"/>
            <a:ext cx="411480" cy="9144"/>
          </a:xfrm>
          <a:prstGeom prst="rect">
            <a:avLst/>
          </a:prstGeom>
          <a:solidFill>
            <a:srgbClr val="005587"/>
          </a:solidFill>
          <a:ln>
            <a:noFill/>
          </a:ln>
        </p:spPr>
      </p:sp>
      <p:sp>
        <p:nvSpPr>
          <p:cNvPr id="16" name="Shape 16"/>
          <p:cNvSpPr txBox="1"/>
          <p:nvPr/>
        </p:nvSpPr>
        <p:spPr>
          <a:xfrm>
            <a:off x="5989320" y="2542032"/>
            <a:ext cx="658368" cy="201168"/>
          </a:xfrm>
          <a:prstGeom prst="rect">
            <a:avLst/>
          </a:prstGeom>
          <a:noFill/>
          <a:ln>
            <a:noFill/>
          </a:ln>
        </p:spPr>
        <p:txBody>
          <a:bodyPr wrap="square"/>
          <a:lstStyle/>
          <a:p>
            <a:pPr algn="center"/>
            <a:r>
              <a:rPr lang="en-US" sz="820">
                <a:solidFill>
                  <a:srgbClr val="5C6670"/>
                </a:solidFill>
                <a:latin typeface="Arial"/>
              </a:rPr>
              <a:t>opens URL</a:t>
            </a:r>
            <a:endParaRPr lang="en-US" sz="820"/>
          </a:p>
        </p:txBody>
      </p:sp>
      <p:sp>
        <p:nvSpPr>
          <p:cNvPr id="17" name="Shape 17"/>
          <p:cNvSpPr/>
          <p:nvPr/>
        </p:nvSpPr>
        <p:spPr>
          <a:xfrm>
            <a:off x="7159752" y="2715768"/>
            <a:ext cx="9144" cy="521208"/>
          </a:xfrm>
          <a:prstGeom prst="rect">
            <a:avLst/>
          </a:prstGeom>
          <a:solidFill>
            <a:srgbClr val="005587"/>
          </a:solidFill>
          <a:ln>
            <a:noFill/>
          </a:ln>
        </p:spPr>
      </p:sp>
      <p:sp>
        <p:nvSpPr>
          <p:cNvPr id="18" name="Shape 18"/>
          <p:cNvSpPr txBox="1"/>
          <p:nvPr/>
        </p:nvSpPr>
        <p:spPr>
          <a:xfrm>
            <a:off x="7342632" y="2816352"/>
            <a:ext cx="868680" cy="219456"/>
          </a:xfrm>
          <a:prstGeom prst="rect">
            <a:avLst/>
          </a:prstGeom>
          <a:noFill/>
          <a:ln>
            <a:noFill/>
          </a:ln>
        </p:spPr>
        <p:txBody>
          <a:bodyPr wrap="square"/>
          <a:lstStyle/>
          <a:p>
            <a:pPr/>
            <a:r>
              <a:rPr lang="en-US" sz="820">
                <a:solidFill>
                  <a:srgbClr val="5C6670"/>
                </a:solidFill>
                <a:latin typeface="Arial"/>
              </a:rPr>
              <a:t>API request</a:t>
            </a:r>
            <a:endParaRPr lang="en-US" sz="820"/>
          </a:p>
        </p:txBody>
      </p:sp>
      <p:sp>
        <p:nvSpPr>
          <p:cNvPr id="19" name="Shape 19"/>
          <p:cNvSpPr/>
          <p:nvPr/>
        </p:nvSpPr>
        <p:spPr>
          <a:xfrm>
            <a:off x="6016752" y="3502152"/>
            <a:ext cx="402336" cy="9144"/>
          </a:xfrm>
          <a:prstGeom prst="rect">
            <a:avLst/>
          </a:prstGeom>
          <a:solidFill>
            <a:srgbClr val="005587"/>
          </a:solidFill>
          <a:ln>
            <a:noFill/>
          </a:ln>
        </p:spPr>
      </p:sp>
      <p:sp>
        <p:nvSpPr>
          <p:cNvPr id="20" name="Shape 20"/>
          <p:cNvSpPr txBox="1"/>
          <p:nvPr/>
        </p:nvSpPr>
        <p:spPr>
          <a:xfrm>
            <a:off x="4736592" y="3273552"/>
            <a:ext cx="1234440" cy="438912"/>
          </a:xfrm>
          <a:prstGeom prst="rect">
            <a:avLst/>
          </a:prstGeom>
          <a:noFill/>
          <a:ln>
            <a:noFill/>
          </a:ln>
        </p:spPr>
        <p:txBody>
          <a:bodyPr wrap="square"/>
          <a:lstStyle/>
          <a:p>
            <a:pPr algn="center"/>
            <a:r>
              <a:rPr lang="en-US" sz="820">
                <a:solidFill>
                  <a:srgbClr val="5C6670"/>
                </a:solidFill>
                <a:latin typeface="Arial"/>
              </a:rPr>
              <a:t>model output</a:t>
            </a:r>
            <a:endParaRPr lang="en-US" sz="820"/>
          </a:p>
          <a:p>
            <a:pPr algn="center"/>
            <a:r>
              <a:rPr lang="en-US" sz="820">
                <a:solidFill>
                  <a:srgbClr val="5C6670"/>
                </a:solidFill>
                <a:latin typeface="Arial"/>
              </a:rPr>
              <a:t>returns to app</a:t>
            </a:r>
            <a:endParaRPr lang="en-US" sz="820"/>
          </a:p>
        </p:txBody>
      </p:sp>
      <p:sp>
        <p:nvSpPr>
          <p:cNvPr id="21" name="Shape 21"/>
          <p:cNvSpPr/>
          <p:nvPr/>
        </p:nvSpPr>
        <p:spPr>
          <a:xfrm>
            <a:off x="5358384" y="2743200"/>
            <a:ext cx="9144" cy="1554480"/>
          </a:xfrm>
          <a:prstGeom prst="rect">
            <a:avLst/>
          </a:prstGeom>
          <a:solidFill>
            <a:srgbClr val="005587"/>
          </a:solidFill>
          <a:ln>
            <a:noFill/>
          </a:ln>
        </p:spPr>
      </p:sp>
      <p:sp>
        <p:nvSpPr>
          <p:cNvPr id="22" name="Shape 22"/>
          <p:cNvSpPr txBox="1"/>
          <p:nvPr/>
        </p:nvSpPr>
        <p:spPr>
          <a:xfrm>
            <a:off x="4343400" y="3364992"/>
            <a:ext cx="950976" cy="347472"/>
          </a:xfrm>
          <a:prstGeom prst="rect">
            <a:avLst/>
          </a:prstGeom>
          <a:noFill/>
          <a:ln>
            <a:noFill/>
          </a:ln>
        </p:spPr>
        <p:txBody>
          <a:bodyPr wrap="square"/>
          <a:lstStyle/>
          <a:p>
            <a:pPr algn="center"/>
            <a:r>
              <a:rPr lang="en-US" sz="820">
                <a:solidFill>
                  <a:srgbClr val="5C6670"/>
                </a:solidFill>
                <a:latin typeface="Arial"/>
              </a:rPr>
              <a:t>edits files</a:t>
            </a:r>
            <a:endParaRPr lang="en-US" sz="820"/>
          </a:p>
          <a:p>
            <a:pPr algn="center"/>
            <a:r>
              <a:rPr lang="en-US" sz="820">
                <a:solidFill>
                  <a:srgbClr val="5C6670"/>
                </a:solidFill>
                <a:latin typeface="Arial"/>
              </a:rPr>
              <a:t>before deploy</a:t>
            </a:r>
            <a:endParaRPr lang="en-US" sz="820"/>
          </a:p>
        </p:txBody>
      </p:sp>
      <p:sp>
        <p:nvSpPr>
          <p:cNvPr id="23" name="Shape 23"/>
          <p:cNvSpPr txBox="1"/>
          <p:nvPr/>
        </p:nvSpPr>
        <p:spPr>
          <a:xfrm>
            <a:off x="4572000" y="5349240"/>
            <a:ext cx="3611880" cy="384048"/>
          </a:xfrm>
          <a:prstGeom prst="rect">
            <a:avLst/>
          </a:prstGeom>
          <a:noFill/>
          <a:ln>
            <a:noFill/>
          </a:ln>
        </p:spPr>
        <p:txBody>
          <a:bodyPr wrap="square"/>
          <a:lstStyle/>
          <a:p>
            <a:pPr/>
            <a:r>
              <a:rPr lang="en-US" sz="1200">
                <a:solidFill>
                  <a:srgbClr val="000000"/>
                </a:solidFill>
                <a:latin typeface="Arial"/>
              </a:rPr>
              <a:t>The app is ordinary software. The model is accessed through an API. Railway makes the app reachable on the web</a:t>
            </a:r>
            <a:endParaRPr lang="en-US" sz="1200"/>
          </a:p>
        </p:txBody>
      </p:sp>
    </p:spTree>
  </p:cSld>
  <p:clrMapOvr>
    <a:masterClrMapping/>
  </p:clrMapOvr>
</p:sld>
</file>

<file path=ppt/slides/slide32.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left bar"/>
          <p:cNvSpPr/>
          <p:nvPr/>
        </p:nvSpPr>
        <p:spPr>
          <a:xfrm>
            <a:off x="0" y="0"/>
            <a:ext cx="54864" cy="5143500"/>
          </a:xfrm>
          <a:prstGeom prst="rect">
            <a:avLst/>
          </a:prstGeom>
          <a:solidFill>
            <a:srgbClr val="005587"/>
          </a:solidFill>
          <a:ln w="6350">
            <a:solidFill>
              <a:srgbClr val="005587"/>
            </a:solidFill>
          </a:ln>
        </p:spPr>
        <p:txBody>
          <a:bodyPr wrap="square" rtlCol="0" anchor="ctr">
            <a:normAutofit/>
          </a:bodyPr>
          <a:lstStyle/>
          <a:p>
            <a:pPr algn="l"/>
            <a:endParaRPr/>
          </a:p>
        </p:txBody>
      </p:sp>
      <p:sp>
        <p:nvSpPr>
          <p:cNvPr id="3" name="Title"/>
          <p:cNvSpPr txBox="1"/>
          <p:nvPr/>
        </p:nvSpPr>
        <p:spPr>
          <a:xfrm>
            <a:off x="457200" y="309982"/>
            <a:ext cx="8321040" cy="685800"/>
          </a:xfrm>
          <a:prstGeom prst="rect">
            <a:avLst/>
          </a:prstGeom>
          <a:noFill/>
          <a:ln>
            <a:noFill/>
          </a:ln>
        </p:spPr>
        <p:txBody>
          <a:bodyPr wrap="square" lIns="0" tIns="35000" rIns="0" bIns="35000" anchor="mid" rtlCol="0">
            <a:normAutofit fontScale="86000" lnSpcReduction="12000"/>
          </a:bodyPr>
          <a:lstStyle/>
          <a:p>
            <a:pPr algn="l"/>
            <a:r>
              <a:rPr sz="2800" b="1">
                <a:solidFill>
                  <a:srgbClr val="005587"/>
                </a:solidFill>
                <a:latin typeface="Whitney Bold"/>
              </a:rPr>
              <a:t>How an LLM API Call Works</a:t>
            </a:r>
          </a:p>
        </p:txBody>
      </p:sp>
      <p:sp>
        <p:nvSpPr>
          <p:cNvPr id="4" name="header rule"/>
          <p:cNvSpPr/>
          <p:nvPr/>
        </p:nvSpPr>
        <p:spPr>
          <a:xfrm>
            <a:off x="457200" y="914400"/>
            <a:ext cx="8321040" cy="0"/>
          </a:xfrm>
          <a:prstGeom prst="rect">
            <a:avLst/>
          </a:prstGeom>
          <a:solidFill>
            <a:srgbClr val="C8C8C8"/>
          </a:solidFill>
          <a:ln>
            <a:noFill/>
          </a:ln>
        </p:spPr>
        <p:txBody>
          <a:bodyPr wrap="square" rtlCol="0" anchor="ctr">
            <a:normAutofit/>
          </a:bodyPr>
          <a:lstStyle/>
          <a:p>
            <a:pPr/>
            <a:endParaRPr/>
          </a:p>
        </p:txBody>
      </p:sp>
      <p:sp>
        <p:nvSpPr>
          <p:cNvPr id="5" name="Subtitle"/>
          <p:cNvSpPr txBox="1"/>
          <p:nvPr/>
        </p:nvSpPr>
        <p:spPr>
          <a:xfrm>
            <a:off x="457200" y="987552"/>
            <a:ext cx="8321040" cy="310896"/>
          </a:xfrm>
          <a:prstGeom prst="rect">
            <a:avLst/>
          </a:prstGeom>
          <a:noFill/>
          <a:ln>
            <a:noFill/>
          </a:ln>
        </p:spPr>
        <p:txBody>
          <a:bodyPr wrap="square" lIns="0" tIns="35000" rIns="0" bIns="35000" anchor="mid" rtlCol="0">
            <a:normAutofit fontScale="86000" lnSpcReduction="12000"/>
          </a:bodyPr>
          <a:lstStyle/>
          <a:p>
            <a:pPr algn="l"/>
            <a:r>
              <a:rPr sz="1300" b="0">
                <a:solidFill>
                  <a:srgbClr val="1F1F1F"/>
                </a:solidFill>
                <a:latin typeface="Arial"/>
              </a:rPr>
              <a:t>An API is a contract: send structured input over HTTPS, receive structured output back</a:t>
            </a:r>
          </a:p>
        </p:txBody>
      </p:sp>
      <p:sp>
        <p:nvSpPr>
          <p:cNvPr id="6" name="left label"/>
          <p:cNvSpPr txBox="1"/>
          <p:nvPr/>
        </p:nvSpPr>
        <p:spPr>
          <a:xfrm>
            <a:off x="640080" y="1417320"/>
            <a:ext cx="1828800" cy="320040"/>
          </a:xfrm>
          <a:prstGeom prst="rect">
            <a:avLst/>
          </a:prstGeom>
          <a:noFill/>
          <a:ln>
            <a:noFill/>
          </a:ln>
        </p:spPr>
        <p:txBody>
          <a:bodyPr wrap="square" lIns="0" tIns="35000" rIns="0" bIns="35000" anchor="t" rtlCol="0">
            <a:normAutofit fontScale="86000" lnSpcReduction="12000"/>
          </a:bodyPr>
          <a:lstStyle/>
          <a:p>
            <a:pPr algn="l"/>
            <a:r>
              <a:rPr sz="1350" b="1">
                <a:solidFill>
                  <a:srgbClr val="005587"/>
                </a:solidFill>
                <a:latin typeface="Arial"/>
              </a:rPr>
              <a:t>Your app sends</a:t>
            </a:r>
          </a:p>
        </p:txBody>
      </p:sp>
      <p:sp>
        <p:nvSpPr>
          <p:cNvPr id="7" name="request"/>
          <p:cNvSpPr txBox="1"/>
          <p:nvPr/>
        </p:nvSpPr>
        <p:spPr>
          <a:xfrm>
            <a:off x="640080" y="1783080"/>
            <a:ext cx="3291840" cy="2240280"/>
          </a:xfrm>
          <a:prstGeom prst="rect">
            <a:avLst/>
          </a:prstGeom>
          <a:solidFill>
            <a:srgbClr val="FFFFFF"/>
          </a:solidFill>
          <a:ln w="6350">
            <a:solidFill>
              <a:srgbClr val="C8C8C8"/>
            </a:solidFill>
          </a:ln>
        </p:spPr>
        <p:txBody>
          <a:bodyPr wrap="square" lIns="50000" tIns="35000" rIns="50000" bIns="35000" anchor="t" rtlCol="0">
            <a:normAutofit fontScale="86000" lnSpcReduction="12000"/>
          </a:bodyPr>
          <a:lstStyle/>
          <a:p>
            <a:pPr algn="l"/>
            <a:r>
              <a:rPr sz="1250" b="1">
                <a:solidFill>
                  <a:srgbClr val="005587"/>
                </a:solidFill>
                <a:latin typeface="Arial"/>
              </a:rPr>
              <a:t>HTTPS request</a:t>
            </a:r>
          </a:p>
          <a:p>
            <a:pPr algn="l"/>
            <a:r>
              <a:rPr sz="1050" b="0">
                <a:solidFill>
                  <a:srgbClr val="000000"/>
                </a:solidFill>
                <a:latin typeface="Arial"/>
              </a:rPr>
              <a:t>model: gemini-flash</a:t>
            </a:r>
          </a:p>
          <a:p>
            <a:pPr algn="l"/>
            <a:r>
              <a:rPr sz="1050" b="0">
                <a:solidFill>
                  <a:srgbClr val="000000"/>
                </a:solidFill>
                <a:latin typeface="Arial"/>
              </a:rPr>
              <a:t>system/user messages</a:t>
            </a:r>
          </a:p>
          <a:p>
            <a:pPr algn="l"/>
            <a:r>
              <a:rPr sz="1050" b="0">
                <a:solidFill>
                  <a:srgbClr val="000000"/>
                </a:solidFill>
                <a:latin typeface="Arial"/>
              </a:rPr>
              <a:t>temperature / max tokens</a:t>
            </a:r>
          </a:p>
          <a:p>
            <a:pPr algn="l"/>
            <a:r>
              <a:rPr sz="1050" b="0">
                <a:solidFill>
                  <a:srgbClr val="000000"/>
                </a:solidFill>
                <a:latin typeface="Arial"/>
              </a:rPr>
              <a:t>API key in header</a:t>
            </a:r>
          </a:p>
        </p:txBody>
      </p:sp>
      <p:sp>
        <p:nvSpPr>
          <p:cNvPr id="8" name="api arrow"/>
          <p:cNvSpPr/>
          <p:nvPr/>
        </p:nvSpPr>
        <p:spPr>
          <a:xfrm>
            <a:off x="4160520" y="2761488"/>
            <a:ext cx="822960" cy="22860"/>
          </a:xfrm>
          <a:prstGeom prst="rect">
            <a:avLst/>
          </a:prstGeom>
          <a:solidFill>
            <a:srgbClr val="005587"/>
          </a:solidFill>
          <a:ln>
            <a:noFill/>
          </a:ln>
        </p:spPr>
        <p:txBody>
          <a:bodyPr wrap="square" rtlCol="0" anchor="ctr">
            <a:normAutofit/>
          </a:bodyPr>
          <a:lstStyle/>
          <a:p>
            <a:pPr/>
            <a:endParaRPr/>
          </a:p>
        </p:txBody>
      </p:sp>
      <p:sp>
        <p:nvSpPr>
          <p:cNvPr id="9" name="api label"/>
          <p:cNvSpPr txBox="1"/>
          <p:nvPr/>
        </p:nvSpPr>
        <p:spPr>
          <a:xfrm>
            <a:off x="4224528" y="2487168"/>
            <a:ext cx="685800" cy="228600"/>
          </a:xfrm>
          <a:prstGeom prst="rect">
            <a:avLst/>
          </a:prstGeom>
          <a:noFill/>
          <a:ln>
            <a:noFill/>
          </a:ln>
        </p:spPr>
        <p:txBody>
          <a:bodyPr wrap="square" lIns="0" tIns="35000" rIns="0" bIns="35000" anchor="t" rtlCol="0">
            <a:normAutofit fontScale="86000" lnSpcReduction="12000"/>
          </a:bodyPr>
          <a:lstStyle/>
          <a:p>
            <a:pPr algn="c"/>
            <a:r>
              <a:rPr sz="1150" b="1">
                <a:solidFill>
                  <a:srgbClr val="005587"/>
                </a:solidFill>
                <a:latin typeface="Arial"/>
              </a:rPr>
              <a:t>API</a:t>
            </a:r>
          </a:p>
        </p:txBody>
      </p:sp>
      <p:sp>
        <p:nvSpPr>
          <p:cNvPr id="10" name="right label"/>
          <p:cNvSpPr txBox="1"/>
          <p:nvPr/>
        </p:nvSpPr>
        <p:spPr>
          <a:xfrm>
            <a:off x="5303520" y="1417320"/>
            <a:ext cx="2011680" cy="320040"/>
          </a:xfrm>
          <a:prstGeom prst="rect">
            <a:avLst/>
          </a:prstGeom>
          <a:noFill/>
          <a:ln>
            <a:noFill/>
          </a:ln>
        </p:spPr>
        <p:txBody>
          <a:bodyPr wrap="square" lIns="0" tIns="35000" rIns="0" bIns="35000" anchor="t" rtlCol="0">
            <a:normAutofit fontScale="86000" lnSpcReduction="12000"/>
          </a:bodyPr>
          <a:lstStyle/>
          <a:p>
            <a:pPr algn="l"/>
            <a:r>
              <a:rPr sz="1350" b="1">
                <a:solidFill>
                  <a:srgbClr val="005587"/>
                </a:solidFill>
                <a:latin typeface="Arial"/>
              </a:rPr>
              <a:t>Provider returns</a:t>
            </a:r>
          </a:p>
        </p:txBody>
      </p:sp>
      <p:sp>
        <p:nvSpPr>
          <p:cNvPr id="11" name="response"/>
          <p:cNvSpPr txBox="1"/>
          <p:nvPr/>
        </p:nvSpPr>
        <p:spPr>
          <a:xfrm>
            <a:off x="5303520" y="1783080"/>
            <a:ext cx="3291840" cy="2240280"/>
          </a:xfrm>
          <a:prstGeom prst="rect">
            <a:avLst/>
          </a:prstGeom>
          <a:solidFill>
            <a:srgbClr val="FFFFFF"/>
          </a:solidFill>
          <a:ln w="6350">
            <a:solidFill>
              <a:srgbClr val="C8C8C8"/>
            </a:solidFill>
          </a:ln>
        </p:spPr>
        <p:txBody>
          <a:bodyPr wrap="square" lIns="50000" tIns="35000" rIns="50000" bIns="35000" anchor="t" rtlCol="0">
            <a:normAutofit fontScale="86000" lnSpcReduction="12000"/>
          </a:bodyPr>
          <a:lstStyle/>
          <a:p>
            <a:pPr algn="l"/>
            <a:r>
              <a:rPr sz="1250" b="1">
                <a:solidFill>
                  <a:srgbClr val="005587"/>
                </a:solidFill>
                <a:latin typeface="Arial"/>
              </a:rPr>
              <a:t>JSON response</a:t>
            </a:r>
          </a:p>
          <a:p>
            <a:pPr algn="l"/>
            <a:r>
              <a:rPr sz="1050" b="0">
                <a:solidFill>
                  <a:srgbClr val="000000"/>
                </a:solidFill>
                <a:latin typeface="Arial"/>
              </a:rPr>
              <a:t>assistant text</a:t>
            </a:r>
          </a:p>
          <a:p>
            <a:pPr algn="l"/>
            <a:r>
              <a:rPr sz="1050" b="0">
                <a:solidFill>
                  <a:srgbClr val="000000"/>
                </a:solidFill>
                <a:latin typeface="Arial"/>
              </a:rPr>
              <a:t>finish reason</a:t>
            </a:r>
          </a:p>
          <a:p>
            <a:pPr algn="l"/>
            <a:r>
              <a:rPr sz="1050" b="0">
                <a:solidFill>
                  <a:srgbClr val="000000"/>
                </a:solidFill>
                <a:latin typeface="Arial"/>
              </a:rPr>
              <a:t>token usage</a:t>
            </a:r>
          </a:p>
          <a:p>
            <a:pPr algn="l"/>
            <a:r>
              <a:rPr sz="1050" b="0">
                <a:solidFill>
                  <a:srgbClr val="000000"/>
                </a:solidFill>
                <a:latin typeface="Arial"/>
              </a:rPr>
              <a:t>errors / rate limits</a:t>
            </a:r>
          </a:p>
        </p:txBody>
      </p:sp>
      <p:sp>
        <p:nvSpPr>
          <p:cNvPr id="12" name="bottom"/>
          <p:cNvSpPr txBox="1"/>
          <p:nvPr/>
        </p:nvSpPr>
        <p:spPr>
          <a:xfrm>
            <a:off x="640080" y="4315968"/>
            <a:ext cx="7680960" cy="320040"/>
          </a:xfrm>
          <a:prstGeom prst="rect">
            <a:avLst/>
          </a:prstGeom>
          <a:noFill/>
          <a:ln>
            <a:noFill/>
          </a:ln>
        </p:spPr>
        <p:txBody>
          <a:bodyPr wrap="square" lIns="0" tIns="35000" rIns="0" bIns="35000" anchor="t" rtlCol="0">
            <a:normAutofit fontScale="86000" lnSpcReduction="12000"/>
          </a:bodyPr>
          <a:lstStyle/>
          <a:p>
            <a:pPr algn="c"/>
            <a:r>
              <a:rPr sz="1200" b="0">
                <a:solidFill>
                  <a:srgbClr val="000000"/>
                </a:solidFill>
                <a:latin typeface="Arial"/>
              </a:rPr>
              <a:t>You are renting model behavior on demand, not hosting the model yourself</a:t>
            </a:r>
          </a:p>
        </p:txBody>
      </p:sp>
    </p:spTree>
  </p:cSld>
  <p:clrMapOvr>
    <a:masterClrMapping/>
  </p:clrMapOvr>
</p:sld>
</file>

<file path=ppt/slides/slide33.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left bar"/>
          <p:cNvSpPr/>
          <p:nvPr/>
        </p:nvSpPr>
        <p:spPr>
          <a:xfrm>
            <a:off x="0" y="0"/>
            <a:ext cx="54864" cy="5143500"/>
          </a:xfrm>
          <a:prstGeom prst="rect">
            <a:avLst/>
          </a:prstGeom>
          <a:solidFill>
            <a:srgbClr val="005587"/>
          </a:solidFill>
          <a:ln w="6350">
            <a:solidFill>
              <a:srgbClr val="005587"/>
            </a:solidFill>
          </a:ln>
        </p:spPr>
        <p:txBody>
          <a:bodyPr wrap="square" rtlCol="0" anchor="ctr">
            <a:normAutofit/>
          </a:bodyPr>
          <a:lstStyle/>
          <a:p>
            <a:pPr algn="l"/>
            <a:endParaRPr/>
          </a:p>
        </p:txBody>
      </p:sp>
      <p:sp>
        <p:nvSpPr>
          <p:cNvPr id="3" name="Title"/>
          <p:cNvSpPr txBox="1"/>
          <p:nvPr/>
        </p:nvSpPr>
        <p:spPr>
          <a:xfrm>
            <a:off x="457200" y="309982"/>
            <a:ext cx="8321040" cy="685800"/>
          </a:xfrm>
          <a:prstGeom prst="rect">
            <a:avLst/>
          </a:prstGeom>
          <a:noFill/>
          <a:ln>
            <a:noFill/>
          </a:ln>
        </p:spPr>
        <p:txBody>
          <a:bodyPr wrap="square" lIns="0" tIns="35000" rIns="0" bIns="35000" anchor="mid" rtlCol="0">
            <a:normAutofit fontScale="86000" lnSpcReduction="12000"/>
          </a:bodyPr>
          <a:lstStyle/>
          <a:p>
            <a:pPr algn="l"/>
            <a:r>
              <a:rPr sz="2800" b="1">
                <a:solidFill>
                  <a:srgbClr val="005587"/>
                </a:solidFill>
                <a:latin typeface="Whitney Bold"/>
              </a:rPr>
              <a:t>What APIs Let Builders Do</a:t>
            </a:r>
          </a:p>
        </p:txBody>
      </p:sp>
      <p:sp>
        <p:nvSpPr>
          <p:cNvPr id="4" name="header rule"/>
          <p:cNvSpPr/>
          <p:nvPr/>
        </p:nvSpPr>
        <p:spPr>
          <a:xfrm>
            <a:off x="457200" y="914400"/>
            <a:ext cx="8321040" cy="0"/>
          </a:xfrm>
          <a:prstGeom prst="rect">
            <a:avLst/>
          </a:prstGeom>
          <a:solidFill>
            <a:srgbClr val="C8C8C8"/>
          </a:solidFill>
          <a:ln>
            <a:noFill/>
          </a:ln>
        </p:spPr>
        <p:txBody>
          <a:bodyPr wrap="square" rtlCol="0" anchor="ctr">
            <a:normAutofit/>
          </a:bodyPr>
          <a:lstStyle/>
          <a:p>
            <a:pPr/>
            <a:endParaRPr/>
          </a:p>
        </p:txBody>
      </p:sp>
      <p:sp>
        <p:nvSpPr>
          <p:cNvPr id="5" name="Subtitle"/>
          <p:cNvSpPr txBox="1"/>
          <p:nvPr/>
        </p:nvSpPr>
        <p:spPr>
          <a:xfrm>
            <a:off x="457200" y="987552"/>
            <a:ext cx="8321040" cy="310896"/>
          </a:xfrm>
          <a:prstGeom prst="rect">
            <a:avLst/>
          </a:prstGeom>
          <a:noFill/>
          <a:ln>
            <a:noFill/>
          </a:ln>
        </p:spPr>
        <p:txBody>
          <a:bodyPr wrap="square" lIns="0" tIns="35000" rIns="0" bIns="35000" anchor="mid" rtlCol="0">
            <a:normAutofit fontScale="86000" lnSpcReduction="12000"/>
          </a:bodyPr>
          <a:lstStyle/>
          <a:p>
            <a:pPr algn="l"/>
            <a:r>
              <a:rPr sz="1300" b="0">
                <a:solidFill>
                  <a:srgbClr val="1F1F1F"/>
                </a:solidFill>
                <a:latin typeface="Arial"/>
              </a:rPr>
              <a:t>APIs make frontier models feel like a software component</a:t>
            </a:r>
          </a:p>
        </p:txBody>
      </p:sp>
      <p:sp>
        <p:nvSpPr>
          <p:cNvPr id="6" name="head Call models from products"/>
          <p:cNvSpPr txBox="1"/>
          <p:nvPr/>
        </p:nvSpPr>
        <p:spPr>
          <a:xfrm>
            <a:off x="594360" y="1325880"/>
            <a:ext cx="7955280" cy="274320"/>
          </a:xfrm>
          <a:prstGeom prst="rect">
            <a:avLst/>
          </a:prstGeom>
          <a:noFill/>
          <a:ln>
            <a:noFill/>
          </a:ln>
        </p:spPr>
        <p:txBody>
          <a:bodyPr wrap="square" lIns="0" tIns="35000" rIns="0" bIns="35000" anchor="t" rtlCol="0">
            <a:normAutofit fontScale="86000" lnSpcReduction="12000"/>
          </a:bodyPr>
          <a:lstStyle/>
          <a:p>
            <a:pPr algn="l"/>
            <a:r>
              <a:rPr sz="1350" b="1">
                <a:solidFill>
                  <a:srgbClr val="005587"/>
                </a:solidFill>
                <a:latin typeface="Arial"/>
              </a:rPr>
              <a:t>Call models from products</a:t>
            </a:r>
          </a:p>
        </p:txBody>
      </p:sp>
      <p:sp>
        <p:nvSpPr>
          <p:cNvPr id="7" name="body Call models from products"/>
          <p:cNvSpPr txBox="1"/>
          <p:nvPr/>
        </p:nvSpPr>
        <p:spPr>
          <a:xfrm>
            <a:off x="777240" y="1645920"/>
            <a:ext cx="7543800" cy="475488"/>
          </a:xfrm>
          <a:prstGeom prst="rect">
            <a:avLst/>
          </a:prstGeom>
          <a:noFill/>
          <a:ln>
            <a:noFill/>
          </a:ln>
        </p:spPr>
        <p:txBody>
          <a:bodyPr wrap="square" lIns="0" tIns="35000" rIns="0" bIns="35000" anchor="t" rtlCol="0">
            <a:normAutofit fontScale="86000" lnSpcReduction="12000"/>
          </a:bodyPr>
          <a:lstStyle/>
          <a:p>
            <a:pPr algn="l"/>
            <a:r>
              <a:rPr sz="1050" b="0">
                <a:solidFill>
                  <a:srgbClr val="1F1F1F"/>
                </a:solidFill>
                <a:latin typeface="Arial"/>
              </a:rPr>
              <a:t>•  Put an LLM behind a button, form, chat box, workflow, or internal tool</a:t>
            </a:r>
          </a:p>
          <a:p>
            <a:pPr algn="l"/>
            <a:r>
              <a:rPr sz="1050" b="0">
                <a:solidFill>
                  <a:srgbClr val="1F1F1F"/>
                </a:solidFill>
                <a:latin typeface="Arial"/>
              </a:rPr>
              <a:t>•  Use the same model from web apps, scripts, automations, and dashboards</a:t>
            </a:r>
          </a:p>
        </p:txBody>
      </p:sp>
      <p:sp>
        <p:nvSpPr>
          <p:cNvPr id="8" name="sep Call models from products"/>
          <p:cNvSpPr/>
          <p:nvPr/>
        </p:nvSpPr>
        <p:spPr>
          <a:xfrm>
            <a:off x="594360" y="2221992"/>
            <a:ext cx="7955280" cy="5486"/>
          </a:xfrm>
          <a:prstGeom prst="rect">
            <a:avLst/>
          </a:prstGeom>
          <a:solidFill>
            <a:srgbClr val="C8C8C8"/>
          </a:solidFill>
          <a:ln>
            <a:noFill/>
          </a:ln>
        </p:spPr>
        <p:txBody>
          <a:bodyPr wrap="square" rtlCol="0" anchor="ctr">
            <a:normAutofit/>
          </a:bodyPr>
          <a:lstStyle/>
          <a:p>
            <a:pPr/>
            <a:endParaRPr/>
          </a:p>
        </p:txBody>
      </p:sp>
      <p:sp>
        <p:nvSpPr>
          <p:cNvPr id="9" name="head Control behavior per request"/>
          <p:cNvSpPr txBox="1"/>
          <p:nvPr/>
        </p:nvSpPr>
        <p:spPr>
          <a:xfrm>
            <a:off x="594360" y="2459736"/>
            <a:ext cx="7955280" cy="274320"/>
          </a:xfrm>
          <a:prstGeom prst="rect">
            <a:avLst/>
          </a:prstGeom>
          <a:noFill/>
          <a:ln>
            <a:noFill/>
          </a:ln>
        </p:spPr>
        <p:txBody>
          <a:bodyPr wrap="square" lIns="0" tIns="35000" rIns="0" bIns="35000" anchor="t" rtlCol="0">
            <a:normAutofit fontScale="86000" lnSpcReduction="12000"/>
          </a:bodyPr>
          <a:lstStyle/>
          <a:p>
            <a:pPr algn="l"/>
            <a:r>
              <a:rPr sz="1350" b="1">
                <a:solidFill>
                  <a:srgbClr val="005587"/>
                </a:solidFill>
                <a:latin typeface="Arial"/>
              </a:rPr>
              <a:t>Control behavior per request</a:t>
            </a:r>
          </a:p>
        </p:txBody>
      </p:sp>
      <p:sp>
        <p:nvSpPr>
          <p:cNvPr id="10" name="body Control behavior per request"/>
          <p:cNvSpPr txBox="1"/>
          <p:nvPr/>
        </p:nvSpPr>
        <p:spPr>
          <a:xfrm>
            <a:off x="777240" y="2779776"/>
            <a:ext cx="7543800" cy="475488"/>
          </a:xfrm>
          <a:prstGeom prst="rect">
            <a:avLst/>
          </a:prstGeom>
          <a:noFill/>
          <a:ln>
            <a:noFill/>
          </a:ln>
        </p:spPr>
        <p:txBody>
          <a:bodyPr wrap="square" lIns="0" tIns="35000" rIns="0" bIns="35000" anchor="t" rtlCol="0">
            <a:normAutofit fontScale="86000" lnSpcReduction="12000"/>
          </a:bodyPr>
          <a:lstStyle/>
          <a:p>
            <a:pPr algn="l"/>
            <a:r>
              <a:rPr sz="1050" b="0">
                <a:solidFill>
                  <a:srgbClr val="1F1F1F"/>
                </a:solidFill>
                <a:latin typeface="Arial"/>
              </a:rPr>
              <a:t>•  System prompts define role and boundaries</a:t>
            </a:r>
          </a:p>
          <a:p>
            <a:pPr algn="l"/>
            <a:r>
              <a:rPr sz="1050" b="0">
                <a:solidFill>
                  <a:srgbClr val="1F1F1F"/>
                </a:solidFill>
                <a:latin typeface="Arial"/>
              </a:rPr>
              <a:t>•  Model parameters trade off creativity, speed, and cost</a:t>
            </a:r>
          </a:p>
        </p:txBody>
      </p:sp>
      <p:sp>
        <p:nvSpPr>
          <p:cNvPr id="11" name="sep Control behavior per request"/>
          <p:cNvSpPr/>
          <p:nvPr/>
        </p:nvSpPr>
        <p:spPr>
          <a:xfrm>
            <a:off x="594360" y="3355848"/>
            <a:ext cx="7955280" cy="5486"/>
          </a:xfrm>
          <a:prstGeom prst="rect">
            <a:avLst/>
          </a:prstGeom>
          <a:solidFill>
            <a:srgbClr val="C8C8C8"/>
          </a:solidFill>
          <a:ln>
            <a:noFill/>
          </a:ln>
        </p:spPr>
        <p:txBody>
          <a:bodyPr wrap="square" rtlCol="0" anchor="ctr">
            <a:normAutofit/>
          </a:bodyPr>
          <a:lstStyle/>
          <a:p>
            <a:pPr/>
            <a:endParaRPr/>
          </a:p>
        </p:txBody>
      </p:sp>
      <p:sp>
        <p:nvSpPr>
          <p:cNvPr id="12" name="head Measure product tradeoffs"/>
          <p:cNvSpPr txBox="1"/>
          <p:nvPr/>
        </p:nvSpPr>
        <p:spPr>
          <a:xfrm>
            <a:off x="594360" y="3593592"/>
            <a:ext cx="7955280" cy="274320"/>
          </a:xfrm>
          <a:prstGeom prst="rect">
            <a:avLst/>
          </a:prstGeom>
          <a:noFill/>
          <a:ln>
            <a:noFill/>
          </a:ln>
        </p:spPr>
        <p:txBody>
          <a:bodyPr wrap="square" lIns="0" tIns="35000" rIns="0" bIns="35000" anchor="t" rtlCol="0">
            <a:normAutofit fontScale="86000" lnSpcReduction="12000"/>
          </a:bodyPr>
          <a:lstStyle/>
          <a:p>
            <a:pPr algn="l"/>
            <a:r>
              <a:rPr sz="1350" b="1">
                <a:solidFill>
                  <a:srgbClr val="005587"/>
                </a:solidFill>
                <a:latin typeface="Arial"/>
              </a:rPr>
              <a:t>Measure product tradeoffs</a:t>
            </a:r>
          </a:p>
        </p:txBody>
      </p:sp>
      <p:sp>
        <p:nvSpPr>
          <p:cNvPr id="13" name="body Measure product tradeoffs"/>
          <p:cNvSpPr txBox="1"/>
          <p:nvPr/>
        </p:nvSpPr>
        <p:spPr>
          <a:xfrm>
            <a:off x="777240" y="3913632"/>
            <a:ext cx="7543800" cy="475488"/>
          </a:xfrm>
          <a:prstGeom prst="rect">
            <a:avLst/>
          </a:prstGeom>
          <a:noFill/>
          <a:ln>
            <a:noFill/>
          </a:ln>
        </p:spPr>
        <p:txBody>
          <a:bodyPr wrap="square" lIns="0" tIns="35000" rIns="0" bIns="35000" anchor="t" rtlCol="0">
            <a:normAutofit fontScale="86000" lnSpcReduction="12000"/>
          </a:bodyPr>
          <a:lstStyle/>
          <a:p>
            <a:pPr algn="l"/>
            <a:r>
              <a:rPr sz="1050" b="0">
                <a:solidFill>
                  <a:srgbClr val="1F1F1F"/>
                </a:solidFill>
                <a:latin typeface="Arial"/>
              </a:rPr>
              <a:t>•  Every call has latency, cost, and reliability constraints</a:t>
            </a:r>
          </a:p>
          <a:p>
            <a:pPr algn="l"/>
            <a:r>
              <a:rPr sz="1050" b="0">
                <a:solidFill>
                  <a:srgbClr val="1F1F1F"/>
                </a:solidFill>
                <a:latin typeface="Arial"/>
              </a:rPr>
              <a:t>•  Logs and evals help compare prompts, models, and retrieval choices</a:t>
            </a:r>
          </a:p>
        </p:txBody>
      </p:sp>
      <p:sp>
        <p:nvSpPr>
          <p:cNvPr id="14" name="sep Measure product tradeoffs"/>
          <p:cNvSpPr/>
          <p:nvPr/>
        </p:nvSpPr>
        <p:spPr>
          <a:xfrm>
            <a:off x="594360" y="4489704"/>
            <a:ext cx="7955280" cy="5486"/>
          </a:xfrm>
          <a:prstGeom prst="rect">
            <a:avLst/>
          </a:prstGeom>
          <a:solidFill>
            <a:srgbClr val="C8C8C8"/>
          </a:solidFill>
          <a:ln>
            <a:noFill/>
          </a:ln>
        </p:spPr>
        <p:txBody>
          <a:bodyPr wrap="square" rtlCol="0" anchor="ctr">
            <a:normAutofit/>
          </a:bodyPr>
          <a:lstStyle/>
          <a:p>
            <a:pPr/>
            <a:endParaRPr/>
          </a:p>
        </p:txBody>
      </p:sp>
      <p:sp>
        <p:nvSpPr>
          <p:cNvPr id="15" name="tag"/>
          <p:cNvSpPr txBox="1"/>
          <p:nvPr/>
        </p:nvSpPr>
        <p:spPr>
          <a:xfrm>
            <a:off x="457200" y="4846320"/>
            <a:ext cx="8321040" cy="182880"/>
          </a:xfrm>
          <a:prstGeom prst="rect">
            <a:avLst/>
          </a:prstGeom>
          <a:noFill/>
          <a:ln>
            <a:noFill/>
          </a:ln>
        </p:spPr>
        <p:txBody>
          <a:bodyPr wrap="square" lIns="0" tIns="35000" rIns="0" bIns="35000" anchor="t" rtlCol="0">
            <a:normAutofit fontScale="86000" lnSpcReduction="12000"/>
          </a:bodyPr>
          <a:lstStyle/>
          <a:p>
            <a:pPr algn="l"/>
            <a:r>
              <a:rPr sz="1100" b="0">
                <a:solidFill>
                  <a:srgbClr val="000000"/>
                </a:solidFill>
                <a:latin typeface="Arial"/>
              </a:rPr>
              <a:t>APIs turn model capability into something your application can repeatedly call</a:t>
            </a:r>
          </a:p>
        </p:txBody>
      </p:sp>
    </p:spTree>
  </p:cSld>
  <p:clrMapOvr>
    <a:masterClrMapping/>
  </p:clrMapOvr>
</p:sld>
</file>

<file path=ppt/slides/slide34.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left bar"/>
          <p:cNvSpPr/>
          <p:nvPr/>
        </p:nvSpPr>
        <p:spPr>
          <a:xfrm>
            <a:off x="0" y="0"/>
            <a:ext cx="54864" cy="5143500"/>
          </a:xfrm>
          <a:prstGeom prst="rect">
            <a:avLst/>
          </a:prstGeom>
          <a:solidFill>
            <a:srgbClr val="005587"/>
          </a:solidFill>
          <a:ln w="6350">
            <a:solidFill>
              <a:srgbClr val="005587"/>
            </a:solidFill>
          </a:ln>
        </p:spPr>
        <p:txBody>
          <a:bodyPr wrap="square" rtlCol="0" anchor="ctr">
            <a:normAutofit/>
          </a:bodyPr>
          <a:lstStyle/>
          <a:p>
            <a:pPr algn="l"/>
            <a:endParaRPr/>
          </a:p>
        </p:txBody>
      </p:sp>
      <p:sp>
        <p:nvSpPr>
          <p:cNvPr id="3" name="Title"/>
          <p:cNvSpPr txBox="1"/>
          <p:nvPr/>
        </p:nvSpPr>
        <p:spPr>
          <a:xfrm>
            <a:off x="457200" y="309982"/>
            <a:ext cx="8321040" cy="685800"/>
          </a:xfrm>
          <a:prstGeom prst="rect">
            <a:avLst/>
          </a:prstGeom>
          <a:noFill/>
          <a:ln>
            <a:noFill/>
          </a:ln>
        </p:spPr>
        <p:txBody>
          <a:bodyPr wrap="square" lIns="0" tIns="35000" rIns="0" bIns="35000" anchor="mid" rtlCol="0">
            <a:normAutofit fontScale="86000" lnSpcReduction="12000"/>
          </a:bodyPr>
          <a:lstStyle/>
          <a:p>
            <a:pPr algn="l"/>
            <a:r>
              <a:rPr sz="2800" b="1">
                <a:solidFill>
                  <a:srgbClr val="005587"/>
                </a:solidFill>
                <a:latin typeface="Whitney Bold"/>
              </a:rPr>
              <a:t>From Local Folder to Public URL</a:t>
            </a:r>
          </a:p>
        </p:txBody>
      </p:sp>
      <p:sp>
        <p:nvSpPr>
          <p:cNvPr id="4" name="header rule"/>
          <p:cNvSpPr/>
          <p:nvPr/>
        </p:nvSpPr>
        <p:spPr>
          <a:xfrm>
            <a:off x="457200" y="914400"/>
            <a:ext cx="8321040" cy="0"/>
          </a:xfrm>
          <a:prstGeom prst="rect">
            <a:avLst/>
          </a:prstGeom>
          <a:solidFill>
            <a:srgbClr val="C8C8C8"/>
          </a:solidFill>
          <a:ln>
            <a:noFill/>
          </a:ln>
        </p:spPr>
        <p:txBody>
          <a:bodyPr wrap="square" rtlCol="0" anchor="ctr">
            <a:normAutofit/>
          </a:bodyPr>
          <a:lstStyle/>
          <a:p>
            <a:pPr/>
            <a:endParaRPr/>
          </a:p>
        </p:txBody>
      </p:sp>
      <p:sp>
        <p:nvSpPr>
          <p:cNvPr id="5" name="Subtitle"/>
          <p:cNvSpPr txBox="1"/>
          <p:nvPr/>
        </p:nvSpPr>
        <p:spPr>
          <a:xfrm>
            <a:off x="457200" y="987552"/>
            <a:ext cx="8321040" cy="310896"/>
          </a:xfrm>
          <a:prstGeom prst="rect">
            <a:avLst/>
          </a:prstGeom>
          <a:noFill/>
          <a:ln>
            <a:noFill/>
          </a:ln>
        </p:spPr>
        <p:txBody>
          <a:bodyPr wrap="square" lIns="0" tIns="35000" rIns="0" bIns="35000" anchor="mid" rtlCol="0">
            <a:normAutofit fontScale="86000" lnSpcReduction="12000"/>
          </a:bodyPr>
          <a:lstStyle/>
          <a:p>
            <a:pPr algn="l"/>
            <a:r>
              <a:rPr sz="1300" b="0">
                <a:solidFill>
                  <a:srgbClr val="1F1F1F"/>
                </a:solidFill>
                <a:latin typeface="Arial"/>
              </a:rPr>
              <a:t>The same project moves from your laptop to Railway</a:t>
            </a:r>
          </a:p>
        </p:txBody>
      </p:sp>
      <p:sp>
        <p:nvSpPr>
          <p:cNvPr id="6" name="local head"/>
          <p:cNvSpPr txBox="1"/>
          <p:nvPr/>
        </p:nvSpPr>
        <p:spPr>
          <a:xfrm>
            <a:off x="731520" y="1325880"/>
            <a:ext cx="3383280" cy="320040"/>
          </a:xfrm>
          <a:prstGeom prst="rect">
            <a:avLst/>
          </a:prstGeom>
          <a:noFill/>
          <a:ln>
            <a:noFill/>
          </a:ln>
        </p:spPr>
        <p:txBody>
          <a:bodyPr wrap="square" lIns="0" tIns="35000" rIns="0" bIns="35000" anchor="t" rtlCol="0">
            <a:normAutofit fontScale="86000" lnSpcReduction="12000"/>
          </a:bodyPr>
          <a:lstStyle/>
          <a:p>
            <a:pPr algn="l"/>
            <a:r>
              <a:rPr sz="1400" b="1">
                <a:solidFill>
                  <a:srgbClr val="005587"/>
                </a:solidFill>
                <a:latin typeface="Arial"/>
              </a:rPr>
              <a:t>Local development</a:t>
            </a:r>
          </a:p>
        </p:txBody>
      </p:sp>
      <p:sp>
        <p:nvSpPr>
          <p:cNvPr id="7" name="local body"/>
          <p:cNvSpPr txBox="1"/>
          <p:nvPr/>
        </p:nvSpPr>
        <p:spPr>
          <a:xfrm>
            <a:off x="822960" y="1737360"/>
            <a:ext cx="3200400" cy="1417320"/>
          </a:xfrm>
          <a:prstGeom prst="rect">
            <a:avLst/>
          </a:prstGeom>
          <a:noFill/>
          <a:ln>
            <a:noFill/>
          </a:ln>
        </p:spPr>
        <p:txBody>
          <a:bodyPr wrap="square" lIns="0" tIns="35000" rIns="0" bIns="35000" anchor="t" rtlCol="0">
            <a:normAutofit fontScale="86000" lnSpcReduction="12000"/>
          </a:bodyPr>
          <a:lstStyle/>
          <a:p>
            <a:pPr algn="l"/>
            <a:r>
              <a:rPr sz="1050" b="0">
                <a:solidFill>
                  <a:srgbClr val="1F1F1F"/>
                </a:solidFill>
                <a:latin typeface="Arial"/>
              </a:rPr>
              <a:t>•  Files live in your Desktop folder</a:t>
            </a:r>
          </a:p>
          <a:p>
            <a:pPr algn="l"/>
            <a:r>
              <a:rPr sz="1050" b="0">
                <a:solidFill>
                  <a:srgbClr val="1F1F1F"/>
                </a:solidFill>
                <a:latin typeface="Arial"/>
              </a:rPr>
              <a:t>•  Cowork/Codex edits and tests them</a:t>
            </a:r>
          </a:p>
          <a:p>
            <a:pPr algn="l"/>
            <a:r>
              <a:rPr sz="1050" b="0">
                <a:solidFill>
                  <a:srgbClr val="1F1F1F"/>
                </a:solidFill>
                <a:latin typeface="Arial"/>
              </a:rPr>
              <a:t>•  Secrets live in .env, not in code</a:t>
            </a:r>
          </a:p>
          <a:p>
            <a:pPr algn="l"/>
            <a:r>
              <a:rPr sz="1050" b="0">
                <a:solidFill>
                  <a:srgbClr val="1F1F1F"/>
                </a:solidFill>
                <a:latin typeface="Arial"/>
              </a:rPr>
              <a:t>•  You run npm run dev locally</a:t>
            </a:r>
          </a:p>
        </p:txBody>
      </p:sp>
      <p:sp>
        <p:nvSpPr>
          <p:cNvPr id="8" name="mid arrow"/>
          <p:cNvSpPr/>
          <p:nvPr/>
        </p:nvSpPr>
        <p:spPr>
          <a:xfrm>
            <a:off x="4343400" y="2240280"/>
            <a:ext cx="685800" cy="22860"/>
          </a:xfrm>
          <a:prstGeom prst="rect">
            <a:avLst/>
          </a:prstGeom>
          <a:solidFill>
            <a:srgbClr val="005587"/>
          </a:solidFill>
          <a:ln>
            <a:noFill/>
          </a:ln>
        </p:spPr>
        <p:txBody>
          <a:bodyPr wrap="square" rtlCol="0" anchor="ctr">
            <a:normAutofit/>
          </a:bodyPr>
          <a:lstStyle/>
          <a:p>
            <a:pPr/>
            <a:endParaRPr/>
          </a:p>
        </p:txBody>
      </p:sp>
      <p:sp>
        <p:nvSpPr>
          <p:cNvPr id="9" name="cmd"/>
          <p:cNvSpPr txBox="1"/>
          <p:nvPr/>
        </p:nvSpPr>
        <p:spPr>
          <a:xfrm>
            <a:off x="4114800" y="1828800"/>
            <a:ext cx="1188720" cy="411480"/>
          </a:xfrm>
          <a:prstGeom prst="roundRect">
            <a:avLst/>
          </a:prstGeom>
          <a:solidFill>
            <a:srgbClr val="ECF4FB"/>
          </a:solidFill>
          <a:ln w="6350">
            <a:solidFill>
              <a:srgbClr val="005587"/>
            </a:solidFill>
          </a:ln>
        </p:spPr>
        <p:txBody>
          <a:bodyPr wrap="square" lIns="50000" tIns="35000" rIns="50000" bIns="35000" anchor="mid" rtlCol="0">
            <a:normAutofit fontScale="86000" lnSpcReduction="12000"/>
          </a:bodyPr>
          <a:lstStyle/>
          <a:p>
            <a:pPr algn="c"/>
            <a:r>
              <a:rPr sz="1150" b="1">
                <a:solidFill>
                  <a:srgbClr val="005587"/>
                </a:solidFill>
                <a:latin typeface="Arial"/>
              </a:rPr>
              <a:t>railway up</a:t>
            </a:r>
          </a:p>
        </p:txBody>
      </p:sp>
      <p:sp>
        <p:nvSpPr>
          <p:cNvPr id="10" name="rail head"/>
          <p:cNvSpPr txBox="1"/>
          <p:nvPr/>
        </p:nvSpPr>
        <p:spPr>
          <a:xfrm>
            <a:off x="5486400" y="1325880"/>
            <a:ext cx="3200400" cy="320040"/>
          </a:xfrm>
          <a:prstGeom prst="rect">
            <a:avLst/>
          </a:prstGeom>
          <a:noFill/>
          <a:ln>
            <a:noFill/>
          </a:ln>
        </p:spPr>
        <p:txBody>
          <a:bodyPr wrap="square" lIns="0" tIns="35000" rIns="0" bIns="35000" anchor="t" rtlCol="0">
            <a:normAutofit fontScale="86000" lnSpcReduction="12000"/>
          </a:bodyPr>
          <a:lstStyle/>
          <a:p>
            <a:pPr algn="l"/>
            <a:r>
              <a:rPr sz="1400" b="1">
                <a:solidFill>
                  <a:srgbClr val="005587"/>
                </a:solidFill>
                <a:latin typeface="Arial"/>
              </a:rPr>
              <a:t>Railway runtime</a:t>
            </a:r>
          </a:p>
        </p:txBody>
      </p:sp>
      <p:sp>
        <p:nvSpPr>
          <p:cNvPr id="11" name="rail body"/>
          <p:cNvSpPr txBox="1"/>
          <p:nvPr/>
        </p:nvSpPr>
        <p:spPr>
          <a:xfrm>
            <a:off x="5577840" y="1737360"/>
            <a:ext cx="2971800" cy="1417320"/>
          </a:xfrm>
          <a:prstGeom prst="rect">
            <a:avLst/>
          </a:prstGeom>
          <a:noFill/>
          <a:ln>
            <a:noFill/>
          </a:ln>
        </p:spPr>
        <p:txBody>
          <a:bodyPr wrap="square" lIns="0" tIns="35000" rIns="0" bIns="35000" anchor="t" rtlCol="0">
            <a:normAutofit fontScale="86000" lnSpcReduction="12000"/>
          </a:bodyPr>
          <a:lstStyle/>
          <a:p>
            <a:pPr algn="l"/>
            <a:r>
              <a:rPr sz="1050" b="0">
                <a:solidFill>
                  <a:srgbClr val="1F1F1F"/>
                </a:solidFill>
                <a:latin typeface="Arial"/>
              </a:rPr>
              <a:t>•  Railway uploads and builds the app</a:t>
            </a:r>
          </a:p>
          <a:p>
            <a:pPr algn="l"/>
            <a:r>
              <a:rPr sz="1050" b="0">
                <a:solidFill>
                  <a:srgbClr val="1F1F1F"/>
                </a:solidFill>
                <a:latin typeface="Arial"/>
              </a:rPr>
              <a:t>•  PORT is assigned by Railway</a:t>
            </a:r>
          </a:p>
          <a:p>
            <a:pPr algn="l"/>
            <a:r>
              <a:rPr sz="1050" b="0">
                <a:solidFill>
                  <a:srgbClr val="1F1F1F"/>
                </a:solidFill>
                <a:latin typeface="Arial"/>
              </a:rPr>
              <a:t>•  GEMINI_API_KEY is set as a variable</a:t>
            </a:r>
          </a:p>
          <a:p>
            <a:pPr algn="l"/>
            <a:r>
              <a:rPr sz="1050" b="0">
                <a:solidFill>
                  <a:srgbClr val="1F1F1F"/>
                </a:solidFill>
                <a:latin typeface="Arial"/>
              </a:rPr>
              <a:t>•  railway domain creates a public URL</a:t>
            </a:r>
          </a:p>
        </p:txBody>
      </p:sp>
      <p:sp>
        <p:nvSpPr>
          <p:cNvPr id="12" name="low rule"/>
          <p:cNvSpPr/>
          <p:nvPr/>
        </p:nvSpPr>
        <p:spPr>
          <a:xfrm>
            <a:off x="731520" y="3456432"/>
            <a:ext cx="7955280" cy="5486"/>
          </a:xfrm>
          <a:prstGeom prst="rect">
            <a:avLst/>
          </a:prstGeom>
          <a:solidFill>
            <a:srgbClr val="C8C8C8"/>
          </a:solidFill>
          <a:ln>
            <a:noFill/>
          </a:ln>
        </p:spPr>
        <p:txBody>
          <a:bodyPr wrap="square" rtlCol="0" anchor="ctr">
            <a:normAutofit/>
          </a:bodyPr>
          <a:lstStyle/>
          <a:p>
            <a:pPr/>
            <a:endParaRPr/>
          </a:p>
        </p:txBody>
      </p:sp>
      <p:sp>
        <p:nvSpPr>
          <p:cNvPr id="13" name="commands"/>
          <p:cNvSpPr txBox="1"/>
          <p:nvPr/>
        </p:nvSpPr>
        <p:spPr>
          <a:xfrm>
            <a:off x="731520" y="3703320"/>
            <a:ext cx="7955280" cy="731520"/>
          </a:xfrm>
          <a:prstGeom prst="rect">
            <a:avLst/>
          </a:prstGeom>
          <a:noFill/>
          <a:ln>
            <a:noFill/>
          </a:ln>
        </p:spPr>
        <p:txBody>
          <a:bodyPr wrap="square" lIns="0" tIns="35000" rIns="0" bIns="35000" anchor="mid" rtlCol="0">
            <a:normAutofit fontScale="86000" lnSpcReduction="12000"/>
          </a:bodyPr>
          <a:lstStyle/>
          <a:p>
            <a:pPr algn="c"/>
            <a:r>
              <a:rPr sz="1120" b="0">
                <a:solidFill>
                  <a:srgbClr val="000000"/>
                </a:solidFill>
                <a:latin typeface="Arial"/>
              </a:rPr>
              <a:t>Minimum deployment commands: railway init  →  railway variable set GEMINI_API_KEY=...  →  railway up  →  railway domain</a:t>
            </a:r>
          </a:p>
        </p:txBody>
      </p:sp>
      <p:sp>
        <p:nvSpPr>
          <p:cNvPr id="14" name="tag"/>
          <p:cNvSpPr txBox="1"/>
          <p:nvPr/>
        </p:nvSpPr>
        <p:spPr>
          <a:xfrm>
            <a:off x="457200" y="4846320"/>
            <a:ext cx="8321040" cy="182880"/>
          </a:xfrm>
          <a:prstGeom prst="rect">
            <a:avLst/>
          </a:prstGeom>
          <a:noFill/>
          <a:ln>
            <a:noFill/>
          </a:ln>
        </p:spPr>
        <p:txBody>
          <a:bodyPr wrap="square" lIns="0" tIns="35000" rIns="0" bIns="35000" anchor="t" rtlCol="0">
            <a:normAutofit fontScale="86000" lnSpcReduction="12000"/>
          </a:bodyPr>
          <a:lstStyle/>
          <a:p>
            <a:pPr algn="l"/>
            <a:r>
              <a:rPr sz="1100" b="0">
                <a:solidFill>
                  <a:srgbClr val="000000"/>
                </a:solidFill>
                <a:latin typeface="Arial"/>
              </a:rPr>
              <a:t>Deployment is packaging the same app so other people can reach it through a URL</a:t>
            </a:r>
          </a:p>
        </p:txBody>
      </p:sp>
    </p:spTree>
  </p:cSld>
  <p:clrMapOvr>
    <a:masterClrMapping/>
  </p:clrMapOvr>
</p:sld>
</file>

<file path=ppt/theme/theme1.xml><?xml version="1.0" encoding="utf-8"?>
<ns0:theme xmlns:ns0="http://schemas.openxmlformats.org/drawingml/2006/main" xmlns:ns1="http://schemas.microsoft.com/office/thememl/2012/main" name="Office Theme">
  <ns0:themeElements>
    <ns0:clrScheme name="Office">
      <ns0:dk1>
        <ns0:sysClr val="windowText" lastClr="000000"/>
      </ns0:dk1>
      <ns0:lt1>
        <ns0:sysClr val="window" lastClr="FFFFFF"/>
      </ns0:lt1>
      <ns0:dk2>
        <ns0:srgbClr val="44546A"/>
      </ns0:dk2>
      <ns0:lt2>
        <ns0:srgbClr val="E7E6E6"/>
      </ns0:lt2>
      <ns0:accent1>
        <ns0:srgbClr val="4472C4"/>
      </ns0:accent1>
      <ns0:accent2>
        <ns0:srgbClr val="ED7D31"/>
      </ns0:accent2>
      <ns0:accent3>
        <ns0:srgbClr val="A5A5A5"/>
      </ns0:accent3>
      <ns0:accent4>
        <ns0:srgbClr val="FFC000"/>
      </ns0:accent4>
      <ns0:accent5>
        <ns0:srgbClr val="5B9BD5"/>
      </ns0:accent5>
      <ns0:accent6>
        <ns0:srgbClr val="70AD47"/>
      </ns0:accent6>
      <ns0:hlink>
        <ns0:srgbClr val="0563C1"/>
      </ns0:hlink>
      <ns0:folHlink>
        <ns0:srgbClr val="954F72"/>
      </ns0:folHlink>
    </ns0:clrScheme>
    <ns0:fontScheme name="Office">
      <ns0:majorFont>
        <ns0:latin typeface="Calibri Light" panose="020F0302020204030204"/>
        <ns0:ea typeface=""/>
        <ns0:cs typeface=""/>
        <ns0:font script="Jpan" typeface="游ゴシック Light"/>
        <ns0:font script="Hang" typeface="맑은 고딕"/>
        <ns0:font script="Hans" typeface="等线 Light"/>
        <ns0:font script="Hant" typeface="新細明體"/>
        <ns0:font script="Arab" typeface="Times New Roman"/>
        <ns0:font script="Hebr" typeface="Times New Roman"/>
        <ns0:font script="Thai" typeface="Angsana New"/>
        <ns0:font script="Ethi" typeface="Nyala"/>
        <ns0:font script="Beng" typeface="Vrinda"/>
        <ns0:font script="Gujr" typeface="Shruti"/>
        <ns0:font script="Khmr" typeface="MoolBoran"/>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Times New Roman"/>
        <ns0:font script="Uigh" typeface="Microsoft Uighur"/>
        <ns0:font script="Geor" typeface="Sylfaen"/>
        <ns0:font script="Armn" typeface="Arial"/>
        <ns0:font script="Bugi" typeface="Leelawadee UI"/>
        <ns0:font script="Bopo" typeface="Microsoft JhengHei"/>
        <ns0:font script="Java" typeface="Javanese Text"/>
        <ns0:font script="Lisu" typeface="Segoe UI"/>
        <ns0:font script="Mymr" typeface="Myanmar Text"/>
        <ns0:font script="Nkoo" typeface="Ebrima"/>
        <ns0:font script="Olck" typeface="Nirmala UI"/>
        <ns0:font script="Osma" typeface="Ebrima"/>
        <ns0:font script="Phag" typeface="Phagspa"/>
        <ns0:font script="Syrn" typeface="Estrangelo Edessa"/>
        <ns0:font script="Syrj" typeface="Estrangelo Edessa"/>
        <ns0:font script="Syre" typeface="Estrangelo Edessa"/>
        <ns0:font script="Sora" typeface="Nirmala UI"/>
        <ns0:font script="Tale" typeface="Microsoft Tai Le"/>
        <ns0:font script="Talu" typeface="Microsoft New Tai Lue"/>
        <ns0:font script="Tfng" typeface="Ebrima"/>
      </ns0:majorFont>
      <ns0:minorFont>
        <ns0:latin typeface="Calibri" panose="020F0502020204030204"/>
        <ns0:ea typeface=""/>
        <ns0:cs typeface=""/>
        <ns0:font script="Jpan" typeface="游ゴシック"/>
        <ns0:font script="Hang" typeface="맑은 고딕"/>
        <ns0:font script="Hans" typeface="等线"/>
        <ns0:font script="Hant" typeface="新細明體"/>
        <ns0:font script="Arab" typeface="Arial"/>
        <ns0:font script="Hebr" typeface="Arial"/>
        <ns0:font script="Thai" typeface="Cordia New"/>
        <ns0:font script="Ethi" typeface="Nyala"/>
        <ns0:font script="Beng" typeface="Vrinda"/>
        <ns0:font script="Gujr" typeface="Shruti"/>
        <ns0:font script="Khmr" typeface="DaunPenh"/>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Arial"/>
        <ns0:font script="Uigh" typeface="Microsoft Uighur"/>
        <ns0:font script="Geor" typeface="Sylfaen"/>
        <ns0:font script="Armn" typeface="Arial"/>
        <ns0:font script="Bugi" typeface="Leelawadee UI"/>
        <ns0:font script="Bopo" typeface="Microsoft JhengHei"/>
        <ns0:font script="Java" typeface="Javanese Text"/>
        <ns0:font script="Lisu" typeface="Segoe UI"/>
        <ns0:font script="Mymr" typeface="Myanmar Text"/>
        <ns0:font script="Nkoo" typeface="Ebrima"/>
        <ns0:font script="Olck" typeface="Nirmala UI"/>
        <ns0:font script="Osma" typeface="Ebrima"/>
        <ns0:font script="Phag" typeface="Phagspa"/>
        <ns0:font script="Syrn" typeface="Estrangelo Edessa"/>
        <ns0:font script="Syrj" typeface="Estrangelo Edessa"/>
        <ns0:font script="Syre" typeface="Estrangelo Edessa"/>
        <ns0:font script="Sora" typeface="Nirmala UI"/>
        <ns0:font script="Tale" typeface="Microsoft Tai Le"/>
        <ns0:font script="Talu" typeface="Microsoft New Tai Lue"/>
        <ns0:font script="Tfng" typeface="Ebrima"/>
      </ns0:minorFont>
    </ns0:fontScheme>
    <ns0:fmtScheme name="Office">
      <ns0:fillStyleLst>
        <ns0:solidFill>
          <ns0:schemeClr val="phClr"/>
        </ns0:solidFill>
        <ns0:gradFill rotWithShape="1">
          <ns0:gsLst>
            <ns0:gs pos="0">
              <ns0:schemeClr val="phClr">
                <ns0:lumMod val="110000"/>
                <ns0:satMod val="105000"/>
                <ns0:tint val="67000"/>
              </ns0:schemeClr>
            </ns0:gs>
            <ns0:gs pos="50000">
              <ns0:schemeClr val="phClr">
                <ns0:lumMod val="105000"/>
                <ns0:satMod val="103000"/>
                <ns0:tint val="73000"/>
              </ns0:schemeClr>
            </ns0:gs>
            <ns0:gs pos="100000">
              <ns0:schemeClr val="phClr">
                <ns0:lumMod val="105000"/>
                <ns0:satMod val="109000"/>
                <ns0:tint val="81000"/>
              </ns0:schemeClr>
            </ns0:gs>
          </ns0:gsLst>
          <ns0:lin ang="5400000" scaled="0"/>
        </ns0:gradFill>
        <ns0:gradFill rotWithShape="1">
          <ns0:gsLst>
            <ns0:gs pos="0">
              <ns0:schemeClr val="phClr">
                <ns0:satMod val="103000"/>
                <ns0:lumMod val="102000"/>
                <ns0:tint val="94000"/>
              </ns0:schemeClr>
            </ns0:gs>
            <ns0:gs pos="50000">
              <ns0:schemeClr val="phClr">
                <ns0:satMod val="110000"/>
                <ns0:lumMod val="100000"/>
                <ns0:shade val="100000"/>
              </ns0:schemeClr>
            </ns0:gs>
            <ns0:gs pos="100000">
              <ns0:schemeClr val="phClr">
                <ns0:lumMod val="99000"/>
                <ns0:satMod val="120000"/>
                <ns0:shade val="78000"/>
              </ns0:schemeClr>
            </ns0:gs>
          </ns0:gsLst>
          <ns0:lin ang="5400000" scaled="0"/>
        </ns0:gradFill>
      </ns0:fillStyleLst>
      <ns0:lnStyleLst>
        <ns0:ln w="6350" cap="flat" cmpd="sng" algn="ctr">
          <ns0:solidFill>
            <ns0:schemeClr val="phClr"/>
          </ns0:solidFill>
          <ns0:prstDash val="solid"/>
          <ns0:miter lim="800000"/>
        </ns0:ln>
        <ns0:ln w="12700" cap="flat" cmpd="sng" algn="ctr">
          <ns0:solidFill>
            <ns0:schemeClr val="phClr"/>
          </ns0:solidFill>
          <ns0:prstDash val="solid"/>
          <ns0:miter lim="800000"/>
        </ns0:ln>
        <ns0:ln w="19050" cap="flat" cmpd="sng" algn="ctr">
          <ns0:solidFill>
            <ns0:schemeClr val="phClr"/>
          </ns0:solidFill>
          <ns0:prstDash val="solid"/>
          <ns0:miter lim="800000"/>
        </ns0:ln>
      </ns0:lnStyleLst>
      <ns0:effectStyleLst>
        <ns0:effectStyle/>
        <ns0:effectStyle/>
        <ns0:effectStyle/>
      </ns0:effectStyleLst>
      <ns0:bgFillStyleLst>
        <ns0:solidFill>
          <ns0:schemeClr val="phClr"/>
        </ns0:solidFill>
        <ns0:solidFill>
          <ns0:schemeClr val="phClr">
            <ns0:tint val="95000"/>
            <ns0:satMod val="170000"/>
          </ns0:schemeClr>
        </ns0:solidFill>
        <ns0:gradFill rotWithShape="1">
          <ns0:gsLst>
            <ns0:gs pos="0">
              <ns0:schemeClr val="phClr">
                <ns0:tint val="93000"/>
                <ns0:satMod val="150000"/>
                <ns0:shade val="98000"/>
                <ns0:lumMod val="102000"/>
              </ns0:schemeClr>
            </ns0:gs>
            <ns0:gs pos="50000">
              <ns0:schemeClr val="phClr">
                <ns0:tint val="98000"/>
                <ns0:satMod val="130000"/>
                <ns0:shade val="90000"/>
                <ns0:lumMod val="103000"/>
              </ns0:schemeClr>
            </ns0:gs>
            <ns0:gs pos="100000">
              <ns0:schemeClr val="phClr">
                <ns0:shade val="63000"/>
                <ns0:satMod val="120000"/>
              </ns0:schemeClr>
            </ns0:gs>
          </ns0:gsLst>
          <ns0:lin ang="5400000" scaled="0"/>
        </ns0:gradFill>
      </ns0:bgFillStyleLst>
    </ns0:fmtScheme>
  </ns0:themeElements>
  <ns0:objectDefaults/>
  <ns0:extraClrSchemeLst/>
  <ns0:extLst>
    <ns0:ext uri="{05A4C25C-085E-4340-85A3-A5531E510DB2}">
      <ns1:themeFamily name="Office Theme" id="{62F939B6-93AF-4DB8-9C6B-D6C7DFDC589F}" vid="{4A3C46E8-61CC-4603-A589-7422A47A8E4A}"/>
    </ns0:ext>
  </ns0:extLst>
</ns0:theme>
</file>

<file path=ppt/theme/theme2.xml><?xml version="1.0" encoding="utf-8"?>
<ns0:theme xmlns:ns0="http://schemas.openxmlformats.org/drawingml/2006/main" xmlns:ns1="http://schemas.microsoft.com/office/thememl/2012/main" name="Office Theme">
  <ns0:themeElements>
    <ns0:clrScheme name="Office">
      <ns0:dk1>
        <ns0:sysClr val="windowText" lastClr="000000"/>
      </ns0:dk1>
      <ns0:lt1>
        <ns0:sysClr val="window" lastClr="FFFFFF"/>
      </ns0:lt1>
      <ns0:dk2>
        <ns0:srgbClr val="0E2841"/>
      </ns0:dk2>
      <ns0:lt2>
        <ns0:srgbClr val="E8E8E8"/>
      </ns0:lt2>
      <ns0:accent1>
        <ns0:srgbClr val="156082"/>
      </ns0:accent1>
      <ns0:accent2>
        <ns0:srgbClr val="E97132"/>
      </ns0:accent2>
      <ns0:accent3>
        <ns0:srgbClr val="196B24"/>
      </ns0:accent3>
      <ns0:accent4>
        <ns0:srgbClr val="0F9ED5"/>
      </ns0:accent4>
      <ns0:accent5>
        <ns0:srgbClr val="A02B93"/>
      </ns0:accent5>
      <ns0:accent6>
        <ns0:srgbClr val="4EA72E"/>
      </ns0:accent6>
      <ns0:hlink>
        <ns0:srgbClr val="467886"/>
      </ns0:hlink>
      <ns0:folHlink>
        <ns0:srgbClr val="96607D"/>
      </ns0:folHlink>
    </ns0:clrScheme>
    <ns0:fontScheme name="Office">
      <ns0:majorFont>
        <ns0:latin typeface="Aptos Display" panose="02110004020202020204"/>
        <ns0:ea typeface=""/>
        <ns0:cs typeface=""/>
        <ns0:font script="Jpan" typeface="游ゴシック Light"/>
        <ns0:font script="Hang" typeface="맑은 고딕"/>
        <ns0:font script="Hans" typeface="等线 Light"/>
        <ns0:font script="Hant" typeface="新細明體"/>
        <ns0:font script="Arab" typeface="Times New Roman"/>
        <ns0:font script="Hebr" typeface="Times New Roman"/>
        <ns0:font script="Thai" typeface="Angsana New"/>
        <ns0:font script="Ethi" typeface="Nyala"/>
        <ns0:font script="Beng" typeface="Vrinda"/>
        <ns0:font script="Gujr" typeface="Shruti"/>
        <ns0:font script="Khmr" typeface="MoolBoran"/>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Times New Roman"/>
        <ns0:font script="Uigh" typeface="Microsoft Uighur"/>
        <ns0:font script="Geor" typeface="Sylfaen"/>
        <ns0:font script="Armn" typeface="Arial"/>
        <ns0:font script="Bugi" typeface="Leelawadee UI"/>
        <ns0:font script="Bopo" typeface="Microsoft JhengHei"/>
        <ns0:font script="Java" typeface="Javanese Text"/>
        <ns0:font script="Lisu" typeface="Segoe UI"/>
        <ns0:font script="Mymr" typeface="Myanmar Text"/>
        <ns0:font script="Nkoo" typeface="Ebrima"/>
        <ns0:font script="Olck" typeface="Nirmala UI"/>
        <ns0:font script="Osma" typeface="Ebrima"/>
        <ns0:font script="Phag" typeface="Phagspa"/>
        <ns0:font script="Syrn" typeface="Estrangelo Edessa"/>
        <ns0:font script="Syrj" typeface="Estrangelo Edessa"/>
        <ns0:font script="Syre" typeface="Estrangelo Edessa"/>
        <ns0:font script="Sora" typeface="Nirmala UI"/>
        <ns0:font script="Tale" typeface="Microsoft Tai Le"/>
        <ns0:font script="Talu" typeface="Microsoft New Tai Lue"/>
        <ns0:font script="Tfng" typeface="Ebrima"/>
      </ns0:majorFont>
      <ns0:minorFont>
        <ns0:latin typeface="Aptos" panose="02110004020202020204"/>
        <ns0:ea typeface=""/>
        <ns0:cs typeface=""/>
        <ns0:font script="Jpan" typeface="游ゴシック"/>
        <ns0:font script="Hang" typeface="맑은 고딕"/>
        <ns0:font script="Hans" typeface="等线"/>
        <ns0:font script="Hant" typeface="新細明體"/>
        <ns0:font script="Arab" typeface="Arial"/>
        <ns0:font script="Hebr" typeface="Arial"/>
        <ns0:font script="Thai" typeface="Cordia New"/>
        <ns0:font script="Ethi" typeface="Nyala"/>
        <ns0:font script="Beng" typeface="Vrinda"/>
        <ns0:font script="Gujr" typeface="Shruti"/>
        <ns0:font script="Khmr" typeface="DaunPenh"/>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Arial"/>
        <ns0:font script="Uigh" typeface="Microsoft Uighur"/>
        <ns0:font script="Geor" typeface="Sylfaen"/>
        <ns0:font script="Armn" typeface="Arial"/>
        <ns0:font script="Bugi" typeface="Leelawadee UI"/>
        <ns0:font script="Bopo" typeface="Microsoft JhengHei"/>
        <ns0:font script="Java" typeface="Javanese Text"/>
        <ns0:font script="Lisu" typeface="Segoe UI"/>
        <ns0:font script="Mymr" typeface="Myanmar Text"/>
        <ns0:font script="Nkoo" typeface="Ebrima"/>
        <ns0:font script="Olck" typeface="Nirmala UI"/>
        <ns0:font script="Osma" typeface="Ebrima"/>
        <ns0:font script="Phag" typeface="Phagspa"/>
        <ns0:font script="Syrn" typeface="Estrangelo Edessa"/>
        <ns0:font script="Syrj" typeface="Estrangelo Edessa"/>
        <ns0:font script="Syre" typeface="Estrangelo Edessa"/>
        <ns0:font script="Sora" typeface="Nirmala UI"/>
        <ns0:font script="Tale" typeface="Microsoft Tai Le"/>
        <ns0:font script="Talu" typeface="Microsoft New Tai Lue"/>
        <ns0:font script="Tfng" typeface="Ebrima"/>
      </ns0:minorFont>
    </ns0:fontScheme>
    <ns0:fmtScheme name="Office">
      <ns0:fillStyleLst>
        <ns0:solidFill>
          <ns0:schemeClr val="phClr"/>
        </ns0:solidFill>
        <ns0:gradFill rotWithShape="1">
          <ns0:gsLst>
            <ns0:gs pos="0">
              <ns0:schemeClr val="phClr">
                <ns0:lumMod val="110000"/>
                <ns0:satMod val="105000"/>
                <ns0:tint val="67000"/>
              </ns0:schemeClr>
            </ns0:gs>
            <ns0:gs pos="50000">
              <ns0:schemeClr val="phClr">
                <ns0:lumMod val="105000"/>
                <ns0:satMod val="103000"/>
                <ns0:tint val="73000"/>
              </ns0:schemeClr>
            </ns0:gs>
            <ns0:gs pos="100000">
              <ns0:schemeClr val="phClr">
                <ns0:lumMod val="105000"/>
                <ns0:satMod val="109000"/>
                <ns0:tint val="81000"/>
              </ns0:schemeClr>
            </ns0:gs>
          </ns0:gsLst>
          <ns0:lin ang="5400000" scaled="0"/>
        </ns0:gradFill>
        <ns0:gradFill rotWithShape="1">
          <ns0:gsLst>
            <ns0:gs pos="0">
              <ns0:schemeClr val="phClr">
                <ns0:satMod val="103000"/>
                <ns0:lumMod val="102000"/>
                <ns0:tint val="94000"/>
              </ns0:schemeClr>
            </ns0:gs>
            <ns0:gs pos="50000">
              <ns0:schemeClr val="phClr">
                <ns0:satMod val="110000"/>
                <ns0:lumMod val="100000"/>
                <ns0:shade val="100000"/>
              </ns0:schemeClr>
            </ns0:gs>
            <ns0:gs pos="100000">
              <ns0:schemeClr val="phClr">
                <ns0:lumMod val="99000"/>
                <ns0:satMod val="120000"/>
                <ns0:shade val="78000"/>
              </ns0:schemeClr>
            </ns0:gs>
          </ns0:gsLst>
          <ns0:lin ang="5400000" scaled="0"/>
        </ns0:gradFill>
      </ns0:fillStyleLst>
      <ns0:lnStyleLst>
        <ns0:ln w="12700" cap="flat" cmpd="sng" algn="ctr">
          <ns0:solidFill>
            <ns0:schemeClr val="phClr"/>
          </ns0:solidFill>
          <ns0:prstDash val="solid"/>
          <ns0:miter lim="800000"/>
        </ns0:ln>
        <ns0:ln w="19050" cap="flat" cmpd="sng" algn="ctr">
          <ns0:solidFill>
            <ns0:schemeClr val="phClr"/>
          </ns0:solidFill>
          <ns0:prstDash val="solid"/>
          <ns0:miter lim="800000"/>
        </ns0:ln>
        <ns0:ln w="25400" cap="flat" cmpd="sng" algn="ctr">
          <ns0:solidFill>
            <ns0:schemeClr val="phClr"/>
          </ns0:solidFill>
          <ns0:prstDash val="solid"/>
          <ns0:miter lim="800000"/>
        </ns0:ln>
      </ns0:lnStyleLst>
      <ns0:effectStyleLst>
        <ns0:effectStyle/>
        <ns0:effectStyle/>
        <ns0:effectStyle/>
      </ns0:effectStyleLst>
      <ns0:bgFillStyleLst>
        <ns0:solidFill>
          <ns0:schemeClr val="phClr"/>
        </ns0:solidFill>
        <ns0:solidFill>
          <ns0:schemeClr val="phClr">
            <ns0:tint val="95000"/>
            <ns0:satMod val="170000"/>
          </ns0:schemeClr>
        </ns0:solidFill>
        <ns0:gradFill rotWithShape="1">
          <ns0:gsLst>
            <ns0:gs pos="0">
              <ns0:schemeClr val="phClr">
                <ns0:tint val="93000"/>
                <ns0:satMod val="150000"/>
                <ns0:shade val="98000"/>
                <ns0:lumMod val="102000"/>
              </ns0:schemeClr>
            </ns0:gs>
            <ns0:gs pos="50000">
              <ns0:schemeClr val="phClr">
                <ns0:tint val="98000"/>
                <ns0:satMod val="130000"/>
                <ns0:shade val="90000"/>
                <ns0:lumMod val="103000"/>
              </ns0:schemeClr>
            </ns0:gs>
            <ns0:gs pos="100000">
              <ns0:schemeClr val="phClr">
                <ns0:shade val="63000"/>
                <ns0:satMod val="120000"/>
              </ns0:schemeClr>
            </ns0:gs>
          </ns0:gsLst>
          <ns0:lin ang="5400000" scaled="0"/>
        </ns0:gradFill>
      </ns0:bgFillStyleLst>
    </ns0:fmtScheme>
  </ns0:themeElements>
  <ns0:objectDefaults>
    <ns0:lnDef>
      <ns0:spPr/>
      <ns0:bodyPr/>
      <ns0:lstStyle/>
      <ns0:style>
        <ns0:lnRef idx="2">
          <ns0:schemeClr val="accent1"/>
        </ns0:lnRef>
        <ns0:fillRef idx="0">
          <ns0:schemeClr val="accent1"/>
        </ns0:fillRef>
        <ns0:effectRef idx="1">
          <ns0:schemeClr val="accent1"/>
        </ns0:effectRef>
        <ns0:fontRef idx="minor">
          <ns0:schemeClr val="tx1"/>
        </ns0:fontRef>
      </ns0:style>
    </ns0:lnDef>
  </ns0:objectDefaults>
  <ns0:extraClrSchemeLst/>
  <ns0:extLst>
    <ns0:ext uri="{05A4C25C-085E-4340-85A3-A5531E510DB2}">
      <ns1:themeFamily name="Office Theme" id="{2E142A2C-CD16-42D6-873A-C26D2A0506FA}" vid="{1BDDFF52-6CD6-40A5-AB3C-68EB2F1E4D0A}"/>
    </ns0:ext>
  </ns0:extLst>
</ns0:theme>
</file>

<file path=docProps/app.xml><?xml version="1.0" encoding="utf-8"?>
<ns0:Properties xmlns:ns0="http://schemas.openxmlformats.org/officeDocument/2006/extended-properties" xmlns:ns1="http://schemas.openxmlformats.org/officeDocument/2006/docPropsVTypes">
  <ns0:TotalTime>0</ns0:TotalTime>
  <ns0:Words>3193</ns0:Words>
  <ns0:Application>Microsoft Macintosh PowerPoint</ns0:Application>
  <ns0:PresentationFormat>On-screen Show (16:9)</ns0:PresentationFormat>
  <ns0:Paragraphs>419</ns0:Paragraphs>
  <ns0:Slides>34</ns0:Slides>
  <ns0:Notes>14</ns0:Notes>
  <ns0:HiddenSlides>0</ns0:HiddenSlides>
  <ns0:MMClips>0</ns0:MMClips>
  <ns0:ScaleCrop>false</ns0:ScaleCrop>
  <ns0:HeadingPairs>
    <ns1:vector size="6" baseType="variant">
      <ns1:variant>
        <ns1:lpstr>Fonts Used</ns1:lpstr>
      </ns1:variant>
      <ns1:variant>
        <ns1:i4>3</ns1:i4>
      </ns1:variant>
      <ns1:variant>
        <ns1:lpstr>Theme</ns1:lpstr>
      </ns1:variant>
      <ns1:variant>
        <ns1:i4>1</ns1:i4>
      </ns1:variant>
      <ns1:variant>
        <ns1:lpstr>Slide Titles</ns1:lpstr>
      </ns1:variant>
      <ns1:variant>
        <ns1:i4>30</ns1:i4>
      </ns1:variant>
    </ns1:vector>
  </ns0:HeadingPairs>
  <ns0:TitlesOfParts>
    <ns1:vector size="34" baseType="lpstr">
      <ns1:lpstr>Arial</ns1:lpstr>
      <ns1:lpstr>Consolas</ns1:lpstr>
      <ns1:lpstr>Whitney Bold</ns1:lpstr>
      <ns1:lpstr>Office Theme</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lpstr>PowerPoint Presentation</ns1:lpstr>
    </ns1:vector>
  </ns0:TitlesOfParts>
  <ns0:Company>PptxGenJS</ns0:Company>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MGMT298D Week 8 – AI Agents &amp; App Toolkit</dc:title>
  <dc:subject>PptxGenJS Presentation</dc:subject>
  <dc:creator>Auyon Siddiq</dc:creator>
  <cp:lastModifiedBy>Siddiq, Auyon</cp:lastModifiedBy>
  <cp:revision>2</cp:revision>
  <dcterms:created xsi:type="dcterms:W3CDTF">2026-02-25T19:03:22Z</dcterms:created>
  <dcterms:modified xsi:type="dcterms:W3CDTF">2026-05-10T20:25:06Z</dcterms:modified>
</cp:coreProperties>
</file>