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90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AI Agents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App Project Toolkit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Today's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AI Agents &amp; Agentic Patterns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an agent? Autonomy, tool use, and the design patterns behind modern AI agents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App Project &amp; Toolkit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objectives, your coding stack, and how to deploy a web app on Railway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Work Session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teams, brainstorm use cases, and start building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AI Agents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Agentic Patterns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From LLMs to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LLM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→ Response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609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turn. No memory. No tools. The model generates one response and stops.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8404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54864" cy="1645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1091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→ Plan → Act → Observe → Repeat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16093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Multi-step. Uses tools. Maintains state. Decides when it's done.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transformer level, an agent is still just tokens in, tokens out — but the orchestration layer wraps the model in a loop, injecting tool results, memory, and observations back into the context window on each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What Makes an AI Agent?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70632" y="105156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with minimal human intervention — decides what to do next on its 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70632" y="164592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outputs a function call (tool name + JSON args); the orchestration layer executes it and injects the result back as new tokens in the context window.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240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0632" y="224028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tool outputs and observations are appended to the context window — the agent “remembers” by re-reading its own token history each step.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8346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70632" y="283464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complex goals into sub-tasks and sequences them toward a solution.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429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70632" y="342900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tool result or environment observation is appended as new tokens; the next forward pass through the transformer incorporates this context to decide the next action.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Autonomy Spectrum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system needs full autonomy. Most production systems sit somewhere in the middle.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508760"/>
            <a:ext cx="1645920" cy="320040"/>
          </a:xfrm>
          <a:prstGeom prst="rect">
            <a:avLst/>
          </a:prstGeom>
          <a:solidFill>
            <a:srgbClr val="7AB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94960" y="1508760"/>
            <a:ext cx="1645920" cy="32004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40880" y="1508760"/>
            <a:ext cx="1645920" cy="32004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prompt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LLM call.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 or loops.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sequence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04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/ workflow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classifies input,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routes to a path.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949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Tool-using agent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decides which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to call in a loop.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autonomous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executes, and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self-corrects over hours.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Less autonomy                                                                                    More autonomy →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Ng's Four Agentic Design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Body"/>
          <p:cNvSpPr/>
          <p:nvPr/>
        </p:nvSpPr>
        <p:spPr>
          <a:xfrm>
            <a:off x="457200" y="1450000"/>
            <a:ext cx="8321040" cy="35000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Reflection</a:t>
            </a:r>
            <a:endParaRPr lang="en-US" sz="16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critiques its own output and iterates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"critic" agent can provide feedback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Tool Use</a:t>
            </a:r>
            <a:endParaRPr lang="en-US" sz="16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 external tools — web search, code execution, APIs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the model gather real information instead of guessing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Planning</a:t>
            </a:r>
            <a:endParaRPr lang="en-US" sz="16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breaks a complex task into sub-tasks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Sequences them for execution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Multi-Agent</a:t>
            </a:r>
            <a:endParaRPr lang="en-US" sz="16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 collaborate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team where each member has a role</a:t>
            </a:r>
            <a:endParaRPr lang="en-US" sz="1400" dirty="0"/>
          </a:p>
        </p:txBody>
      </p:sp>
      <p:sp>
        <p:nvSpPr>
          <p:cNvPr id="200" name="Intro"/>
          <p:cNvSpPr/>
          <p:nvPr/>
        </p:nvSpPr>
        <p:spPr>
          <a:xfrm>
            <a:off x="457200" y="1000000"/>
            <a:ext cx="832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(2024): even weaker models (GPT-3.5) can outperform stronger ones (GPT-4) used zero-shot when these patterns are applied.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Pattern 1: Reflection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reviews and improves its own output through self-critique.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828800" cy="594360"/>
          </a:xfrm>
          <a:prstGeom prst="rect">
            <a:avLst/>
          </a:prstGeom>
          <a:solidFill>
            <a:srgbClr val="EDF2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produces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output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1508760"/>
            <a:ext cx="1828800" cy="594360"/>
          </a:xfrm>
          <a:prstGeom prst="rect">
            <a:avLst/>
          </a:prstGeom>
          <a:solidFill>
            <a:srgbClr val="EDF2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764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 second 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the output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1508760"/>
            <a:ext cx="1828800" cy="594360"/>
          </a:xfrm>
          <a:prstGeom prst="rect">
            <a:avLst/>
          </a:prstGeom>
          <a:solidFill>
            <a:srgbClr val="EDF2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764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improves based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feedback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1508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5087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06640" y="1508760"/>
            <a:ext cx="1188720" cy="59436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1508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Repeat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 xml:space="preserve">Example: </a:t>
            </a:r>
            <a:r>
              <a:rPr lang="en-US" sz="1200" dirty="0">
                <a:solidFill>
                  <a:srgbClr val="000000"/>
                </a:solidFill>
              </a:rPr>
              <a:t>Ask an LLM to write code → a second LLM reviews it for bugs and suggests fixes → the first LLM revises. Two self-critique iterations often catch 30–50% more errors than a single pass.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 xml:space="preserve">Multi-agent variant: </a:t>
            </a:r>
            <a:r>
              <a:rPr lang="en-US" sz="1200" dirty="0">
                <a:solidFill>
                  <a:srgbClr val="000000"/>
                </a:solidFill>
              </a:rPr>
              <a:t>Create a "generator" agent and a "critic" agent with different system prompts. The back-and-forth discussion leads to higher-quality outputs.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Pattern 2: Tool 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can call external tools — search engines, APIs, code interpreters — instead of relying solely on its training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" cy="475488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463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70632" y="14630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real-time information beyond the training cutoff.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02536"/>
            <a:ext cx="54864" cy="475488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0025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execution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70632" y="20025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Python, SQL, or other code to compute answers precisely.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54864" cy="475488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542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70632" y="254203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flight, send an email, query a database — take real actions.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54864" cy="475488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081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I/O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70632" y="308152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documents, write reports, process spreadsheets.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 xml:space="preserve">How it works: </a:t>
            </a:r>
            <a:r>
              <a:rPr lang="en-US" sz="1200" dirty="0">
                <a:solidFill>
                  <a:srgbClr val="000000"/>
                </a:solidFill>
              </a:rPr>
              <a:t>The model emits a special token sequence signaling a function call (tool name + JSON args). The orchestration layer intercepts this, executes the call, and appends the result as a new “tool” role message in the context window. The model then continues generation from that updated context.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Pattern 3: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decomposes a complex goal into a sequence of sub-tasks, then executes them step by step.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321040" cy="45720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</a:rPr>
              <a:t xml:space="preserve">User goal: </a:t>
            </a:r>
            <a:r>
              <a:rPr lang="en-US" sz="1300" i="1" dirty="0">
                <a:solidFill>
                  <a:srgbClr val="000000"/>
                </a:solidFill>
              </a:rPr>
              <a:t>"Research the top 3 competitors in our market and create a comparison slide deck."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5276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5276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web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players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75688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83764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83764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pricing,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features, reviews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94176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02252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02252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9896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39896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on key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12664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20740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2074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58384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58384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deck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findings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31152" y="2103120"/>
            <a:ext cx="1508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39228" y="2194560"/>
            <a:ext cx="292608" cy="292608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3922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76872" y="2542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76872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polish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75104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93592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12080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30568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" y="3520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</a:rPr>
              <a:t xml:space="preserve">ReAct (Reason + Act, Yao et al. 2023): </a:t>
            </a:r>
            <a:r>
              <a:rPr lang="en-US" sz="1100" dirty="0">
                <a:solidFill>
                  <a:srgbClr val="000000"/>
                </a:solidFill>
              </a:rPr>
              <a:t xml:space="preserve">Each loop iteration has three token phases — (1) </a:t>
            </a:r>
            <a:r>
              <a:rPr lang="en-US" sz="1100" b="1" dirty="0">
                <a:solidFill>
                  <a:srgbClr val="005587"/>
                </a:solidFill>
              </a:rPr>
              <a:t>Thought</a:t>
            </a:r>
            <a:r>
              <a:rPr lang="en-US" sz="1100" dirty="0">
                <a:solidFill>
                  <a:srgbClr val="000000"/>
                </a:solidFill>
              </a:rPr>
              <a:t xml:space="preserve">: the model reasons in natural language; (2) </a:t>
            </a:r>
            <a:r>
              <a:rPr lang="en-US" sz="1100" b="1" dirty="0">
                <a:solidFill>
                  <a:srgbClr val="005587"/>
                </a:solidFill>
              </a:rPr>
              <a:t>Action</a:t>
            </a:r>
            <a:r>
              <a:rPr lang="en-US" sz="1100" dirty="0">
                <a:solidFill>
                  <a:srgbClr val="000000"/>
                </a:solidFill>
              </a:rPr>
              <a:t xml:space="preserve">: it emits a structured function call the orchestrator executes; (3) </a:t>
            </a:r>
            <a:r>
              <a:rPr lang="en-US" sz="1100" b="1" dirty="0">
                <a:solidFill>
                  <a:srgbClr val="005587"/>
                </a:solidFill>
              </a:rPr>
              <a:t>Observation</a:t>
            </a:r>
            <a:r>
              <a:rPr lang="en-US" sz="1100" dirty="0">
                <a:solidFill>
                  <a:srgbClr val="000000"/>
                </a:solidFill>
              </a:rPr>
              <a:t>: the tool result is injected as new tokens before the next forward pass.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Pattern 4: Multi-Agent Collaboration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Body"/>
          <p:cNvSpPr/>
          <p:nvPr/>
        </p:nvSpPr>
        <p:spPr>
          <a:xfrm>
            <a:off x="457200" y="1450000"/>
            <a:ext cx="8321040" cy="35000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Agent</a:t>
            </a:r>
            <a:endParaRPr lang="en-US" sz="16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the web, reads documents, gathers facts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search and retrieval tools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Agent</a:t>
            </a:r>
            <a:endParaRPr lang="en-US" sz="16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data, runs calculations, compares options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code execution tools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 Agent</a:t>
            </a:r>
            <a:endParaRPr lang="en-US" sz="16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reports, formats output, polishes language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file creation tools</a:t>
            </a:r>
            <a:endParaRPr lang="en-US" sz="1400" dirty="0"/>
          </a:p>
        </p:txBody>
      </p:sp>
      <p:sp>
        <p:nvSpPr>
          <p:cNvPr id="200" name="Intro"/>
          <p:cNvSpPr/>
          <p:nvPr/>
        </p:nvSpPr>
        <p:spPr>
          <a:xfrm>
            <a:off x="457200" y="1000000"/>
            <a:ext cx="832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 work together, each with a focused role — like a team of employees.</a:t>
            </a:r>
            <a:endParaRPr lang="en-US" sz="1400" dirty="0"/>
          </a:p>
        </p:txBody>
      </p:sp>
      <p:sp>
        <p:nvSpPr>
          <p:cNvPr id="300" name="Tail"/>
          <p:cNvSpPr/>
          <p:nvPr/>
        </p:nvSpPr>
        <p:spPr>
          <a:xfrm>
            <a:off x="457200" y="4700000"/>
            <a:ext cx="832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focused tasks beat one agent loaded with 50 tools. Examples: ChatGPT Deep Research, Devin, AutoGPT.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Anthropic's Framework: Workflows vs.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(Dec 2024) draws an architectural distinction based on where the orchestration layer’s control logic lives — in developer-written code vs. inside the model’s own outputs: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856232"/>
            <a:ext cx="371246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Predefined code paths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42316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58775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Developer-designed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92608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Predictability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309067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291840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steps are known in advance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39319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3931920" cy="7315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1527048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64608" y="1856232"/>
            <a:ext cx="371246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64608" y="192024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608" y="208483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LLM-directed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7760" y="237744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242316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64608" y="258775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decides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37760" y="288036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292608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309067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37760" y="3383280"/>
            <a:ext cx="356616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64608" y="3291840"/>
            <a:ext cx="3712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steps can't be hardcoded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Five Workflow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02152" y="105156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LLM call processes the output of the previous one. Simplest pattern.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02152" y="164592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classifies the input and directs it to a specialized follow-up task.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2402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2152" y="224028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LLM calls run simultaneously, then results are aggregated.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8346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Orchestrator-workers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02152" y="283464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 orchestrator LLM generates sub-task instructions; each worker LLM receives its own context window with those instructions plus tools scoped to its role.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54864" cy="53035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4290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Evaluator-optimizer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02152" y="342900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LLM generates a response; another evaluates it in a loop until quality is sufficient.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When to Use Workflows vs.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Workflows When…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are known in advance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700000"/>
            <a:ext cx="356616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 routing (classify → route → respond)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pipelines (draft → edit → format)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(extract → transform → load)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fast, easy to debug.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 per run.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54864" cy="2560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152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Agents When…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1091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depend on the task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1700000"/>
            <a:ext cx="356616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research (find → analyze → synthesize)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tasks (the set of files to edit varies)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troubleshooting (diagnose → test → fix)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but harder to control.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cost, higher latency.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Agents in Practice: Case Studies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4952" y="10515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Cursor, Claude Code, GitHub Copilot — plan edits across files, run tests, self-correct. Handle multi-step coding tasks autonomously.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54864" cy="64008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4952" y="175564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Klarna's AI agent handled 2/3 of support chats in its first month, equivalent to ~700 human agents. Uses routing + tool calls.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54864" cy="64008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4597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use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4952" y="24597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computer use agent navigates desktop applications — clicks, types, reads screens. Useful for automating legacy workflows.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54864" cy="64008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1638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44952" y="316382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Deep Research and Gemini Deep Research use multi-step web search + synthesis to produce long-form reports.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Key Takeaways: Agentic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32004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= LLM + tools + a loop. The loop turns a model from a responder into a problem-solver.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Ng's four patterns — reflection, tool use, planning, multi-agent — can be mixed and matched.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key insight: start with the simplest solution (often a workflow), add autonomy only when needed.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production systems today use structured workflows, not fully autonomous agents.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level of autonomy depends on your use case — more autonomy means more power but also more unpredictability and cost.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15-min Break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App Project &amp;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Toolkit Setup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App Project: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4952" y="10515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3 students. Form your team today.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6184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4952" y="16184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web app that incorporates an LLM to solve a specific use case.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1854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4952" y="21854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AI makes this app meaningfully better than the non-AI alternative.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7523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44952" y="275234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deployed web app + a short presentation explaining the use case and value add.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19272"/>
            <a:ext cx="54864" cy="5029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3192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44952" y="331927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Railway so anyone can access it via a URL.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Picking a Use Case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Body"/>
          <p:cNvSpPr/>
          <p:nvPr/>
        </p:nvSpPr>
        <p:spPr>
          <a:xfrm>
            <a:off x="457200" y="1500000"/>
            <a:ext cx="8321040" cy="36000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</a:t>
            </a:r>
            <a:endParaRPr lang="en-US" sz="15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for a subject</a:t>
            </a:r>
            <a:endParaRPr lang="en-US" sz="13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itinerary builder</a:t>
            </a:r>
            <a:endParaRPr lang="en-US" sz="13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recommendation</a:t>
            </a:r>
            <a:endParaRPr lang="en-US" sz="13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FAQ assistant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business</a:t>
            </a:r>
            <a:endParaRPr lang="en-US" sz="15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 summarizer</a:t>
            </a:r>
            <a:endParaRPr lang="en-US" sz="13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clause reviewer</a:t>
            </a:r>
            <a:endParaRPr lang="en-US" sz="13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posting generator</a:t>
            </a:r>
            <a:endParaRPr lang="en-US" sz="13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categorizer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/ other</a:t>
            </a:r>
            <a:endParaRPr lang="en-US" sz="15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generator from your pantry</a:t>
            </a:r>
            <a:endParaRPr lang="en-US" sz="13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plan builder</a:t>
            </a:r>
            <a:endParaRPr lang="en-US" sz="13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 assistant</a:t>
            </a:r>
            <a:endParaRPr lang="en-US" sz="1300" dirty="0"/>
          </a:p>
          <a:p>
            <a:pPr marL="22860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prep coach</a:t>
            </a:r>
            <a:endParaRPr lang="en-US" sz="1300" dirty="0"/>
          </a:p>
        </p:txBody>
      </p:sp>
      <p:sp>
        <p:nvSpPr>
          <p:cNvPr id="200" name="Intro"/>
          <p:cNvSpPr/>
          <p:nvPr/>
        </p:nvSpPr>
        <p:spPr>
          <a:xfrm>
            <a:off x="457200" y="1000000"/>
            <a:ext cx="832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problem, not from the technology. Ask: what task is painful, repetitive, or needs judgment that an LLM can help with?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Your Toolkit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vibe-code your app using AI coding assistants. Here's what you need: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321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HTML/React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18836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backend (Flask/FastAPI), React or plain HTML frontend.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8321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121408"/>
            <a:ext cx="54864" cy="6858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1762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2395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" y="26334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available. Get an API key from aistudio.google.com.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8321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871216"/>
            <a:ext cx="54864" cy="6858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9260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assistant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3145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Claude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Gemini or Claude to help write your code ("vibe coding").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21024"/>
            <a:ext cx="83210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621024"/>
            <a:ext cx="54864" cy="6858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3675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8953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792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Hobby tier ($5/mo). Deploy via CLI with one command.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LLMs for Coding ("Vibe Coding")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Body"/>
          <p:cNvSpPr/>
          <p:nvPr/>
        </p:nvSpPr>
        <p:spPr>
          <a:xfrm>
            <a:off x="457200" y="1450000"/>
            <a:ext cx="8321040" cy="35000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6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rapid prototyping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free via AI Studio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context window, good at full-file generation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</a:t>
            </a:r>
            <a:endParaRPr lang="en-US" sz="16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complex debugging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claude.ai (free tier)</a:t>
            </a:r>
            <a:endParaRPr lang="en-US" sz="1400" dirty="0"/>
          </a:p>
          <a:p>
            <a:pPr marL="22860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at understanding codebases and reasoning</a:t>
            </a:r>
            <a:endParaRPr lang="en-US" sz="1400" dirty="0"/>
          </a:p>
        </p:txBody>
      </p:sp>
      <p:sp>
        <p:nvSpPr>
          <p:cNvPr id="200" name="Intro"/>
          <p:cNvSpPr/>
          <p:nvPr/>
        </p:nvSpPr>
        <p:spPr>
          <a:xfrm>
            <a:off x="457200" y="1000000"/>
            <a:ext cx="832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be a programmer. Use AI to generate, debug, and iterate on your code.</a:t>
            </a:r>
            <a:endParaRPr lang="en-US" sz="1400" dirty="0"/>
          </a:p>
        </p:txBody>
      </p:sp>
      <p:sp>
        <p:nvSpPr>
          <p:cNvPr id="300" name="Tail"/>
          <p:cNvSpPr/>
          <p:nvPr/>
        </p:nvSpPr>
        <p:spPr>
          <a:xfrm>
            <a:off x="457200" y="4700000"/>
            <a:ext cx="83210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paste your entire file plus the error message. Be specific. Iterate — don't expect perfection on the first try.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Getting Your Gemini API Key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aistudio.google.com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5506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600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your Google account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5798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"Get API Key" in the left sidebar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API key (select "Create API key in new project")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08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key and store it safely — don't commit it to GitHub!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 xml:space="preserve">Free tier: </a:t>
            </a:r>
            <a:r>
              <a:rPr lang="en-US" sz="1200" dirty="0">
                <a:solidFill>
                  <a:srgbClr val="000000"/>
                </a:solidFill>
              </a:rPr>
              <a:t>Gemini 2.5 Flash — free, no credit card required. Sufficient for your class project (up to ~1,000 requests/day).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Deploying on Railway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5214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at railway.com and upgrade to the Hobby tier ($5/mo, includes $5 usage)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5506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600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Railway CLI:  npm install -g @railway/cli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5798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157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1031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from your terminal:  railway login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project folder:  railway init  →  railway 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108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auto-detects your stack, builds, and gives you a public URL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</a:rPr>
              <a:t xml:space="preserve">Environment variables: </a:t>
            </a:r>
            <a:r>
              <a:rPr lang="en-US" sz="1200" dirty="0">
                <a:solidFill>
                  <a:srgbClr val="000000"/>
                </a:solidFill>
              </a:rPr>
              <a:t>Set your Gemini API key via  railway variables set GEMINI_API_KEY=your_key_here  — keeps secrets out of your code.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Setup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these set up before next class. Ask your team's most technical member to lead the setup.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3716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from python.org. Verify:  python --version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79222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from nodejs.org. Needed for Railway CLI and React.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276856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212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CLI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21284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-g @railway/cli  →  railway login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6334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Hobby tier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263347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at railway.com, add payment method ($5/mo).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118104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3054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key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0540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from aistudio.google.com. Store as env variable.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53872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474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editor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4747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recommended (free). Install the Python extension.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Work Session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Today's Work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61288"/>
            <a:ext cx="365760" cy="365760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your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44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3. Write down your team members' names.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92808"/>
            <a:ext cx="365760" cy="365760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 use cases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pitches 2 ideas. Discuss and pick one as a team.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365760" cy="365760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value add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807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1–2 sentences: why does AI make this app better than the non-AI version?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55848"/>
            <a:ext cx="365760" cy="365760"/>
          </a:xfrm>
          <a:prstGeom prst="ellipse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setup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538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Python, Node, Railway CLI, and your Gemini API key set up on at least one team member's laptop.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Glossary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where an LLM operates in a loop — reasoning, using tools, and adapting based on feedback to accomplish a goal.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49047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multi-step process that uses LLMs for decision-making, ranging from simple prompt chains to fully autonomous agents.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1975104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pattern where the LLM critiques and improves its own output through iterative self-review.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597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459736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an LLM the ability to call external functions (APIs, search, code execution) instead of relying only on its training data.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94436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+ Act (Yao et al. 2023): each inference loop produces a Thought (reasoning tokens), an Action (structured tool call), and receives an Observation (tool result) appended to the context window before the next forward pass.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42900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LLM agents collaborating on a task, each with distinct roles, tools, and system prompts.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136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9136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coding assistants (like Gemini or Claude) to generate and iterate on code through natural-language prompts.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2488</Words>
  <Application>Microsoft Macintosh PowerPoint</Application>
  <PresentationFormat>On-screen Show (16:9)</PresentationFormat>
  <Paragraphs>353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MGMT298D Week 8 – AI Agents &amp; App Toolkit</dc:title>
  <dc:subject>PptxGenJS Presentation</dc:subject>
  <dc:creator>Auyon Siddiq</dc:creator>
  <cp:lastModifiedBy>Siddiq, Auyon</cp:lastModifiedBy>
  <cp:revision>1</cp:revision>
  <dcterms:created xsi:type="dcterms:W3CDTF">2026-02-25T19:03:22Z</dcterms:created>
  <dcterms:modified xsi:type="dcterms:W3CDTF">2026-02-25T19:41:08Z</dcterms:modified>
</cp:coreProperties>
</file>