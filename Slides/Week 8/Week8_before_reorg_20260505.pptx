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90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1645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Week 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AI Agents &amp;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App Project Toolkit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3794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Today's Class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321040" cy="32004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AI Agents &amp; Agentic Patterns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an agent? Autonomy, tool use, and the design patterns behind modern AI agents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App Project &amp; Toolkit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objectives, your coding stack, and how to deploy a web app on Railway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Work Session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teams, brainstorm use cases, and start building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AI Agents &amp;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Agentic Patterns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From LLMs to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16459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LLM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→ Response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6093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turn. No memory. No tools. The model generates one response and stops.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38404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54864" cy="16459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10912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10912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→ Plan → Act → Observe → Repeat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10912" y="16093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Multi-step. Uses tools. Maintains state. Decides when it's done.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transformer level, an agent is still just tokens in, tokens out — but the orchestration layer wraps the model in a loop, injecting tool results, memory, and observations back into the context window on each iteration.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What Makes an AI Agent?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70632" y="105156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with minimal human intervention — decides what to do next on its own.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64592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70632" y="164592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outputs a function call (tool name + JSON args); the orchestration layer executes it and injects the result back as new tokens in the context window.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2402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70632" y="224028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tool outputs and observations are appended to the context window — the agent “remembers” by re-reading its own token history each step.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28346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70632" y="283464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complex goals into sub-tasks and sequences them toward a solution.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4290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70632" y="342900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tool result or environment observation is appended as new tokens; the next forward pass through the transformer incorporates this context to decide the next action.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Autonomy Spectrum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system needs full autonomy. Most production systems sit somewhere in the middle.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508760"/>
            <a:ext cx="1645920" cy="320040"/>
          </a:xfrm>
          <a:prstGeom prst="rect">
            <a:avLst/>
          </a:prstGeom>
          <a:solidFill>
            <a:srgbClr val="7AB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94960" y="1508760"/>
            <a:ext cx="1645920" cy="32004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40880" y="1508760"/>
            <a:ext cx="1645920" cy="32004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prompt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LLM call.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tools or loops.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chain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sequence of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4904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/ workflow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classifies input,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routes to a path.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949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Tool-using agent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496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decides which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to call in a loop.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autonomous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Plans, executes, and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self-corrects over hours.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Less autonomy                                                                                    More autonomy →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Andrew Ng's Four Agentic Design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(2024) identified four patterns that let even weaker models (GPT-3.5) outperform stronger ones (GPT-4) used in zero-shot mode: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20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920240" cy="731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16152" y="1645920"/>
            <a:ext cx="402336" cy="402336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1615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51460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critiques its own output and iterates. A second "critic" agent can provide feedback.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32888" y="1463040"/>
            <a:ext cx="1920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32888" y="1463040"/>
            <a:ext cx="1920240" cy="73152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91840" y="1645920"/>
            <a:ext cx="402336" cy="402336"/>
          </a:xfrm>
          <a:prstGeom prst="ellipse">
            <a:avLst/>
          </a:prstGeom>
          <a:solidFill>
            <a:srgbClr val="2774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24328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42616" y="251460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calls external tools — web search, code execution, APIs — to gather real information.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08576" y="1463040"/>
            <a:ext cx="1920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08576" y="1463040"/>
            <a:ext cx="1920240" cy="73152"/>
          </a:xfrm>
          <a:prstGeom prst="rect">
            <a:avLst/>
          </a:prstGeom>
          <a:solidFill>
            <a:srgbClr val="C482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67528" y="1645920"/>
            <a:ext cx="402336" cy="402336"/>
          </a:xfrm>
          <a:prstGeom prst="ellipse">
            <a:avLst/>
          </a:prstGeom>
          <a:solidFill>
            <a:srgbClr val="C482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67528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0016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18304" y="251460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breaks a complex task into sub-tasks and sequences them for execution.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84264" y="1463040"/>
            <a:ext cx="1920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84264" y="1463040"/>
            <a:ext cx="1920240" cy="73152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43216" y="1645920"/>
            <a:ext cx="402336" cy="402336"/>
          </a:xfrm>
          <a:prstGeom prst="ellipse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43216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75704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93992" y="251460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specialized agents collaborate — like a team where each member has a role.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Pattern 1: Reflection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reviews and improves its own output through self-critique.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828800" cy="594360"/>
          </a:xfrm>
          <a:prstGeom prst="rect">
            <a:avLst/>
          </a:prstGeom>
          <a:solidFill>
            <a:srgbClr val="EDF2F7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produces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output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80360" y="1508760"/>
            <a:ext cx="1828800" cy="594360"/>
          </a:xfrm>
          <a:prstGeom prst="rect">
            <a:avLst/>
          </a:prstGeom>
          <a:solidFill>
            <a:srgbClr val="EDF2F7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03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1764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or second LLM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the output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0" y="1508760"/>
            <a:ext cx="1828800" cy="594360"/>
          </a:xfrm>
          <a:prstGeom prst="rect">
            <a:avLst/>
          </a:prstGeom>
          <a:solidFill>
            <a:srgbClr val="EDF2F7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1764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improves based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feedback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15087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15087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06640" y="1508760"/>
            <a:ext cx="1188720" cy="59436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15087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Repeat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423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</a:rPr>
              <a:t>Example: </a:t>
            </a:r>
            <a:r>
              <a:rPr lang="en-US" sz="1200" dirty="0">
                <a:solidFill>
                  <a:srgbClr val="000000"/>
                </a:solidFill>
              </a:rPr>
              <a:t>Ask an LLM to write code → a second LLM reviews it for bugs and suggests fixes → the first LLM revises. Two self-critique iterations often catch 30–50% more errors than a single pass.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</a:rPr>
              <a:t>Multi-agent variant: </a:t>
            </a:r>
            <a:r>
              <a:rPr lang="en-US" sz="1200" dirty="0">
                <a:solidFill>
                  <a:srgbClr val="000000"/>
                </a:solidFill>
              </a:rPr>
              <a:t>Create a "generator" agent and a "critic" agent with different system prompts. The back-and-forth discussion leads to higher-quality outputs.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Pattern 2: Tool 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can call external tools — search engines, APIs, code interpreters — instead of relying solely on its training data.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" cy="475488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463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70632" y="146304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real-time information beyond the training cutoff.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02536"/>
            <a:ext cx="54864" cy="475488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20025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execution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70632" y="200253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Python, SQL, or other code to compute answers precisely.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54864" cy="475488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5420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70632" y="254203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flight, send an email, query a database — take real actions.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54864" cy="475488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081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I/O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70632" y="308152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documents, write reports, process spreadsheets.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</a:rPr>
              <a:t>How it works: </a:t>
            </a:r>
            <a:r>
              <a:rPr lang="en-US" sz="1200" dirty="0">
                <a:solidFill>
                  <a:srgbClr val="000000"/>
                </a:solidFill>
              </a:rPr>
              <a:t>The model emits a special token sequence signaling a function call (tool name + JSON args). The orchestration layer intercepts this, executes the call, and appends the result as a new “tool” role message in the context window. The model then continues generation from that updated context.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Pattern 3: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decomposes a complex goal into a sequence of sub-tasks, then executes them step by step.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321040" cy="45720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</a:rPr>
              <a:t>User goal: </a:t>
            </a:r>
            <a:r>
              <a:rPr lang="en-US" sz="1300" i="1" dirty="0">
                <a:solidFill>
                  <a:srgbClr val="000000"/>
                </a:solidFill>
              </a:rPr>
              <a:t>"Research the top 3 competitors in our market and create a comparison slide deck."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508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65276" y="2194560"/>
            <a:ext cx="292608" cy="292608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65276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web for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players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75688" y="2103120"/>
            <a:ext cx="1508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83764" y="2194560"/>
            <a:ext cx="292608" cy="292608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83764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21408" y="25420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21408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pricing,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features, reviews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94176" y="2103120"/>
            <a:ext cx="1508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02252" y="2194560"/>
            <a:ext cx="292608" cy="292608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02252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39896" y="25420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39896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on key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12664" y="2103120"/>
            <a:ext cx="1508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20740" y="2194560"/>
            <a:ext cx="292608" cy="292608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2074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58384" y="25420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58384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deck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findings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31152" y="2103120"/>
            <a:ext cx="1508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39228" y="2194560"/>
            <a:ext cx="292608" cy="292608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39228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76872" y="25420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76872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Self-critique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polish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75104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93592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12080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30568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7200" y="3520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</a:rPr>
              <a:t>ReAct (Reason + Act, Yao et al. 2023): </a:t>
            </a:r>
            <a:r>
              <a:rPr lang="en-US" sz="1100" dirty="0">
                <a:solidFill>
                  <a:srgbClr val="000000"/>
                </a:solidFill>
              </a:rPr>
              <a:t>Each loop iteration has three token phases — (1) </a:t>
            </a:r>
            <a:r>
              <a:rPr lang="en-US" sz="1100" b="1" dirty="0">
                <a:solidFill>
                  <a:srgbClr val="005587"/>
                </a:solidFill>
              </a:rPr>
              <a:t>Thought</a:t>
            </a:r>
            <a:r>
              <a:rPr lang="en-US" sz="1100" dirty="0">
                <a:solidFill>
                  <a:srgbClr val="000000"/>
                </a:solidFill>
              </a:rPr>
              <a:t>: the model reasons in natural language; (2) </a:t>
            </a:r>
            <a:r>
              <a:rPr lang="en-US" sz="1100" b="1" dirty="0">
                <a:solidFill>
                  <a:srgbClr val="005587"/>
                </a:solidFill>
              </a:rPr>
              <a:t>Action</a:t>
            </a:r>
            <a:r>
              <a:rPr lang="en-US" sz="1100" dirty="0">
                <a:solidFill>
                  <a:srgbClr val="000000"/>
                </a:solidFill>
              </a:rPr>
              <a:t>: it emits a structured function call the orchestrator executes; (3) </a:t>
            </a:r>
            <a:r>
              <a:rPr lang="en-US" sz="1100" b="1" dirty="0">
                <a:solidFill>
                  <a:srgbClr val="005587"/>
                </a:solidFill>
              </a:rPr>
              <a:t>Observation</a:t>
            </a:r>
            <a:r>
              <a:rPr lang="en-US" sz="1100" dirty="0">
                <a:solidFill>
                  <a:srgbClr val="000000"/>
                </a:solidFill>
              </a:rPr>
              <a:t>: the tool result is injected as new tokens before the next forward pass.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Pattern 4: Multi-Agent Collaboration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specialized agents work together, each with a focused role — like a team of employees.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4688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468880" cy="731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02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96596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the web, reads documents, gathers facts. Has search and retrieval tools.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463040"/>
            <a:ext cx="24688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54680" y="1463040"/>
            <a:ext cx="2468880" cy="73152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64408" y="16002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196596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data, runs calculations, compares options. Has code execution tools.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1463040"/>
            <a:ext cx="24688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52160" y="1463040"/>
            <a:ext cx="2468880" cy="73152"/>
          </a:xfrm>
          <a:prstGeom prst="rect">
            <a:avLst/>
          </a:prstGeom>
          <a:solidFill>
            <a:srgbClr val="C482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61888" y="16002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 Agent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61888" y="196596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reports, formats output, polishes language. Has file creation tools.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</a:rPr>
              <a:t>Key insight: </a:t>
            </a:r>
            <a:r>
              <a:rPr lang="en-US" sz="1200" dirty="0">
                <a:solidFill>
                  <a:srgbClr val="000000"/>
                </a:solidFill>
              </a:rPr>
              <a:t>Models perform better with focused tasks. An agent loaded with 50 tools gets confused — specialized agents with a handful of tools each do better. An orchestration layer coordinates message-passing between agents: it routes outputs, injects shared context, and manages which agent holds control at each step.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</a:rPr>
              <a:t>Examples: </a:t>
            </a:r>
            <a:r>
              <a:rPr lang="en-US" sz="1100" dirty="0">
                <a:solidFill>
                  <a:srgbClr val="000000"/>
                </a:solidFill>
              </a:rPr>
              <a:t>ChatGPT Deep Research, Devin (coding), AutoGPT, MetaGPT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Anthropic's Framework: Workflows vs.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(Dec 2024) draws an architectural distinction based on where the orchestration layer’s control logic lives — in developer-written code vs. inside the model’s own outputs: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31920" cy="731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527048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1856232"/>
            <a:ext cx="371246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92024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flow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Predefined code paths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42316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58775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Developer-designed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92608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Predictability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309067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291840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steps are known in advance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39319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417320"/>
            <a:ext cx="3931920" cy="73152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64608" y="1527048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64608" y="1856232"/>
            <a:ext cx="371246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64608" y="192024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64608" y="208483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LLM-directed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37760" y="237744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242316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64608" y="258775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decides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37760" y="288036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64608" y="292608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Predictability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64608" y="309067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937760" y="338328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64608" y="3291840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steps can't be hardcoded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Five Workflow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chaining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02152" y="105156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LLM call processes the output of the previous one. Simplest pattern.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6459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02152" y="164592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classifies the input and directs it to a specialized follow-up task.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2402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02152" y="224028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LLM calls run simultaneously, then results are aggregated.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28346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Orchestrator-workers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02152" y="283464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 orchestrator LLM generates sub-task instructions; each worker LLM receives its own context window with those instructions plus tools scoped to its role.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4290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Evaluator-optimizer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02152" y="342900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LLM generates a response; another evaluates it in a loop until quality is sufficient.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When to Use Workflows vs.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25603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Workflows When…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are known in advance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6093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support routing (classify → route → respond)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Content pipelines (draft → edit → format)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processing (extract → transform → load)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Predictable, fast, easy to debug.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 per run.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38404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54864" cy="25603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10912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Agents When…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10912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depend on the task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10912" y="16093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Open-ended research (find → analyze → synthesize)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Coding tasks (the set of files to edit varies)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Complex troubleshooting (diagnose → test → fix)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but harder to control.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cost, higher latency.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Agents in Practice: Case Studies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4952" y="10515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Cursor, Claude Code, GitHub Copilot — plan edits across files, run tests, self-correct. Handle multi-step coding tasks autonomously.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54864" cy="64008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44952" y="175564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Klarna's AI agent handled 2/3 of support chats in its first month, equivalent to ~700 human agents. Uses routing + tool calls.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59736"/>
            <a:ext cx="54864" cy="64008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45973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use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44952" y="24597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Claude's computer use agent navigates desktop applications — clicks, types, reads screens. Useful for automating legacy workflows.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54864" cy="64008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316382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44952" y="316382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Deep Research and Gemini Deep Research use multi-step web search + synthesis to produce long-form reports.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Key Takeaways: Agentic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321040" cy="32004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= LLM + tools + a loop. The loop turns a model from a responder into a problem-solver.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Ng's four patterns — reflection, tool use, planning, multi-agent — can be mixed and matched.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Anthropic's key insight: start with the simplest solution (often a workflow), add autonomy only when needed.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production systems today use structured workflows, not fully autonomous agents.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level of autonomy depends on your use case — more autonomy means more power but also more unpredictability and cost.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15-min Break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App Project &amp;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Toolkit Setup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App Project: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5029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4952" y="10515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of 3 students. Form your team today.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18488"/>
            <a:ext cx="54864" cy="5029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6184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44952" y="161848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web app that incorporates an LLM to solve a specific use case.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85416"/>
            <a:ext cx="54864" cy="5029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1854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44952" y="218541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AI makes this app meaningfully better than the non-AI alternative.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54864" cy="5029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27523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44952" y="275234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deployed web app + a short presentation explaining the use case and value add.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19272"/>
            <a:ext cx="54864" cy="5029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3192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44952" y="331927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Railway so anyone can access it via a URL.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Picking a Use Case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a problem, not from the technology. Ask: "What task is painful, repetitive, or requires judgment that an LLM can assist with?"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606040" cy="731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Customer-facing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tutor for a subject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Travel itinerary builder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recommendation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Legal FAQ assistant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606040" cy="73152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0128" y="164592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/ business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65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Meeting notes summarizer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Contract clause reviewer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posting generator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Expense categorizer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1508760"/>
            <a:ext cx="2606040" cy="73152"/>
          </a:xfrm>
          <a:prstGeom prst="rect">
            <a:avLst/>
          </a:prstGeom>
          <a:solidFill>
            <a:srgbClr val="C482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53328" y="164592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/ other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1965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Recipe generator from pantry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Workout plan builder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draft assistant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Interview prep coach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Your Toolkit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vibe-code your app using AI coding assistants. Here's what you need: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3210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6858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42646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645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HTML/React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188366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backend (Flask/FastAPI), React or plain HTML frontend.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83210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121408"/>
            <a:ext cx="54864" cy="6858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1762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2395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" y="26334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available. Get an API key from aistudio.google.com.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83210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871216"/>
            <a:ext cx="54864" cy="6858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29260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assistant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3145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+ Claude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Gemini or Claude to help write your code ("vibe coding").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621024"/>
            <a:ext cx="83210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621024"/>
            <a:ext cx="54864" cy="6858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36758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38953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1792" y="41330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Hobby tier ($5/mo). Deploy via CLI with one command.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LLMs for Coding ("Vibe Coding")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need to be a programmer. Use AI to generate, debug, and iterate on your code.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31920" cy="731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527048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1856232"/>
            <a:ext cx="371246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92024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prototyping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42316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58775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via AI Studio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3017520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context window, good at full-file generation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417320"/>
            <a:ext cx="39319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3931920" cy="73152"/>
          </a:xfrm>
          <a:prstGeom prst="rect">
            <a:avLst/>
          </a:prstGeom>
          <a:solidFill>
            <a:srgbClr val="C482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1527048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(Anthropic)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64608" y="1856232"/>
            <a:ext cx="371246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192024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64608" y="208483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debugging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237744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64608" y="242316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64608" y="258775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(free tier)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37760" y="288036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3017520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at understanding codebases and reasoning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7033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</a:rPr>
              <a:t>Tip: </a:t>
            </a:r>
            <a:r>
              <a:rPr lang="en-US" sz="1200" dirty="0">
                <a:solidFill>
                  <a:srgbClr val="000000"/>
                </a:solidFill>
              </a:rPr>
              <a:t>Paste your entire file + the error message and ask the LLM to fix it. Be specific about what you want changed. Iterate — don't expect perfection on the first try.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Getting Your Gemini API Key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aistudio.google.com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5506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55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6002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your Google account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5798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1031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"Get API Key" in the left sidebar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API key (select "Create API key in new project")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0896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key and store it safely — don't commit it to GitHub!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</a:rPr>
              <a:t>Free tier: </a:t>
            </a:r>
            <a:r>
              <a:rPr lang="en-US" sz="1200" dirty="0">
                <a:solidFill>
                  <a:srgbClr val="000000"/>
                </a:solidFill>
              </a:rPr>
              <a:t>Gemini 2.5 Flash — free, no credit card required. Sufficient for your class project (up to ~1,000 requests/day).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Deploying on Railway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at railway.com and upgrade to the Hobby tier ($5/mo, includes $5 usage)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5506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55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6002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the Railway CLI:  npm install -g @railway/cli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15798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1031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from your terminal:  railway login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project folder:  railway init  →  railway up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0896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auto-detects your stack, builds, and gives you a public URL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</a:rPr>
              <a:t>Environment variables: </a:t>
            </a:r>
            <a:r>
              <a:rPr lang="en-US" sz="1200" dirty="0">
                <a:solidFill>
                  <a:srgbClr val="000000"/>
                </a:solidFill>
              </a:rPr>
              <a:t>Set your Gemini API key via  railway variables set GEMINI_API_KEY=your_key_here  — keeps secrets out of your code.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Setup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these set up before next class. Ask your team's most technical member to lead the setup.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35608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3716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from python.org. Verify:  python --version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56232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7922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79222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from nodejs.org. Needed for Railway CLI and React.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27685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212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CLI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21284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-g @railway/cli  →  railway login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9748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6334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Hobby tier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63347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at railway.com, add payment method ($5/mo).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118104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30540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 key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05409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from aistudio.google.com. Store as env variable.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538728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3474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editor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34747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recommended (free). Install the Python extension.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Work Session</a:t>
            </a:r>
            <a:endParaRPr 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Today's Work Session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61288"/>
            <a:ext cx="365760" cy="365760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your team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44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of 3. Write down your team members' names.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92808"/>
            <a:ext cx="365760" cy="365760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 use cases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075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person pitches 2 ideas. Discuss and pick one as a team.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624328"/>
            <a:ext cx="365760" cy="365760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value add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807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1–2 sentences: why does AI make this app better than the non-AI version?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355848"/>
            <a:ext cx="365760" cy="365760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setup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538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Python, Node, Railway CLI, and your Gemini API key set up on at least one team member's laptop.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Glossary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100584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where an LLM operates in a loop — reasoning, using tools, and adapting based on feedback to accomplish a goal.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workflow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49047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multi-step process that uses LLMs for decision-making, ranging from simple prompt chains to fully autonomous agents.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751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1975104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agentic pattern where the LLM critiques and improves its own output through iterative self-review.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597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459736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an LLM the ability to call external functions (APIs, search, code execution) instead of relying only on its training data.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2944368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+ Act (Yao et al. 2023): each inference loop produces a Thought (reasoning tokens), an Action (structured tool call), and receives an Observation (tool result) appended to the context window before the next forward pass.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342900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specialized LLM agents collaborating on a task, each with distinct roles, tools, and system prompts.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91363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391363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AI coding assistants (like Gemini or Claude) to generate and iterate on code through natural-language prompts.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2488</Words>
  <Application>Microsoft Macintosh PowerPoint</Application>
  <PresentationFormat>On-screen Show (16:9)</PresentationFormat>
  <Paragraphs>353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MGMT298D Week 8 – AI Agents &amp; App Toolkit</dc:title>
  <dc:subject>PptxGenJS Presentation</dc:subject>
  <dc:creator>Auyon Siddiq</dc:creator>
  <cp:lastModifiedBy>Siddiq, Auyon</cp:lastModifiedBy>
  <cp:revision>1</cp:revision>
  <dcterms:created xsi:type="dcterms:W3CDTF">2026-02-25T19:03:22Z</dcterms:created>
  <dcterms:modified xsi:type="dcterms:W3CDTF">2026-02-25T19:41:08Z</dcterms:modified>
</cp:coreProperties>
</file>