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84" r:id="rId17"/>
    <p:sldId id="285" r:id="rId16"/>
    <p:sldId id="286" r:id="rId15"/>
    <p:sldId id="287" r:id="rId14"/>
    <p:sldId id="288" r:id="rId13"/>
    <p:sldId id="289" r:id="rId12"/>
    <p:sldId id="290" r:id="rId11"/>
    <p:sldId id="291" r:id="rId10"/>
    <p:sldId id="292" r:id="rId9"/>
    <p:sldId id="293" r:id="rId8"/>
    <p:sldId id="294" r:id="rId7"/>
    <p:sldId id="295" r:id="rId6"/>
    <p:sldId id="296" r:id="rId5"/>
    <p:sldId id="297" r:id="rId4"/>
    <p:sldId id="298" r:id="rId35"/>
    <p:sldId id="299" r:id="rId36"/>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3" d="100"/>
          <a:sy n="153" d="100"/>
        </p:scale>
        <p:origin x="536" y="168"/>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16.xml"/><Relationship Id="rId5" Type="http://schemas.openxmlformats.org/officeDocument/2006/relationships/slide" Target="slides/slide15.xml"/><Relationship Id="rId6" Type="http://schemas.openxmlformats.org/officeDocument/2006/relationships/slide" Target="slides/slide14.xml"/><Relationship Id="rId7" Type="http://schemas.openxmlformats.org/officeDocument/2006/relationships/slide" Target="slides/slide13.xml"/><Relationship Id="rId8" Type="http://schemas.openxmlformats.org/officeDocument/2006/relationships/slide" Target="slides/slide12.xml"/><Relationship Id="rId9" Type="http://schemas.openxmlformats.org/officeDocument/2006/relationships/slide" Target="slides/slide11.xml"/><Relationship Id="rId10" Type="http://schemas.openxmlformats.org/officeDocument/2006/relationships/slide" Target="slides/slide10.xml"/><Relationship Id="rId11" Type="http://schemas.openxmlformats.org/officeDocument/2006/relationships/slide" Target="slides/slide9.xml"/><Relationship Id="rId12" Type="http://schemas.openxmlformats.org/officeDocument/2006/relationships/slide" Target="slides/slide8.xml"/><Relationship Id="rId13" Type="http://schemas.openxmlformats.org/officeDocument/2006/relationships/slide" Target="slides/slide7.xml"/><Relationship Id="rId14" Type="http://schemas.openxmlformats.org/officeDocument/2006/relationships/slide" Target="slides/slide6.xml"/><Relationship Id="rId15" Type="http://schemas.openxmlformats.org/officeDocument/2006/relationships/slide" Target="slides/slide5.xml"/><Relationship Id="rId16" Type="http://schemas.openxmlformats.org/officeDocument/2006/relationships/slide" Target="slides/slide4.xml"/><Relationship Id="rId17" Type="http://schemas.openxmlformats.org/officeDocument/2006/relationships/slide" Target="slides/slide3.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17.xml"/><Relationship Id="rId36" Type="http://schemas.openxmlformats.org/officeDocument/2006/relationships/slide" Target="slides/slide18.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2905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5587"/>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05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777240"/>
            <a:ext cx="9144000" cy="548640"/>
          </a:xfrm>
          <a:prstGeom prst="rect">
            <a:avLst/>
          </a:prstGeom>
          <a:noFill/>
        </p:spPr>
        <p:txBody>
          <a:bodyPr wrap="square" anchor="t">
            <a:spAutoFit/>
          </a:bodyPr>
          <a:lstStyle/>
          <a:p>
            <a:pPr algn="ctr"/>
            <a:r>
              <a:rPr sz="1400" b="0">
                <a:solidFill>
                  <a:srgbClr val="FFFFFF"/>
                </a:solidFill>
                <a:latin typeface="Arial"/>
              </a:rPr>
              <a:t>MGMT298D</a:t>
            </a:r>
          </a:p>
          <a:p>
            <a:pPr algn="ctr"/>
            <a:r>
              <a:rPr sz="1400" b="0">
                <a:solidFill>
                  <a:srgbClr val="FFFFFF"/>
                </a:solidFill>
                <a:latin typeface="Arial"/>
              </a:rPr>
              <a:t>Science and Strategy of AI</a:t>
            </a:r>
          </a:p>
        </p:txBody>
      </p:sp>
      <p:sp>
        <p:nvSpPr>
          <p:cNvPr id="4" name="TextBox 3"/>
          <p:cNvSpPr txBox="1"/>
          <p:nvPr/>
        </p:nvSpPr>
        <p:spPr>
          <a:xfrm>
            <a:off x="0" y="1691640"/>
            <a:ext cx="9144000" cy="502920"/>
          </a:xfrm>
          <a:prstGeom prst="rect">
            <a:avLst/>
          </a:prstGeom>
          <a:noFill/>
        </p:spPr>
        <p:txBody>
          <a:bodyPr wrap="square" anchor="t">
            <a:spAutoFit/>
          </a:bodyPr>
          <a:lstStyle/>
          <a:p>
            <a:pPr algn="ctr"/>
            <a:r>
              <a:rPr sz="2200" b="1">
                <a:solidFill>
                  <a:srgbClr val="FFD100"/>
                </a:solidFill>
                <a:latin typeface="Whitney Bold"/>
              </a:rPr>
              <a:t>Week 8</a:t>
            </a:r>
          </a:p>
        </p:txBody>
      </p:sp>
      <p:sp>
        <p:nvSpPr>
          <p:cNvPr id="5" name="TextBox 4"/>
          <p:cNvSpPr txBox="1"/>
          <p:nvPr/>
        </p:nvSpPr>
        <p:spPr>
          <a:xfrm>
            <a:off x="0" y="2286000"/>
            <a:ext cx="9144000" cy="1280160"/>
          </a:xfrm>
          <a:prstGeom prst="rect">
            <a:avLst/>
          </a:prstGeom>
          <a:noFill/>
        </p:spPr>
        <p:txBody>
          <a:bodyPr wrap="square" anchor="t">
            <a:spAutoFit/>
          </a:bodyPr>
          <a:lstStyle/>
          <a:p>
            <a:pPr algn="ctr"/>
            <a:r>
              <a:rPr sz="3000" b="1">
                <a:solidFill>
                  <a:srgbClr val="FFFFFF"/>
                </a:solidFill>
                <a:latin typeface="Whitney Bold"/>
              </a:rPr>
              <a:t>Three Levers and the App Project Toolkit</a:t>
            </a:r>
          </a:p>
        </p:txBody>
      </p:sp>
      <p:sp>
        <p:nvSpPr>
          <p:cNvPr id="6" name="TextBox 5"/>
          <p:cNvSpPr txBox="1"/>
          <p:nvPr/>
        </p:nvSpPr>
        <p:spPr>
          <a:xfrm>
            <a:off x="0" y="4160520"/>
            <a:ext cx="9144000" cy="502920"/>
          </a:xfrm>
          <a:prstGeom prst="rect">
            <a:avLst/>
          </a:prstGeom>
          <a:noFill/>
        </p:spPr>
        <p:txBody>
          <a:bodyPr wrap="square" anchor="t">
            <a:spAutoFit/>
          </a:bodyPr>
          <a:lstStyle/>
          <a:p>
            <a:pPr algn="ctr"/>
            <a:r>
              <a:rPr sz="1200" b="1">
                <a:solidFill>
                  <a:srgbClr val="FFFFFF"/>
                </a:solidFill>
                <a:latin typeface="Arial"/>
              </a:rPr>
              <a:t>Auyon Siddiq</a:t>
            </a:r>
          </a:p>
          <a:p>
            <a:pPr algn="ctr"/>
            <a:r>
              <a:rPr sz="1200" b="0">
                <a:solidFill>
                  <a:srgbClr val="FFFFFF"/>
                </a:solidFill>
                <a:latin typeface="Arial"/>
              </a:rPr>
              <a:t>UCLA Anderson School of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Rectangle 1"/>
          <p:cNvSpPr/>
          <p:nvPr/>
        </p:nvSpPr>
        <p:spPr>
          <a:xfrm>
            <a:off x="0" y="0"/>
            <a:ext cx="54864" cy="5148072"/>
          </a:xfrm>
          <a:prstGeom prst="rect">
            <a:avLst/>
          </a:prstGeom>
          <a:solidFill>
            <a:srgbClr val="005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321040" cy="685800"/>
          </a:xfrm>
          <a:prstGeom prst="rect">
            <a:avLst/>
          </a:prstGeom>
          <a:noFill/>
        </p:spPr>
        <p:txBody>
          <a:bodyPr wrap="square" anchor="ctr">
            <a:spAutoFit/>
          </a:bodyPr>
          <a:lstStyle/>
          <a:p>
            <a:pPr algn="l"/>
            <a:r>
              <a:rPr sz="2800" b="1">
                <a:solidFill>
                  <a:srgbClr val="005587"/>
                </a:solidFill>
                <a:latin typeface="Whitney Bold"/>
              </a:rPr>
              <a:t>Today's Class</a:t>
            </a:r>
          </a:p>
        </p:txBody>
      </p:sp>
      <p:cxnSp>
        <p:nvCxnSpPr>
          <p:cNvPr id="4" name="Connector 3"/>
          <p:cNvCxnSpPr/>
          <p:nvPr/>
        </p:nvCxnSpPr>
        <p:spPr>
          <a:xfrm>
            <a:off x="457200" y="914400"/>
            <a:ext cx="83210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365760" y="1097280"/>
            <a:ext cx="4160520" cy="3703320"/>
          </a:xfrm>
          <a:prstGeom prst="rect">
            <a:avLst/>
          </a:prstGeom>
          <a:solidFill>
            <a:srgbClr val="EEF3F8"/>
          </a:solidFill>
          <a:ln w="15240">
            <a:solidFill>
              <a:srgbClr val="0055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88720"/>
            <a:ext cx="4160520" cy="365760"/>
          </a:xfrm>
          <a:prstGeom prst="rect">
            <a:avLst/>
          </a:prstGeom>
          <a:noFill/>
        </p:spPr>
        <p:txBody>
          <a:bodyPr wrap="square" anchor="t">
            <a:spAutoFit/>
          </a:bodyPr>
          <a:lstStyle/>
          <a:p>
            <a:pPr algn="ctr"/>
            <a:r>
              <a:rPr sz="1600" b="1">
                <a:solidFill>
                  <a:srgbClr val="005587"/>
                </a:solidFill>
                <a:latin typeface="Whitney Bold"/>
              </a:rPr>
              <a:t>Part 1: The Three Levers</a:t>
            </a:r>
          </a:p>
        </p:txBody>
      </p:sp>
      <p:sp>
        <p:nvSpPr>
          <p:cNvPr id="7" name="TextBox 6"/>
          <p:cNvSpPr txBox="1"/>
          <p:nvPr/>
        </p:nvSpPr>
        <p:spPr>
          <a:xfrm>
            <a:off x="502920" y="1600200"/>
            <a:ext cx="3886200" cy="329184"/>
          </a:xfrm>
          <a:prstGeom prst="rect">
            <a:avLst/>
          </a:prstGeom>
          <a:noFill/>
        </p:spPr>
        <p:txBody>
          <a:bodyPr wrap="square" anchor="t">
            <a:spAutoFit/>
          </a:bodyPr>
          <a:lstStyle/>
          <a:p>
            <a:pPr algn="l"/>
            <a:r>
              <a:rPr sz="1100" b="0" i="1">
                <a:solidFill>
                  <a:srgbClr val="555555"/>
                </a:solidFill>
                <a:latin typeface="Arial"/>
              </a:rPr>
              <a:t>Three ways builders customize an LLM for their product.</a:t>
            </a:r>
          </a:p>
        </p:txBody>
      </p:sp>
      <p:sp>
        <p:nvSpPr>
          <p:cNvPr id="8" name="TextBox 7"/>
          <p:cNvSpPr txBox="1"/>
          <p:nvPr/>
        </p:nvSpPr>
        <p:spPr>
          <a:xfrm>
            <a:off x="594360" y="2011680"/>
            <a:ext cx="3749039" cy="219456"/>
          </a:xfrm>
          <a:prstGeom prst="rect">
            <a:avLst/>
          </a:prstGeom>
          <a:noFill/>
        </p:spPr>
        <p:txBody>
          <a:bodyPr wrap="square" anchor="t">
            <a:spAutoFit/>
          </a:bodyPr>
          <a:lstStyle/>
          <a:p>
            <a:pPr algn="l"/>
            <a:r>
              <a:rPr sz="1200" b="1">
                <a:solidFill>
                  <a:srgbClr val="005587"/>
                </a:solidFill>
                <a:latin typeface="Whitney Bold"/>
              </a:rPr>
              <a:t>•  Prompting</a:t>
            </a:r>
          </a:p>
        </p:txBody>
      </p:sp>
      <p:sp>
        <p:nvSpPr>
          <p:cNvPr id="9" name="TextBox 8"/>
          <p:cNvSpPr txBox="1"/>
          <p:nvPr/>
        </p:nvSpPr>
        <p:spPr>
          <a:xfrm>
            <a:off x="868680" y="2212848"/>
            <a:ext cx="3520440" cy="365760"/>
          </a:xfrm>
          <a:prstGeom prst="rect">
            <a:avLst/>
          </a:prstGeom>
          <a:noFill/>
        </p:spPr>
        <p:txBody>
          <a:bodyPr wrap="square" anchor="t">
            <a:spAutoFit/>
          </a:bodyPr>
          <a:lstStyle/>
          <a:p>
            <a:pPr algn="l"/>
            <a:r>
              <a:rPr sz="1000" b="0">
                <a:solidFill>
                  <a:srgbClr val="1F1F1F"/>
                </a:solidFill>
                <a:latin typeface="Arial"/>
              </a:rPr>
              <a:t>change the input: system prompts, few-shot, CoT</a:t>
            </a:r>
          </a:p>
        </p:txBody>
      </p:sp>
      <p:sp>
        <p:nvSpPr>
          <p:cNvPr id="10" name="TextBox 9"/>
          <p:cNvSpPr txBox="1"/>
          <p:nvPr/>
        </p:nvSpPr>
        <p:spPr>
          <a:xfrm>
            <a:off x="594360" y="2651760"/>
            <a:ext cx="3749039" cy="219456"/>
          </a:xfrm>
          <a:prstGeom prst="rect">
            <a:avLst/>
          </a:prstGeom>
          <a:noFill/>
        </p:spPr>
        <p:txBody>
          <a:bodyPr wrap="square" anchor="t">
            <a:spAutoFit/>
          </a:bodyPr>
          <a:lstStyle/>
          <a:p>
            <a:pPr algn="l"/>
            <a:r>
              <a:rPr sz="1200" b="1">
                <a:solidFill>
                  <a:srgbClr val="005587"/>
                </a:solidFill>
                <a:latin typeface="Whitney Bold"/>
              </a:rPr>
              <a:t>•  RAG</a:t>
            </a:r>
          </a:p>
        </p:txBody>
      </p:sp>
      <p:sp>
        <p:nvSpPr>
          <p:cNvPr id="11" name="TextBox 10"/>
          <p:cNvSpPr txBox="1"/>
          <p:nvPr/>
        </p:nvSpPr>
        <p:spPr>
          <a:xfrm>
            <a:off x="868680" y="2852928"/>
            <a:ext cx="3520440" cy="365760"/>
          </a:xfrm>
          <a:prstGeom prst="rect">
            <a:avLst/>
          </a:prstGeom>
          <a:noFill/>
        </p:spPr>
        <p:txBody>
          <a:bodyPr wrap="square" anchor="t">
            <a:spAutoFit/>
          </a:bodyPr>
          <a:lstStyle/>
          <a:p>
            <a:pPr algn="l"/>
            <a:r>
              <a:rPr sz="1000" b="0">
                <a:solidFill>
                  <a:srgbClr val="1F1F1F"/>
                </a:solidFill>
                <a:latin typeface="Arial"/>
              </a:rPr>
              <a:t>add evidence at runtime: your documents in the prompt</a:t>
            </a:r>
          </a:p>
        </p:txBody>
      </p:sp>
      <p:sp>
        <p:nvSpPr>
          <p:cNvPr id="12" name="TextBox 11"/>
          <p:cNvSpPr txBox="1"/>
          <p:nvPr/>
        </p:nvSpPr>
        <p:spPr>
          <a:xfrm>
            <a:off x="594360" y="3291840"/>
            <a:ext cx="3749039" cy="219456"/>
          </a:xfrm>
          <a:prstGeom prst="rect">
            <a:avLst/>
          </a:prstGeom>
          <a:noFill/>
        </p:spPr>
        <p:txBody>
          <a:bodyPr wrap="square" anchor="t">
            <a:spAutoFit/>
          </a:bodyPr>
          <a:lstStyle/>
          <a:p>
            <a:pPr algn="l"/>
            <a:r>
              <a:rPr sz="1200" b="1">
                <a:solidFill>
                  <a:srgbClr val="005587"/>
                </a:solidFill>
                <a:latin typeface="Whitney Bold"/>
              </a:rPr>
              <a:t>•  Fine-tuning</a:t>
            </a:r>
          </a:p>
        </p:txBody>
      </p:sp>
      <p:sp>
        <p:nvSpPr>
          <p:cNvPr id="13" name="TextBox 12"/>
          <p:cNvSpPr txBox="1"/>
          <p:nvPr/>
        </p:nvSpPr>
        <p:spPr>
          <a:xfrm>
            <a:off x="868680" y="3493008"/>
            <a:ext cx="3520440" cy="365760"/>
          </a:xfrm>
          <a:prstGeom prst="rect">
            <a:avLst/>
          </a:prstGeom>
          <a:noFill/>
        </p:spPr>
        <p:txBody>
          <a:bodyPr wrap="square" anchor="t">
            <a:spAutoFit/>
          </a:bodyPr>
          <a:lstStyle/>
          <a:p>
            <a:pPr algn="l"/>
            <a:r>
              <a:rPr sz="1000" b="0">
                <a:solidFill>
                  <a:srgbClr val="1F1F1F"/>
                </a:solidFill>
                <a:latin typeface="Arial"/>
              </a:rPr>
              <a:t>change the weights: SFT on your own (q, a) data</a:t>
            </a:r>
          </a:p>
        </p:txBody>
      </p:sp>
      <p:sp>
        <p:nvSpPr>
          <p:cNvPr id="14" name="TextBox 13"/>
          <p:cNvSpPr txBox="1"/>
          <p:nvPr/>
        </p:nvSpPr>
        <p:spPr>
          <a:xfrm>
            <a:off x="594360" y="3931920"/>
            <a:ext cx="3749039" cy="219456"/>
          </a:xfrm>
          <a:prstGeom prst="rect">
            <a:avLst/>
          </a:prstGeom>
          <a:noFill/>
        </p:spPr>
        <p:txBody>
          <a:bodyPr wrap="square" anchor="t">
            <a:spAutoFit/>
          </a:bodyPr>
          <a:lstStyle/>
          <a:p>
            <a:pPr algn="l"/>
            <a:r>
              <a:rPr sz="1200" b="1">
                <a:solidFill>
                  <a:srgbClr val="005587"/>
                </a:solidFill>
                <a:latin typeface="Whitney Bold"/>
              </a:rPr>
              <a:t>•  Compared</a:t>
            </a:r>
          </a:p>
        </p:txBody>
      </p:sp>
      <p:sp>
        <p:nvSpPr>
          <p:cNvPr id="15" name="TextBox 14"/>
          <p:cNvSpPr txBox="1"/>
          <p:nvPr/>
        </p:nvSpPr>
        <p:spPr>
          <a:xfrm>
            <a:off x="868680" y="4133088"/>
            <a:ext cx="3520440" cy="365760"/>
          </a:xfrm>
          <a:prstGeom prst="rect">
            <a:avLst/>
          </a:prstGeom>
          <a:noFill/>
        </p:spPr>
        <p:txBody>
          <a:bodyPr wrap="square" anchor="t">
            <a:spAutoFit/>
          </a:bodyPr>
          <a:lstStyle/>
          <a:p>
            <a:pPr algn="l"/>
            <a:r>
              <a:rPr sz="1000" b="0">
                <a:solidFill>
                  <a:srgbClr val="1F1F1F"/>
                </a:solidFill>
                <a:latin typeface="Arial"/>
              </a:rPr>
              <a:t>when to reach for each lever; pros and cons</a:t>
            </a:r>
          </a:p>
        </p:txBody>
      </p:sp>
      <p:sp>
        <p:nvSpPr>
          <p:cNvPr id="16" name="Rounded Rectangle 15"/>
          <p:cNvSpPr/>
          <p:nvPr/>
        </p:nvSpPr>
        <p:spPr>
          <a:xfrm>
            <a:off x="4617720" y="1097280"/>
            <a:ext cx="4160520" cy="3703320"/>
          </a:xfrm>
          <a:prstGeom prst="rect">
            <a:avLst/>
          </a:prstGeom>
          <a:solidFill>
            <a:srgbClr val="FDF6D8"/>
          </a:solidFill>
          <a:ln w="1524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1188720"/>
            <a:ext cx="4160520" cy="365760"/>
          </a:xfrm>
          <a:prstGeom prst="rect">
            <a:avLst/>
          </a:prstGeom>
          <a:noFill/>
        </p:spPr>
        <p:txBody>
          <a:bodyPr wrap="square" anchor="t">
            <a:spAutoFit/>
          </a:bodyPr>
          <a:lstStyle/>
          <a:p>
            <a:pPr algn="ctr"/>
            <a:r>
              <a:rPr sz="1600" b="1">
                <a:solidFill>
                  <a:srgbClr val="B8860B"/>
                </a:solidFill>
                <a:latin typeface="Whitney Bold"/>
              </a:rPr>
              <a:t>Part 2: App Project Toolkit</a:t>
            </a:r>
          </a:p>
        </p:txBody>
      </p:sp>
      <p:sp>
        <p:nvSpPr>
          <p:cNvPr id="18" name="TextBox 17"/>
          <p:cNvSpPr txBox="1"/>
          <p:nvPr/>
        </p:nvSpPr>
        <p:spPr>
          <a:xfrm>
            <a:off x="4754880" y="1600200"/>
            <a:ext cx="3886200" cy="329184"/>
          </a:xfrm>
          <a:prstGeom prst="rect">
            <a:avLst/>
          </a:prstGeom>
          <a:noFill/>
        </p:spPr>
        <p:txBody>
          <a:bodyPr wrap="square" anchor="t">
            <a:spAutoFit/>
          </a:bodyPr>
          <a:lstStyle/>
          <a:p>
            <a:pPr algn="l"/>
            <a:r>
              <a:rPr sz="1100" b="0" i="1">
                <a:solidFill>
                  <a:srgbClr val="555555"/>
                </a:solidFill>
                <a:latin typeface="Arial"/>
              </a:rPr>
              <a:t>What you'll use to build your app.</a:t>
            </a:r>
          </a:p>
        </p:txBody>
      </p:sp>
      <p:sp>
        <p:nvSpPr>
          <p:cNvPr id="19" name="TextBox 18"/>
          <p:cNvSpPr txBox="1"/>
          <p:nvPr/>
        </p:nvSpPr>
        <p:spPr>
          <a:xfrm>
            <a:off x="4846320" y="2011680"/>
            <a:ext cx="3749039" cy="219456"/>
          </a:xfrm>
          <a:prstGeom prst="rect">
            <a:avLst/>
          </a:prstGeom>
          <a:noFill/>
        </p:spPr>
        <p:txBody>
          <a:bodyPr wrap="square" anchor="t">
            <a:spAutoFit/>
          </a:bodyPr>
          <a:lstStyle/>
          <a:p>
            <a:pPr algn="l"/>
            <a:r>
              <a:rPr sz="1200" b="1">
                <a:solidFill>
                  <a:srgbClr val="B8860B"/>
                </a:solidFill>
                <a:latin typeface="Whitney Bold"/>
              </a:rPr>
              <a:t>•  App project overview</a:t>
            </a:r>
          </a:p>
        </p:txBody>
      </p:sp>
      <p:sp>
        <p:nvSpPr>
          <p:cNvPr id="20" name="TextBox 19"/>
          <p:cNvSpPr txBox="1"/>
          <p:nvPr/>
        </p:nvSpPr>
        <p:spPr>
          <a:xfrm>
            <a:off x="5120640" y="2212848"/>
            <a:ext cx="3520440" cy="365760"/>
          </a:xfrm>
          <a:prstGeom prst="rect">
            <a:avLst/>
          </a:prstGeom>
          <a:noFill/>
        </p:spPr>
        <p:txBody>
          <a:bodyPr wrap="square" anchor="t">
            <a:spAutoFit/>
          </a:bodyPr>
          <a:lstStyle/>
          <a:p>
            <a:pPr algn="l"/>
            <a:r>
              <a:rPr sz="1000" b="0">
                <a:solidFill>
                  <a:srgbClr val="1F1F1F"/>
                </a:solidFill>
                <a:latin typeface="Arial"/>
              </a:rPr>
              <a:t>objectives, deliverables, deadlines</a:t>
            </a:r>
          </a:p>
        </p:txBody>
      </p:sp>
      <p:sp>
        <p:nvSpPr>
          <p:cNvPr id="21" name="TextBox 20"/>
          <p:cNvSpPr txBox="1"/>
          <p:nvPr/>
        </p:nvSpPr>
        <p:spPr>
          <a:xfrm>
            <a:off x="4846320" y="2523744"/>
            <a:ext cx="3749039" cy="219456"/>
          </a:xfrm>
          <a:prstGeom prst="rect">
            <a:avLst/>
          </a:prstGeom>
          <a:noFill/>
        </p:spPr>
        <p:txBody>
          <a:bodyPr wrap="square" anchor="t">
            <a:spAutoFit/>
          </a:bodyPr>
          <a:lstStyle/>
          <a:p>
            <a:pPr algn="l"/>
            <a:r>
              <a:rPr sz="1200" b="1">
                <a:solidFill>
                  <a:srgbClr val="B8860B"/>
                </a:solidFill>
                <a:latin typeface="Whitney Bold"/>
              </a:rPr>
              <a:t>•  Vibe coding</a:t>
            </a:r>
          </a:p>
        </p:txBody>
      </p:sp>
      <p:sp>
        <p:nvSpPr>
          <p:cNvPr id="22" name="TextBox 21"/>
          <p:cNvSpPr txBox="1"/>
          <p:nvPr/>
        </p:nvSpPr>
        <p:spPr>
          <a:xfrm>
            <a:off x="5120640" y="2724912"/>
            <a:ext cx="3520440" cy="365760"/>
          </a:xfrm>
          <a:prstGeom prst="rect">
            <a:avLst/>
          </a:prstGeom>
          <a:noFill/>
        </p:spPr>
        <p:txBody>
          <a:bodyPr wrap="square" anchor="t">
            <a:spAutoFit/>
          </a:bodyPr>
          <a:lstStyle/>
          <a:p>
            <a:pPr algn="l"/>
            <a:r>
              <a:rPr sz="1000" b="0">
                <a:solidFill>
                  <a:srgbClr val="1F1F1F"/>
                </a:solidFill>
                <a:latin typeface="Arial"/>
              </a:rPr>
              <a:t>using Gemini and Claude to write your code</a:t>
            </a:r>
          </a:p>
        </p:txBody>
      </p:sp>
      <p:sp>
        <p:nvSpPr>
          <p:cNvPr id="23" name="TextBox 22"/>
          <p:cNvSpPr txBox="1"/>
          <p:nvPr/>
        </p:nvSpPr>
        <p:spPr>
          <a:xfrm>
            <a:off x="4846320" y="3035808"/>
            <a:ext cx="3749039" cy="219456"/>
          </a:xfrm>
          <a:prstGeom prst="rect">
            <a:avLst/>
          </a:prstGeom>
          <a:noFill/>
        </p:spPr>
        <p:txBody>
          <a:bodyPr wrap="square" anchor="t">
            <a:spAutoFit/>
          </a:bodyPr>
          <a:lstStyle/>
          <a:p>
            <a:pPr algn="l"/>
            <a:r>
              <a:rPr sz="1200" b="1">
                <a:solidFill>
                  <a:srgbClr val="B8860B"/>
                </a:solidFill>
                <a:latin typeface="Whitney Bold"/>
              </a:rPr>
              <a:t>•  Gemini API</a:t>
            </a:r>
          </a:p>
        </p:txBody>
      </p:sp>
      <p:sp>
        <p:nvSpPr>
          <p:cNvPr id="24" name="TextBox 23"/>
          <p:cNvSpPr txBox="1"/>
          <p:nvPr/>
        </p:nvSpPr>
        <p:spPr>
          <a:xfrm>
            <a:off x="5120640" y="3236976"/>
            <a:ext cx="3520440" cy="365760"/>
          </a:xfrm>
          <a:prstGeom prst="rect">
            <a:avLst/>
          </a:prstGeom>
          <a:noFill/>
        </p:spPr>
        <p:txBody>
          <a:bodyPr wrap="square" anchor="t">
            <a:spAutoFit/>
          </a:bodyPr>
          <a:lstStyle/>
          <a:p>
            <a:pPr algn="l"/>
            <a:r>
              <a:rPr sz="1000" b="0">
                <a:solidFill>
                  <a:srgbClr val="1F1F1F"/>
                </a:solidFill>
                <a:latin typeface="Arial"/>
              </a:rPr>
              <a:t>free tier, key setup, calling the model</a:t>
            </a:r>
          </a:p>
        </p:txBody>
      </p:sp>
      <p:sp>
        <p:nvSpPr>
          <p:cNvPr id="25" name="TextBox 24"/>
          <p:cNvSpPr txBox="1"/>
          <p:nvPr/>
        </p:nvSpPr>
        <p:spPr>
          <a:xfrm>
            <a:off x="4846320" y="3547872"/>
            <a:ext cx="3749039" cy="219456"/>
          </a:xfrm>
          <a:prstGeom prst="rect">
            <a:avLst/>
          </a:prstGeom>
          <a:noFill/>
        </p:spPr>
        <p:txBody>
          <a:bodyPr wrap="square" anchor="t">
            <a:spAutoFit/>
          </a:bodyPr>
          <a:lstStyle/>
          <a:p>
            <a:pPr algn="l"/>
            <a:r>
              <a:rPr sz="1200" b="1">
                <a:solidFill>
                  <a:srgbClr val="B8860B"/>
                </a:solidFill>
                <a:latin typeface="Whitney Bold"/>
              </a:rPr>
              <a:t>•  Railway deployment</a:t>
            </a:r>
          </a:p>
        </p:txBody>
      </p:sp>
      <p:sp>
        <p:nvSpPr>
          <p:cNvPr id="26" name="TextBox 25"/>
          <p:cNvSpPr txBox="1"/>
          <p:nvPr/>
        </p:nvSpPr>
        <p:spPr>
          <a:xfrm>
            <a:off x="5120640" y="3749040"/>
            <a:ext cx="3520440" cy="365760"/>
          </a:xfrm>
          <a:prstGeom prst="rect">
            <a:avLst/>
          </a:prstGeom>
          <a:noFill/>
        </p:spPr>
        <p:txBody>
          <a:bodyPr wrap="square" anchor="t">
            <a:spAutoFit/>
          </a:bodyPr>
          <a:lstStyle/>
          <a:p>
            <a:pPr algn="l"/>
            <a:r>
              <a:rPr sz="1000" b="0">
                <a:solidFill>
                  <a:srgbClr val="1F1F1F"/>
                </a:solidFill>
                <a:latin typeface="Arial"/>
              </a:rPr>
              <a:t>one-command deploy of your app</a:t>
            </a:r>
          </a:p>
        </p:txBody>
      </p:sp>
      <p:sp>
        <p:nvSpPr>
          <p:cNvPr id="27" name="TextBox 26"/>
          <p:cNvSpPr txBox="1"/>
          <p:nvPr/>
        </p:nvSpPr>
        <p:spPr>
          <a:xfrm>
            <a:off x="4846320" y="4059936"/>
            <a:ext cx="3749039" cy="219456"/>
          </a:xfrm>
          <a:prstGeom prst="rect">
            <a:avLst/>
          </a:prstGeom>
          <a:noFill/>
        </p:spPr>
        <p:txBody>
          <a:bodyPr wrap="square" anchor="t">
            <a:spAutoFit/>
          </a:bodyPr>
          <a:lstStyle/>
          <a:p>
            <a:pPr algn="l"/>
            <a:r>
              <a:rPr sz="1200" b="1">
                <a:solidFill>
                  <a:srgbClr val="B8860B"/>
                </a:solidFill>
                <a:latin typeface="Whitney Bold"/>
              </a:rPr>
              <a:t>•  Work session</a:t>
            </a:r>
          </a:p>
        </p:txBody>
      </p:sp>
      <p:sp>
        <p:nvSpPr>
          <p:cNvPr id="28" name="TextBox 27"/>
          <p:cNvSpPr txBox="1"/>
          <p:nvPr/>
        </p:nvSpPr>
        <p:spPr>
          <a:xfrm>
            <a:off x="5120640" y="4261104"/>
            <a:ext cx="3520440" cy="365760"/>
          </a:xfrm>
          <a:prstGeom prst="rect">
            <a:avLst/>
          </a:prstGeom>
          <a:noFill/>
        </p:spPr>
        <p:txBody>
          <a:bodyPr wrap="square" anchor="t">
            <a:spAutoFit/>
          </a:bodyPr>
          <a:lstStyle/>
          <a:p>
            <a:pPr algn="l"/>
            <a:r>
              <a:rPr sz="1000" b="0">
                <a:solidFill>
                  <a:srgbClr val="1F1F1F"/>
                </a:solidFill>
                <a:latin typeface="Arial"/>
              </a:rPr>
              <a:t>form teams, brainstorm, set up your stack</a:t>
            </a:r>
          </a:p>
        </p:txBody>
      </p:sp>
      <p:sp>
        <p:nvSpPr>
          <p:cNvPr id="29" name="TextBox 28"/>
          <p:cNvSpPr txBox="1"/>
          <p:nvPr/>
        </p:nvSpPr>
        <p:spPr>
          <a:xfrm>
            <a:off x="457200" y="4846320"/>
            <a:ext cx="8321040" cy="182880"/>
          </a:xfrm>
          <a:prstGeom prst="rect">
            <a:avLst/>
          </a:prstGeom>
          <a:noFill/>
        </p:spPr>
        <p:txBody>
          <a:bodyPr wrap="square" anchor="t">
            <a:spAutoFit/>
          </a:bodyPr>
          <a:lstStyle/>
          <a:p>
            <a:pPr algn="ctr"/>
            <a:r>
              <a:rPr sz="1100" b="1">
                <a:solidFill>
                  <a:srgbClr val="005587"/>
                </a:solidFill>
                <a:latin typeface="Arial"/>
              </a:rPr>
              <a:t>First half: pick the right lever. Second half: get the tools running so you can ship.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05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920240"/>
            <a:ext cx="9144000" cy="1280160"/>
          </a:xfrm>
          <a:prstGeom prst="rect">
            <a:avLst/>
          </a:prstGeom>
          <a:noFill/>
        </p:spPr>
        <p:txBody>
          <a:bodyPr wrap="square" anchor="ctr">
            <a:spAutoFit/>
          </a:bodyPr>
          <a:lstStyle/>
          <a:p>
            <a:pPr algn="ctr"/>
            <a:r>
              <a:rPr sz="4000" b="1">
                <a:solidFill>
                  <a:srgbClr val="FFFFFF"/>
                </a:solidFill>
                <a:latin typeface="Whitney Bold"/>
              </a:rPr>
              <a:t>Part 1: The Three Levers</a:t>
            </a:r>
          </a:p>
          <a:p>
            <a:pPr algn="ctr"/>
            <a:r>
              <a:rPr sz="3200" b="1">
                <a:solidFill>
                  <a:srgbClr val="FFFFFF"/>
                </a:solidFill>
                <a:latin typeface="Whitney Bold"/>
              </a:rPr>
              <a:t>Three Ways to Customize an LLM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5148072"/>
          </a:xfrm>
          <a:prstGeom prst="rect">
            <a:avLst/>
          </a:prstGeom>
          <a:solidFill>
            <a:srgbClr val="005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321040" cy="685800"/>
          </a:xfrm>
          <a:prstGeom prst="rect">
            <a:avLst/>
          </a:prstGeom>
          <a:noFill/>
        </p:spPr>
        <p:txBody>
          <a:bodyPr wrap="square" anchor="ctr">
            <a:spAutoFit/>
          </a:bodyPr>
          <a:lstStyle/>
          <a:p>
            <a:pPr algn="l"/>
            <a:r>
              <a:rPr sz="2800" b="1">
                <a:solidFill>
                  <a:srgbClr val="005587"/>
                </a:solidFill>
                <a:latin typeface="Whitney Bold"/>
              </a:rPr>
              <a:t>Three Ways to Customize an LLM</a:t>
            </a:r>
          </a:p>
        </p:txBody>
      </p:sp>
      <p:cxnSp>
        <p:nvCxnSpPr>
          <p:cNvPr id="4" name="Connector 3"/>
          <p:cNvCxnSpPr/>
          <p:nvPr/>
        </p:nvCxnSpPr>
        <p:spPr>
          <a:xfrm>
            <a:off x="457200" y="914400"/>
            <a:ext cx="83210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960120"/>
            <a:ext cx="8321040" cy="329184"/>
          </a:xfrm>
          <a:prstGeom prst="rect">
            <a:avLst/>
          </a:prstGeom>
          <a:noFill/>
        </p:spPr>
        <p:txBody>
          <a:bodyPr wrap="square" anchor="t">
            <a:spAutoFit/>
          </a:bodyPr>
          <a:lstStyle/>
          <a:p>
            <a:pPr algn="l"/>
            <a:r>
              <a:rPr sz="1200" b="1">
                <a:solidFill>
                  <a:srgbClr val="1F1F1F"/>
                </a:solidFill>
                <a:latin typeface="Arial"/>
              </a:rPr>
              <a:t>Same base model. Different leverage points: change the input, add evidence at runtime, or change the weights.</a:t>
            </a:r>
          </a:p>
        </p:txBody>
      </p:sp>
      <p:sp>
        <p:nvSpPr>
          <p:cNvPr id="6" name="Rounded Rectangle 5"/>
          <p:cNvSpPr/>
          <p:nvPr/>
        </p:nvSpPr>
        <p:spPr>
          <a:xfrm>
            <a:off x="3703320" y="2240280"/>
            <a:ext cx="1737360" cy="868680"/>
          </a:xfrm>
          <a:prstGeom prst="rect">
            <a:avLst/>
          </a:prstGeom>
          <a:solidFill>
            <a:srgbClr val="EEF3F8"/>
          </a:solidFill>
          <a:ln w="15240">
            <a:solidFill>
              <a:srgbClr val="0055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03320" y="2286000"/>
            <a:ext cx="1737360" cy="365760"/>
          </a:xfrm>
          <a:prstGeom prst="rect">
            <a:avLst/>
          </a:prstGeom>
          <a:noFill/>
        </p:spPr>
        <p:txBody>
          <a:bodyPr wrap="square" anchor="t">
            <a:spAutoFit/>
          </a:bodyPr>
          <a:lstStyle/>
          <a:p>
            <a:pPr algn="ctr"/>
            <a:r>
              <a:rPr sz="1800" b="1">
                <a:solidFill>
                  <a:srgbClr val="005587"/>
                </a:solidFill>
                <a:latin typeface="Whitney Bold"/>
              </a:rPr>
              <a:t>LLM</a:t>
            </a:r>
          </a:p>
        </p:txBody>
      </p:sp>
      <p:sp>
        <p:nvSpPr>
          <p:cNvPr id="8" name="TextBox 7"/>
          <p:cNvSpPr txBox="1"/>
          <p:nvPr/>
        </p:nvSpPr>
        <p:spPr>
          <a:xfrm>
            <a:off x="3703320" y="2697480"/>
            <a:ext cx="1737360" cy="411480"/>
          </a:xfrm>
          <a:prstGeom prst="rect">
            <a:avLst/>
          </a:prstGeom>
          <a:noFill/>
        </p:spPr>
        <p:txBody>
          <a:bodyPr wrap="square" anchor="t">
            <a:spAutoFit/>
          </a:bodyPr>
          <a:lstStyle/>
          <a:p>
            <a:pPr algn="ctr"/>
            <a:r>
              <a:rPr sz="900" b="0" i="1">
                <a:solidFill>
                  <a:srgbClr val="555555"/>
                </a:solidFill>
                <a:latin typeface="Arial"/>
              </a:rPr>
              <a:t>(weights are fixed
unless you fine-tune)</a:t>
            </a:r>
          </a:p>
        </p:txBody>
      </p:sp>
      <p:sp>
        <p:nvSpPr>
          <p:cNvPr id="9" name="Rounded Rectangle 8"/>
          <p:cNvSpPr/>
          <p:nvPr/>
        </p:nvSpPr>
        <p:spPr>
          <a:xfrm>
            <a:off x="388619" y="3703320"/>
            <a:ext cx="2697480" cy="1325880"/>
          </a:xfrm>
          <a:prstGeom prst="rect">
            <a:avLst/>
          </a:prstGeom>
          <a:solidFill>
            <a:srgbClr val="FFFFFF"/>
          </a:solidFill>
          <a:ln w="15240">
            <a:solidFill>
              <a:srgbClr val="6A1B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5779" y="3794759"/>
            <a:ext cx="548640" cy="274320"/>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5779" y="3794759"/>
            <a:ext cx="548640" cy="274320"/>
          </a:xfrm>
          <a:prstGeom prst="rect">
            <a:avLst/>
          </a:prstGeom>
          <a:noFill/>
        </p:spPr>
        <p:txBody>
          <a:bodyPr wrap="square" anchor="ctr">
            <a:spAutoFit/>
          </a:bodyPr>
          <a:lstStyle/>
          <a:p>
            <a:pPr algn="ctr"/>
            <a:r>
              <a:rPr sz="900" b="1">
                <a:solidFill>
                  <a:srgbClr val="FFFFFF"/>
                </a:solidFill>
                <a:latin typeface="Arial"/>
              </a:rPr>
              <a:t>1</a:t>
            </a:r>
          </a:p>
        </p:txBody>
      </p:sp>
      <p:sp>
        <p:nvSpPr>
          <p:cNvPr id="12" name="TextBox 11"/>
          <p:cNvSpPr txBox="1"/>
          <p:nvPr/>
        </p:nvSpPr>
        <p:spPr>
          <a:xfrm>
            <a:off x="1165859" y="3794759"/>
            <a:ext cx="1828800" cy="274320"/>
          </a:xfrm>
          <a:prstGeom prst="rect">
            <a:avLst/>
          </a:prstGeom>
          <a:noFill/>
        </p:spPr>
        <p:txBody>
          <a:bodyPr wrap="square" anchor="ctr">
            <a:spAutoFit/>
          </a:bodyPr>
          <a:lstStyle/>
          <a:p>
            <a:pPr algn="l"/>
            <a:r>
              <a:rPr sz="1400" b="1">
                <a:solidFill>
                  <a:srgbClr val="6A1B9A"/>
                </a:solidFill>
                <a:latin typeface="Whitney Bold"/>
              </a:rPr>
              <a:t>Prompting</a:t>
            </a:r>
          </a:p>
        </p:txBody>
      </p:sp>
      <p:sp>
        <p:nvSpPr>
          <p:cNvPr id="13" name="TextBox 12"/>
          <p:cNvSpPr txBox="1"/>
          <p:nvPr/>
        </p:nvSpPr>
        <p:spPr>
          <a:xfrm>
            <a:off x="525779" y="4178808"/>
            <a:ext cx="2423160" cy="256032"/>
          </a:xfrm>
          <a:prstGeom prst="rect">
            <a:avLst/>
          </a:prstGeom>
          <a:noFill/>
        </p:spPr>
        <p:txBody>
          <a:bodyPr wrap="square" anchor="t">
            <a:spAutoFit/>
          </a:bodyPr>
          <a:lstStyle/>
          <a:p>
            <a:pPr algn="l"/>
            <a:r>
              <a:rPr sz="1000" b="0" i="1">
                <a:solidFill>
                  <a:srgbClr val="555555"/>
                </a:solidFill>
                <a:latin typeface="Arial"/>
              </a:rPr>
              <a:t>change the input</a:t>
            </a:r>
          </a:p>
        </p:txBody>
      </p:sp>
      <p:sp>
        <p:nvSpPr>
          <p:cNvPr id="14" name="Rounded Rectangle 13"/>
          <p:cNvSpPr/>
          <p:nvPr/>
        </p:nvSpPr>
        <p:spPr>
          <a:xfrm>
            <a:off x="525779" y="4480559"/>
            <a:ext cx="2423160" cy="411479"/>
          </a:xfrm>
          <a:prstGeom prst="rect">
            <a:avLst/>
          </a:prstGeom>
          <a:solidFill>
            <a:srgbClr val="F1E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19" y="4544568"/>
            <a:ext cx="2240280" cy="320039"/>
          </a:xfrm>
          <a:prstGeom prst="rect">
            <a:avLst/>
          </a:prstGeom>
          <a:noFill/>
        </p:spPr>
        <p:txBody>
          <a:bodyPr wrap="square" anchor="t">
            <a:spAutoFit/>
          </a:bodyPr>
          <a:lstStyle/>
          <a:p>
            <a:pPr algn="l"/>
            <a:r>
              <a:rPr sz="1000" b="0">
                <a:solidFill>
                  <a:srgbClr val="1F1F1F"/>
                </a:solidFill>
                <a:latin typeface="Arial"/>
              </a:rPr>
              <a:t>Add instructions, examples, or context in the prompt. Weights untouched.</a:t>
            </a:r>
          </a:p>
        </p:txBody>
      </p:sp>
      <p:sp>
        <p:nvSpPr>
          <p:cNvPr id="16" name="Rounded Rectangle 15"/>
          <p:cNvSpPr/>
          <p:nvPr/>
        </p:nvSpPr>
        <p:spPr>
          <a:xfrm>
            <a:off x="3223259" y="3703320"/>
            <a:ext cx="2697480" cy="1325880"/>
          </a:xfrm>
          <a:prstGeom prst="rect">
            <a:avLst/>
          </a:prstGeom>
          <a:solidFill>
            <a:srgbClr val="FFFFFF"/>
          </a:solidFill>
          <a:ln w="1524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360419" y="3794759"/>
            <a:ext cx="548640" cy="2743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60419" y="3794759"/>
            <a:ext cx="548640" cy="274320"/>
          </a:xfrm>
          <a:prstGeom prst="rect">
            <a:avLst/>
          </a:prstGeom>
          <a:noFill/>
        </p:spPr>
        <p:txBody>
          <a:bodyPr wrap="square" anchor="ctr">
            <a:spAutoFit/>
          </a:bodyPr>
          <a:lstStyle/>
          <a:p>
            <a:pPr algn="ctr"/>
            <a:r>
              <a:rPr sz="900" b="1">
                <a:solidFill>
                  <a:srgbClr val="FFFFFF"/>
                </a:solidFill>
                <a:latin typeface="Arial"/>
              </a:rPr>
              <a:t>2</a:t>
            </a:r>
          </a:p>
        </p:txBody>
      </p:sp>
      <p:sp>
        <p:nvSpPr>
          <p:cNvPr id="19" name="TextBox 18"/>
          <p:cNvSpPr txBox="1"/>
          <p:nvPr/>
        </p:nvSpPr>
        <p:spPr>
          <a:xfrm>
            <a:off x="4000499" y="3794759"/>
            <a:ext cx="1828800" cy="274320"/>
          </a:xfrm>
          <a:prstGeom prst="rect">
            <a:avLst/>
          </a:prstGeom>
          <a:noFill/>
        </p:spPr>
        <p:txBody>
          <a:bodyPr wrap="square" anchor="ctr">
            <a:spAutoFit/>
          </a:bodyPr>
          <a:lstStyle/>
          <a:p>
            <a:pPr algn="l"/>
            <a:r>
              <a:rPr sz="1400" b="1">
                <a:solidFill>
                  <a:srgbClr val="B8860B"/>
                </a:solidFill>
                <a:latin typeface="Whitney Bold"/>
              </a:rPr>
              <a:t>RAG</a:t>
            </a:r>
          </a:p>
        </p:txBody>
      </p:sp>
      <p:sp>
        <p:nvSpPr>
          <p:cNvPr id="20" name="TextBox 19"/>
          <p:cNvSpPr txBox="1"/>
          <p:nvPr/>
        </p:nvSpPr>
        <p:spPr>
          <a:xfrm>
            <a:off x="3360419" y="4178808"/>
            <a:ext cx="2423160" cy="256032"/>
          </a:xfrm>
          <a:prstGeom prst="rect">
            <a:avLst/>
          </a:prstGeom>
          <a:noFill/>
        </p:spPr>
        <p:txBody>
          <a:bodyPr wrap="square" anchor="t">
            <a:spAutoFit/>
          </a:bodyPr>
          <a:lstStyle/>
          <a:p>
            <a:pPr algn="l"/>
            <a:r>
              <a:rPr sz="1000" b="0" i="1">
                <a:solidFill>
                  <a:srgbClr val="555555"/>
                </a:solidFill>
                <a:latin typeface="Arial"/>
              </a:rPr>
              <a:t>change the input + add evidence</a:t>
            </a:r>
          </a:p>
        </p:txBody>
      </p:sp>
      <p:sp>
        <p:nvSpPr>
          <p:cNvPr id="21" name="Rounded Rectangle 20"/>
          <p:cNvSpPr/>
          <p:nvPr/>
        </p:nvSpPr>
        <p:spPr>
          <a:xfrm>
            <a:off x="3360419" y="4480559"/>
            <a:ext cx="2423160" cy="411479"/>
          </a:xfrm>
          <a:prstGeom prst="rect">
            <a:avLst/>
          </a:prstGeom>
          <a:solidFill>
            <a:srgbClr val="FDF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51859" y="4544568"/>
            <a:ext cx="2240280" cy="320039"/>
          </a:xfrm>
          <a:prstGeom prst="rect">
            <a:avLst/>
          </a:prstGeom>
          <a:noFill/>
        </p:spPr>
        <p:txBody>
          <a:bodyPr wrap="square" anchor="t">
            <a:spAutoFit/>
          </a:bodyPr>
          <a:lstStyle/>
          <a:p>
            <a:pPr algn="l"/>
            <a:r>
              <a:rPr sz="1000" b="0">
                <a:solidFill>
                  <a:srgbClr val="1F1F1F"/>
                </a:solidFill>
                <a:latin typeface="Arial"/>
              </a:rPr>
              <a:t>Retrieve relevant text at query time, paste into prompt. Weights untouched.</a:t>
            </a:r>
          </a:p>
        </p:txBody>
      </p:sp>
      <p:sp>
        <p:nvSpPr>
          <p:cNvPr id="23" name="Rounded Rectangle 22"/>
          <p:cNvSpPr/>
          <p:nvPr/>
        </p:nvSpPr>
        <p:spPr>
          <a:xfrm>
            <a:off x="6057899" y="3703320"/>
            <a:ext cx="2697480" cy="1325880"/>
          </a:xfrm>
          <a:prstGeom prst="rect">
            <a:avLst/>
          </a:prstGeom>
          <a:solidFill>
            <a:srgbClr val="FFFFFF"/>
          </a:solidFill>
          <a:ln w="1524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95059" y="3794759"/>
            <a:ext cx="548640" cy="2743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95059" y="3794759"/>
            <a:ext cx="548640" cy="274320"/>
          </a:xfrm>
          <a:prstGeom prst="rect">
            <a:avLst/>
          </a:prstGeom>
          <a:noFill/>
        </p:spPr>
        <p:txBody>
          <a:bodyPr wrap="square" anchor="ctr">
            <a:spAutoFit/>
          </a:bodyPr>
          <a:lstStyle/>
          <a:p>
            <a:pPr algn="ctr"/>
            <a:r>
              <a:rPr sz="900" b="1">
                <a:solidFill>
                  <a:srgbClr val="FFFFFF"/>
                </a:solidFill>
                <a:latin typeface="Arial"/>
              </a:rPr>
              <a:t>3</a:t>
            </a:r>
          </a:p>
        </p:txBody>
      </p:sp>
      <p:sp>
        <p:nvSpPr>
          <p:cNvPr id="26" name="TextBox 25"/>
          <p:cNvSpPr txBox="1"/>
          <p:nvPr/>
        </p:nvSpPr>
        <p:spPr>
          <a:xfrm>
            <a:off x="6835139" y="3794759"/>
            <a:ext cx="1828800" cy="274320"/>
          </a:xfrm>
          <a:prstGeom prst="rect">
            <a:avLst/>
          </a:prstGeom>
          <a:noFill/>
        </p:spPr>
        <p:txBody>
          <a:bodyPr wrap="square" anchor="ctr">
            <a:spAutoFit/>
          </a:bodyPr>
          <a:lstStyle/>
          <a:p>
            <a:pPr algn="l"/>
            <a:r>
              <a:rPr sz="1400" b="1">
                <a:solidFill>
                  <a:srgbClr val="2E7D32"/>
                </a:solidFill>
                <a:latin typeface="Whitney Bold"/>
              </a:rPr>
              <a:t>Fine-tuning</a:t>
            </a:r>
          </a:p>
        </p:txBody>
      </p:sp>
      <p:sp>
        <p:nvSpPr>
          <p:cNvPr id="27" name="TextBox 26"/>
          <p:cNvSpPr txBox="1"/>
          <p:nvPr/>
        </p:nvSpPr>
        <p:spPr>
          <a:xfrm>
            <a:off x="6195059" y="4178808"/>
            <a:ext cx="2423160" cy="256032"/>
          </a:xfrm>
          <a:prstGeom prst="rect">
            <a:avLst/>
          </a:prstGeom>
          <a:noFill/>
        </p:spPr>
        <p:txBody>
          <a:bodyPr wrap="square" anchor="t">
            <a:spAutoFit/>
          </a:bodyPr>
          <a:lstStyle/>
          <a:p>
            <a:pPr algn="l"/>
            <a:r>
              <a:rPr sz="1000" b="0" i="1">
                <a:solidFill>
                  <a:srgbClr val="555555"/>
                </a:solidFill>
                <a:latin typeface="Arial"/>
              </a:rPr>
              <a:t>change the weights</a:t>
            </a:r>
          </a:p>
        </p:txBody>
      </p:sp>
      <p:sp>
        <p:nvSpPr>
          <p:cNvPr id="28" name="Rounded Rectangle 27"/>
          <p:cNvSpPr/>
          <p:nvPr/>
        </p:nvSpPr>
        <p:spPr>
          <a:xfrm>
            <a:off x="6195059" y="4480559"/>
            <a:ext cx="2423160" cy="411479"/>
          </a:xfrm>
          <a:prstGeom prst="rect">
            <a:avLst/>
          </a:prstGeom>
          <a:solidFill>
            <a:srgbClr val="E7F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86499" y="4544568"/>
            <a:ext cx="2240280" cy="320039"/>
          </a:xfrm>
          <a:prstGeom prst="rect">
            <a:avLst/>
          </a:prstGeom>
          <a:noFill/>
        </p:spPr>
        <p:txBody>
          <a:bodyPr wrap="square" anchor="t">
            <a:spAutoFit/>
          </a:bodyPr>
          <a:lstStyle/>
          <a:p>
            <a:pPr algn="l"/>
            <a:r>
              <a:rPr sz="1000" b="0">
                <a:solidFill>
                  <a:srgbClr val="1F1F1F"/>
                </a:solidFill>
                <a:latin typeface="Arial"/>
              </a:rPr>
              <a:t>Continue training the model on your data. Behavior is baked into the weights.</a:t>
            </a:r>
          </a:p>
        </p:txBody>
      </p:sp>
      <p:cxnSp>
        <p:nvCxnSpPr>
          <p:cNvPr id="30" name="Connector 29"/>
          <p:cNvCxnSpPr/>
          <p:nvPr/>
        </p:nvCxnSpPr>
        <p:spPr>
          <a:xfrm flipV="1">
            <a:off x="1737359" y="3145536"/>
            <a:ext cx="0" cy="539496"/>
          </a:xfrm>
          <a:prstGeom prst="line">
            <a:avLst/>
          </a:prstGeom>
          <a:ln w="12700">
            <a:solidFill>
              <a:srgbClr val="005587"/>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571999" y="3145536"/>
            <a:ext cx="0" cy="539496"/>
          </a:xfrm>
          <a:prstGeom prst="line">
            <a:avLst/>
          </a:prstGeom>
          <a:ln w="12700">
            <a:solidFill>
              <a:srgbClr val="005587"/>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406640" y="3145536"/>
            <a:ext cx="0" cy="539496"/>
          </a:xfrm>
          <a:prstGeom prst="line">
            <a:avLst/>
          </a:prstGeom>
          <a:ln w="12700">
            <a:solidFill>
              <a:srgbClr val="005587"/>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4572000" y="1508760"/>
            <a:ext cx="0" cy="713232"/>
          </a:xfrm>
          <a:prstGeom prst="line">
            <a:avLst/>
          </a:prstGeom>
          <a:ln w="12700">
            <a:solidFill>
              <a:srgbClr val="005587"/>
            </a:solidFill>
            <a:tailEnd type="triangle" w="med" h="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331720" y="1417320"/>
            <a:ext cx="4480560" cy="292608"/>
          </a:xfrm>
          <a:prstGeom prst="rect">
            <a:avLst/>
          </a:prstGeom>
          <a:noFill/>
        </p:spPr>
        <p:txBody>
          <a:bodyPr wrap="square" anchor="t">
            <a:spAutoFit/>
          </a:bodyPr>
          <a:lstStyle/>
          <a:p>
            <a:pPr algn="ctr"/>
            <a:r>
              <a:rPr sz="1200" b="1">
                <a:solidFill>
                  <a:srgbClr val="005587"/>
                </a:solidFill>
                <a:latin typeface="Whitney Bold"/>
              </a:rPr>
              <a:t>Better answers for your use case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05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645920"/>
            <a:ext cx="9144000" cy="1828800"/>
          </a:xfrm>
          <a:prstGeom prst="rect">
            <a:avLst/>
          </a:prstGeom>
          <a:noFill/>
        </p:spPr>
        <p:txBody>
          <a:bodyPr wrap="square" anchor="ctr">
            <a:spAutoFit/>
          </a:bodyPr>
          <a:lstStyle/>
          <a:p>
            <a:pPr algn="ctr"/>
            <a:r>
              <a:rPr sz="4000" b="1">
                <a:solidFill>
                  <a:srgbClr val="FFFFFF"/>
                </a:solidFill>
                <a:latin typeface="Whitney Bold"/>
              </a:rPr>
              <a:t>Option 1: Prompting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5148072"/>
          </a:xfrm>
          <a:prstGeom prst="rect">
            <a:avLst/>
          </a:prstGeom>
          <a:solidFill>
            <a:srgbClr val="005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321040" cy="685800"/>
          </a:xfrm>
          <a:prstGeom prst="rect">
            <a:avLst/>
          </a:prstGeom>
          <a:noFill/>
        </p:spPr>
        <p:txBody>
          <a:bodyPr wrap="square" anchor="ctr">
            <a:spAutoFit/>
          </a:bodyPr>
          <a:lstStyle/>
          <a:p>
            <a:pPr algn="l"/>
            <a:r>
              <a:rPr sz="2800" b="1">
                <a:solidFill>
                  <a:srgbClr val="005587"/>
                </a:solidFill>
                <a:latin typeface="Whitney Bold"/>
              </a:rPr>
              <a:t>Same Weights, Different Prompt</a:t>
            </a:r>
          </a:p>
        </p:txBody>
      </p:sp>
      <p:cxnSp>
        <p:nvCxnSpPr>
          <p:cNvPr id="4" name="Connector 3"/>
          <p:cNvCxnSpPr/>
          <p:nvPr/>
        </p:nvCxnSpPr>
        <p:spPr>
          <a:xfrm>
            <a:off x="457200" y="914400"/>
            <a:ext cx="83210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005840"/>
            <a:ext cx="8321040" cy="411480"/>
          </a:xfrm>
          <a:prstGeom prst="rect">
            <a:avLst/>
          </a:prstGeom>
          <a:noFill/>
        </p:spPr>
        <p:txBody>
          <a:bodyPr wrap="square" anchor="t">
            <a:spAutoFit/>
          </a:bodyPr>
          <a:lstStyle/>
          <a:p>
            <a:pPr algn="l"/>
            <a:r>
              <a:rPr sz="1600" b="1">
                <a:solidFill>
                  <a:srgbClr val="1F1F1F"/>
                </a:solidFill>
                <a:latin typeface="Arial"/>
              </a:rPr>
              <a:t>Same weights. Different prompt. Very different output.</a:t>
            </a:r>
          </a:p>
        </p:txBody>
      </p:sp>
      <p:sp>
        <p:nvSpPr>
          <p:cNvPr id="6" name="Rounded Rectangle 5"/>
          <p:cNvSpPr/>
          <p:nvPr/>
        </p:nvSpPr>
        <p:spPr>
          <a:xfrm>
            <a:off x="457200" y="1600200"/>
            <a:ext cx="4069080" cy="3154680"/>
          </a:xfrm>
          <a:prstGeom prst="rect">
            <a:avLst/>
          </a:prstGeom>
          <a:solidFill>
            <a:srgbClr val="FFFFFF"/>
          </a:solidFill>
          <a:ln w="12700">
            <a:solidFill>
              <a:srgbClr val="6A1B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691640"/>
            <a:ext cx="1371600" cy="274320"/>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91640"/>
            <a:ext cx="1371600" cy="274320"/>
          </a:xfrm>
          <a:prstGeom prst="rect">
            <a:avLst/>
          </a:prstGeom>
          <a:noFill/>
        </p:spPr>
        <p:txBody>
          <a:bodyPr wrap="square" anchor="ctr">
            <a:spAutoFit/>
          </a:bodyPr>
          <a:lstStyle/>
          <a:p>
            <a:pPr algn="ctr"/>
            <a:r>
              <a:rPr sz="1000" b="1">
                <a:solidFill>
                  <a:srgbClr val="FFFFFF"/>
                </a:solidFill>
                <a:latin typeface="Arial"/>
              </a:rPr>
              <a:t>Bare prompt</a:t>
            </a:r>
          </a:p>
        </p:txBody>
      </p:sp>
      <p:sp>
        <p:nvSpPr>
          <p:cNvPr id="9" name="TextBox 8"/>
          <p:cNvSpPr txBox="1"/>
          <p:nvPr/>
        </p:nvSpPr>
        <p:spPr>
          <a:xfrm>
            <a:off x="640080" y="2057400"/>
            <a:ext cx="3703320" cy="201168"/>
          </a:xfrm>
          <a:prstGeom prst="rect">
            <a:avLst/>
          </a:prstGeom>
          <a:noFill/>
        </p:spPr>
        <p:txBody>
          <a:bodyPr wrap="square" anchor="t">
            <a:spAutoFit/>
          </a:bodyPr>
          <a:lstStyle/>
          <a:p>
            <a:pPr algn="l"/>
            <a:r>
              <a:rPr sz="850" b="1">
                <a:solidFill>
                  <a:srgbClr val="555555"/>
                </a:solidFill>
                <a:latin typeface="Arial"/>
              </a:rPr>
              <a:t>PROMPT</a:t>
            </a:r>
          </a:p>
        </p:txBody>
      </p:sp>
      <p:sp>
        <p:nvSpPr>
          <p:cNvPr id="10" name="TextBox 9"/>
          <p:cNvSpPr txBox="1"/>
          <p:nvPr/>
        </p:nvSpPr>
        <p:spPr>
          <a:xfrm>
            <a:off x="640080" y="2258568"/>
            <a:ext cx="3703320" cy="1051560"/>
          </a:xfrm>
          <a:prstGeom prst="rect">
            <a:avLst/>
          </a:prstGeom>
          <a:noFill/>
        </p:spPr>
        <p:txBody>
          <a:bodyPr wrap="square" anchor="t">
            <a:spAutoFit/>
          </a:bodyPr>
          <a:lstStyle/>
          <a:p>
            <a:pPr algn="l"/>
            <a:r>
              <a:rPr sz="900" b="0">
                <a:solidFill>
                  <a:srgbClr val="1F1F1F"/>
                </a:solidFill>
                <a:latin typeface="Consolas"/>
              </a:rPr>
              <a:t>Q: A storm hit. The flight is delayed. The customer wants a refund. Reply.</a:t>
            </a:r>
          </a:p>
        </p:txBody>
      </p:sp>
      <p:sp>
        <p:nvSpPr>
          <p:cNvPr id="11" name="TextBox 10"/>
          <p:cNvSpPr txBox="1"/>
          <p:nvPr/>
        </p:nvSpPr>
        <p:spPr>
          <a:xfrm>
            <a:off x="640080" y="3383280"/>
            <a:ext cx="3703320" cy="201168"/>
          </a:xfrm>
          <a:prstGeom prst="rect">
            <a:avLst/>
          </a:prstGeom>
          <a:noFill/>
        </p:spPr>
        <p:txBody>
          <a:bodyPr wrap="square" anchor="t">
            <a:spAutoFit/>
          </a:bodyPr>
          <a:lstStyle/>
          <a:p>
            <a:pPr algn="l"/>
            <a:r>
              <a:rPr sz="850" b="1">
                <a:solidFill>
                  <a:srgbClr val="555555"/>
                </a:solidFill>
                <a:latin typeface="Arial"/>
              </a:rPr>
              <a:t>MODEL OUTPUT</a:t>
            </a:r>
          </a:p>
        </p:txBody>
      </p:sp>
      <p:sp>
        <p:nvSpPr>
          <p:cNvPr id="12" name="TextBox 11"/>
          <p:cNvSpPr txBox="1"/>
          <p:nvPr/>
        </p:nvSpPr>
        <p:spPr>
          <a:xfrm>
            <a:off x="640080" y="3584448"/>
            <a:ext cx="3703320" cy="1051560"/>
          </a:xfrm>
          <a:prstGeom prst="rect">
            <a:avLst/>
          </a:prstGeom>
          <a:noFill/>
        </p:spPr>
        <p:txBody>
          <a:bodyPr wrap="square" anchor="t">
            <a:spAutoFit/>
          </a:bodyPr>
          <a:lstStyle/>
          <a:p>
            <a:pPr algn="l"/>
            <a:r>
              <a:rPr sz="900" b="1">
                <a:solidFill>
                  <a:srgbClr val="6A1B9A"/>
                </a:solidFill>
                <a:latin typeface="Consolas"/>
              </a:rPr>
              <a:t>"Hi! That stinks lol. Try the refund button on the app or whatever."</a:t>
            </a:r>
          </a:p>
        </p:txBody>
      </p:sp>
      <p:sp>
        <p:nvSpPr>
          <p:cNvPr id="13" name="Rounded Rectangle 12"/>
          <p:cNvSpPr/>
          <p:nvPr/>
        </p:nvSpPr>
        <p:spPr>
          <a:xfrm>
            <a:off x="4617720" y="1600200"/>
            <a:ext cx="4069080" cy="3154680"/>
          </a:xfrm>
          <a:prstGeom prst="rect">
            <a:avLst/>
          </a:prstGeom>
          <a:solidFill>
            <a:srgbClr val="FFFFFF"/>
          </a:solidFill>
          <a:ln w="12700">
            <a:solidFill>
              <a:srgbClr val="6A1B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754880" y="1691640"/>
            <a:ext cx="1371600" cy="274320"/>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1691640"/>
            <a:ext cx="1371600" cy="274320"/>
          </a:xfrm>
          <a:prstGeom prst="rect">
            <a:avLst/>
          </a:prstGeom>
          <a:noFill/>
        </p:spPr>
        <p:txBody>
          <a:bodyPr wrap="square" anchor="ctr">
            <a:spAutoFit/>
          </a:bodyPr>
          <a:lstStyle/>
          <a:p>
            <a:pPr algn="ctr"/>
            <a:r>
              <a:rPr sz="1000" b="1">
                <a:solidFill>
                  <a:srgbClr val="FFFFFF"/>
                </a:solidFill>
                <a:latin typeface="Arial"/>
              </a:rPr>
              <a:t>Better prompt, same model</a:t>
            </a:r>
          </a:p>
        </p:txBody>
      </p:sp>
      <p:sp>
        <p:nvSpPr>
          <p:cNvPr id="16" name="TextBox 15"/>
          <p:cNvSpPr txBox="1"/>
          <p:nvPr/>
        </p:nvSpPr>
        <p:spPr>
          <a:xfrm>
            <a:off x="4800600" y="2057400"/>
            <a:ext cx="3703320" cy="201168"/>
          </a:xfrm>
          <a:prstGeom prst="rect">
            <a:avLst/>
          </a:prstGeom>
          <a:noFill/>
        </p:spPr>
        <p:txBody>
          <a:bodyPr wrap="square" anchor="t">
            <a:spAutoFit/>
          </a:bodyPr>
          <a:lstStyle/>
          <a:p>
            <a:pPr algn="l"/>
            <a:r>
              <a:rPr sz="850" b="1">
                <a:solidFill>
                  <a:srgbClr val="555555"/>
                </a:solidFill>
                <a:latin typeface="Arial"/>
              </a:rPr>
              <a:t>PROMPT</a:t>
            </a:r>
          </a:p>
        </p:txBody>
      </p:sp>
      <p:sp>
        <p:nvSpPr>
          <p:cNvPr id="17" name="TextBox 16"/>
          <p:cNvSpPr txBox="1"/>
          <p:nvPr/>
        </p:nvSpPr>
        <p:spPr>
          <a:xfrm>
            <a:off x="4800600" y="2258568"/>
            <a:ext cx="3703320" cy="1051560"/>
          </a:xfrm>
          <a:prstGeom prst="rect">
            <a:avLst/>
          </a:prstGeom>
          <a:noFill/>
        </p:spPr>
        <p:txBody>
          <a:bodyPr wrap="square" anchor="t">
            <a:spAutoFit/>
          </a:bodyPr>
          <a:lstStyle/>
          <a:p>
            <a:pPr algn="l"/>
            <a:r>
              <a:rPr sz="900" b="0">
                <a:solidFill>
                  <a:srgbClr val="1F1F1F"/>
                </a:solidFill>
                <a:latin typeface="Consolas"/>
              </a:rPr>
              <a:t>You are a polite customer-service agent.
Reply in 3 short, professional
sentences. Acknowledge, explain
options, and offer a follow-up.
Q: A storm hit. The flight is
delayed. The customer wants a
refund. Reply.</a:t>
            </a:r>
          </a:p>
        </p:txBody>
      </p:sp>
      <p:sp>
        <p:nvSpPr>
          <p:cNvPr id="18" name="TextBox 17"/>
          <p:cNvSpPr txBox="1"/>
          <p:nvPr/>
        </p:nvSpPr>
        <p:spPr>
          <a:xfrm>
            <a:off x="4800600" y="3383280"/>
            <a:ext cx="3703320" cy="201168"/>
          </a:xfrm>
          <a:prstGeom prst="rect">
            <a:avLst/>
          </a:prstGeom>
          <a:noFill/>
        </p:spPr>
        <p:txBody>
          <a:bodyPr wrap="square" anchor="t">
            <a:spAutoFit/>
          </a:bodyPr>
          <a:lstStyle/>
          <a:p>
            <a:pPr algn="l"/>
            <a:r>
              <a:rPr sz="850" b="1">
                <a:solidFill>
                  <a:srgbClr val="555555"/>
                </a:solidFill>
                <a:latin typeface="Arial"/>
              </a:rPr>
              <a:t>MODEL OUTPUT</a:t>
            </a:r>
          </a:p>
        </p:txBody>
      </p:sp>
      <p:sp>
        <p:nvSpPr>
          <p:cNvPr id="19" name="TextBox 18"/>
          <p:cNvSpPr txBox="1"/>
          <p:nvPr/>
        </p:nvSpPr>
        <p:spPr>
          <a:xfrm>
            <a:off x="4800600" y="3584448"/>
            <a:ext cx="3703320" cy="1051560"/>
          </a:xfrm>
          <a:prstGeom prst="rect">
            <a:avLst/>
          </a:prstGeom>
          <a:noFill/>
        </p:spPr>
        <p:txBody>
          <a:bodyPr wrap="square" anchor="t">
            <a:spAutoFit/>
          </a:bodyPr>
          <a:lstStyle/>
          <a:p>
            <a:pPr algn="l"/>
            <a:r>
              <a:rPr sz="900" b="1">
                <a:solidFill>
                  <a:srgbClr val="6A1B9A"/>
                </a:solidFill>
                <a:latin typeface="Consolas"/>
              </a:rPr>
              <a:t>"I'm sorry about the storm-related delay. We can offer a refund on your unused leg or rebook you on the next available flight at no charge. Please reply with which option you'd prefer."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5148072"/>
          </a:xfrm>
          <a:prstGeom prst="rect">
            <a:avLst/>
          </a:prstGeom>
          <a:solidFill>
            <a:srgbClr val="005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321040" cy="685800"/>
          </a:xfrm>
          <a:prstGeom prst="rect">
            <a:avLst/>
          </a:prstGeom>
          <a:noFill/>
        </p:spPr>
        <p:txBody>
          <a:bodyPr wrap="square" anchor="ctr">
            <a:spAutoFit/>
          </a:bodyPr>
          <a:lstStyle/>
          <a:p>
            <a:pPr algn="l"/>
            <a:r>
              <a:rPr sz="2800" b="1">
                <a:solidFill>
                  <a:srgbClr val="005587"/>
                </a:solidFill>
                <a:latin typeface="Whitney Bold"/>
              </a:rPr>
              <a:t>System Prompts and Roles</a:t>
            </a:r>
          </a:p>
        </p:txBody>
      </p:sp>
      <p:cxnSp>
        <p:nvCxnSpPr>
          <p:cNvPr id="4" name="Connector 3"/>
          <p:cNvCxnSpPr/>
          <p:nvPr/>
        </p:nvCxnSpPr>
        <p:spPr>
          <a:xfrm>
            <a:off x="457200" y="914400"/>
            <a:ext cx="83210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005840"/>
            <a:ext cx="8321040" cy="365760"/>
          </a:xfrm>
          <a:prstGeom prst="rect">
            <a:avLst/>
          </a:prstGeom>
          <a:noFill/>
        </p:spPr>
        <p:txBody>
          <a:bodyPr wrap="square" anchor="t">
            <a:spAutoFit/>
          </a:bodyPr>
          <a:lstStyle/>
          <a:p>
            <a:pPr algn="l"/>
            <a:r>
              <a:rPr sz="1300" b="1">
                <a:solidFill>
                  <a:srgbClr val="1F1F1F"/>
                </a:solidFill>
                <a:latin typeface="Arial"/>
              </a:rPr>
              <a:t>Most APIs let you separate a high-priority "system" message from the user's "user" message.</a:t>
            </a:r>
          </a:p>
        </p:txBody>
      </p:sp>
      <p:sp>
        <p:nvSpPr>
          <p:cNvPr id="6" name="Rounded Rectangle 5"/>
          <p:cNvSpPr/>
          <p:nvPr/>
        </p:nvSpPr>
        <p:spPr>
          <a:xfrm>
            <a:off x="457200" y="1508760"/>
            <a:ext cx="8229600" cy="2743200"/>
          </a:xfrm>
          <a:prstGeom prst="rect">
            <a:avLst/>
          </a:prstGeom>
          <a:solidFill>
            <a:srgbClr val="FFFFFF"/>
          </a:solidFill>
          <a:ln w="12700">
            <a:solidFill>
              <a:srgbClr val="6A1B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27632"/>
            <a:ext cx="7863840" cy="219456"/>
          </a:xfrm>
          <a:prstGeom prst="rect">
            <a:avLst/>
          </a:prstGeom>
          <a:noFill/>
        </p:spPr>
        <p:txBody>
          <a:bodyPr wrap="square" anchor="t">
            <a:spAutoFit/>
          </a:bodyPr>
          <a:lstStyle/>
          <a:p>
            <a:pPr algn="l"/>
            <a:r>
              <a:rPr sz="1100" b="1">
                <a:solidFill>
                  <a:srgbClr val="6A1B9A"/>
                </a:solidFill>
                <a:latin typeface="Consolas"/>
              </a:rPr>
              <a:t xml:space="preserve">system: </a:t>
            </a:r>
            <a:r>
              <a:rPr sz="1000" b="0">
                <a:solidFill>
                  <a:srgbClr val="1F1F1F"/>
                </a:solidFill>
                <a:latin typeface="Consolas"/>
              </a:rPr>
              <a:t>You are an internal IT support assistant for ACME Corp. Only answer questions about ACME's email, VPN, and laptop policies. If the user asks about anything else, politely redirect them. Always cite the policy section.</a:t>
            </a:r>
          </a:p>
        </p:txBody>
      </p:sp>
      <p:sp>
        <p:nvSpPr>
          <p:cNvPr id="8" name="TextBox 7"/>
          <p:cNvSpPr txBox="1"/>
          <p:nvPr/>
        </p:nvSpPr>
        <p:spPr>
          <a:xfrm>
            <a:off x="640080" y="2542032"/>
            <a:ext cx="7863840" cy="219456"/>
          </a:xfrm>
          <a:prstGeom prst="rect">
            <a:avLst/>
          </a:prstGeom>
          <a:noFill/>
        </p:spPr>
        <p:txBody>
          <a:bodyPr wrap="square" anchor="t">
            <a:spAutoFit/>
          </a:bodyPr>
          <a:lstStyle/>
          <a:p>
            <a:pPr algn="l"/>
            <a:r>
              <a:rPr sz="1100" b="1">
                <a:solidFill>
                  <a:srgbClr val="005587"/>
                </a:solidFill>
                <a:latin typeface="Consolas"/>
              </a:rPr>
              <a:t xml:space="preserve">user: </a:t>
            </a:r>
            <a:r>
              <a:rPr sz="1000" b="0">
                <a:solidFill>
                  <a:srgbClr val="1F1F1F"/>
                </a:solidFill>
                <a:latin typeface="Consolas"/>
              </a:rPr>
              <a:t>How do I set up my work email on my phone?</a:t>
            </a:r>
          </a:p>
        </p:txBody>
      </p:sp>
      <p:sp>
        <p:nvSpPr>
          <p:cNvPr id="9" name="TextBox 8"/>
          <p:cNvSpPr txBox="1"/>
          <p:nvPr/>
        </p:nvSpPr>
        <p:spPr>
          <a:xfrm>
            <a:off x="640080" y="3456432"/>
            <a:ext cx="7863840" cy="219456"/>
          </a:xfrm>
          <a:prstGeom prst="rect">
            <a:avLst/>
          </a:prstGeom>
          <a:noFill/>
        </p:spPr>
        <p:txBody>
          <a:bodyPr wrap="square" anchor="t">
            <a:spAutoFit/>
          </a:bodyPr>
          <a:lstStyle/>
          <a:p>
            <a:pPr algn="l"/>
            <a:r>
              <a:rPr sz="1100" b="1">
                <a:solidFill>
                  <a:srgbClr val="2E7D32"/>
                </a:solidFill>
                <a:latin typeface="Consolas"/>
              </a:rPr>
              <a:t xml:space="preserve">assistant: </a:t>
            </a:r>
            <a:r>
              <a:rPr sz="1000" b="0">
                <a:solidFill>
                  <a:srgbClr val="1F1F1F"/>
                </a:solidFill>
                <a:latin typeface="Consolas"/>
              </a:rPr>
              <a:t>ACME work email is configured via the Outlook mobile app with your @acme.com credentials and Microsoft Authenticator (Section 4.2 of IT Onboarding). Open the App Store, install Outlook, sign in with your ACME email, and approve the multi-factor prompt on Authenticator. Let me know if MFA does not appear.</a:t>
            </a:r>
          </a:p>
        </p:txBody>
      </p:sp>
      <p:sp>
        <p:nvSpPr>
          <p:cNvPr id="10" name="TextBox 9"/>
          <p:cNvSpPr txBox="1"/>
          <p:nvPr/>
        </p:nvSpPr>
        <p:spPr>
          <a:xfrm>
            <a:off x="457200" y="4434840"/>
            <a:ext cx="8321040" cy="365760"/>
          </a:xfrm>
          <a:prstGeom prst="rect">
            <a:avLst/>
          </a:prstGeom>
          <a:noFill/>
        </p:spPr>
        <p:txBody>
          <a:bodyPr wrap="square" anchor="t">
            <a:spAutoFit/>
          </a:bodyPr>
          <a:lstStyle/>
          <a:p>
            <a:pPr algn="ctr"/>
            <a:r>
              <a:rPr sz="1100" b="1">
                <a:solidFill>
                  <a:srgbClr val="005587"/>
                </a:solidFill>
                <a:latin typeface="Arial"/>
              </a:rPr>
              <a:t>Same model, different system prompt → different assistant. No training. Just a paragraph at the top of the conversation.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5148072"/>
          </a:xfrm>
          <a:prstGeom prst="rect">
            <a:avLst/>
          </a:prstGeom>
          <a:solidFill>
            <a:srgbClr val="005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321040" cy="685800"/>
          </a:xfrm>
          <a:prstGeom prst="rect">
            <a:avLst/>
          </a:prstGeom>
          <a:noFill/>
        </p:spPr>
        <p:txBody>
          <a:bodyPr wrap="square" anchor="ctr">
            <a:spAutoFit/>
          </a:bodyPr>
          <a:lstStyle/>
          <a:p>
            <a:pPr algn="l"/>
            <a:r>
              <a:rPr sz="2800" b="1">
                <a:solidFill>
                  <a:srgbClr val="005587"/>
                </a:solidFill>
                <a:latin typeface="Whitney Bold"/>
              </a:rPr>
              <a:t>Few-Shot Prompting</a:t>
            </a:r>
          </a:p>
        </p:txBody>
      </p:sp>
      <p:cxnSp>
        <p:nvCxnSpPr>
          <p:cNvPr id="4" name="Connector 3"/>
          <p:cNvCxnSpPr/>
          <p:nvPr/>
        </p:nvCxnSpPr>
        <p:spPr>
          <a:xfrm>
            <a:off x="457200" y="914400"/>
            <a:ext cx="83210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960120"/>
            <a:ext cx="8321040" cy="329184"/>
          </a:xfrm>
          <a:prstGeom prst="rect">
            <a:avLst/>
          </a:prstGeom>
          <a:noFill/>
        </p:spPr>
        <p:txBody>
          <a:bodyPr wrap="square" anchor="t">
            <a:spAutoFit/>
          </a:bodyPr>
          <a:lstStyle/>
          <a:p>
            <a:pPr algn="l"/>
            <a:r>
              <a:rPr sz="1200" b="1">
                <a:solidFill>
                  <a:srgbClr val="1F1F1F"/>
                </a:solidFill>
                <a:latin typeface="Arial"/>
              </a:rPr>
              <a:t>Add a few labeled examples in the prompt. The model learns the pattern at inference time, no training.</a:t>
            </a:r>
          </a:p>
        </p:txBody>
      </p:sp>
      <p:sp>
        <p:nvSpPr>
          <p:cNvPr id="6" name="Rounded Rectangle 5"/>
          <p:cNvSpPr/>
          <p:nvPr/>
        </p:nvSpPr>
        <p:spPr>
          <a:xfrm>
            <a:off x="457200" y="1371600"/>
            <a:ext cx="8229600" cy="3337560"/>
          </a:xfrm>
          <a:prstGeom prst="rect">
            <a:avLst/>
          </a:prstGeom>
          <a:solidFill>
            <a:srgbClr val="FFFFFF"/>
          </a:solidFill>
          <a:ln w="12700">
            <a:solidFill>
              <a:srgbClr val="6A1B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7863840" cy="219456"/>
          </a:xfrm>
          <a:prstGeom prst="rect">
            <a:avLst/>
          </a:prstGeom>
          <a:noFill/>
        </p:spPr>
        <p:txBody>
          <a:bodyPr wrap="square" anchor="t">
            <a:spAutoFit/>
          </a:bodyPr>
          <a:lstStyle/>
          <a:p>
            <a:pPr algn="l"/>
            <a:r>
              <a:rPr sz="1100" b="1">
                <a:solidFill>
                  <a:srgbClr val="6A1B9A"/>
                </a:solidFill>
                <a:latin typeface="Arial"/>
              </a:rPr>
              <a:t>TASK: classify each support ticket as billing / technical / account.</a:t>
            </a:r>
          </a:p>
        </p:txBody>
      </p:sp>
      <p:sp>
        <p:nvSpPr>
          <p:cNvPr id="8" name="TextBox 7"/>
          <p:cNvSpPr txBox="1"/>
          <p:nvPr/>
        </p:nvSpPr>
        <p:spPr>
          <a:xfrm>
            <a:off x="640080" y="1783080"/>
            <a:ext cx="1188720" cy="219456"/>
          </a:xfrm>
          <a:prstGeom prst="rect">
            <a:avLst/>
          </a:prstGeom>
          <a:noFill/>
        </p:spPr>
        <p:txBody>
          <a:bodyPr wrap="square" anchor="t">
            <a:spAutoFit/>
          </a:bodyPr>
          <a:lstStyle/>
          <a:p>
            <a:pPr algn="l"/>
            <a:r>
              <a:rPr sz="1000" b="1">
                <a:solidFill>
                  <a:srgbClr val="555555"/>
                </a:solidFill>
                <a:latin typeface="Arial"/>
              </a:rPr>
              <a:t>Example 1 →</a:t>
            </a:r>
          </a:p>
        </p:txBody>
      </p:sp>
      <p:sp>
        <p:nvSpPr>
          <p:cNvPr id="9" name="TextBox 8"/>
          <p:cNvSpPr txBox="1"/>
          <p:nvPr/>
        </p:nvSpPr>
        <p:spPr>
          <a:xfrm>
            <a:off x="1874519" y="1783080"/>
            <a:ext cx="5029200" cy="219456"/>
          </a:xfrm>
          <a:prstGeom prst="rect">
            <a:avLst/>
          </a:prstGeom>
          <a:noFill/>
        </p:spPr>
        <p:txBody>
          <a:bodyPr wrap="square" anchor="t">
            <a:spAutoFit/>
          </a:bodyPr>
          <a:lstStyle/>
          <a:p>
            <a:pPr algn="l"/>
            <a:r>
              <a:rPr sz="1000" b="0">
                <a:solidFill>
                  <a:srgbClr val="1F1F1F"/>
                </a:solidFill>
                <a:latin typeface="Consolas"/>
              </a:rPr>
              <a:t>"My credit card was charged $19 twice for one subscription."</a:t>
            </a:r>
          </a:p>
        </p:txBody>
      </p:sp>
      <p:sp>
        <p:nvSpPr>
          <p:cNvPr id="10" name="Rounded Rectangle 9"/>
          <p:cNvSpPr/>
          <p:nvPr/>
        </p:nvSpPr>
        <p:spPr>
          <a:xfrm>
            <a:off x="6995160" y="1764792"/>
            <a:ext cx="1417320" cy="274320"/>
          </a:xfrm>
          <a:prstGeom prst="rect">
            <a:avLst/>
          </a:prstGeom>
          <a:solidFill>
            <a:srgbClr val="F1E6F8"/>
          </a:solidFill>
          <a:ln w="6350">
            <a:solidFill>
              <a:srgbClr val="6A1B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0" y="1764792"/>
            <a:ext cx="1417320" cy="274320"/>
          </a:xfrm>
          <a:prstGeom prst="rect">
            <a:avLst/>
          </a:prstGeom>
          <a:noFill/>
        </p:spPr>
        <p:txBody>
          <a:bodyPr wrap="square" anchor="ctr">
            <a:spAutoFit/>
          </a:bodyPr>
          <a:lstStyle/>
          <a:p>
            <a:pPr algn="ctr"/>
            <a:r>
              <a:rPr sz="1000" b="1">
                <a:solidFill>
                  <a:srgbClr val="6A1B9A"/>
                </a:solidFill>
                <a:latin typeface="Arial"/>
              </a:rPr>
              <a:t>billing</a:t>
            </a:r>
          </a:p>
        </p:txBody>
      </p:sp>
      <p:sp>
        <p:nvSpPr>
          <p:cNvPr id="12" name="TextBox 11"/>
          <p:cNvSpPr txBox="1"/>
          <p:nvPr/>
        </p:nvSpPr>
        <p:spPr>
          <a:xfrm>
            <a:off x="640080" y="2167128"/>
            <a:ext cx="1188720" cy="219456"/>
          </a:xfrm>
          <a:prstGeom prst="rect">
            <a:avLst/>
          </a:prstGeom>
          <a:noFill/>
        </p:spPr>
        <p:txBody>
          <a:bodyPr wrap="square" anchor="t">
            <a:spAutoFit/>
          </a:bodyPr>
          <a:lstStyle/>
          <a:p>
            <a:pPr algn="l"/>
            <a:r>
              <a:rPr sz="1000" b="1">
                <a:solidFill>
                  <a:srgbClr val="555555"/>
                </a:solidFill>
                <a:latin typeface="Arial"/>
              </a:rPr>
              <a:t>Example 2 →</a:t>
            </a:r>
          </a:p>
        </p:txBody>
      </p:sp>
      <p:sp>
        <p:nvSpPr>
          <p:cNvPr id="13" name="TextBox 12"/>
          <p:cNvSpPr txBox="1"/>
          <p:nvPr/>
        </p:nvSpPr>
        <p:spPr>
          <a:xfrm>
            <a:off x="1874519" y="2167128"/>
            <a:ext cx="5029200" cy="219456"/>
          </a:xfrm>
          <a:prstGeom prst="rect">
            <a:avLst/>
          </a:prstGeom>
          <a:noFill/>
        </p:spPr>
        <p:txBody>
          <a:bodyPr wrap="square" anchor="t">
            <a:spAutoFit/>
          </a:bodyPr>
          <a:lstStyle/>
          <a:p>
            <a:pPr algn="l"/>
            <a:r>
              <a:rPr sz="1000" b="0">
                <a:solidFill>
                  <a:srgbClr val="1F1F1F"/>
                </a:solidFill>
                <a:latin typeface="Consolas"/>
              </a:rPr>
              <a:t>"The app keeps crashing whenever I open the dashboard."</a:t>
            </a:r>
          </a:p>
        </p:txBody>
      </p:sp>
      <p:sp>
        <p:nvSpPr>
          <p:cNvPr id="14" name="Rounded Rectangle 13"/>
          <p:cNvSpPr/>
          <p:nvPr/>
        </p:nvSpPr>
        <p:spPr>
          <a:xfrm>
            <a:off x="6995160" y="2148840"/>
            <a:ext cx="1417320" cy="274320"/>
          </a:xfrm>
          <a:prstGeom prst="rect">
            <a:avLst/>
          </a:prstGeom>
          <a:solidFill>
            <a:srgbClr val="F1E6F8"/>
          </a:solidFill>
          <a:ln w="6350">
            <a:solidFill>
              <a:srgbClr val="6A1B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95160" y="2148840"/>
            <a:ext cx="1417320" cy="274320"/>
          </a:xfrm>
          <a:prstGeom prst="rect">
            <a:avLst/>
          </a:prstGeom>
          <a:noFill/>
        </p:spPr>
        <p:txBody>
          <a:bodyPr wrap="square" anchor="ctr">
            <a:spAutoFit/>
          </a:bodyPr>
          <a:lstStyle/>
          <a:p>
            <a:pPr algn="ctr"/>
            <a:r>
              <a:rPr sz="1000" b="1">
                <a:solidFill>
                  <a:srgbClr val="6A1B9A"/>
                </a:solidFill>
                <a:latin typeface="Arial"/>
              </a:rPr>
              <a:t>technical</a:t>
            </a:r>
          </a:p>
        </p:txBody>
      </p:sp>
      <p:sp>
        <p:nvSpPr>
          <p:cNvPr id="16" name="TextBox 15"/>
          <p:cNvSpPr txBox="1"/>
          <p:nvPr/>
        </p:nvSpPr>
        <p:spPr>
          <a:xfrm>
            <a:off x="640080" y="2551176"/>
            <a:ext cx="1188720" cy="219456"/>
          </a:xfrm>
          <a:prstGeom prst="rect">
            <a:avLst/>
          </a:prstGeom>
          <a:noFill/>
        </p:spPr>
        <p:txBody>
          <a:bodyPr wrap="square" anchor="t">
            <a:spAutoFit/>
          </a:bodyPr>
          <a:lstStyle/>
          <a:p>
            <a:pPr algn="l"/>
            <a:r>
              <a:rPr sz="1000" b="1">
                <a:solidFill>
                  <a:srgbClr val="555555"/>
                </a:solidFill>
                <a:latin typeface="Arial"/>
              </a:rPr>
              <a:t>Example 3 →</a:t>
            </a:r>
          </a:p>
        </p:txBody>
      </p:sp>
      <p:sp>
        <p:nvSpPr>
          <p:cNvPr id="17" name="TextBox 16"/>
          <p:cNvSpPr txBox="1"/>
          <p:nvPr/>
        </p:nvSpPr>
        <p:spPr>
          <a:xfrm>
            <a:off x="1874519" y="2551176"/>
            <a:ext cx="5029200" cy="219456"/>
          </a:xfrm>
          <a:prstGeom prst="rect">
            <a:avLst/>
          </a:prstGeom>
          <a:noFill/>
        </p:spPr>
        <p:txBody>
          <a:bodyPr wrap="square" anchor="t">
            <a:spAutoFit/>
          </a:bodyPr>
          <a:lstStyle/>
          <a:p>
            <a:pPr algn="l"/>
            <a:r>
              <a:rPr sz="1000" b="0">
                <a:solidFill>
                  <a:srgbClr val="1F1F1F"/>
                </a:solidFill>
                <a:latin typeface="Consolas"/>
              </a:rPr>
              <a:t>"I forgot my password and can't reset it through the email."</a:t>
            </a:r>
          </a:p>
        </p:txBody>
      </p:sp>
      <p:sp>
        <p:nvSpPr>
          <p:cNvPr id="18" name="Rounded Rectangle 17"/>
          <p:cNvSpPr/>
          <p:nvPr/>
        </p:nvSpPr>
        <p:spPr>
          <a:xfrm>
            <a:off x="6995160" y="2532888"/>
            <a:ext cx="1417320" cy="274320"/>
          </a:xfrm>
          <a:prstGeom prst="rect">
            <a:avLst/>
          </a:prstGeom>
          <a:solidFill>
            <a:srgbClr val="F1E6F8"/>
          </a:solidFill>
          <a:ln w="6350">
            <a:solidFill>
              <a:srgbClr val="6A1B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95160" y="2532888"/>
            <a:ext cx="1417320" cy="274320"/>
          </a:xfrm>
          <a:prstGeom prst="rect">
            <a:avLst/>
          </a:prstGeom>
          <a:noFill/>
        </p:spPr>
        <p:txBody>
          <a:bodyPr wrap="square" anchor="ctr">
            <a:spAutoFit/>
          </a:bodyPr>
          <a:lstStyle/>
          <a:p>
            <a:pPr algn="ctr"/>
            <a:r>
              <a:rPr sz="1000" b="1">
                <a:solidFill>
                  <a:srgbClr val="6A1B9A"/>
                </a:solidFill>
                <a:latin typeface="Arial"/>
              </a:rPr>
              <a:t>account</a:t>
            </a:r>
          </a:p>
        </p:txBody>
      </p:sp>
      <p:cxnSp>
        <p:nvCxnSpPr>
          <p:cNvPr id="20" name="Connector 19"/>
          <p:cNvCxnSpPr/>
          <p:nvPr/>
        </p:nvCxnSpPr>
        <p:spPr>
          <a:xfrm>
            <a:off x="640080" y="2980944"/>
            <a:ext cx="78638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0080" y="3118104"/>
            <a:ext cx="1188720" cy="219456"/>
          </a:xfrm>
          <a:prstGeom prst="rect">
            <a:avLst/>
          </a:prstGeom>
          <a:noFill/>
        </p:spPr>
        <p:txBody>
          <a:bodyPr wrap="square" anchor="t">
            <a:spAutoFit/>
          </a:bodyPr>
          <a:lstStyle/>
          <a:p>
            <a:pPr algn="l"/>
            <a:r>
              <a:rPr sz="1000" b="1">
                <a:solidFill>
                  <a:srgbClr val="005587"/>
                </a:solidFill>
                <a:latin typeface="Arial"/>
              </a:rPr>
              <a:t>New →</a:t>
            </a:r>
          </a:p>
        </p:txBody>
      </p:sp>
      <p:sp>
        <p:nvSpPr>
          <p:cNvPr id="22" name="TextBox 21"/>
          <p:cNvSpPr txBox="1"/>
          <p:nvPr/>
        </p:nvSpPr>
        <p:spPr>
          <a:xfrm>
            <a:off x="1874519" y="3118104"/>
            <a:ext cx="5029200" cy="219456"/>
          </a:xfrm>
          <a:prstGeom prst="rect">
            <a:avLst/>
          </a:prstGeom>
          <a:noFill/>
        </p:spPr>
        <p:txBody>
          <a:bodyPr wrap="square" anchor="t">
            <a:spAutoFit/>
          </a:bodyPr>
          <a:lstStyle/>
          <a:p>
            <a:pPr algn="l"/>
            <a:r>
              <a:rPr sz="1000" b="0">
                <a:solidFill>
                  <a:srgbClr val="1F1F1F"/>
                </a:solidFill>
                <a:latin typeface="Consolas"/>
              </a:rPr>
              <a:t>"My laptop won't connect to the office WiFi after the update."</a:t>
            </a:r>
          </a:p>
        </p:txBody>
      </p:sp>
      <p:sp>
        <p:nvSpPr>
          <p:cNvPr id="23" name="Rounded Rectangle 22"/>
          <p:cNvSpPr/>
          <p:nvPr/>
        </p:nvSpPr>
        <p:spPr>
          <a:xfrm>
            <a:off x="6995160" y="3099816"/>
            <a:ext cx="1417320" cy="274320"/>
          </a:xfrm>
          <a:prstGeom prst="rect">
            <a:avLst/>
          </a:prstGeom>
          <a:solidFill>
            <a:srgbClr val="E7F2E5"/>
          </a:solidFill>
          <a:ln w="762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95160" y="3099816"/>
            <a:ext cx="1417320" cy="274320"/>
          </a:xfrm>
          <a:prstGeom prst="rect">
            <a:avLst/>
          </a:prstGeom>
          <a:noFill/>
        </p:spPr>
        <p:txBody>
          <a:bodyPr wrap="square" anchor="ctr">
            <a:spAutoFit/>
          </a:bodyPr>
          <a:lstStyle/>
          <a:p>
            <a:pPr algn="ctr"/>
            <a:r>
              <a:rPr sz="1000" b="1">
                <a:solidFill>
                  <a:srgbClr val="2E7D32"/>
                </a:solidFill>
                <a:latin typeface="Arial"/>
              </a:rPr>
              <a:t>technical</a:t>
            </a:r>
          </a:p>
        </p:txBody>
      </p:sp>
      <p:sp>
        <p:nvSpPr>
          <p:cNvPr id="25" name="TextBox 24"/>
          <p:cNvSpPr txBox="1"/>
          <p:nvPr/>
        </p:nvSpPr>
        <p:spPr>
          <a:xfrm>
            <a:off x="640080" y="3529584"/>
            <a:ext cx="7863840" cy="274320"/>
          </a:xfrm>
          <a:prstGeom prst="rect">
            <a:avLst/>
          </a:prstGeom>
          <a:noFill/>
        </p:spPr>
        <p:txBody>
          <a:bodyPr wrap="square" anchor="t">
            <a:spAutoFit/>
          </a:bodyPr>
          <a:lstStyle/>
          <a:p>
            <a:pPr algn="l"/>
            <a:r>
              <a:rPr sz="1100" b="0" i="1">
                <a:solidFill>
                  <a:srgbClr val="555555"/>
                </a:solidFill>
                <a:latin typeface="Arial"/>
              </a:rPr>
              <a:t>Few-shot is essentially "on-the-fly fine-tuning" via the context window.</a:t>
            </a:r>
          </a:p>
        </p:txBody>
      </p:sp>
      <p:sp>
        <p:nvSpPr>
          <p:cNvPr id="26" name="TextBox 25"/>
          <p:cNvSpPr txBox="1"/>
          <p:nvPr/>
        </p:nvSpPr>
        <p:spPr>
          <a:xfrm>
            <a:off x="457200" y="4846320"/>
            <a:ext cx="8321040" cy="182880"/>
          </a:xfrm>
          <a:prstGeom prst="rect">
            <a:avLst/>
          </a:prstGeom>
          <a:noFill/>
        </p:spPr>
        <p:txBody>
          <a:bodyPr wrap="square" anchor="t">
            <a:spAutoFit/>
          </a:bodyPr>
          <a:lstStyle/>
          <a:p>
            <a:pPr algn="l"/>
            <a:r>
              <a:rPr sz="700" b="0">
                <a:solidFill>
                  <a:srgbClr val="555555"/>
                </a:solidFill>
                <a:latin typeface="Arial"/>
              </a:rPr>
              <a:t>Source: Brown et al. (2020), Language Models are Few-Shot Learners (GPT-3 paper).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5148072"/>
          </a:xfrm>
          <a:prstGeom prst="rect">
            <a:avLst/>
          </a:prstGeom>
          <a:solidFill>
            <a:srgbClr val="005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321040" cy="685800"/>
          </a:xfrm>
          <a:prstGeom prst="rect">
            <a:avLst/>
          </a:prstGeom>
          <a:noFill/>
        </p:spPr>
        <p:txBody>
          <a:bodyPr wrap="square" anchor="ctr">
            <a:spAutoFit/>
          </a:bodyPr>
          <a:lstStyle/>
          <a:p>
            <a:pPr algn="l"/>
            <a:r>
              <a:rPr sz="2800" b="1">
                <a:solidFill>
                  <a:srgbClr val="005587"/>
                </a:solidFill>
                <a:latin typeface="Whitney Bold"/>
              </a:rPr>
              <a:t>When Prompting Is the Right Lever</a:t>
            </a:r>
          </a:p>
        </p:txBody>
      </p:sp>
      <p:cxnSp>
        <p:nvCxnSpPr>
          <p:cNvPr id="4" name="Connector 3"/>
          <p:cNvCxnSpPr/>
          <p:nvPr/>
        </p:nvCxnSpPr>
        <p:spPr>
          <a:xfrm>
            <a:off x="457200" y="914400"/>
            <a:ext cx="83210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097280"/>
            <a:ext cx="4069080" cy="3749039"/>
          </a:xfrm>
          <a:prstGeom prst="rect">
            <a:avLst/>
          </a:prstGeom>
          <a:solidFill>
            <a:srgbClr val="E7F2E5"/>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88720"/>
            <a:ext cx="4069080" cy="292608"/>
          </a:xfrm>
          <a:prstGeom prst="rect">
            <a:avLst/>
          </a:prstGeom>
          <a:noFill/>
        </p:spPr>
        <p:txBody>
          <a:bodyPr wrap="square" anchor="t">
            <a:spAutoFit/>
          </a:bodyPr>
          <a:lstStyle/>
          <a:p>
            <a:pPr algn="ctr"/>
            <a:r>
              <a:rPr sz="1400" b="1">
                <a:solidFill>
                  <a:srgbClr val="2E7D32"/>
                </a:solidFill>
                <a:latin typeface="Whitney Bold"/>
              </a:rPr>
              <a:t>Strengths</a:t>
            </a:r>
          </a:p>
        </p:txBody>
      </p:sp>
      <p:cxnSp>
        <p:nvCxnSpPr>
          <p:cNvPr id="7" name="Connector 6"/>
          <p:cNvCxnSpPr/>
          <p:nvPr/>
        </p:nvCxnSpPr>
        <p:spPr>
          <a:xfrm>
            <a:off x="731520" y="1554480"/>
            <a:ext cx="3520440" cy="0"/>
          </a:xfrm>
          <a:prstGeom prst="line">
            <a:avLst/>
          </a:prstGeom>
          <a:ln w="6350">
            <a:solidFill>
              <a:srgbClr val="2E7D3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1645919"/>
            <a:ext cx="3703320" cy="3108959"/>
          </a:xfrm>
          <a:prstGeom prst="rect">
            <a:avLst/>
          </a:prstGeom>
          <a:noFill/>
        </p:spPr>
        <p:txBody>
          <a:bodyPr wrap="square" anchor="t">
            <a:spAutoFit/>
          </a:bodyPr>
          <a:lstStyle/>
          <a:p>
            <a:pPr algn="l"/>
            <a:r>
              <a:rPr sz="1100" b="0">
                <a:solidFill>
                  <a:srgbClr val="1F1F1F"/>
                </a:solidFill>
                <a:latin typeface="Arial"/>
              </a:rPr>
              <a:t>•  Zero training cost; ship in hours, not weeks</a:t>
            </a:r>
          </a:p>
          <a:p>
            <a:pPr algn="l"/>
            <a:r>
              <a:rPr sz="1100" b="0">
                <a:solidFill>
                  <a:srgbClr val="1F1F1F"/>
                </a:solidFill>
                <a:latin typeface="Arial"/>
              </a:rPr>
              <a:t>•  Instant iteration: change a paragraph, see new behavior</a:t>
            </a:r>
          </a:p>
          <a:p>
            <a:pPr algn="l"/>
            <a:r>
              <a:rPr sz="1100" b="0">
                <a:solidFill>
                  <a:srgbClr val="1F1F1F"/>
                </a:solidFill>
                <a:latin typeface="Arial"/>
              </a:rPr>
              <a:t>•  Frontier-quality model out of the box</a:t>
            </a:r>
          </a:p>
          <a:p>
            <a:pPr algn="l"/>
            <a:r>
              <a:rPr sz="1100" b="0">
                <a:solidFill>
                  <a:srgbClr val="1F1F1F"/>
                </a:solidFill>
                <a:latin typeface="Arial"/>
              </a:rPr>
              <a:t>•  Easiest to debug, since the prompt is the spec</a:t>
            </a:r>
          </a:p>
          <a:p>
            <a:pPr algn="l"/>
            <a:r>
              <a:rPr sz="1100" b="0">
                <a:solidFill>
                  <a:srgbClr val="1F1F1F"/>
                </a:solidFill>
                <a:latin typeface="Arial"/>
              </a:rPr>
              <a:t>•  Often the right first move; almost never the wrong one to try</a:t>
            </a:r>
          </a:p>
        </p:txBody>
      </p:sp>
      <p:sp>
        <p:nvSpPr>
          <p:cNvPr id="9" name="Rounded Rectangle 8"/>
          <p:cNvSpPr/>
          <p:nvPr/>
        </p:nvSpPr>
        <p:spPr>
          <a:xfrm>
            <a:off x="4617720" y="1097280"/>
            <a:ext cx="4069080" cy="3749039"/>
          </a:xfrm>
          <a:prstGeom prst="rect">
            <a:avLst/>
          </a:prstGeom>
          <a:solidFill>
            <a:srgbClr val="FAE8E5"/>
          </a:solidFill>
          <a:ln w="12700">
            <a:solidFill>
              <a:srgbClr val="C1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188720"/>
            <a:ext cx="4069080" cy="292608"/>
          </a:xfrm>
          <a:prstGeom prst="rect">
            <a:avLst/>
          </a:prstGeom>
          <a:noFill/>
        </p:spPr>
        <p:txBody>
          <a:bodyPr wrap="square" anchor="t">
            <a:spAutoFit/>
          </a:bodyPr>
          <a:lstStyle/>
          <a:p>
            <a:pPr algn="ctr"/>
            <a:r>
              <a:rPr sz="1400" b="1">
                <a:solidFill>
                  <a:srgbClr val="C12A2A"/>
                </a:solidFill>
                <a:latin typeface="Whitney Bold"/>
              </a:rPr>
              <a:t>Limitations</a:t>
            </a:r>
          </a:p>
        </p:txBody>
      </p:sp>
      <p:cxnSp>
        <p:nvCxnSpPr>
          <p:cNvPr id="11" name="Connector 10"/>
          <p:cNvCxnSpPr/>
          <p:nvPr/>
        </p:nvCxnSpPr>
        <p:spPr>
          <a:xfrm>
            <a:off x="4892040" y="1554480"/>
            <a:ext cx="3520440" cy="0"/>
          </a:xfrm>
          <a:prstGeom prst="line">
            <a:avLst/>
          </a:prstGeom>
          <a:ln w="6350">
            <a:solidFill>
              <a:srgbClr val="C12A2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800600" y="1645919"/>
            <a:ext cx="3703320" cy="3108959"/>
          </a:xfrm>
          <a:prstGeom prst="rect">
            <a:avLst/>
          </a:prstGeom>
          <a:noFill/>
        </p:spPr>
        <p:txBody>
          <a:bodyPr wrap="square" anchor="t">
            <a:spAutoFit/>
          </a:bodyPr>
          <a:lstStyle/>
          <a:p>
            <a:pPr algn="l"/>
            <a:r>
              <a:rPr sz="1100" b="0">
                <a:solidFill>
                  <a:srgbClr val="1F1F1F"/>
                </a:solidFill>
                <a:latin typeface="Arial"/>
              </a:rPr>
              <a:t>•  Prompt is fragile; small wording changes can swing outputs</a:t>
            </a:r>
          </a:p>
          <a:p>
            <a:pPr algn="l"/>
            <a:r>
              <a:rPr sz="1100" b="0">
                <a:solidFill>
                  <a:srgbClr val="1F1F1F"/>
                </a:solidFill>
                <a:latin typeface="Arial"/>
              </a:rPr>
              <a:t>•  Context window is finite; can't fit very large knowledge bases</a:t>
            </a:r>
          </a:p>
          <a:p>
            <a:pPr algn="l"/>
            <a:r>
              <a:rPr sz="1100" b="0">
                <a:solidFill>
                  <a:srgbClr val="1F1F1F"/>
                </a:solidFill>
                <a:latin typeface="Arial"/>
              </a:rPr>
              <a:t>•  Doesn't add new facts the model never saw</a:t>
            </a:r>
          </a:p>
          <a:p>
            <a:pPr algn="l"/>
            <a:r>
              <a:rPr sz="1100" b="0">
                <a:solidFill>
                  <a:srgbClr val="1F1F1F"/>
                </a:solidFill>
                <a:latin typeface="Arial"/>
              </a:rPr>
              <a:t>•  Behavior is tied to the model vendor's updates</a:t>
            </a:r>
          </a:p>
          <a:p>
            <a:pPr algn="l"/>
            <a:r>
              <a:rPr sz="1100" b="0">
                <a:solidFill>
                  <a:srgbClr val="1F1F1F"/>
                </a:solidFill>
                <a:latin typeface="Arial"/>
              </a:rPr>
              <a:t>•  Hard to enforce strict format/policy compliance at scale</a:t>
            </a:r>
          </a:p>
        </p:txBody>
      </p:sp>
      <p:sp>
        <p:nvSpPr>
          <p:cNvPr id="13" name="TextBox 12"/>
          <p:cNvSpPr txBox="1"/>
          <p:nvPr/>
        </p:nvSpPr>
        <p:spPr>
          <a:xfrm>
            <a:off x="457200" y="4937760"/>
            <a:ext cx="8321040" cy="182880"/>
          </a:xfrm>
          <a:prstGeom prst="rect">
            <a:avLst/>
          </a:prstGeom>
          <a:noFill/>
        </p:spPr>
        <p:txBody>
          <a:bodyPr wrap="square" anchor="t">
            <a:spAutoFit/>
          </a:bodyPr>
          <a:lstStyle/>
          <a:p>
            <a:pPr algn="ctr"/>
            <a:r>
              <a:rPr sz="1100" b="1">
                <a:solidFill>
                  <a:srgbClr val="005587"/>
                </a:solidFill>
                <a:latin typeface="Arial"/>
              </a:rPr>
              <a:t>Reach for prompting first. Move to RAG or fine-tuning only when you've hit a real ceiling.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7315200" cy="2286000"/>
          </a:xfrm>
          <a:prstGeom prst="rect">
            <a:avLst/>
          </a:prstGeom>
          <a:noFill/>
        </p:spPr>
        <p:txBody>
          <a:bodyPr wrap="square" lIns="0" tIns="0" rIns="0" bIns="0" anchor="ctr">
            <a:spAutoFit/>
          </a:bodyPr>
          <a:lstStyle/>
          <a:p>
            <a:pPr algn="ctr"/>
            <a:r>
              <a:rPr sz="3600" b="1" i="0">
                <a:solidFill>
                  <a:srgbClr val="FFFFFF"/>
                </a:solidFill>
                <a:latin typeface="Whitney Bold"/>
              </a:rPr>
              <a:t>Option 2: RAG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5148072"/>
          </a:xfrm>
          <a:prstGeom prst="rect">
            <a:avLst/>
          </a:prstGeom>
          <a:solidFill>
            <a:srgbClr val="005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321040" cy="685800"/>
          </a:xfrm>
          <a:prstGeom prst="rect">
            <a:avLst/>
          </a:prstGeom>
          <a:noFill/>
        </p:spPr>
        <p:txBody>
          <a:bodyPr wrap="square" anchor="ctr">
            <a:spAutoFit/>
          </a:bodyPr>
          <a:lstStyle/>
          <a:p>
            <a:pPr algn="l"/>
            <a:r>
              <a:rPr sz="2800" b="1">
                <a:solidFill>
                  <a:srgbClr val="005587"/>
                </a:solidFill>
                <a:latin typeface="Whitney Bold"/>
              </a:rPr>
              <a:t>RAG Architecture</a:t>
            </a:r>
          </a:p>
        </p:txBody>
      </p:sp>
      <p:cxnSp>
        <p:nvCxnSpPr>
          <p:cNvPr id="4" name="Connector 3"/>
          <p:cNvCxnSpPr/>
          <p:nvPr/>
        </p:nvCxnSpPr>
        <p:spPr>
          <a:xfrm>
            <a:off x="457200" y="914400"/>
            <a:ext cx="83210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960120"/>
            <a:ext cx="8321040" cy="310896"/>
          </a:xfrm>
          <a:prstGeom prst="rect">
            <a:avLst/>
          </a:prstGeom>
          <a:noFill/>
        </p:spPr>
        <p:txBody>
          <a:bodyPr wrap="square" anchor="t">
            <a:spAutoFit/>
          </a:bodyPr>
          <a:lstStyle/>
          <a:p>
            <a:pPr algn="l"/>
            <a:r>
              <a:rPr sz="1200" b="1">
                <a:solidFill>
                  <a:srgbClr val="1F1F1F"/>
                </a:solidFill>
                <a:latin typeface="Arial"/>
              </a:rPr>
              <a:t>Two pipelines: indexing (offline, runs once on your corpus) and retrieval (live, runs per query).</a:t>
            </a:r>
          </a:p>
        </p:txBody>
      </p:sp>
      <p:sp>
        <p:nvSpPr>
          <p:cNvPr id="6" name="Rounded Rectangle 5"/>
          <p:cNvSpPr/>
          <p:nvPr/>
        </p:nvSpPr>
        <p:spPr>
          <a:xfrm>
            <a:off x="365760" y="1344168"/>
            <a:ext cx="8412480" cy="1508760"/>
          </a:xfrm>
          <a:prstGeom prst="rect">
            <a:avLst/>
          </a:prstGeom>
          <a:solidFill>
            <a:srgbClr val="F7FAF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71600"/>
            <a:ext cx="2743200" cy="256032"/>
          </a:xfrm>
          <a:prstGeom prst="rect">
            <a:avLst/>
          </a:prstGeom>
          <a:noFill/>
        </p:spPr>
        <p:txBody>
          <a:bodyPr wrap="square" anchor="t">
            <a:spAutoFit/>
          </a:bodyPr>
          <a:lstStyle/>
          <a:p>
            <a:pPr algn="l"/>
            <a:r>
              <a:rPr sz="900" b="1">
                <a:solidFill>
                  <a:srgbClr val="555555"/>
                </a:solidFill>
                <a:latin typeface="Arial"/>
              </a:rPr>
              <a:t>Offline: indexing</a:t>
            </a:r>
          </a:p>
        </p:txBody>
      </p:sp>
      <p:sp>
        <p:nvSpPr>
          <p:cNvPr id="8" name="Rounded Rectangle 7"/>
          <p:cNvSpPr/>
          <p:nvPr/>
        </p:nvSpPr>
        <p:spPr>
          <a:xfrm>
            <a:off x="886967" y="1691640"/>
            <a:ext cx="1691640" cy="1051560"/>
          </a:xfrm>
          <a:prstGeom prst="rect">
            <a:avLst/>
          </a:prstGeom>
          <a:solidFill>
            <a:srgbClr val="EEF3F8"/>
          </a:solidFill>
          <a:ln w="10160">
            <a:solidFill>
              <a:srgbClr val="0055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7" y="1783080"/>
            <a:ext cx="1691640" cy="365760"/>
          </a:xfrm>
          <a:prstGeom prst="rect">
            <a:avLst/>
          </a:prstGeom>
          <a:noFill/>
        </p:spPr>
        <p:txBody>
          <a:bodyPr wrap="square" anchor="ctr">
            <a:spAutoFit/>
          </a:bodyPr>
          <a:lstStyle/>
          <a:p>
            <a:pPr algn="ctr"/>
            <a:r>
              <a:rPr sz="1100" b="1">
                <a:solidFill>
                  <a:srgbClr val="005587"/>
                </a:solidFill>
                <a:latin typeface="Whitney Bold"/>
              </a:rPr>
              <a:t>Documents</a:t>
            </a:r>
          </a:p>
        </p:txBody>
      </p:sp>
      <p:sp>
        <p:nvSpPr>
          <p:cNvPr id="10" name="TextBox 9"/>
          <p:cNvSpPr txBox="1"/>
          <p:nvPr/>
        </p:nvSpPr>
        <p:spPr>
          <a:xfrm>
            <a:off x="941831" y="2194560"/>
            <a:ext cx="1581912" cy="502920"/>
          </a:xfrm>
          <a:prstGeom prst="rect">
            <a:avLst/>
          </a:prstGeom>
          <a:noFill/>
        </p:spPr>
        <p:txBody>
          <a:bodyPr wrap="square" anchor="t">
            <a:spAutoFit/>
          </a:bodyPr>
          <a:lstStyle/>
          <a:p>
            <a:pPr algn="ctr"/>
            <a:r>
              <a:rPr sz="900" b="0">
                <a:solidFill>
                  <a:srgbClr val="1F1F1F"/>
                </a:solidFill>
                <a:latin typeface="Arial"/>
              </a:rPr>
              <a:t>PDFs, policies,
web pages, DB</a:t>
            </a:r>
          </a:p>
        </p:txBody>
      </p:sp>
      <p:sp>
        <p:nvSpPr>
          <p:cNvPr id="11" name="Rounded Rectangle 10"/>
          <p:cNvSpPr/>
          <p:nvPr/>
        </p:nvSpPr>
        <p:spPr>
          <a:xfrm>
            <a:off x="2779775" y="1691640"/>
            <a:ext cx="1691640" cy="1051560"/>
          </a:xfrm>
          <a:prstGeom prst="rect">
            <a:avLst/>
          </a:prstGeom>
          <a:solidFill>
            <a:srgbClr val="FFFFFF"/>
          </a:solidFill>
          <a:ln w="10160">
            <a:solidFill>
              <a:srgbClr val="0055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79775" y="1783080"/>
            <a:ext cx="1691640" cy="365760"/>
          </a:xfrm>
          <a:prstGeom prst="rect">
            <a:avLst/>
          </a:prstGeom>
          <a:noFill/>
        </p:spPr>
        <p:txBody>
          <a:bodyPr wrap="square" anchor="ctr">
            <a:spAutoFit/>
          </a:bodyPr>
          <a:lstStyle/>
          <a:p>
            <a:pPr algn="ctr"/>
            <a:r>
              <a:rPr sz="1100" b="1">
                <a:solidFill>
                  <a:srgbClr val="005587"/>
                </a:solidFill>
                <a:latin typeface="Whitney Bold"/>
              </a:rPr>
              <a:t>Chunking</a:t>
            </a:r>
          </a:p>
        </p:txBody>
      </p:sp>
      <p:sp>
        <p:nvSpPr>
          <p:cNvPr id="13" name="TextBox 12"/>
          <p:cNvSpPr txBox="1"/>
          <p:nvPr/>
        </p:nvSpPr>
        <p:spPr>
          <a:xfrm>
            <a:off x="2834639" y="2194560"/>
            <a:ext cx="1581912" cy="502920"/>
          </a:xfrm>
          <a:prstGeom prst="rect">
            <a:avLst/>
          </a:prstGeom>
          <a:noFill/>
        </p:spPr>
        <p:txBody>
          <a:bodyPr wrap="square" anchor="t">
            <a:spAutoFit/>
          </a:bodyPr>
          <a:lstStyle/>
          <a:p>
            <a:pPr algn="ctr"/>
            <a:r>
              <a:rPr sz="900" b="0">
                <a:solidFill>
                  <a:srgbClr val="1F1F1F"/>
                </a:solidFill>
                <a:latin typeface="Arial"/>
              </a:rPr>
              <a:t>Split into
overlapping chunks</a:t>
            </a:r>
          </a:p>
        </p:txBody>
      </p:sp>
      <p:sp>
        <p:nvSpPr>
          <p:cNvPr id="14" name="Rounded Rectangle 13"/>
          <p:cNvSpPr/>
          <p:nvPr/>
        </p:nvSpPr>
        <p:spPr>
          <a:xfrm>
            <a:off x="4672584" y="1691640"/>
            <a:ext cx="1691640" cy="1051560"/>
          </a:xfrm>
          <a:prstGeom prst="rect">
            <a:avLst/>
          </a:prstGeom>
          <a:solidFill>
            <a:srgbClr val="EEF3F8"/>
          </a:solidFill>
          <a:ln w="10160">
            <a:solidFill>
              <a:srgbClr val="0055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2584" y="1783080"/>
            <a:ext cx="1691640" cy="365760"/>
          </a:xfrm>
          <a:prstGeom prst="rect">
            <a:avLst/>
          </a:prstGeom>
          <a:noFill/>
        </p:spPr>
        <p:txBody>
          <a:bodyPr wrap="square" anchor="ctr">
            <a:spAutoFit/>
          </a:bodyPr>
          <a:lstStyle/>
          <a:p>
            <a:pPr algn="ctr"/>
            <a:r>
              <a:rPr sz="1100" b="1">
                <a:solidFill>
                  <a:srgbClr val="005587"/>
                </a:solidFill>
                <a:latin typeface="Whitney Bold"/>
              </a:rPr>
              <a:t>Embedding
model</a:t>
            </a:r>
          </a:p>
        </p:txBody>
      </p:sp>
      <p:sp>
        <p:nvSpPr>
          <p:cNvPr id="16" name="TextBox 15"/>
          <p:cNvSpPr txBox="1"/>
          <p:nvPr/>
        </p:nvSpPr>
        <p:spPr>
          <a:xfrm>
            <a:off x="4727448" y="2194560"/>
            <a:ext cx="1581912" cy="502920"/>
          </a:xfrm>
          <a:prstGeom prst="rect">
            <a:avLst/>
          </a:prstGeom>
          <a:noFill/>
        </p:spPr>
        <p:txBody>
          <a:bodyPr wrap="square" anchor="t">
            <a:spAutoFit/>
          </a:bodyPr>
          <a:lstStyle/>
          <a:p>
            <a:pPr algn="ctr"/>
            <a:r>
              <a:rPr sz="900" b="0">
                <a:solidFill>
                  <a:srgbClr val="1F1F1F"/>
                </a:solidFill>
                <a:latin typeface="Arial"/>
              </a:rPr>
              <a:t>Map each chunk
to a vector</a:t>
            </a:r>
          </a:p>
        </p:txBody>
      </p:sp>
      <p:sp>
        <p:nvSpPr>
          <p:cNvPr id="17" name="Rounded Rectangle 16"/>
          <p:cNvSpPr/>
          <p:nvPr/>
        </p:nvSpPr>
        <p:spPr>
          <a:xfrm>
            <a:off x="6565392" y="1691640"/>
            <a:ext cx="1691640" cy="1051560"/>
          </a:xfrm>
          <a:prstGeom prst="rect">
            <a:avLst/>
          </a:prstGeom>
          <a:solidFill>
            <a:srgbClr val="E7F2E5"/>
          </a:solidFill>
          <a:ln w="10160">
            <a:solidFill>
              <a:srgbClr val="0055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1783080"/>
            <a:ext cx="1691640" cy="365760"/>
          </a:xfrm>
          <a:prstGeom prst="rect">
            <a:avLst/>
          </a:prstGeom>
          <a:noFill/>
        </p:spPr>
        <p:txBody>
          <a:bodyPr wrap="square" anchor="ctr">
            <a:spAutoFit/>
          </a:bodyPr>
          <a:lstStyle/>
          <a:p>
            <a:pPr algn="ctr"/>
            <a:r>
              <a:rPr sz="1100" b="1">
                <a:solidFill>
                  <a:srgbClr val="005587"/>
                </a:solidFill>
                <a:latin typeface="Whitney Bold"/>
              </a:rPr>
              <a:t>Vector DB</a:t>
            </a:r>
          </a:p>
        </p:txBody>
      </p:sp>
      <p:sp>
        <p:nvSpPr>
          <p:cNvPr id="19" name="TextBox 18"/>
          <p:cNvSpPr txBox="1"/>
          <p:nvPr/>
        </p:nvSpPr>
        <p:spPr>
          <a:xfrm>
            <a:off x="6620256" y="2194560"/>
            <a:ext cx="1581912" cy="502920"/>
          </a:xfrm>
          <a:prstGeom prst="rect">
            <a:avLst/>
          </a:prstGeom>
          <a:noFill/>
        </p:spPr>
        <p:txBody>
          <a:bodyPr wrap="square" anchor="t">
            <a:spAutoFit/>
          </a:bodyPr>
          <a:lstStyle/>
          <a:p>
            <a:pPr algn="ctr"/>
            <a:r>
              <a:rPr sz="900" b="0">
                <a:solidFill>
                  <a:srgbClr val="1F1F1F"/>
                </a:solidFill>
                <a:latin typeface="Arial"/>
              </a:rPr>
              <a:t>Store vectors +
metadata + IDs</a:t>
            </a:r>
          </a:p>
        </p:txBody>
      </p:sp>
      <p:cxnSp>
        <p:nvCxnSpPr>
          <p:cNvPr id="20" name="Connector 19"/>
          <p:cNvCxnSpPr/>
          <p:nvPr/>
        </p:nvCxnSpPr>
        <p:spPr>
          <a:xfrm>
            <a:off x="2578607" y="2217420"/>
            <a:ext cx="201168" cy="0"/>
          </a:xfrm>
          <a:prstGeom prst="line">
            <a:avLst/>
          </a:prstGeom>
          <a:ln w="15240">
            <a:solidFill>
              <a:srgbClr val="005587"/>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71416" y="2217420"/>
            <a:ext cx="201168" cy="0"/>
          </a:xfrm>
          <a:prstGeom prst="line">
            <a:avLst/>
          </a:prstGeom>
          <a:ln w="15240">
            <a:solidFill>
              <a:srgbClr val="005587"/>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364224" y="2217420"/>
            <a:ext cx="201168" cy="0"/>
          </a:xfrm>
          <a:prstGeom prst="line">
            <a:avLst/>
          </a:prstGeom>
          <a:ln w="15240">
            <a:solidFill>
              <a:srgbClr val="005587"/>
            </a:solidFill>
            <a:tailEnd type="triangle" w="med" h="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65760" y="3035808"/>
            <a:ext cx="8412480" cy="1783080"/>
          </a:xfrm>
          <a:prstGeom prst="rect">
            <a:avLst/>
          </a:prstGeom>
          <a:solidFill>
            <a:srgbClr val="FDF8E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3063240"/>
            <a:ext cx="2743200" cy="256032"/>
          </a:xfrm>
          <a:prstGeom prst="rect">
            <a:avLst/>
          </a:prstGeom>
          <a:noFill/>
        </p:spPr>
        <p:txBody>
          <a:bodyPr wrap="square" anchor="t">
            <a:spAutoFit/>
          </a:bodyPr>
          <a:lstStyle/>
          <a:p>
            <a:pPr algn="l"/>
            <a:r>
              <a:rPr sz="900" b="1">
                <a:solidFill>
                  <a:srgbClr val="555555"/>
                </a:solidFill>
                <a:latin typeface="Arial"/>
              </a:rPr>
              <a:t>Online: per query</a:t>
            </a:r>
          </a:p>
        </p:txBody>
      </p:sp>
      <p:sp>
        <p:nvSpPr>
          <p:cNvPr id="25" name="Rounded Rectangle 24"/>
          <p:cNvSpPr/>
          <p:nvPr/>
        </p:nvSpPr>
        <p:spPr>
          <a:xfrm>
            <a:off x="699515" y="3383279"/>
            <a:ext cx="1417320" cy="1280160"/>
          </a:xfrm>
          <a:prstGeom prst="rect">
            <a:avLst/>
          </a:prstGeom>
          <a:solidFill>
            <a:srgbClr val="FFFFFF"/>
          </a:solidFill>
          <a:ln w="10160">
            <a:solidFill>
              <a:srgbClr val="0055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9515" y="3474720"/>
            <a:ext cx="1417320" cy="411480"/>
          </a:xfrm>
          <a:prstGeom prst="rect">
            <a:avLst/>
          </a:prstGeom>
          <a:noFill/>
        </p:spPr>
        <p:txBody>
          <a:bodyPr wrap="square" anchor="ctr">
            <a:spAutoFit/>
          </a:bodyPr>
          <a:lstStyle/>
          <a:p>
            <a:pPr algn="ctr"/>
            <a:r>
              <a:rPr sz="1050" b="1">
                <a:solidFill>
                  <a:srgbClr val="005587"/>
                </a:solidFill>
                <a:latin typeface="Whitney Bold"/>
              </a:rPr>
              <a:t>User query</a:t>
            </a:r>
          </a:p>
        </p:txBody>
      </p:sp>
      <p:sp>
        <p:nvSpPr>
          <p:cNvPr id="27" name="TextBox 26"/>
          <p:cNvSpPr txBox="1"/>
          <p:nvPr/>
        </p:nvSpPr>
        <p:spPr>
          <a:xfrm>
            <a:off x="754379" y="3977639"/>
            <a:ext cx="1307592" cy="640080"/>
          </a:xfrm>
          <a:prstGeom prst="rect">
            <a:avLst/>
          </a:prstGeom>
          <a:noFill/>
        </p:spPr>
        <p:txBody>
          <a:bodyPr wrap="square" anchor="t">
            <a:spAutoFit/>
          </a:bodyPr>
          <a:lstStyle/>
          <a:p>
            <a:pPr algn="ctr"/>
            <a:r>
              <a:rPr sz="900" b="0">
                <a:solidFill>
                  <a:srgbClr val="1F1F1F"/>
                </a:solidFill>
                <a:latin typeface="Arial"/>
              </a:rPr>
              <a:t>what the user
asked</a:t>
            </a:r>
          </a:p>
        </p:txBody>
      </p:sp>
      <p:sp>
        <p:nvSpPr>
          <p:cNvPr id="28" name="Rounded Rectangle 27"/>
          <p:cNvSpPr/>
          <p:nvPr/>
        </p:nvSpPr>
        <p:spPr>
          <a:xfrm>
            <a:off x="2281427" y="3383279"/>
            <a:ext cx="1417320" cy="1280160"/>
          </a:xfrm>
          <a:prstGeom prst="rect">
            <a:avLst/>
          </a:prstGeom>
          <a:solidFill>
            <a:srgbClr val="EEF3F8"/>
          </a:solidFill>
          <a:ln w="10160">
            <a:solidFill>
              <a:srgbClr val="0055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81427" y="3474720"/>
            <a:ext cx="1417320" cy="411480"/>
          </a:xfrm>
          <a:prstGeom prst="rect">
            <a:avLst/>
          </a:prstGeom>
          <a:noFill/>
        </p:spPr>
        <p:txBody>
          <a:bodyPr wrap="square" anchor="ctr">
            <a:spAutoFit/>
          </a:bodyPr>
          <a:lstStyle/>
          <a:p>
            <a:pPr algn="ctr"/>
            <a:r>
              <a:rPr sz="1050" b="1">
                <a:solidFill>
                  <a:srgbClr val="005587"/>
                </a:solidFill>
                <a:latin typeface="Whitney Bold"/>
              </a:rPr>
              <a:t>Embed query</a:t>
            </a:r>
          </a:p>
        </p:txBody>
      </p:sp>
      <p:sp>
        <p:nvSpPr>
          <p:cNvPr id="30" name="TextBox 29"/>
          <p:cNvSpPr txBox="1"/>
          <p:nvPr/>
        </p:nvSpPr>
        <p:spPr>
          <a:xfrm>
            <a:off x="2336291" y="3977639"/>
            <a:ext cx="1307592" cy="640080"/>
          </a:xfrm>
          <a:prstGeom prst="rect">
            <a:avLst/>
          </a:prstGeom>
          <a:noFill/>
        </p:spPr>
        <p:txBody>
          <a:bodyPr wrap="square" anchor="t">
            <a:spAutoFit/>
          </a:bodyPr>
          <a:lstStyle/>
          <a:p>
            <a:pPr algn="ctr"/>
            <a:r>
              <a:rPr sz="900" b="0">
                <a:solidFill>
                  <a:srgbClr val="1F1F1F"/>
                </a:solidFill>
                <a:latin typeface="Arial"/>
              </a:rPr>
              <a:t>same model as
indexing side</a:t>
            </a:r>
          </a:p>
        </p:txBody>
      </p:sp>
      <p:sp>
        <p:nvSpPr>
          <p:cNvPr id="31" name="Rounded Rectangle 30"/>
          <p:cNvSpPr/>
          <p:nvPr/>
        </p:nvSpPr>
        <p:spPr>
          <a:xfrm>
            <a:off x="3863339" y="3383279"/>
            <a:ext cx="1417320" cy="1280160"/>
          </a:xfrm>
          <a:prstGeom prst="rect">
            <a:avLst/>
          </a:prstGeom>
          <a:solidFill>
            <a:srgbClr val="EEF3F8"/>
          </a:solidFill>
          <a:ln w="10160">
            <a:solidFill>
              <a:srgbClr val="0055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63339" y="3474720"/>
            <a:ext cx="1417320" cy="411480"/>
          </a:xfrm>
          <a:prstGeom prst="rect">
            <a:avLst/>
          </a:prstGeom>
          <a:noFill/>
        </p:spPr>
        <p:txBody>
          <a:bodyPr wrap="square" anchor="ctr">
            <a:spAutoFit/>
          </a:bodyPr>
          <a:lstStyle/>
          <a:p>
            <a:pPr algn="ctr"/>
            <a:r>
              <a:rPr sz="1050" b="1">
                <a:solidFill>
                  <a:srgbClr val="005587"/>
                </a:solidFill>
                <a:latin typeface="Whitney Bold"/>
              </a:rPr>
              <a:t>Similarity
search</a:t>
            </a:r>
          </a:p>
        </p:txBody>
      </p:sp>
      <p:sp>
        <p:nvSpPr>
          <p:cNvPr id="33" name="TextBox 32"/>
          <p:cNvSpPr txBox="1"/>
          <p:nvPr/>
        </p:nvSpPr>
        <p:spPr>
          <a:xfrm>
            <a:off x="3918203" y="3977639"/>
            <a:ext cx="1307592" cy="640080"/>
          </a:xfrm>
          <a:prstGeom prst="rect">
            <a:avLst/>
          </a:prstGeom>
          <a:noFill/>
        </p:spPr>
        <p:txBody>
          <a:bodyPr wrap="square" anchor="t">
            <a:spAutoFit/>
          </a:bodyPr>
          <a:lstStyle/>
          <a:p>
            <a:pPr algn="ctr"/>
            <a:r>
              <a:rPr sz="900" b="0">
                <a:solidFill>
                  <a:srgbClr val="1F1F1F"/>
                </a:solidFill>
                <a:latin typeface="Arial"/>
              </a:rPr>
              <a:t>k nearest chunks
in vector DB</a:t>
            </a:r>
          </a:p>
        </p:txBody>
      </p:sp>
      <p:sp>
        <p:nvSpPr>
          <p:cNvPr id="34" name="Rounded Rectangle 33"/>
          <p:cNvSpPr/>
          <p:nvPr/>
        </p:nvSpPr>
        <p:spPr>
          <a:xfrm>
            <a:off x="5445251" y="3383279"/>
            <a:ext cx="1417320" cy="1280160"/>
          </a:xfrm>
          <a:prstGeom prst="rect">
            <a:avLst/>
          </a:prstGeom>
          <a:solidFill>
            <a:srgbClr val="FDF6D8"/>
          </a:solidFill>
          <a:ln w="1016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45251" y="3474720"/>
            <a:ext cx="1417320" cy="411480"/>
          </a:xfrm>
          <a:prstGeom prst="rect">
            <a:avLst/>
          </a:prstGeom>
          <a:noFill/>
        </p:spPr>
        <p:txBody>
          <a:bodyPr wrap="square" anchor="ctr">
            <a:spAutoFit/>
          </a:bodyPr>
          <a:lstStyle/>
          <a:p>
            <a:pPr algn="ctr"/>
            <a:r>
              <a:rPr sz="1050" b="1">
                <a:solidFill>
                  <a:srgbClr val="005587"/>
                </a:solidFill>
                <a:latin typeface="Whitney Bold"/>
              </a:rPr>
              <a:t>Build prompt</a:t>
            </a:r>
          </a:p>
        </p:txBody>
      </p:sp>
      <p:sp>
        <p:nvSpPr>
          <p:cNvPr id="36" name="TextBox 35"/>
          <p:cNvSpPr txBox="1"/>
          <p:nvPr/>
        </p:nvSpPr>
        <p:spPr>
          <a:xfrm>
            <a:off x="5500115" y="3977639"/>
            <a:ext cx="1307592" cy="640080"/>
          </a:xfrm>
          <a:prstGeom prst="rect">
            <a:avLst/>
          </a:prstGeom>
          <a:noFill/>
        </p:spPr>
        <p:txBody>
          <a:bodyPr wrap="square" anchor="t">
            <a:spAutoFit/>
          </a:bodyPr>
          <a:lstStyle/>
          <a:p>
            <a:pPr algn="ctr"/>
            <a:r>
              <a:rPr sz="900" b="0">
                <a:solidFill>
                  <a:srgbClr val="1F1F1F"/>
                </a:solidFill>
                <a:latin typeface="Arial"/>
              </a:rPr>
              <a:t>system + chunks
+ user query</a:t>
            </a:r>
          </a:p>
        </p:txBody>
      </p:sp>
      <p:sp>
        <p:nvSpPr>
          <p:cNvPr id="37" name="Rounded Rectangle 36"/>
          <p:cNvSpPr/>
          <p:nvPr/>
        </p:nvSpPr>
        <p:spPr>
          <a:xfrm>
            <a:off x="7027164" y="3383279"/>
            <a:ext cx="1417320" cy="1280160"/>
          </a:xfrm>
          <a:prstGeom prst="rect">
            <a:avLst/>
          </a:prstGeom>
          <a:solidFill>
            <a:srgbClr val="E7F2E5"/>
          </a:solidFill>
          <a:ln w="10160">
            <a:solidFill>
              <a:srgbClr val="0055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27164" y="3474720"/>
            <a:ext cx="1417320" cy="411480"/>
          </a:xfrm>
          <a:prstGeom prst="rect">
            <a:avLst/>
          </a:prstGeom>
          <a:noFill/>
        </p:spPr>
        <p:txBody>
          <a:bodyPr wrap="square" anchor="ctr">
            <a:spAutoFit/>
          </a:bodyPr>
          <a:lstStyle/>
          <a:p>
            <a:pPr algn="ctr"/>
            <a:r>
              <a:rPr sz="1050" b="1">
                <a:solidFill>
                  <a:srgbClr val="005587"/>
                </a:solidFill>
                <a:latin typeface="Whitney Bold"/>
              </a:rPr>
              <a:t>LLM answer</a:t>
            </a:r>
          </a:p>
        </p:txBody>
      </p:sp>
      <p:sp>
        <p:nvSpPr>
          <p:cNvPr id="39" name="TextBox 38"/>
          <p:cNvSpPr txBox="1"/>
          <p:nvPr/>
        </p:nvSpPr>
        <p:spPr>
          <a:xfrm>
            <a:off x="7082027" y="3977639"/>
            <a:ext cx="1307592" cy="640080"/>
          </a:xfrm>
          <a:prstGeom prst="rect">
            <a:avLst/>
          </a:prstGeom>
          <a:noFill/>
        </p:spPr>
        <p:txBody>
          <a:bodyPr wrap="square" anchor="t">
            <a:spAutoFit/>
          </a:bodyPr>
          <a:lstStyle/>
          <a:p>
            <a:pPr algn="ctr"/>
            <a:r>
              <a:rPr sz="900" b="0">
                <a:solidFill>
                  <a:srgbClr val="1F1F1F"/>
                </a:solidFill>
                <a:latin typeface="Arial"/>
              </a:rPr>
              <a:t>grounded on
retrieved text</a:t>
            </a:r>
          </a:p>
        </p:txBody>
      </p:sp>
      <p:cxnSp>
        <p:nvCxnSpPr>
          <p:cNvPr id="40" name="Connector 39"/>
          <p:cNvCxnSpPr/>
          <p:nvPr/>
        </p:nvCxnSpPr>
        <p:spPr>
          <a:xfrm>
            <a:off x="2116835" y="4023359"/>
            <a:ext cx="164592" cy="0"/>
          </a:xfrm>
          <a:prstGeom prst="line">
            <a:avLst/>
          </a:prstGeom>
          <a:ln w="15240">
            <a:solidFill>
              <a:srgbClr val="005587"/>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98747" y="4023359"/>
            <a:ext cx="164592" cy="0"/>
          </a:xfrm>
          <a:prstGeom prst="line">
            <a:avLst/>
          </a:prstGeom>
          <a:ln w="15240">
            <a:solidFill>
              <a:srgbClr val="005587"/>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280659" y="4023359"/>
            <a:ext cx="164592" cy="0"/>
          </a:xfrm>
          <a:prstGeom prst="line">
            <a:avLst/>
          </a:prstGeom>
          <a:ln w="15240">
            <a:solidFill>
              <a:srgbClr val="005587"/>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862571" y="4023359"/>
            <a:ext cx="164593" cy="0"/>
          </a:xfrm>
          <a:prstGeom prst="line">
            <a:avLst/>
          </a:prstGeom>
          <a:ln w="15240">
            <a:solidFill>
              <a:srgbClr val="005587"/>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411212" y="2743200"/>
            <a:ext cx="0" cy="594360"/>
          </a:xfrm>
          <a:prstGeom prst="line">
            <a:avLst/>
          </a:prstGeom>
          <a:ln w="12700">
            <a:solidFill>
              <a:srgbClr val="005587"/>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4572000" y="3337560"/>
            <a:ext cx="2839212" cy="0"/>
          </a:xfrm>
          <a:prstGeom prst="line">
            <a:avLst/>
          </a:prstGeom>
          <a:ln w="12700">
            <a:solidFill>
              <a:srgbClr val="005587"/>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572000" y="3337560"/>
            <a:ext cx="0" cy="45719"/>
          </a:xfrm>
          <a:prstGeom prst="line">
            <a:avLst/>
          </a:prstGeom>
          <a:ln w="12700">
            <a:solidFill>
              <a:srgbClr val="005587"/>
            </a:solidFill>
            <a:tailEnd type="triangle" w="med" h="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457200" y="4937760"/>
            <a:ext cx="8321040" cy="182880"/>
          </a:xfrm>
          <a:prstGeom prst="rect">
            <a:avLst/>
          </a:prstGeom>
          <a:noFill/>
        </p:spPr>
        <p:txBody>
          <a:bodyPr wrap="square" anchor="t">
            <a:spAutoFit/>
          </a:bodyPr>
          <a:lstStyle/>
          <a:p>
            <a:pPr algn="l"/>
            <a:r>
              <a:rPr sz="700" b="0">
                <a:solidFill>
                  <a:srgbClr val="555555"/>
                </a:solidFill>
                <a:latin typeface="Arial"/>
              </a:rPr>
              <a:t>Source: Lewis et al. (2020), Retrieval-Augmented Generation for Knowledge-Intensive NLP Tasks.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5148072"/>
          </a:xfrm>
          <a:prstGeom prst="rect">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82880"/>
            <a:ext cx="8321040" cy="685800"/>
          </a:xfrm>
          <a:prstGeom prst="rect">
            <a:avLst/>
          </a:prstGeom>
          <a:noFill/>
        </p:spPr>
        <p:txBody>
          <a:bodyPr wrap="square" lIns="0" tIns="0" rIns="0" bIns="0">
            <a:spAutoFit/>
          </a:bodyPr>
          <a:lstStyle/>
          <a:p>
            <a:pPr algn="l"/>
            <a:r>
              <a:rPr sz="2800" b="1">
                <a:solidFill>
                  <a:srgbClr val="005587"/>
                </a:solidFill>
                <a:latin typeface="Whitney Bold"/>
              </a:rPr>
              <a:t>Chunking Is a Technical Design Choice</a:t>
            </a:r>
          </a:p>
        </p:txBody>
      </p:sp>
      <p:sp>
        <p:nvSpPr>
          <p:cNvPr id="4" name="Rectangle 3"/>
          <p:cNvSpPr/>
          <p:nvPr/>
        </p:nvSpPr>
        <p:spPr>
          <a:xfrm>
            <a:off x="457200" y="896112"/>
            <a:ext cx="8321040" cy="0"/>
          </a:xfrm>
          <a:prstGeom prst="rect">
            <a:avLst/>
          </a:prstGeom>
          <a:no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46446"/>
            <a:ext cx="8321040" cy="3570000"/>
          </a:xfrm>
          <a:prstGeom prst="rect">
            <a:avLst/>
          </a:prstGeom>
          <a:noFill/>
        </p:spPr>
        <p:txBody>
          <a:bodyPr wrap="square" lIns="0" tIns="0" rIns="0" bIns="0">
            <a:noAutofit/>
          </a:bodyPr>
          <a:lstStyle/>
          <a:p>
            <a:pPr algn="l">
              <a:lnSpc>
                <a:spcPct val="112000"/>
              </a:lnSpc>
              <a:spcAft>
                <a:spcPts val="1400"/>
              </a:spcAft>
            </a:pPr>
            <a:r>
              <a:rPr sz="1650" b="1">
                <a:solidFill>
                  <a:srgbClr val="000000"/>
                </a:solidFill>
                <a:latin typeface="Arial"/>
              </a:rPr>
              <a:t>Chunking shapes what retrieval can find.</a:t>
            </a:r>
          </a:p>
          <a:p>
            <a:pPr algn="l">
              <a:lnSpc>
                <a:spcPct val="112000"/>
              </a:lnSpc>
              <a:spcAft>
                <a:spcPts val="1200"/>
              </a:spcAft>
            </a:pPr>
            <a:r>
              <a:rPr sz="1650" b="0">
                <a:solidFill>
                  <a:srgbClr val="000000"/>
                </a:solidFill>
                <a:latin typeface="Arial"/>
              </a:rPr>
              <a:t>Small chunks are precise; large chunks preserve context. Overlap helps avoid splitting an idea in half.</a:t>
            </a:r>
          </a:p>
          <a:p>
            <a:pPr algn="l">
              <a:lnSpc>
                <a:spcPct val="112000"/>
              </a:lnSpc>
              <a:spcAft>
                <a:spcPts val="1200"/>
              </a:spcAft>
            </a:pPr>
            <a:r>
              <a:rPr sz="1650" b="0">
                <a:solidFill>
                  <a:srgbClr val="000000"/>
                </a:solidFill>
                <a:latin typeface="Arial"/>
              </a:rPr>
              <a:t>Metadata and refresh rate matter because real document collections have dates, permissions, and source boundaries.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5148072"/>
          </a:xfrm>
          <a:prstGeom prst="rect">
            <a:avLst/>
          </a:prstGeom>
          <a:solidFill>
            <a:srgbClr val="005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321040" cy="685800"/>
          </a:xfrm>
          <a:prstGeom prst="rect">
            <a:avLst/>
          </a:prstGeom>
          <a:noFill/>
        </p:spPr>
        <p:txBody>
          <a:bodyPr wrap="square" anchor="ctr">
            <a:spAutoFit/>
          </a:bodyPr>
          <a:lstStyle/>
          <a:p>
            <a:pPr algn="l"/>
            <a:r>
              <a:rPr sz="2800" b="1">
                <a:solidFill>
                  <a:srgbClr val="005587"/>
                </a:solidFill>
                <a:latin typeface="Whitney Bold"/>
              </a:rPr>
              <a:t>RAG: Failure Modes and Evaluation</a:t>
            </a:r>
          </a:p>
        </p:txBody>
      </p:sp>
      <p:cxnSp>
        <p:nvCxnSpPr>
          <p:cNvPr id="4" name="Connector 3"/>
          <p:cNvCxnSpPr/>
          <p:nvPr/>
        </p:nvCxnSpPr>
        <p:spPr>
          <a:xfrm>
            <a:off x="457200" y="914400"/>
            <a:ext cx="83210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005840"/>
            <a:ext cx="8321040" cy="365760"/>
          </a:xfrm>
          <a:prstGeom prst="rect">
            <a:avLst/>
          </a:prstGeom>
          <a:noFill/>
        </p:spPr>
        <p:txBody>
          <a:bodyPr wrap="square" anchor="t">
            <a:spAutoFit/>
          </a:bodyPr>
          <a:lstStyle/>
          <a:p>
            <a:pPr algn="l"/>
            <a:r>
              <a:rPr sz="1200" b="1">
                <a:solidFill>
                  <a:srgbClr val="1F1F1F"/>
                </a:solidFill>
                <a:latin typeface="Arial"/>
              </a:rPr>
              <a:t>RAG reduces hallucination, but it does not eliminate it. Debug in two layers, then watch for known failure modes.</a:t>
            </a:r>
          </a:p>
        </p:txBody>
      </p:sp>
      <p:sp>
        <p:nvSpPr>
          <p:cNvPr id="6" name="Rounded Rectangle 5"/>
          <p:cNvSpPr/>
          <p:nvPr/>
        </p:nvSpPr>
        <p:spPr>
          <a:xfrm>
            <a:off x="457200" y="1508760"/>
            <a:ext cx="3931920" cy="3200400"/>
          </a:xfrm>
          <a:prstGeom prst="rect">
            <a:avLst/>
          </a:prstGeom>
          <a:solidFill>
            <a:srgbClr val="EEF3F8"/>
          </a:solidFill>
          <a:ln w="12700">
            <a:solidFill>
              <a:srgbClr val="0055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600200"/>
            <a:ext cx="3931920" cy="292608"/>
          </a:xfrm>
          <a:prstGeom prst="rect">
            <a:avLst/>
          </a:prstGeom>
          <a:noFill/>
        </p:spPr>
        <p:txBody>
          <a:bodyPr wrap="square" anchor="t">
            <a:spAutoFit/>
          </a:bodyPr>
          <a:lstStyle/>
          <a:p>
            <a:pPr algn="ctr"/>
            <a:r>
              <a:rPr sz="1300" b="1">
                <a:solidFill>
                  <a:srgbClr val="005587"/>
                </a:solidFill>
                <a:latin typeface="Whitney Bold"/>
              </a:rPr>
              <a:t>Evaluate in two layers</a:t>
            </a:r>
          </a:p>
        </p:txBody>
      </p:sp>
      <p:sp>
        <p:nvSpPr>
          <p:cNvPr id="8" name="Rounded Rectangle 7"/>
          <p:cNvSpPr/>
          <p:nvPr/>
        </p:nvSpPr>
        <p:spPr>
          <a:xfrm>
            <a:off x="640080" y="2011680"/>
            <a:ext cx="3566160" cy="1005840"/>
          </a:xfrm>
          <a:prstGeom prst="rect">
            <a:avLst/>
          </a:prstGeom>
          <a:solidFill>
            <a:srgbClr val="FFFFFF"/>
          </a:solidFill>
          <a:ln w="8890">
            <a:solidFill>
              <a:srgbClr val="0055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84832"/>
            <a:ext cx="3383279" cy="274320"/>
          </a:xfrm>
          <a:prstGeom prst="rect">
            <a:avLst/>
          </a:prstGeom>
          <a:noFill/>
        </p:spPr>
        <p:txBody>
          <a:bodyPr wrap="square" anchor="t">
            <a:spAutoFit/>
          </a:bodyPr>
          <a:lstStyle/>
          <a:p>
            <a:pPr algn="l"/>
            <a:r>
              <a:rPr sz="1100" b="1">
                <a:solidFill>
                  <a:srgbClr val="005587"/>
                </a:solidFill>
                <a:latin typeface="Arial"/>
              </a:rPr>
              <a:t>1. Retrieval</a:t>
            </a:r>
          </a:p>
        </p:txBody>
      </p:sp>
      <p:sp>
        <p:nvSpPr>
          <p:cNvPr id="10" name="TextBox 9"/>
          <p:cNvSpPr txBox="1"/>
          <p:nvPr/>
        </p:nvSpPr>
        <p:spPr>
          <a:xfrm>
            <a:off x="731520" y="2359152"/>
            <a:ext cx="3383279" cy="594360"/>
          </a:xfrm>
          <a:prstGeom prst="rect">
            <a:avLst/>
          </a:prstGeom>
          <a:noFill/>
        </p:spPr>
        <p:txBody>
          <a:bodyPr wrap="square" anchor="t">
            <a:spAutoFit/>
          </a:bodyPr>
          <a:lstStyle/>
          <a:p>
            <a:pPr algn="l"/>
            <a:r>
              <a:rPr sz="1000" b="0">
                <a:solidFill>
                  <a:srgbClr val="1F1F1F"/>
                </a:solidFill>
                <a:latin typeface="Arial"/>
              </a:rPr>
              <a:t>Did the right evidence enter the prompt?
Measure: recall@k, MRR, coverage on labeled queries.</a:t>
            </a:r>
          </a:p>
        </p:txBody>
      </p:sp>
      <p:sp>
        <p:nvSpPr>
          <p:cNvPr id="11" name="Rounded Rectangle 10"/>
          <p:cNvSpPr/>
          <p:nvPr/>
        </p:nvSpPr>
        <p:spPr>
          <a:xfrm>
            <a:off x="640080" y="3200400"/>
            <a:ext cx="3566160" cy="1188720"/>
          </a:xfrm>
          <a:prstGeom prst="rect">
            <a:avLst/>
          </a:prstGeom>
          <a:solidFill>
            <a:srgbClr val="FFFFFF"/>
          </a:solidFill>
          <a:ln w="8890">
            <a:solidFill>
              <a:srgbClr val="0055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273552"/>
            <a:ext cx="3383279" cy="274320"/>
          </a:xfrm>
          <a:prstGeom prst="rect">
            <a:avLst/>
          </a:prstGeom>
          <a:noFill/>
        </p:spPr>
        <p:txBody>
          <a:bodyPr wrap="square" anchor="t">
            <a:spAutoFit/>
          </a:bodyPr>
          <a:lstStyle/>
          <a:p>
            <a:pPr algn="l"/>
            <a:r>
              <a:rPr sz="1100" b="1">
                <a:solidFill>
                  <a:srgbClr val="005587"/>
                </a:solidFill>
                <a:latin typeface="Arial"/>
              </a:rPr>
              <a:t>2. Generation</a:t>
            </a:r>
          </a:p>
        </p:txBody>
      </p:sp>
      <p:sp>
        <p:nvSpPr>
          <p:cNvPr id="13" name="TextBox 12"/>
          <p:cNvSpPr txBox="1"/>
          <p:nvPr/>
        </p:nvSpPr>
        <p:spPr>
          <a:xfrm>
            <a:off x="731520" y="3547872"/>
            <a:ext cx="3383279" cy="777240"/>
          </a:xfrm>
          <a:prstGeom prst="rect">
            <a:avLst/>
          </a:prstGeom>
          <a:noFill/>
        </p:spPr>
        <p:txBody>
          <a:bodyPr wrap="square" anchor="t">
            <a:spAutoFit/>
          </a:bodyPr>
          <a:lstStyle/>
          <a:p>
            <a:pPr algn="l"/>
            <a:r>
              <a:rPr sz="1000" b="0">
                <a:solidFill>
                  <a:srgbClr val="1F1F1F"/>
                </a:solidFill>
                <a:latin typeface="Arial"/>
              </a:rPr>
              <a:t>Did the model use the evidence faithfully and cite the right sources?
Measure: faithfulness, citation accuracy, answer correctness.</a:t>
            </a:r>
          </a:p>
        </p:txBody>
      </p:sp>
      <p:sp>
        <p:nvSpPr>
          <p:cNvPr id="14" name="Rounded Rectangle 13"/>
          <p:cNvSpPr/>
          <p:nvPr/>
        </p:nvSpPr>
        <p:spPr>
          <a:xfrm>
            <a:off x="4617720" y="1508760"/>
            <a:ext cx="4069080" cy="3200400"/>
          </a:xfrm>
          <a:prstGeom prst="rect">
            <a:avLst/>
          </a:prstGeom>
          <a:solidFill>
            <a:srgbClr val="FAE8E5"/>
          </a:solidFill>
          <a:ln w="12700">
            <a:solidFill>
              <a:srgbClr val="C1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1600200"/>
            <a:ext cx="4069080" cy="292608"/>
          </a:xfrm>
          <a:prstGeom prst="rect">
            <a:avLst/>
          </a:prstGeom>
          <a:noFill/>
        </p:spPr>
        <p:txBody>
          <a:bodyPr wrap="square" anchor="t">
            <a:spAutoFit/>
          </a:bodyPr>
          <a:lstStyle/>
          <a:p>
            <a:pPr algn="ctr"/>
            <a:r>
              <a:rPr sz="1300" b="1">
                <a:solidFill>
                  <a:srgbClr val="C12A2A"/>
                </a:solidFill>
                <a:latin typeface="Whitney Bold"/>
              </a:rPr>
              <a:t>Common failure modes</a:t>
            </a:r>
          </a:p>
        </p:txBody>
      </p:sp>
      <p:cxnSp>
        <p:nvCxnSpPr>
          <p:cNvPr id="16" name="Connector 15"/>
          <p:cNvCxnSpPr/>
          <p:nvPr/>
        </p:nvCxnSpPr>
        <p:spPr>
          <a:xfrm>
            <a:off x="4892040" y="1965960"/>
            <a:ext cx="3520440" cy="0"/>
          </a:xfrm>
          <a:prstGeom prst="line">
            <a:avLst/>
          </a:prstGeom>
          <a:ln w="6350">
            <a:solidFill>
              <a:srgbClr val="C12A2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800600" y="2103120"/>
            <a:ext cx="3703320" cy="274320"/>
          </a:xfrm>
          <a:prstGeom prst="rect">
            <a:avLst/>
          </a:prstGeom>
          <a:noFill/>
        </p:spPr>
        <p:txBody>
          <a:bodyPr wrap="square" anchor="t">
            <a:spAutoFit/>
          </a:bodyPr>
          <a:lstStyle/>
          <a:p>
            <a:pPr algn="l"/>
            <a:r>
              <a:rPr sz="1100" b="1">
                <a:solidFill>
                  <a:srgbClr val="C12A2A"/>
                </a:solidFill>
                <a:latin typeface="Arial"/>
              </a:rPr>
              <a:t>•  Missed retrieval</a:t>
            </a:r>
          </a:p>
        </p:txBody>
      </p:sp>
      <p:sp>
        <p:nvSpPr>
          <p:cNvPr id="18" name="TextBox 17"/>
          <p:cNvSpPr txBox="1"/>
          <p:nvPr/>
        </p:nvSpPr>
        <p:spPr>
          <a:xfrm>
            <a:off x="5029200" y="2322576"/>
            <a:ext cx="3474720" cy="274320"/>
          </a:xfrm>
          <a:prstGeom prst="rect">
            <a:avLst/>
          </a:prstGeom>
          <a:noFill/>
        </p:spPr>
        <p:txBody>
          <a:bodyPr wrap="square" anchor="t">
            <a:spAutoFit/>
          </a:bodyPr>
          <a:lstStyle/>
          <a:p>
            <a:pPr algn="l"/>
            <a:r>
              <a:rPr sz="1000" b="0">
                <a:solidFill>
                  <a:srgbClr val="1F1F1F"/>
                </a:solidFill>
                <a:latin typeface="Arial"/>
              </a:rPr>
              <a:t>the right chunk exists but wasn't found</a:t>
            </a:r>
          </a:p>
        </p:txBody>
      </p:sp>
      <p:sp>
        <p:nvSpPr>
          <p:cNvPr id="19" name="TextBox 18"/>
          <p:cNvSpPr txBox="1"/>
          <p:nvPr/>
        </p:nvSpPr>
        <p:spPr>
          <a:xfrm>
            <a:off x="4800600" y="2606039"/>
            <a:ext cx="3703320" cy="274320"/>
          </a:xfrm>
          <a:prstGeom prst="rect">
            <a:avLst/>
          </a:prstGeom>
          <a:noFill/>
        </p:spPr>
        <p:txBody>
          <a:bodyPr wrap="square" anchor="t">
            <a:spAutoFit/>
          </a:bodyPr>
          <a:lstStyle/>
          <a:p>
            <a:pPr algn="l"/>
            <a:r>
              <a:rPr sz="1100" b="1">
                <a:solidFill>
                  <a:srgbClr val="C12A2A"/>
                </a:solidFill>
                <a:latin typeface="Arial"/>
              </a:rPr>
              <a:t>•  Stale index</a:t>
            </a:r>
          </a:p>
        </p:txBody>
      </p:sp>
      <p:sp>
        <p:nvSpPr>
          <p:cNvPr id="20" name="TextBox 19"/>
          <p:cNvSpPr txBox="1"/>
          <p:nvPr/>
        </p:nvSpPr>
        <p:spPr>
          <a:xfrm>
            <a:off x="5029200" y="2825496"/>
            <a:ext cx="3474720" cy="274320"/>
          </a:xfrm>
          <a:prstGeom prst="rect">
            <a:avLst/>
          </a:prstGeom>
          <a:noFill/>
        </p:spPr>
        <p:txBody>
          <a:bodyPr wrap="square" anchor="t">
            <a:spAutoFit/>
          </a:bodyPr>
          <a:lstStyle/>
          <a:p>
            <a:pPr algn="l"/>
            <a:r>
              <a:rPr sz="1000" b="0">
                <a:solidFill>
                  <a:srgbClr val="1F1F1F"/>
                </a:solidFill>
                <a:latin typeface="Arial"/>
              </a:rPr>
              <a:t>indexed text is older than the question</a:t>
            </a:r>
          </a:p>
        </p:txBody>
      </p:sp>
      <p:sp>
        <p:nvSpPr>
          <p:cNvPr id="21" name="TextBox 20"/>
          <p:cNvSpPr txBox="1"/>
          <p:nvPr/>
        </p:nvSpPr>
        <p:spPr>
          <a:xfrm>
            <a:off x="4800600" y="3108959"/>
            <a:ext cx="3703320" cy="274320"/>
          </a:xfrm>
          <a:prstGeom prst="rect">
            <a:avLst/>
          </a:prstGeom>
          <a:noFill/>
        </p:spPr>
        <p:txBody>
          <a:bodyPr wrap="square" anchor="t">
            <a:spAutoFit/>
          </a:bodyPr>
          <a:lstStyle/>
          <a:p>
            <a:pPr algn="l"/>
            <a:r>
              <a:rPr sz="1100" b="1">
                <a:solidFill>
                  <a:srgbClr val="C12A2A"/>
                </a:solidFill>
                <a:latin typeface="Arial"/>
              </a:rPr>
              <a:t>•  Permission leaks</a:t>
            </a:r>
          </a:p>
        </p:txBody>
      </p:sp>
      <p:sp>
        <p:nvSpPr>
          <p:cNvPr id="22" name="TextBox 21"/>
          <p:cNvSpPr txBox="1"/>
          <p:nvPr/>
        </p:nvSpPr>
        <p:spPr>
          <a:xfrm>
            <a:off x="5029200" y="3328415"/>
            <a:ext cx="3474720" cy="274320"/>
          </a:xfrm>
          <a:prstGeom prst="rect">
            <a:avLst/>
          </a:prstGeom>
          <a:noFill/>
        </p:spPr>
        <p:txBody>
          <a:bodyPr wrap="square" anchor="t">
            <a:spAutoFit/>
          </a:bodyPr>
          <a:lstStyle/>
          <a:p>
            <a:pPr algn="l"/>
            <a:r>
              <a:rPr sz="1000" b="0">
                <a:solidFill>
                  <a:srgbClr val="1F1F1F"/>
                </a:solidFill>
                <a:latin typeface="Arial"/>
              </a:rPr>
              <a:t>user sees a chunk they shouldn't</a:t>
            </a:r>
          </a:p>
        </p:txBody>
      </p:sp>
      <p:sp>
        <p:nvSpPr>
          <p:cNvPr id="23" name="TextBox 22"/>
          <p:cNvSpPr txBox="1"/>
          <p:nvPr/>
        </p:nvSpPr>
        <p:spPr>
          <a:xfrm>
            <a:off x="4800600" y="3611879"/>
            <a:ext cx="3703320" cy="274320"/>
          </a:xfrm>
          <a:prstGeom prst="rect">
            <a:avLst/>
          </a:prstGeom>
          <a:noFill/>
        </p:spPr>
        <p:txBody>
          <a:bodyPr wrap="square" anchor="t">
            <a:spAutoFit/>
          </a:bodyPr>
          <a:lstStyle/>
          <a:p>
            <a:pPr algn="l"/>
            <a:r>
              <a:rPr sz="1100" b="1">
                <a:solidFill>
                  <a:srgbClr val="C12A2A"/>
                </a:solidFill>
                <a:latin typeface="Arial"/>
              </a:rPr>
              <a:t>•  Context overload</a:t>
            </a:r>
          </a:p>
        </p:txBody>
      </p:sp>
      <p:sp>
        <p:nvSpPr>
          <p:cNvPr id="24" name="TextBox 23"/>
          <p:cNvSpPr txBox="1"/>
          <p:nvPr/>
        </p:nvSpPr>
        <p:spPr>
          <a:xfrm>
            <a:off x="5029200" y="3831335"/>
            <a:ext cx="3474720" cy="274320"/>
          </a:xfrm>
          <a:prstGeom prst="rect">
            <a:avLst/>
          </a:prstGeom>
          <a:noFill/>
        </p:spPr>
        <p:txBody>
          <a:bodyPr wrap="square" anchor="t">
            <a:spAutoFit/>
          </a:bodyPr>
          <a:lstStyle/>
          <a:p>
            <a:pPr algn="l"/>
            <a:r>
              <a:rPr sz="1000" b="0">
                <a:solidFill>
                  <a:srgbClr val="1F1F1F"/>
                </a:solidFill>
                <a:latin typeface="Arial"/>
              </a:rPr>
              <a:t>too many chunks confuse the model</a:t>
            </a:r>
          </a:p>
        </p:txBody>
      </p:sp>
      <p:sp>
        <p:nvSpPr>
          <p:cNvPr id="25" name="TextBox 24"/>
          <p:cNvSpPr txBox="1"/>
          <p:nvPr/>
        </p:nvSpPr>
        <p:spPr>
          <a:xfrm>
            <a:off x="4800600" y="4114799"/>
            <a:ext cx="3703320" cy="274320"/>
          </a:xfrm>
          <a:prstGeom prst="rect">
            <a:avLst/>
          </a:prstGeom>
          <a:noFill/>
        </p:spPr>
        <p:txBody>
          <a:bodyPr wrap="square" anchor="t">
            <a:spAutoFit/>
          </a:bodyPr>
          <a:lstStyle/>
          <a:p>
            <a:pPr algn="l"/>
            <a:r>
              <a:rPr sz="1100" b="1">
                <a:solidFill>
                  <a:srgbClr val="C12A2A"/>
                </a:solidFill>
                <a:latin typeface="Arial"/>
              </a:rPr>
              <a:t>•  Answer drift</a:t>
            </a:r>
          </a:p>
        </p:txBody>
      </p:sp>
      <p:sp>
        <p:nvSpPr>
          <p:cNvPr id="26" name="TextBox 25"/>
          <p:cNvSpPr txBox="1"/>
          <p:nvPr/>
        </p:nvSpPr>
        <p:spPr>
          <a:xfrm>
            <a:off x="5029200" y="4334255"/>
            <a:ext cx="3474720" cy="274320"/>
          </a:xfrm>
          <a:prstGeom prst="rect">
            <a:avLst/>
          </a:prstGeom>
          <a:noFill/>
        </p:spPr>
        <p:txBody>
          <a:bodyPr wrap="square" anchor="t">
            <a:spAutoFit/>
          </a:bodyPr>
          <a:lstStyle/>
          <a:p>
            <a:pPr algn="l"/>
            <a:r>
              <a:rPr sz="1000" b="0">
                <a:solidFill>
                  <a:srgbClr val="1F1F1F"/>
                </a:solidFill>
                <a:latin typeface="Arial"/>
              </a:rPr>
              <a:t>model ignores evidence, falls back to memory</a:t>
            </a:r>
          </a:p>
        </p:txBody>
      </p:sp>
      <p:sp>
        <p:nvSpPr>
          <p:cNvPr id="27" name="TextBox 26"/>
          <p:cNvSpPr txBox="1"/>
          <p:nvPr/>
        </p:nvSpPr>
        <p:spPr>
          <a:xfrm>
            <a:off x="457200" y="4846320"/>
            <a:ext cx="8321040" cy="182880"/>
          </a:xfrm>
          <a:prstGeom prst="rect">
            <a:avLst/>
          </a:prstGeom>
          <a:noFill/>
        </p:spPr>
        <p:txBody>
          <a:bodyPr wrap="square" anchor="t">
            <a:spAutoFit/>
          </a:bodyPr>
          <a:lstStyle/>
          <a:p>
            <a:pPr algn="ctr"/>
            <a:r>
              <a:rPr sz="1100" b="1">
                <a:solidFill>
                  <a:srgbClr val="005587"/>
                </a:solidFill>
                <a:latin typeface="Arial"/>
              </a:rPr>
              <a:t>Most production RAG work is measuring and reducing these failures.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5148072"/>
          </a:xfrm>
          <a:prstGeom prst="rect">
            <a:avLst/>
          </a:prstGeom>
          <a:solidFill>
            <a:srgbClr val="005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321040" cy="685800"/>
          </a:xfrm>
          <a:prstGeom prst="rect">
            <a:avLst/>
          </a:prstGeom>
          <a:noFill/>
        </p:spPr>
        <p:txBody>
          <a:bodyPr wrap="square" anchor="ctr">
            <a:spAutoFit/>
          </a:bodyPr>
          <a:lstStyle/>
          <a:p>
            <a:pPr algn="l"/>
            <a:r>
              <a:rPr sz="2800" b="1">
                <a:solidFill>
                  <a:srgbClr val="005587"/>
                </a:solidFill>
                <a:latin typeface="Whitney Bold"/>
              </a:rPr>
              <a:t>When RAG Is the Right Lever</a:t>
            </a:r>
          </a:p>
        </p:txBody>
      </p:sp>
      <p:cxnSp>
        <p:nvCxnSpPr>
          <p:cNvPr id="4" name="Connector 3"/>
          <p:cNvCxnSpPr/>
          <p:nvPr/>
        </p:nvCxnSpPr>
        <p:spPr>
          <a:xfrm>
            <a:off x="457200" y="914400"/>
            <a:ext cx="83210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097280"/>
            <a:ext cx="4069080" cy="3749039"/>
          </a:xfrm>
          <a:prstGeom prst="rect">
            <a:avLst/>
          </a:prstGeom>
          <a:solidFill>
            <a:srgbClr val="E7F2E5"/>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88720"/>
            <a:ext cx="4069080" cy="292608"/>
          </a:xfrm>
          <a:prstGeom prst="rect">
            <a:avLst/>
          </a:prstGeom>
          <a:noFill/>
        </p:spPr>
        <p:txBody>
          <a:bodyPr wrap="square" anchor="t">
            <a:spAutoFit/>
          </a:bodyPr>
          <a:lstStyle/>
          <a:p>
            <a:pPr algn="ctr"/>
            <a:r>
              <a:rPr sz="1400" b="1">
                <a:solidFill>
                  <a:srgbClr val="2E7D32"/>
                </a:solidFill>
                <a:latin typeface="Whitney Bold"/>
              </a:rPr>
              <a:t>Strengths</a:t>
            </a:r>
          </a:p>
        </p:txBody>
      </p:sp>
      <p:cxnSp>
        <p:nvCxnSpPr>
          <p:cNvPr id="7" name="Connector 6"/>
          <p:cNvCxnSpPr/>
          <p:nvPr/>
        </p:nvCxnSpPr>
        <p:spPr>
          <a:xfrm>
            <a:off x="731520" y="1554480"/>
            <a:ext cx="3520440" cy="0"/>
          </a:xfrm>
          <a:prstGeom prst="line">
            <a:avLst/>
          </a:prstGeom>
          <a:ln w="6350">
            <a:solidFill>
              <a:srgbClr val="2E7D3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1645919"/>
            <a:ext cx="3703320" cy="3108959"/>
          </a:xfrm>
          <a:prstGeom prst="rect">
            <a:avLst/>
          </a:prstGeom>
          <a:noFill/>
        </p:spPr>
        <p:txBody>
          <a:bodyPr wrap="square" anchor="t">
            <a:spAutoFit/>
          </a:bodyPr>
          <a:lstStyle/>
          <a:p>
            <a:pPr algn="l"/>
            <a:r>
              <a:rPr sz="1100" b="0">
                <a:solidFill>
                  <a:srgbClr val="1F1F1F"/>
                </a:solidFill>
                <a:latin typeface="Arial"/>
              </a:rPr>
              <a:t>•  Adds fresh, proprietary knowledge without retraining</a:t>
            </a:r>
          </a:p>
          <a:p>
            <a:pPr algn="l"/>
            <a:r>
              <a:rPr sz="1100" b="0">
                <a:solidFill>
                  <a:srgbClr val="1F1F1F"/>
                </a:solidFill>
                <a:latin typeface="Arial"/>
              </a:rPr>
              <a:t>•  Index updates instantly; re-embed new docs and you're done</a:t>
            </a:r>
          </a:p>
          <a:p>
            <a:pPr algn="l"/>
            <a:r>
              <a:rPr sz="1100" b="0">
                <a:solidFill>
                  <a:srgbClr val="1F1F1F"/>
                </a:solidFill>
                <a:latin typeface="Arial"/>
              </a:rPr>
              <a:t>•  Citations are traceable; answers point at source chunks</a:t>
            </a:r>
          </a:p>
          <a:p>
            <a:pPr algn="l"/>
            <a:r>
              <a:rPr sz="1100" b="0">
                <a:solidFill>
                  <a:srgbClr val="1F1F1F"/>
                </a:solidFill>
                <a:latin typeface="Arial"/>
              </a:rPr>
              <a:t>•  Permission-friendly; different users see different chunks</a:t>
            </a:r>
          </a:p>
          <a:p>
            <a:pPr algn="l"/>
            <a:r>
              <a:rPr sz="1100" b="0">
                <a:solidFill>
                  <a:srgbClr val="1F1F1F"/>
                </a:solidFill>
                <a:latin typeface="Arial"/>
              </a:rPr>
              <a:t>•  Pairs well with prompting; doesn't preclude later fine-tuning</a:t>
            </a:r>
          </a:p>
        </p:txBody>
      </p:sp>
      <p:sp>
        <p:nvSpPr>
          <p:cNvPr id="9" name="Rounded Rectangle 8"/>
          <p:cNvSpPr/>
          <p:nvPr/>
        </p:nvSpPr>
        <p:spPr>
          <a:xfrm>
            <a:off x="4617720" y="1097280"/>
            <a:ext cx="4069080" cy="3749039"/>
          </a:xfrm>
          <a:prstGeom prst="rect">
            <a:avLst/>
          </a:prstGeom>
          <a:solidFill>
            <a:srgbClr val="FAE8E5"/>
          </a:solidFill>
          <a:ln w="12700">
            <a:solidFill>
              <a:srgbClr val="C1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188720"/>
            <a:ext cx="4069080" cy="292608"/>
          </a:xfrm>
          <a:prstGeom prst="rect">
            <a:avLst/>
          </a:prstGeom>
          <a:noFill/>
        </p:spPr>
        <p:txBody>
          <a:bodyPr wrap="square" anchor="t">
            <a:spAutoFit/>
          </a:bodyPr>
          <a:lstStyle/>
          <a:p>
            <a:pPr algn="ctr"/>
            <a:r>
              <a:rPr sz="1400" b="1">
                <a:solidFill>
                  <a:srgbClr val="C12A2A"/>
                </a:solidFill>
                <a:latin typeface="Whitney Bold"/>
              </a:rPr>
              <a:t>Limitations</a:t>
            </a:r>
          </a:p>
        </p:txBody>
      </p:sp>
      <p:cxnSp>
        <p:nvCxnSpPr>
          <p:cNvPr id="11" name="Connector 10"/>
          <p:cNvCxnSpPr/>
          <p:nvPr/>
        </p:nvCxnSpPr>
        <p:spPr>
          <a:xfrm>
            <a:off x="4892040" y="1554480"/>
            <a:ext cx="3520440" cy="0"/>
          </a:xfrm>
          <a:prstGeom prst="line">
            <a:avLst/>
          </a:prstGeom>
          <a:ln w="6350">
            <a:solidFill>
              <a:srgbClr val="C12A2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800600" y="1645919"/>
            <a:ext cx="3703320" cy="3108959"/>
          </a:xfrm>
          <a:prstGeom prst="rect">
            <a:avLst/>
          </a:prstGeom>
          <a:noFill/>
        </p:spPr>
        <p:txBody>
          <a:bodyPr wrap="square" anchor="t">
            <a:spAutoFit/>
          </a:bodyPr>
          <a:lstStyle/>
          <a:p>
            <a:pPr algn="l"/>
            <a:r>
              <a:rPr sz="1100" b="0">
                <a:solidFill>
                  <a:srgbClr val="1F1F1F"/>
                </a:solidFill>
                <a:latin typeface="Arial"/>
              </a:rPr>
              <a:t>•  Retrieval quality is your main bottleneck; bad chunk, bad answer</a:t>
            </a:r>
          </a:p>
          <a:p>
            <a:pPr algn="l"/>
            <a:r>
              <a:rPr sz="1100" b="0">
                <a:solidFill>
                  <a:srgbClr val="1F1F1F"/>
                </a:solidFill>
                <a:latin typeface="Arial"/>
              </a:rPr>
              <a:t>•  Chunking, indexing, and re-ranking are real engineering work</a:t>
            </a:r>
          </a:p>
          <a:p>
            <a:pPr algn="l"/>
            <a:r>
              <a:rPr sz="1100" b="0">
                <a:solidFill>
                  <a:srgbClr val="1F1F1F"/>
                </a:solidFill>
                <a:latin typeface="Arial"/>
              </a:rPr>
              <a:t>•  Latency overhead at every query (vector search + larger prompt)</a:t>
            </a:r>
          </a:p>
          <a:p>
            <a:pPr algn="l"/>
            <a:r>
              <a:rPr sz="1100" b="0">
                <a:solidFill>
                  <a:srgbClr val="1F1F1F"/>
                </a:solidFill>
                <a:latin typeface="Arial"/>
              </a:rPr>
              <a:t>•  Doesn't change the model's style or default refusal behavior</a:t>
            </a:r>
          </a:p>
          <a:p>
            <a:pPr algn="l"/>
            <a:r>
              <a:rPr sz="1100" b="0">
                <a:solidFill>
                  <a:srgbClr val="1F1F1F"/>
                </a:solidFill>
                <a:latin typeface="Arial"/>
              </a:rPr>
              <a:t>•  Stale or unauthorized chunks become silent failure modes</a:t>
            </a:r>
          </a:p>
        </p:txBody>
      </p:sp>
      <p:sp>
        <p:nvSpPr>
          <p:cNvPr id="13" name="TextBox 12"/>
          <p:cNvSpPr txBox="1"/>
          <p:nvPr/>
        </p:nvSpPr>
        <p:spPr>
          <a:xfrm>
            <a:off x="457200" y="4937760"/>
            <a:ext cx="8321040" cy="182880"/>
          </a:xfrm>
          <a:prstGeom prst="rect">
            <a:avLst/>
          </a:prstGeom>
          <a:noFill/>
        </p:spPr>
        <p:txBody>
          <a:bodyPr wrap="square" anchor="t">
            <a:spAutoFit/>
          </a:bodyPr>
          <a:lstStyle/>
          <a:p>
            <a:pPr algn="ctr"/>
            <a:r>
              <a:rPr sz="1100" b="1">
                <a:solidFill>
                  <a:srgbClr val="005587"/>
                </a:solidFill>
                <a:latin typeface="Arial"/>
              </a:rPr>
              <a:t>Use RAG when the question is "do you know about my documents?" Use prompting when the question is "what should you say?"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05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645920"/>
            <a:ext cx="9144000" cy="1828800"/>
          </a:xfrm>
          <a:prstGeom prst="rect">
            <a:avLst/>
          </a:prstGeom>
          <a:noFill/>
        </p:spPr>
        <p:txBody>
          <a:bodyPr wrap="square" anchor="ctr">
            <a:spAutoFit/>
          </a:bodyPr>
          <a:lstStyle/>
          <a:p>
            <a:pPr algn="ctr"/>
            <a:r>
              <a:rPr sz="4000" b="1">
                <a:solidFill>
                  <a:srgbClr val="FFFFFF"/>
                </a:solidFill>
                <a:latin typeface="Whitney Bold"/>
              </a:rPr>
              <a:t>Option 3: Fine-Tuning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5148072"/>
          </a:xfrm>
          <a:prstGeom prst="rect">
            <a:avLst/>
          </a:prstGeom>
          <a:solidFill>
            <a:srgbClr val="005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321040" cy="685800"/>
          </a:xfrm>
          <a:prstGeom prst="rect">
            <a:avLst/>
          </a:prstGeom>
          <a:noFill/>
        </p:spPr>
        <p:txBody>
          <a:bodyPr wrap="square" anchor="ctr">
            <a:spAutoFit/>
          </a:bodyPr>
          <a:lstStyle/>
          <a:p>
            <a:pPr algn="l"/>
            <a:r>
              <a:rPr sz="2800" b="1">
                <a:solidFill>
                  <a:srgbClr val="005587"/>
                </a:solidFill>
                <a:latin typeface="Whitney Bold"/>
              </a:rPr>
              <a:t>What Fine-Tuning Looks Like for Builders</a:t>
            </a:r>
          </a:p>
        </p:txBody>
      </p:sp>
      <p:cxnSp>
        <p:nvCxnSpPr>
          <p:cNvPr id="4" name="Connector 3"/>
          <p:cNvCxnSpPr/>
          <p:nvPr/>
        </p:nvCxnSpPr>
        <p:spPr>
          <a:xfrm>
            <a:off x="457200" y="914400"/>
            <a:ext cx="83210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005840"/>
            <a:ext cx="8321040" cy="365760"/>
          </a:xfrm>
          <a:prstGeom prst="rect">
            <a:avLst/>
          </a:prstGeom>
          <a:noFill/>
        </p:spPr>
        <p:txBody>
          <a:bodyPr wrap="square" anchor="t">
            <a:spAutoFit/>
          </a:bodyPr>
          <a:lstStyle/>
          <a:p>
            <a:pPr algn="l"/>
            <a:r>
              <a:rPr sz="1300" b="1">
                <a:solidFill>
                  <a:srgbClr val="1F1F1F"/>
                </a:solidFill>
                <a:latin typeface="Arial"/>
              </a:rPr>
              <a:t>Realistic builder fine-tuning is SFT, i.e., supervised fine-tuning on your own (prompt, ideal answer) data.</a:t>
            </a:r>
          </a:p>
        </p:txBody>
      </p:sp>
      <p:sp>
        <p:nvSpPr>
          <p:cNvPr id="6" name="Rounded Rectangle 5"/>
          <p:cNvSpPr/>
          <p:nvPr/>
        </p:nvSpPr>
        <p:spPr>
          <a:xfrm>
            <a:off x="457200" y="1508760"/>
            <a:ext cx="4069080" cy="3246120"/>
          </a:xfrm>
          <a:prstGeom prst="rect">
            <a:avLst/>
          </a:prstGeom>
          <a:solidFill>
            <a:srgbClr val="E7F2E5"/>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600200"/>
            <a:ext cx="4069080" cy="292608"/>
          </a:xfrm>
          <a:prstGeom prst="rect">
            <a:avLst/>
          </a:prstGeom>
          <a:noFill/>
        </p:spPr>
        <p:txBody>
          <a:bodyPr wrap="square" anchor="t">
            <a:spAutoFit/>
          </a:bodyPr>
          <a:lstStyle/>
          <a:p>
            <a:pPr algn="ctr"/>
            <a:r>
              <a:rPr sz="1300" b="1">
                <a:solidFill>
                  <a:srgbClr val="2E7D32"/>
                </a:solidFill>
                <a:latin typeface="Whitney Bold"/>
              </a:rPr>
              <a:t>Realistic for builders</a:t>
            </a:r>
          </a:p>
        </p:txBody>
      </p:sp>
      <p:sp>
        <p:nvSpPr>
          <p:cNvPr id="8" name="TextBox 7"/>
          <p:cNvSpPr txBox="1"/>
          <p:nvPr/>
        </p:nvSpPr>
        <p:spPr>
          <a:xfrm>
            <a:off x="640080" y="1993392"/>
            <a:ext cx="1005840" cy="182880"/>
          </a:xfrm>
          <a:prstGeom prst="rect">
            <a:avLst/>
          </a:prstGeom>
          <a:noFill/>
        </p:spPr>
        <p:txBody>
          <a:bodyPr wrap="square" anchor="t">
            <a:spAutoFit/>
          </a:bodyPr>
          <a:lstStyle/>
          <a:p>
            <a:pPr algn="l"/>
            <a:r>
              <a:rPr sz="800" b="1">
                <a:solidFill>
                  <a:srgbClr val="2E7D32"/>
                </a:solidFill>
                <a:latin typeface="Arial"/>
              </a:rPr>
              <a:t>METHOD</a:t>
            </a:r>
          </a:p>
        </p:txBody>
      </p:sp>
      <p:sp>
        <p:nvSpPr>
          <p:cNvPr id="9" name="TextBox 8"/>
          <p:cNvSpPr txBox="1"/>
          <p:nvPr/>
        </p:nvSpPr>
        <p:spPr>
          <a:xfrm>
            <a:off x="1691640" y="1993392"/>
            <a:ext cx="2743200" cy="502920"/>
          </a:xfrm>
          <a:prstGeom prst="rect">
            <a:avLst/>
          </a:prstGeom>
          <a:noFill/>
        </p:spPr>
        <p:txBody>
          <a:bodyPr wrap="square" anchor="t">
            <a:spAutoFit/>
          </a:bodyPr>
          <a:lstStyle/>
          <a:p>
            <a:pPr algn="l"/>
            <a:r>
              <a:rPr sz="1000" b="0">
                <a:solidFill>
                  <a:srgbClr val="1F1F1F"/>
                </a:solidFill>
                <a:latin typeface="Arial"/>
              </a:rPr>
              <a:t>Supervised fine-tuning (SFT)</a:t>
            </a:r>
          </a:p>
        </p:txBody>
      </p:sp>
      <p:sp>
        <p:nvSpPr>
          <p:cNvPr id="10" name="TextBox 9"/>
          <p:cNvSpPr txBox="1"/>
          <p:nvPr/>
        </p:nvSpPr>
        <p:spPr>
          <a:xfrm>
            <a:off x="640080" y="2542032"/>
            <a:ext cx="1005840" cy="182880"/>
          </a:xfrm>
          <a:prstGeom prst="rect">
            <a:avLst/>
          </a:prstGeom>
          <a:noFill/>
        </p:spPr>
        <p:txBody>
          <a:bodyPr wrap="square" anchor="t">
            <a:spAutoFit/>
          </a:bodyPr>
          <a:lstStyle/>
          <a:p>
            <a:pPr algn="l"/>
            <a:r>
              <a:rPr sz="800" b="1">
                <a:solidFill>
                  <a:srgbClr val="2E7D32"/>
                </a:solidFill>
                <a:latin typeface="Arial"/>
              </a:rPr>
              <a:t>DATA</a:t>
            </a:r>
          </a:p>
        </p:txBody>
      </p:sp>
      <p:sp>
        <p:nvSpPr>
          <p:cNvPr id="11" name="TextBox 10"/>
          <p:cNvSpPr txBox="1"/>
          <p:nvPr/>
        </p:nvSpPr>
        <p:spPr>
          <a:xfrm>
            <a:off x="1691640" y="2542032"/>
            <a:ext cx="2743200" cy="502920"/>
          </a:xfrm>
          <a:prstGeom prst="rect">
            <a:avLst/>
          </a:prstGeom>
          <a:noFill/>
        </p:spPr>
        <p:txBody>
          <a:bodyPr wrap="square" anchor="t">
            <a:spAutoFit/>
          </a:bodyPr>
          <a:lstStyle/>
          <a:p>
            <a:pPr algn="l"/>
            <a:r>
              <a:rPr sz="1000" b="0">
                <a:solidFill>
                  <a:srgbClr val="1F1F1F"/>
                </a:solidFill>
                <a:latin typeface="Arial"/>
              </a:rPr>
              <a:t>Hundreds to a few thousand
(prompt, ideal answer) pairs</a:t>
            </a:r>
          </a:p>
        </p:txBody>
      </p:sp>
      <p:sp>
        <p:nvSpPr>
          <p:cNvPr id="12" name="TextBox 11"/>
          <p:cNvSpPr txBox="1"/>
          <p:nvPr/>
        </p:nvSpPr>
        <p:spPr>
          <a:xfrm>
            <a:off x="640080" y="3090672"/>
            <a:ext cx="1005840" cy="182880"/>
          </a:xfrm>
          <a:prstGeom prst="rect">
            <a:avLst/>
          </a:prstGeom>
          <a:noFill/>
        </p:spPr>
        <p:txBody>
          <a:bodyPr wrap="square" anchor="t">
            <a:spAutoFit/>
          </a:bodyPr>
          <a:lstStyle/>
          <a:p>
            <a:pPr algn="l"/>
            <a:r>
              <a:rPr sz="800" b="1">
                <a:solidFill>
                  <a:srgbClr val="2E7D32"/>
                </a:solidFill>
                <a:latin typeface="Arial"/>
              </a:rPr>
              <a:t>APPROACH</a:t>
            </a:r>
          </a:p>
        </p:txBody>
      </p:sp>
      <p:sp>
        <p:nvSpPr>
          <p:cNvPr id="13" name="TextBox 12"/>
          <p:cNvSpPr txBox="1"/>
          <p:nvPr/>
        </p:nvSpPr>
        <p:spPr>
          <a:xfrm>
            <a:off x="1691640" y="3090672"/>
            <a:ext cx="2743200" cy="502920"/>
          </a:xfrm>
          <a:prstGeom prst="rect">
            <a:avLst/>
          </a:prstGeom>
          <a:noFill/>
        </p:spPr>
        <p:txBody>
          <a:bodyPr wrap="square" anchor="t">
            <a:spAutoFit/>
          </a:bodyPr>
          <a:lstStyle/>
          <a:p>
            <a:pPr algn="l"/>
            <a:r>
              <a:rPr sz="1000" b="0">
                <a:solidFill>
                  <a:srgbClr val="1F1F1F"/>
                </a:solidFill>
                <a:latin typeface="Arial"/>
              </a:rPr>
              <a:t>Use OpenAI / Anthropic /
open-source SFT APIs;
often LoRA adapters</a:t>
            </a:r>
          </a:p>
        </p:txBody>
      </p:sp>
      <p:sp>
        <p:nvSpPr>
          <p:cNvPr id="14" name="TextBox 13"/>
          <p:cNvSpPr txBox="1"/>
          <p:nvPr/>
        </p:nvSpPr>
        <p:spPr>
          <a:xfrm>
            <a:off x="640080" y="3639312"/>
            <a:ext cx="1005840" cy="182880"/>
          </a:xfrm>
          <a:prstGeom prst="rect">
            <a:avLst/>
          </a:prstGeom>
          <a:noFill/>
        </p:spPr>
        <p:txBody>
          <a:bodyPr wrap="square" anchor="t">
            <a:spAutoFit/>
          </a:bodyPr>
          <a:lstStyle/>
          <a:p>
            <a:pPr algn="l"/>
            <a:r>
              <a:rPr sz="800" b="1">
                <a:solidFill>
                  <a:srgbClr val="2E7D32"/>
                </a:solidFill>
                <a:latin typeface="Arial"/>
              </a:rPr>
              <a:t>COST</a:t>
            </a:r>
          </a:p>
        </p:txBody>
      </p:sp>
      <p:sp>
        <p:nvSpPr>
          <p:cNvPr id="15" name="TextBox 14"/>
          <p:cNvSpPr txBox="1"/>
          <p:nvPr/>
        </p:nvSpPr>
        <p:spPr>
          <a:xfrm>
            <a:off x="1691640" y="3639312"/>
            <a:ext cx="2743200" cy="502920"/>
          </a:xfrm>
          <a:prstGeom prst="rect">
            <a:avLst/>
          </a:prstGeom>
          <a:noFill/>
        </p:spPr>
        <p:txBody>
          <a:bodyPr wrap="square" anchor="t">
            <a:spAutoFit/>
          </a:bodyPr>
          <a:lstStyle/>
          <a:p>
            <a:pPr algn="l"/>
            <a:r>
              <a:rPr sz="1000" b="0">
                <a:solidFill>
                  <a:srgbClr val="1F1F1F"/>
                </a:solidFill>
                <a:latin typeface="Arial"/>
              </a:rPr>
              <a:t>Tens to thousands of dollars;
minutes to hours</a:t>
            </a:r>
          </a:p>
        </p:txBody>
      </p:sp>
      <p:sp>
        <p:nvSpPr>
          <p:cNvPr id="16" name="TextBox 15"/>
          <p:cNvSpPr txBox="1"/>
          <p:nvPr/>
        </p:nvSpPr>
        <p:spPr>
          <a:xfrm>
            <a:off x="640080" y="4187952"/>
            <a:ext cx="1005840" cy="182880"/>
          </a:xfrm>
          <a:prstGeom prst="rect">
            <a:avLst/>
          </a:prstGeom>
          <a:noFill/>
        </p:spPr>
        <p:txBody>
          <a:bodyPr wrap="square" anchor="t">
            <a:spAutoFit/>
          </a:bodyPr>
          <a:lstStyle/>
          <a:p>
            <a:pPr algn="l"/>
            <a:r>
              <a:rPr sz="800" b="1">
                <a:solidFill>
                  <a:srgbClr val="2E7D32"/>
                </a:solidFill>
                <a:latin typeface="Arial"/>
              </a:rPr>
              <a:t>USE CASE</a:t>
            </a:r>
          </a:p>
        </p:txBody>
      </p:sp>
      <p:sp>
        <p:nvSpPr>
          <p:cNvPr id="17" name="TextBox 16"/>
          <p:cNvSpPr txBox="1"/>
          <p:nvPr/>
        </p:nvSpPr>
        <p:spPr>
          <a:xfrm>
            <a:off x="1691640" y="4187952"/>
            <a:ext cx="2743200" cy="502920"/>
          </a:xfrm>
          <a:prstGeom prst="rect">
            <a:avLst/>
          </a:prstGeom>
          <a:noFill/>
        </p:spPr>
        <p:txBody>
          <a:bodyPr wrap="square" anchor="t">
            <a:spAutoFit/>
          </a:bodyPr>
          <a:lstStyle/>
          <a:p>
            <a:pPr algn="l"/>
            <a:r>
              <a:rPr sz="1000" b="0">
                <a:solidFill>
                  <a:srgbClr val="1F1F1F"/>
                </a:solidFill>
                <a:latin typeface="Arial"/>
              </a:rPr>
              <a:t>Lock in style, format, or
domain language that
prompting can't reliably get</a:t>
            </a:r>
          </a:p>
        </p:txBody>
      </p:sp>
      <p:sp>
        <p:nvSpPr>
          <p:cNvPr id="18" name="Rounded Rectangle 17"/>
          <p:cNvSpPr/>
          <p:nvPr/>
        </p:nvSpPr>
        <p:spPr>
          <a:xfrm>
            <a:off x="4617720" y="1508760"/>
            <a:ext cx="4069080" cy="3246120"/>
          </a:xfrm>
          <a:prstGeom prst="rect">
            <a:avLst/>
          </a:prstGeom>
          <a:solidFill>
            <a:srgbClr val="FAE8E5"/>
          </a:solidFill>
          <a:ln w="12700">
            <a:solidFill>
              <a:srgbClr val="C1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20" y="1600200"/>
            <a:ext cx="4069080" cy="292608"/>
          </a:xfrm>
          <a:prstGeom prst="rect">
            <a:avLst/>
          </a:prstGeom>
          <a:noFill/>
        </p:spPr>
        <p:txBody>
          <a:bodyPr wrap="square" anchor="t">
            <a:spAutoFit/>
          </a:bodyPr>
          <a:lstStyle/>
          <a:p>
            <a:pPr algn="ctr"/>
            <a:r>
              <a:rPr sz="1300" b="1">
                <a:solidFill>
                  <a:srgbClr val="C12A2A"/>
                </a:solidFill>
                <a:latin typeface="Whitney Bold"/>
              </a:rPr>
              <a:t>Frontier-lab territory</a:t>
            </a:r>
          </a:p>
        </p:txBody>
      </p:sp>
      <p:sp>
        <p:nvSpPr>
          <p:cNvPr id="20" name="TextBox 19"/>
          <p:cNvSpPr txBox="1"/>
          <p:nvPr/>
        </p:nvSpPr>
        <p:spPr>
          <a:xfrm>
            <a:off x="4800600" y="1993392"/>
            <a:ext cx="1005840" cy="182880"/>
          </a:xfrm>
          <a:prstGeom prst="rect">
            <a:avLst/>
          </a:prstGeom>
          <a:noFill/>
        </p:spPr>
        <p:txBody>
          <a:bodyPr wrap="square" anchor="t">
            <a:spAutoFit/>
          </a:bodyPr>
          <a:lstStyle/>
          <a:p>
            <a:pPr algn="l"/>
            <a:r>
              <a:rPr sz="800" b="1">
                <a:solidFill>
                  <a:srgbClr val="C12A2A"/>
                </a:solidFill>
                <a:latin typeface="Arial"/>
              </a:rPr>
              <a:t>METHOD</a:t>
            </a:r>
          </a:p>
        </p:txBody>
      </p:sp>
      <p:sp>
        <p:nvSpPr>
          <p:cNvPr id="21" name="TextBox 20"/>
          <p:cNvSpPr txBox="1"/>
          <p:nvPr/>
        </p:nvSpPr>
        <p:spPr>
          <a:xfrm>
            <a:off x="5852160" y="1993392"/>
            <a:ext cx="2743200" cy="502920"/>
          </a:xfrm>
          <a:prstGeom prst="rect">
            <a:avLst/>
          </a:prstGeom>
          <a:noFill/>
        </p:spPr>
        <p:txBody>
          <a:bodyPr wrap="square" anchor="t">
            <a:spAutoFit/>
          </a:bodyPr>
          <a:lstStyle/>
          <a:p>
            <a:pPr algn="l"/>
            <a:r>
              <a:rPr sz="1000" b="0">
                <a:solidFill>
                  <a:srgbClr val="1F1F1F"/>
                </a:solidFill>
                <a:latin typeface="Arial"/>
              </a:rPr>
              <a:t>RLHF (reward model + PPO)</a:t>
            </a:r>
          </a:p>
        </p:txBody>
      </p:sp>
      <p:sp>
        <p:nvSpPr>
          <p:cNvPr id="22" name="TextBox 21"/>
          <p:cNvSpPr txBox="1"/>
          <p:nvPr/>
        </p:nvSpPr>
        <p:spPr>
          <a:xfrm>
            <a:off x="4800600" y="2542032"/>
            <a:ext cx="1005840" cy="182880"/>
          </a:xfrm>
          <a:prstGeom prst="rect">
            <a:avLst/>
          </a:prstGeom>
          <a:noFill/>
        </p:spPr>
        <p:txBody>
          <a:bodyPr wrap="square" anchor="t">
            <a:spAutoFit/>
          </a:bodyPr>
          <a:lstStyle/>
          <a:p>
            <a:pPr algn="l"/>
            <a:r>
              <a:rPr sz="800" b="1">
                <a:solidFill>
                  <a:srgbClr val="C12A2A"/>
                </a:solidFill>
                <a:latin typeface="Arial"/>
              </a:rPr>
              <a:t>DATA</a:t>
            </a:r>
          </a:p>
        </p:txBody>
      </p:sp>
      <p:sp>
        <p:nvSpPr>
          <p:cNvPr id="23" name="TextBox 22"/>
          <p:cNvSpPr txBox="1"/>
          <p:nvPr/>
        </p:nvSpPr>
        <p:spPr>
          <a:xfrm>
            <a:off x="5852160" y="2542032"/>
            <a:ext cx="2743200" cy="502920"/>
          </a:xfrm>
          <a:prstGeom prst="rect">
            <a:avLst/>
          </a:prstGeom>
          <a:noFill/>
        </p:spPr>
        <p:txBody>
          <a:bodyPr wrap="square" anchor="t">
            <a:spAutoFit/>
          </a:bodyPr>
          <a:lstStyle/>
          <a:p>
            <a:pPr algn="l"/>
            <a:r>
              <a:rPr sz="1000" b="0">
                <a:solidFill>
                  <a:srgbClr val="1F1F1F"/>
                </a:solidFill>
                <a:latin typeface="Arial"/>
              </a:rPr>
              <a:t>Tens of thousands of human
preference rankings</a:t>
            </a:r>
          </a:p>
        </p:txBody>
      </p:sp>
      <p:sp>
        <p:nvSpPr>
          <p:cNvPr id="24" name="TextBox 23"/>
          <p:cNvSpPr txBox="1"/>
          <p:nvPr/>
        </p:nvSpPr>
        <p:spPr>
          <a:xfrm>
            <a:off x="4800600" y="3090672"/>
            <a:ext cx="1005840" cy="182880"/>
          </a:xfrm>
          <a:prstGeom prst="rect">
            <a:avLst/>
          </a:prstGeom>
          <a:noFill/>
        </p:spPr>
        <p:txBody>
          <a:bodyPr wrap="square" anchor="t">
            <a:spAutoFit/>
          </a:bodyPr>
          <a:lstStyle/>
          <a:p>
            <a:pPr algn="l"/>
            <a:r>
              <a:rPr sz="800" b="1">
                <a:solidFill>
                  <a:srgbClr val="C12A2A"/>
                </a:solidFill>
                <a:latin typeface="Arial"/>
              </a:rPr>
              <a:t>APPROACH</a:t>
            </a:r>
          </a:p>
        </p:txBody>
      </p:sp>
      <p:sp>
        <p:nvSpPr>
          <p:cNvPr id="25" name="TextBox 24"/>
          <p:cNvSpPr txBox="1"/>
          <p:nvPr/>
        </p:nvSpPr>
        <p:spPr>
          <a:xfrm>
            <a:off x="5852160" y="3090672"/>
            <a:ext cx="2743200" cy="502920"/>
          </a:xfrm>
          <a:prstGeom prst="rect">
            <a:avLst/>
          </a:prstGeom>
          <a:noFill/>
        </p:spPr>
        <p:txBody>
          <a:bodyPr wrap="square" anchor="t">
            <a:spAutoFit/>
          </a:bodyPr>
          <a:lstStyle/>
          <a:p>
            <a:pPr algn="l"/>
            <a:r>
              <a:rPr sz="1000" b="0">
                <a:solidFill>
                  <a:srgbClr val="1F1F1F"/>
                </a:solidFill>
                <a:latin typeface="Arial"/>
              </a:rPr>
              <a:t>Build dedicated labeling teams,
train reward model, run PPO
at scale</a:t>
            </a:r>
          </a:p>
        </p:txBody>
      </p:sp>
      <p:sp>
        <p:nvSpPr>
          <p:cNvPr id="26" name="TextBox 25"/>
          <p:cNvSpPr txBox="1"/>
          <p:nvPr/>
        </p:nvSpPr>
        <p:spPr>
          <a:xfrm>
            <a:off x="4800600" y="3639312"/>
            <a:ext cx="1005840" cy="182880"/>
          </a:xfrm>
          <a:prstGeom prst="rect">
            <a:avLst/>
          </a:prstGeom>
          <a:noFill/>
        </p:spPr>
        <p:txBody>
          <a:bodyPr wrap="square" anchor="t">
            <a:spAutoFit/>
          </a:bodyPr>
          <a:lstStyle/>
          <a:p>
            <a:pPr algn="l"/>
            <a:r>
              <a:rPr sz="800" b="1">
                <a:solidFill>
                  <a:srgbClr val="C12A2A"/>
                </a:solidFill>
                <a:latin typeface="Arial"/>
              </a:rPr>
              <a:t>COST</a:t>
            </a:r>
          </a:p>
        </p:txBody>
      </p:sp>
      <p:sp>
        <p:nvSpPr>
          <p:cNvPr id="27" name="TextBox 26"/>
          <p:cNvSpPr txBox="1"/>
          <p:nvPr/>
        </p:nvSpPr>
        <p:spPr>
          <a:xfrm>
            <a:off x="5852160" y="3639312"/>
            <a:ext cx="2743200" cy="502920"/>
          </a:xfrm>
          <a:prstGeom prst="rect">
            <a:avLst/>
          </a:prstGeom>
          <a:noFill/>
        </p:spPr>
        <p:txBody>
          <a:bodyPr wrap="square" anchor="t">
            <a:spAutoFit/>
          </a:bodyPr>
          <a:lstStyle/>
          <a:p>
            <a:pPr algn="l"/>
            <a:r>
              <a:rPr sz="1000" b="0">
                <a:solidFill>
                  <a:srgbClr val="1F1F1F"/>
                </a:solidFill>
                <a:latin typeface="Arial"/>
              </a:rPr>
              <a:t>Millions of dollars;
months of work</a:t>
            </a:r>
          </a:p>
        </p:txBody>
      </p:sp>
      <p:sp>
        <p:nvSpPr>
          <p:cNvPr id="28" name="TextBox 27"/>
          <p:cNvSpPr txBox="1"/>
          <p:nvPr/>
        </p:nvSpPr>
        <p:spPr>
          <a:xfrm>
            <a:off x="4800600" y="4187952"/>
            <a:ext cx="1005840" cy="182880"/>
          </a:xfrm>
          <a:prstGeom prst="rect">
            <a:avLst/>
          </a:prstGeom>
          <a:noFill/>
        </p:spPr>
        <p:txBody>
          <a:bodyPr wrap="square" anchor="t">
            <a:spAutoFit/>
          </a:bodyPr>
          <a:lstStyle/>
          <a:p>
            <a:pPr algn="l"/>
            <a:r>
              <a:rPr sz="800" b="1">
                <a:solidFill>
                  <a:srgbClr val="C12A2A"/>
                </a:solidFill>
                <a:latin typeface="Arial"/>
              </a:rPr>
              <a:t>USE CASE</a:t>
            </a:r>
          </a:p>
        </p:txBody>
      </p:sp>
      <p:sp>
        <p:nvSpPr>
          <p:cNvPr id="29" name="TextBox 28"/>
          <p:cNvSpPr txBox="1"/>
          <p:nvPr/>
        </p:nvSpPr>
        <p:spPr>
          <a:xfrm>
            <a:off x="5852160" y="4187952"/>
            <a:ext cx="2743200" cy="502920"/>
          </a:xfrm>
          <a:prstGeom prst="rect">
            <a:avLst/>
          </a:prstGeom>
          <a:noFill/>
        </p:spPr>
        <p:txBody>
          <a:bodyPr wrap="square" anchor="t">
            <a:spAutoFit/>
          </a:bodyPr>
          <a:lstStyle/>
          <a:p>
            <a:pPr algn="l"/>
            <a:r>
              <a:rPr sz="1000" b="0">
                <a:solidFill>
                  <a:srgbClr val="1F1F1F"/>
                </a:solidFill>
                <a:latin typeface="Arial"/>
              </a:rPr>
              <a:t>Aligning a frontier model's
overall behavior, usually
not what a single product needs</a:t>
            </a:r>
          </a:p>
        </p:txBody>
      </p:sp>
      <p:sp>
        <p:nvSpPr>
          <p:cNvPr id="30" name="TextBox 29"/>
          <p:cNvSpPr txBox="1"/>
          <p:nvPr/>
        </p:nvSpPr>
        <p:spPr>
          <a:xfrm>
            <a:off x="457200" y="4846320"/>
            <a:ext cx="8321040" cy="274320"/>
          </a:xfrm>
          <a:prstGeom prst="rect">
            <a:avLst/>
          </a:prstGeom>
          <a:noFill/>
        </p:spPr>
        <p:txBody>
          <a:bodyPr wrap="square" anchor="t">
            <a:spAutoFit/>
          </a:bodyPr>
          <a:lstStyle/>
          <a:p>
            <a:pPr algn="ctr"/>
            <a:r>
              <a:rPr sz="1200" b="1">
                <a:solidFill>
                  <a:srgbClr val="005587"/>
                </a:solidFill>
                <a:latin typeface="Arial"/>
              </a:rPr>
              <a:t>If you say "we should fine-tune," you almost always mean SFT.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5148072"/>
          </a:xfrm>
          <a:prstGeom prst="rect">
            <a:avLst/>
          </a:prstGeom>
          <a:solidFill>
            <a:srgbClr val="005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321040" cy="685800"/>
          </a:xfrm>
          <a:prstGeom prst="rect">
            <a:avLst/>
          </a:prstGeom>
          <a:noFill/>
        </p:spPr>
        <p:txBody>
          <a:bodyPr wrap="square" anchor="ctr">
            <a:spAutoFit/>
          </a:bodyPr>
          <a:lstStyle/>
          <a:p>
            <a:pPr algn="l"/>
            <a:r>
              <a:rPr sz="2800" b="1">
                <a:solidFill>
                  <a:srgbClr val="005587"/>
                </a:solidFill>
                <a:latin typeface="Whitney Bold"/>
              </a:rPr>
              <a:t>When Fine-Tuning Is the Right Lever</a:t>
            </a:r>
          </a:p>
        </p:txBody>
      </p:sp>
      <p:cxnSp>
        <p:nvCxnSpPr>
          <p:cNvPr id="4" name="Connector 3"/>
          <p:cNvCxnSpPr/>
          <p:nvPr/>
        </p:nvCxnSpPr>
        <p:spPr>
          <a:xfrm>
            <a:off x="457200" y="914400"/>
            <a:ext cx="83210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097280"/>
            <a:ext cx="4069080" cy="3749039"/>
          </a:xfrm>
          <a:prstGeom prst="rect">
            <a:avLst/>
          </a:prstGeom>
          <a:solidFill>
            <a:srgbClr val="E7F2E5"/>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88720"/>
            <a:ext cx="4069080" cy="292608"/>
          </a:xfrm>
          <a:prstGeom prst="rect">
            <a:avLst/>
          </a:prstGeom>
          <a:noFill/>
        </p:spPr>
        <p:txBody>
          <a:bodyPr wrap="square" anchor="t">
            <a:spAutoFit/>
          </a:bodyPr>
          <a:lstStyle/>
          <a:p>
            <a:pPr algn="ctr"/>
            <a:r>
              <a:rPr sz="1400" b="1">
                <a:solidFill>
                  <a:srgbClr val="2E7D32"/>
                </a:solidFill>
                <a:latin typeface="Whitney Bold"/>
              </a:rPr>
              <a:t>Strengths</a:t>
            </a:r>
          </a:p>
        </p:txBody>
      </p:sp>
      <p:cxnSp>
        <p:nvCxnSpPr>
          <p:cNvPr id="7" name="Connector 6"/>
          <p:cNvCxnSpPr/>
          <p:nvPr/>
        </p:nvCxnSpPr>
        <p:spPr>
          <a:xfrm>
            <a:off x="731520" y="1554480"/>
            <a:ext cx="3520440" cy="0"/>
          </a:xfrm>
          <a:prstGeom prst="line">
            <a:avLst/>
          </a:prstGeom>
          <a:ln w="6350">
            <a:solidFill>
              <a:srgbClr val="2E7D3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1645919"/>
            <a:ext cx="3703320" cy="3108959"/>
          </a:xfrm>
          <a:prstGeom prst="rect">
            <a:avLst/>
          </a:prstGeom>
          <a:noFill/>
        </p:spPr>
        <p:txBody>
          <a:bodyPr wrap="square" anchor="t">
            <a:spAutoFit/>
          </a:bodyPr>
          <a:lstStyle/>
          <a:p>
            <a:pPr algn="l"/>
            <a:r>
              <a:rPr sz="1100" b="0">
                <a:solidFill>
                  <a:srgbClr val="1F1F1F"/>
                </a:solidFill>
                <a:latin typeface="Arial"/>
              </a:rPr>
              <a:t>•  Bakes behavior into weights; no per-call prompt overhead</a:t>
            </a:r>
          </a:p>
          <a:p>
            <a:pPr algn="l"/>
            <a:r>
              <a:rPr sz="1100" b="0">
                <a:solidFill>
                  <a:srgbClr val="1F1F1F"/>
                </a:solidFill>
                <a:latin typeface="Arial"/>
              </a:rPr>
              <a:t>•  Best for consistent style, format, or domain language</a:t>
            </a:r>
          </a:p>
          <a:p>
            <a:pPr algn="l"/>
            <a:r>
              <a:rPr sz="1100" b="0">
                <a:solidFill>
                  <a:srgbClr val="1F1F1F"/>
                </a:solidFill>
                <a:latin typeface="Arial"/>
              </a:rPr>
              <a:t>•  Smaller open-source models can match larger ones on narrow tasks</a:t>
            </a:r>
          </a:p>
          <a:p>
            <a:pPr algn="l"/>
            <a:r>
              <a:rPr sz="1100" b="0">
                <a:solidFill>
                  <a:srgbClr val="1F1F1F"/>
                </a:solidFill>
                <a:latin typeface="Arial"/>
              </a:rPr>
              <a:t>•  Can produce specialized assistants (medical, legal, code)</a:t>
            </a:r>
          </a:p>
          <a:p>
            <a:pPr algn="l"/>
            <a:r>
              <a:rPr sz="1100" b="0">
                <a:solidFill>
                  <a:srgbClr val="1F1F1F"/>
                </a:solidFill>
                <a:latin typeface="Arial"/>
              </a:rPr>
              <a:t>•  Adapter methods (LoRA) make it cheap and reversible</a:t>
            </a:r>
          </a:p>
        </p:txBody>
      </p:sp>
      <p:sp>
        <p:nvSpPr>
          <p:cNvPr id="9" name="Rounded Rectangle 8"/>
          <p:cNvSpPr/>
          <p:nvPr/>
        </p:nvSpPr>
        <p:spPr>
          <a:xfrm>
            <a:off x="4617720" y="1097280"/>
            <a:ext cx="4069080" cy="3749039"/>
          </a:xfrm>
          <a:prstGeom prst="rect">
            <a:avLst/>
          </a:prstGeom>
          <a:solidFill>
            <a:srgbClr val="FAE8E5"/>
          </a:solidFill>
          <a:ln w="12700">
            <a:solidFill>
              <a:srgbClr val="C1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188720"/>
            <a:ext cx="4069080" cy="292608"/>
          </a:xfrm>
          <a:prstGeom prst="rect">
            <a:avLst/>
          </a:prstGeom>
          <a:noFill/>
        </p:spPr>
        <p:txBody>
          <a:bodyPr wrap="square" anchor="t">
            <a:spAutoFit/>
          </a:bodyPr>
          <a:lstStyle/>
          <a:p>
            <a:pPr algn="ctr"/>
            <a:r>
              <a:rPr sz="1400" b="1">
                <a:solidFill>
                  <a:srgbClr val="C12A2A"/>
                </a:solidFill>
                <a:latin typeface="Whitney Bold"/>
              </a:rPr>
              <a:t>Limitations</a:t>
            </a:r>
          </a:p>
        </p:txBody>
      </p:sp>
      <p:cxnSp>
        <p:nvCxnSpPr>
          <p:cNvPr id="11" name="Connector 10"/>
          <p:cNvCxnSpPr/>
          <p:nvPr/>
        </p:nvCxnSpPr>
        <p:spPr>
          <a:xfrm>
            <a:off x="4892040" y="1554480"/>
            <a:ext cx="3520440" cy="0"/>
          </a:xfrm>
          <a:prstGeom prst="line">
            <a:avLst/>
          </a:prstGeom>
          <a:ln w="6350">
            <a:solidFill>
              <a:srgbClr val="C12A2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800600" y="1645919"/>
            <a:ext cx="3703320" cy="3108959"/>
          </a:xfrm>
          <a:prstGeom prst="rect">
            <a:avLst/>
          </a:prstGeom>
          <a:noFill/>
        </p:spPr>
        <p:txBody>
          <a:bodyPr wrap="square" anchor="t">
            <a:spAutoFit/>
          </a:bodyPr>
          <a:lstStyle/>
          <a:p>
            <a:pPr algn="l"/>
            <a:r>
              <a:rPr sz="1100" b="0">
                <a:solidFill>
                  <a:srgbClr val="1F1F1F"/>
                </a:solidFill>
                <a:latin typeface="Arial"/>
              </a:rPr>
              <a:t>•  Needs labeled data; usually the binding constraint</a:t>
            </a:r>
          </a:p>
          <a:p>
            <a:pPr algn="l"/>
            <a:r>
              <a:rPr sz="1100" b="0">
                <a:solidFill>
                  <a:srgbClr val="1F1F1F"/>
                </a:solidFill>
                <a:latin typeface="Arial"/>
              </a:rPr>
              <a:t>•  Risk of catastrophic forgetting on general capabilities</a:t>
            </a:r>
          </a:p>
          <a:p>
            <a:pPr algn="l"/>
            <a:r>
              <a:rPr sz="1100" b="0">
                <a:solidFill>
                  <a:srgbClr val="1F1F1F"/>
                </a:solidFill>
                <a:latin typeface="Arial"/>
              </a:rPr>
              <a:t>•  Training, eval, and deployment loop is real engineering</a:t>
            </a:r>
          </a:p>
          <a:p>
            <a:pPr algn="l"/>
            <a:r>
              <a:rPr sz="1100" b="0">
                <a:solidFill>
                  <a:srgbClr val="1F1F1F"/>
                </a:solidFill>
                <a:latin typeface="Arial"/>
              </a:rPr>
              <a:t>•  Doesn't add fresh facts; that's still a retrieval problem</a:t>
            </a:r>
          </a:p>
          <a:p>
            <a:pPr algn="l"/>
            <a:r>
              <a:rPr sz="1100" b="0">
                <a:solidFill>
                  <a:srgbClr val="1F1F1F"/>
                </a:solidFill>
                <a:latin typeface="Arial"/>
              </a:rPr>
              <a:t>•  Vendor model upgrades may obsolete your fine-tune</a:t>
            </a:r>
          </a:p>
        </p:txBody>
      </p:sp>
      <p:sp>
        <p:nvSpPr>
          <p:cNvPr id="13" name="TextBox 12"/>
          <p:cNvSpPr txBox="1"/>
          <p:nvPr/>
        </p:nvSpPr>
        <p:spPr>
          <a:xfrm>
            <a:off x="457200" y="4937760"/>
            <a:ext cx="8321040" cy="182880"/>
          </a:xfrm>
          <a:prstGeom prst="rect">
            <a:avLst/>
          </a:prstGeom>
          <a:noFill/>
        </p:spPr>
        <p:txBody>
          <a:bodyPr wrap="square" anchor="t">
            <a:spAutoFit/>
          </a:bodyPr>
          <a:lstStyle/>
          <a:p>
            <a:pPr algn="ctr"/>
            <a:r>
              <a:rPr sz="1100" b="1">
                <a:solidFill>
                  <a:srgbClr val="005587"/>
                </a:solidFill>
                <a:latin typeface="Arial"/>
              </a:rPr>
              <a:t>Fine-tune when you have data, prompting plateaued, and the behavior should be the same every time.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5148072"/>
          </a:xfrm>
          <a:prstGeom prst="rect">
            <a:avLst/>
          </a:prstGeom>
          <a:solidFill>
            <a:srgbClr val="005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321040" cy="685800"/>
          </a:xfrm>
          <a:prstGeom prst="rect">
            <a:avLst/>
          </a:prstGeom>
          <a:noFill/>
        </p:spPr>
        <p:txBody>
          <a:bodyPr wrap="square" anchor="ctr">
            <a:spAutoFit/>
          </a:bodyPr>
          <a:lstStyle/>
          <a:p>
            <a:pPr algn="l"/>
            <a:r>
              <a:rPr sz="2800" b="1">
                <a:solidFill>
                  <a:srgbClr val="005587"/>
                </a:solidFill>
                <a:latin typeface="Whitney Bold"/>
              </a:rPr>
              <a:t>The Three Levers Compared</a:t>
            </a:r>
          </a:p>
        </p:txBody>
      </p:sp>
      <p:cxnSp>
        <p:nvCxnSpPr>
          <p:cNvPr id="4" name="Connector 3"/>
          <p:cNvCxnSpPr/>
          <p:nvPr/>
        </p:nvCxnSpPr>
        <p:spPr>
          <a:xfrm>
            <a:off x="457200" y="914400"/>
            <a:ext cx="8321040" cy="0"/>
          </a:xfrm>
          <a:prstGeom prst="line">
            <a:avLst/>
          </a:prstGeom>
          <a:ln w="6350">
            <a:solidFill>
              <a:srgbClr val="CCCC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960120"/>
            <a:ext cx="8321040" cy="274320"/>
          </a:xfrm>
          <a:prstGeom prst="rect">
            <a:avLst/>
          </a:prstGeom>
          <a:noFill/>
        </p:spPr>
        <p:txBody>
          <a:bodyPr wrap="square" anchor="t">
            <a:spAutoFit/>
          </a:bodyPr>
          <a:lstStyle/>
          <a:p>
            <a:pPr algn="l"/>
            <a:r>
              <a:rPr sz="1200" b="1">
                <a:solidFill>
                  <a:srgbClr val="1F1F1F"/>
                </a:solidFill>
                <a:latin typeface="Arial"/>
              </a:rPr>
              <a:t>Most products end up using all three. The art is matching each lever to the right problem.</a:t>
            </a:r>
          </a:p>
        </p:txBody>
      </p:sp>
      <p:sp>
        <p:nvSpPr>
          <p:cNvPr id="6" name="Rectangle 5"/>
          <p:cNvSpPr/>
          <p:nvPr/>
        </p:nvSpPr>
        <p:spPr>
          <a:xfrm>
            <a:off x="365760" y="1371600"/>
            <a:ext cx="8412480" cy="411480"/>
          </a:xfrm>
          <a:prstGeom prst="rect">
            <a:avLst/>
          </a:prstGeom>
          <a:solidFill>
            <a:srgbClr val="0055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371600"/>
            <a:ext cx="2011680" cy="411480"/>
          </a:xfrm>
          <a:prstGeom prst="rect">
            <a:avLst/>
          </a:prstGeom>
          <a:noFill/>
        </p:spPr>
        <p:txBody>
          <a:bodyPr wrap="square" anchor="ctr">
            <a:spAutoFit/>
          </a:bodyPr>
          <a:lstStyle/>
          <a:p>
            <a:pPr algn="ctr"/>
            <a:r>
              <a:rPr sz="1200" b="1">
                <a:solidFill>
                  <a:srgbClr val="FFFFFF"/>
                </a:solidFill>
                <a:latin typeface="Whitney Bold"/>
              </a:rPr>
              <a:t/>
            </a:r>
          </a:p>
        </p:txBody>
      </p:sp>
      <p:sp>
        <p:nvSpPr>
          <p:cNvPr id="8" name="TextBox 7"/>
          <p:cNvSpPr txBox="1"/>
          <p:nvPr/>
        </p:nvSpPr>
        <p:spPr>
          <a:xfrm>
            <a:off x="2377440" y="1371600"/>
            <a:ext cx="2103120" cy="411480"/>
          </a:xfrm>
          <a:prstGeom prst="rect">
            <a:avLst/>
          </a:prstGeom>
          <a:noFill/>
        </p:spPr>
        <p:txBody>
          <a:bodyPr wrap="square" anchor="ctr">
            <a:spAutoFit/>
          </a:bodyPr>
          <a:lstStyle/>
          <a:p>
            <a:pPr algn="ctr"/>
            <a:r>
              <a:rPr sz="1200" b="1">
                <a:solidFill>
                  <a:srgbClr val="FFFFFF"/>
                </a:solidFill>
                <a:latin typeface="Whitney Bold"/>
              </a:rPr>
              <a:t>Prompting</a:t>
            </a:r>
          </a:p>
        </p:txBody>
      </p:sp>
      <p:sp>
        <p:nvSpPr>
          <p:cNvPr id="9" name="TextBox 8"/>
          <p:cNvSpPr txBox="1"/>
          <p:nvPr/>
        </p:nvSpPr>
        <p:spPr>
          <a:xfrm>
            <a:off x="4480560" y="1371600"/>
            <a:ext cx="2103120" cy="411480"/>
          </a:xfrm>
          <a:prstGeom prst="rect">
            <a:avLst/>
          </a:prstGeom>
          <a:noFill/>
        </p:spPr>
        <p:txBody>
          <a:bodyPr wrap="square" anchor="ctr">
            <a:spAutoFit/>
          </a:bodyPr>
          <a:lstStyle/>
          <a:p>
            <a:pPr algn="ctr"/>
            <a:r>
              <a:rPr sz="1200" b="1">
                <a:solidFill>
                  <a:srgbClr val="FFFFFF"/>
                </a:solidFill>
                <a:latin typeface="Whitney Bold"/>
              </a:rPr>
              <a:t>RAG</a:t>
            </a:r>
          </a:p>
        </p:txBody>
      </p:sp>
      <p:sp>
        <p:nvSpPr>
          <p:cNvPr id="10" name="TextBox 9"/>
          <p:cNvSpPr txBox="1"/>
          <p:nvPr/>
        </p:nvSpPr>
        <p:spPr>
          <a:xfrm>
            <a:off x="6583680" y="1371600"/>
            <a:ext cx="2194560" cy="411480"/>
          </a:xfrm>
          <a:prstGeom prst="rect">
            <a:avLst/>
          </a:prstGeom>
          <a:noFill/>
        </p:spPr>
        <p:txBody>
          <a:bodyPr wrap="square" anchor="ctr">
            <a:spAutoFit/>
          </a:bodyPr>
          <a:lstStyle/>
          <a:p>
            <a:pPr algn="ctr"/>
            <a:r>
              <a:rPr sz="1200" b="1">
                <a:solidFill>
                  <a:srgbClr val="FFFFFF"/>
                </a:solidFill>
                <a:latin typeface="Whitney Bold"/>
              </a:rPr>
              <a:t>Fine-tuning</a:t>
            </a:r>
          </a:p>
        </p:txBody>
      </p:sp>
      <p:sp>
        <p:nvSpPr>
          <p:cNvPr id="11" name="Rectangle 10"/>
          <p:cNvSpPr/>
          <p:nvPr/>
        </p:nvSpPr>
        <p:spPr>
          <a:xfrm>
            <a:off x="365760" y="1783080"/>
            <a:ext cx="8412480" cy="457200"/>
          </a:xfrm>
          <a:prstGeom prst="rect">
            <a:avLst/>
          </a:prstGeom>
          <a:solidFill>
            <a:srgbClr val="EEF3F8"/>
          </a:solidFill>
          <a:ln w="381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828800"/>
            <a:ext cx="1828800" cy="365760"/>
          </a:xfrm>
          <a:prstGeom prst="rect">
            <a:avLst/>
          </a:prstGeom>
          <a:noFill/>
        </p:spPr>
        <p:txBody>
          <a:bodyPr wrap="square" anchor="ctr">
            <a:spAutoFit/>
          </a:bodyPr>
          <a:lstStyle/>
          <a:p>
            <a:pPr algn="l"/>
            <a:r>
              <a:rPr sz="1000" b="1">
                <a:solidFill>
                  <a:srgbClr val="005587"/>
                </a:solidFill>
                <a:latin typeface="Arial"/>
              </a:rPr>
              <a:t>Changes weights?</a:t>
            </a:r>
          </a:p>
        </p:txBody>
      </p:sp>
      <p:sp>
        <p:nvSpPr>
          <p:cNvPr id="13" name="TextBox 12"/>
          <p:cNvSpPr txBox="1"/>
          <p:nvPr/>
        </p:nvSpPr>
        <p:spPr>
          <a:xfrm>
            <a:off x="2468880" y="1828800"/>
            <a:ext cx="1920239" cy="365760"/>
          </a:xfrm>
          <a:prstGeom prst="rect">
            <a:avLst/>
          </a:prstGeom>
          <a:noFill/>
        </p:spPr>
        <p:txBody>
          <a:bodyPr wrap="square" anchor="ctr">
            <a:spAutoFit/>
          </a:bodyPr>
          <a:lstStyle/>
          <a:p>
            <a:pPr algn="l"/>
            <a:r>
              <a:rPr sz="900" b="0">
                <a:solidFill>
                  <a:srgbClr val="1F1F1F"/>
                </a:solidFill>
                <a:latin typeface="Arial"/>
              </a:rPr>
              <a:t>No</a:t>
            </a:r>
          </a:p>
        </p:txBody>
      </p:sp>
      <p:sp>
        <p:nvSpPr>
          <p:cNvPr id="14" name="TextBox 13"/>
          <p:cNvSpPr txBox="1"/>
          <p:nvPr/>
        </p:nvSpPr>
        <p:spPr>
          <a:xfrm>
            <a:off x="4572000" y="1828800"/>
            <a:ext cx="1920239" cy="365760"/>
          </a:xfrm>
          <a:prstGeom prst="rect">
            <a:avLst/>
          </a:prstGeom>
          <a:noFill/>
        </p:spPr>
        <p:txBody>
          <a:bodyPr wrap="square" anchor="ctr">
            <a:spAutoFit/>
          </a:bodyPr>
          <a:lstStyle/>
          <a:p>
            <a:pPr algn="l"/>
            <a:r>
              <a:rPr sz="900" b="0">
                <a:solidFill>
                  <a:srgbClr val="1F1F1F"/>
                </a:solidFill>
                <a:latin typeface="Arial"/>
              </a:rPr>
              <a:t>No</a:t>
            </a:r>
          </a:p>
        </p:txBody>
      </p:sp>
      <p:sp>
        <p:nvSpPr>
          <p:cNvPr id="15" name="TextBox 14"/>
          <p:cNvSpPr txBox="1"/>
          <p:nvPr/>
        </p:nvSpPr>
        <p:spPr>
          <a:xfrm>
            <a:off x="6675120" y="1828800"/>
            <a:ext cx="2011679" cy="365760"/>
          </a:xfrm>
          <a:prstGeom prst="rect">
            <a:avLst/>
          </a:prstGeom>
          <a:noFill/>
        </p:spPr>
        <p:txBody>
          <a:bodyPr wrap="square" anchor="ctr">
            <a:spAutoFit/>
          </a:bodyPr>
          <a:lstStyle/>
          <a:p>
            <a:pPr algn="l"/>
            <a:r>
              <a:rPr sz="900" b="0">
                <a:solidFill>
                  <a:srgbClr val="1F1F1F"/>
                </a:solidFill>
                <a:latin typeface="Arial"/>
              </a:rPr>
              <a:t>Yes (SFT or LoRA)</a:t>
            </a:r>
          </a:p>
        </p:txBody>
      </p:sp>
      <p:sp>
        <p:nvSpPr>
          <p:cNvPr id="16" name="Rectangle 15"/>
          <p:cNvSpPr/>
          <p:nvPr/>
        </p:nvSpPr>
        <p:spPr>
          <a:xfrm>
            <a:off x="365760" y="2240280"/>
            <a:ext cx="8412480" cy="457200"/>
          </a:xfrm>
          <a:prstGeom prst="rect">
            <a:avLst/>
          </a:prstGeom>
          <a:solidFill>
            <a:srgbClr val="FFFFFF"/>
          </a:solidFill>
          <a:ln w="381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286000"/>
            <a:ext cx="1828800" cy="365760"/>
          </a:xfrm>
          <a:prstGeom prst="rect">
            <a:avLst/>
          </a:prstGeom>
          <a:noFill/>
        </p:spPr>
        <p:txBody>
          <a:bodyPr wrap="square" anchor="ctr">
            <a:spAutoFit/>
          </a:bodyPr>
          <a:lstStyle/>
          <a:p>
            <a:pPr algn="l"/>
            <a:r>
              <a:rPr sz="1000" b="1">
                <a:solidFill>
                  <a:srgbClr val="005587"/>
                </a:solidFill>
                <a:latin typeface="Arial"/>
              </a:rPr>
              <a:t>Setup cost</a:t>
            </a:r>
          </a:p>
        </p:txBody>
      </p:sp>
      <p:sp>
        <p:nvSpPr>
          <p:cNvPr id="18" name="TextBox 17"/>
          <p:cNvSpPr txBox="1"/>
          <p:nvPr/>
        </p:nvSpPr>
        <p:spPr>
          <a:xfrm>
            <a:off x="2468880" y="2286000"/>
            <a:ext cx="1920239" cy="365760"/>
          </a:xfrm>
          <a:prstGeom prst="rect">
            <a:avLst/>
          </a:prstGeom>
          <a:noFill/>
        </p:spPr>
        <p:txBody>
          <a:bodyPr wrap="square" anchor="ctr">
            <a:spAutoFit/>
          </a:bodyPr>
          <a:lstStyle/>
          <a:p>
            <a:pPr algn="l"/>
            <a:r>
              <a:rPr sz="900" b="0">
                <a:solidFill>
                  <a:srgbClr val="1F1F1F"/>
                </a:solidFill>
                <a:latin typeface="Arial"/>
              </a:rPr>
              <a:t>Hours</a:t>
            </a:r>
          </a:p>
        </p:txBody>
      </p:sp>
      <p:sp>
        <p:nvSpPr>
          <p:cNvPr id="19" name="TextBox 18"/>
          <p:cNvSpPr txBox="1"/>
          <p:nvPr/>
        </p:nvSpPr>
        <p:spPr>
          <a:xfrm>
            <a:off x="4572000" y="2286000"/>
            <a:ext cx="1920239" cy="365760"/>
          </a:xfrm>
          <a:prstGeom prst="rect">
            <a:avLst/>
          </a:prstGeom>
          <a:noFill/>
        </p:spPr>
        <p:txBody>
          <a:bodyPr wrap="square" anchor="ctr">
            <a:spAutoFit/>
          </a:bodyPr>
          <a:lstStyle/>
          <a:p>
            <a:pPr algn="l"/>
            <a:r>
              <a:rPr sz="900" b="0">
                <a:solidFill>
                  <a:srgbClr val="1F1F1F"/>
                </a:solidFill>
                <a:latin typeface="Arial"/>
              </a:rPr>
              <a:t>Days to weeks</a:t>
            </a:r>
          </a:p>
        </p:txBody>
      </p:sp>
      <p:sp>
        <p:nvSpPr>
          <p:cNvPr id="20" name="TextBox 19"/>
          <p:cNvSpPr txBox="1"/>
          <p:nvPr/>
        </p:nvSpPr>
        <p:spPr>
          <a:xfrm>
            <a:off x="6675120" y="2286000"/>
            <a:ext cx="2011679" cy="365760"/>
          </a:xfrm>
          <a:prstGeom prst="rect">
            <a:avLst/>
          </a:prstGeom>
          <a:noFill/>
        </p:spPr>
        <p:txBody>
          <a:bodyPr wrap="square" anchor="ctr">
            <a:spAutoFit/>
          </a:bodyPr>
          <a:lstStyle/>
          <a:p>
            <a:pPr algn="l"/>
            <a:r>
              <a:rPr sz="900" b="0">
                <a:solidFill>
                  <a:srgbClr val="1F1F1F"/>
                </a:solidFill>
                <a:latin typeface="Arial"/>
              </a:rPr>
              <a:t>Days to weeks (+labels)</a:t>
            </a:r>
          </a:p>
        </p:txBody>
      </p:sp>
      <p:sp>
        <p:nvSpPr>
          <p:cNvPr id="21" name="Rectangle 20"/>
          <p:cNvSpPr/>
          <p:nvPr/>
        </p:nvSpPr>
        <p:spPr>
          <a:xfrm>
            <a:off x="365760" y="2697480"/>
            <a:ext cx="8412480" cy="457200"/>
          </a:xfrm>
          <a:prstGeom prst="rect">
            <a:avLst/>
          </a:prstGeom>
          <a:solidFill>
            <a:srgbClr val="EEF3F8"/>
          </a:solidFill>
          <a:ln w="381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743200"/>
            <a:ext cx="1828800" cy="365760"/>
          </a:xfrm>
          <a:prstGeom prst="rect">
            <a:avLst/>
          </a:prstGeom>
          <a:noFill/>
        </p:spPr>
        <p:txBody>
          <a:bodyPr wrap="square" anchor="ctr">
            <a:spAutoFit/>
          </a:bodyPr>
          <a:lstStyle/>
          <a:p>
            <a:pPr algn="l"/>
            <a:r>
              <a:rPr sz="1000" b="1">
                <a:solidFill>
                  <a:srgbClr val="005587"/>
                </a:solidFill>
                <a:latin typeface="Arial"/>
              </a:rPr>
              <a:t>Per-query cost</a:t>
            </a:r>
          </a:p>
        </p:txBody>
      </p:sp>
      <p:sp>
        <p:nvSpPr>
          <p:cNvPr id="23" name="TextBox 22"/>
          <p:cNvSpPr txBox="1"/>
          <p:nvPr/>
        </p:nvSpPr>
        <p:spPr>
          <a:xfrm>
            <a:off x="2468880" y="2743200"/>
            <a:ext cx="1920239" cy="365760"/>
          </a:xfrm>
          <a:prstGeom prst="rect">
            <a:avLst/>
          </a:prstGeom>
          <a:noFill/>
        </p:spPr>
        <p:txBody>
          <a:bodyPr wrap="square" anchor="ctr">
            <a:spAutoFit/>
          </a:bodyPr>
          <a:lstStyle/>
          <a:p>
            <a:pPr algn="l"/>
            <a:r>
              <a:rPr sz="900" b="0">
                <a:solidFill>
                  <a:srgbClr val="1F1F1F"/>
                </a:solidFill>
                <a:latin typeface="Arial"/>
              </a:rPr>
              <a:t>Just inference</a:t>
            </a:r>
          </a:p>
        </p:txBody>
      </p:sp>
      <p:sp>
        <p:nvSpPr>
          <p:cNvPr id="24" name="TextBox 23"/>
          <p:cNvSpPr txBox="1"/>
          <p:nvPr/>
        </p:nvSpPr>
        <p:spPr>
          <a:xfrm>
            <a:off x="4572000" y="2743200"/>
            <a:ext cx="1920239" cy="365760"/>
          </a:xfrm>
          <a:prstGeom prst="rect">
            <a:avLst/>
          </a:prstGeom>
          <a:noFill/>
        </p:spPr>
        <p:txBody>
          <a:bodyPr wrap="square" anchor="ctr">
            <a:spAutoFit/>
          </a:bodyPr>
          <a:lstStyle/>
          <a:p>
            <a:pPr algn="l"/>
            <a:r>
              <a:rPr sz="900" b="0">
                <a:solidFill>
                  <a:srgbClr val="1F1F1F"/>
                </a:solidFill>
                <a:latin typeface="Arial"/>
              </a:rPr>
              <a:t>Inference + retrieval</a:t>
            </a:r>
          </a:p>
        </p:txBody>
      </p:sp>
      <p:sp>
        <p:nvSpPr>
          <p:cNvPr id="25" name="TextBox 24"/>
          <p:cNvSpPr txBox="1"/>
          <p:nvPr/>
        </p:nvSpPr>
        <p:spPr>
          <a:xfrm>
            <a:off x="6675120" y="2743200"/>
            <a:ext cx="2011679" cy="365760"/>
          </a:xfrm>
          <a:prstGeom prst="rect">
            <a:avLst/>
          </a:prstGeom>
          <a:noFill/>
        </p:spPr>
        <p:txBody>
          <a:bodyPr wrap="square" anchor="ctr">
            <a:spAutoFit/>
          </a:bodyPr>
          <a:lstStyle/>
          <a:p>
            <a:pPr algn="l"/>
            <a:r>
              <a:rPr sz="900" b="0">
                <a:solidFill>
                  <a:srgbClr val="1F1F1F"/>
                </a:solidFill>
                <a:latin typeface="Arial"/>
              </a:rPr>
              <a:t>Just inference</a:t>
            </a:r>
          </a:p>
        </p:txBody>
      </p:sp>
      <p:sp>
        <p:nvSpPr>
          <p:cNvPr id="26" name="Rectangle 25"/>
          <p:cNvSpPr/>
          <p:nvPr/>
        </p:nvSpPr>
        <p:spPr>
          <a:xfrm>
            <a:off x="365760" y="3154680"/>
            <a:ext cx="8412480" cy="457200"/>
          </a:xfrm>
          <a:prstGeom prst="rect">
            <a:avLst/>
          </a:prstGeom>
          <a:solidFill>
            <a:srgbClr val="FFFFFF"/>
          </a:solidFill>
          <a:ln w="381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3200400"/>
            <a:ext cx="1828800" cy="365760"/>
          </a:xfrm>
          <a:prstGeom prst="rect">
            <a:avLst/>
          </a:prstGeom>
          <a:noFill/>
        </p:spPr>
        <p:txBody>
          <a:bodyPr wrap="square" anchor="ctr">
            <a:spAutoFit/>
          </a:bodyPr>
          <a:lstStyle/>
          <a:p>
            <a:pPr algn="l"/>
            <a:r>
              <a:rPr sz="1000" b="1">
                <a:solidFill>
                  <a:srgbClr val="005587"/>
                </a:solidFill>
                <a:latin typeface="Arial"/>
              </a:rPr>
              <a:t>Adds fresh facts?</a:t>
            </a:r>
          </a:p>
        </p:txBody>
      </p:sp>
      <p:sp>
        <p:nvSpPr>
          <p:cNvPr id="28" name="TextBox 27"/>
          <p:cNvSpPr txBox="1"/>
          <p:nvPr/>
        </p:nvSpPr>
        <p:spPr>
          <a:xfrm>
            <a:off x="2468880" y="3200400"/>
            <a:ext cx="1920239" cy="365760"/>
          </a:xfrm>
          <a:prstGeom prst="rect">
            <a:avLst/>
          </a:prstGeom>
          <a:noFill/>
        </p:spPr>
        <p:txBody>
          <a:bodyPr wrap="square" anchor="ctr">
            <a:spAutoFit/>
          </a:bodyPr>
          <a:lstStyle/>
          <a:p>
            <a:pPr algn="l"/>
            <a:r>
              <a:rPr sz="900" b="0">
                <a:solidFill>
                  <a:srgbClr val="1F1F1F"/>
                </a:solidFill>
                <a:latin typeface="Arial"/>
              </a:rPr>
              <a:t>No</a:t>
            </a:r>
          </a:p>
        </p:txBody>
      </p:sp>
      <p:sp>
        <p:nvSpPr>
          <p:cNvPr id="29" name="TextBox 28"/>
          <p:cNvSpPr txBox="1"/>
          <p:nvPr/>
        </p:nvSpPr>
        <p:spPr>
          <a:xfrm>
            <a:off x="4572000" y="3200400"/>
            <a:ext cx="1920239" cy="365760"/>
          </a:xfrm>
          <a:prstGeom prst="rect">
            <a:avLst/>
          </a:prstGeom>
          <a:noFill/>
        </p:spPr>
        <p:txBody>
          <a:bodyPr wrap="square" anchor="ctr">
            <a:spAutoFit/>
          </a:bodyPr>
          <a:lstStyle/>
          <a:p>
            <a:pPr algn="l"/>
            <a:r>
              <a:rPr sz="900" b="0">
                <a:solidFill>
                  <a:srgbClr val="1F1F1F"/>
                </a:solidFill>
                <a:latin typeface="Arial"/>
              </a:rPr>
              <a:t>Yes (anything indexed)</a:t>
            </a:r>
          </a:p>
        </p:txBody>
      </p:sp>
      <p:sp>
        <p:nvSpPr>
          <p:cNvPr id="30" name="TextBox 29"/>
          <p:cNvSpPr txBox="1"/>
          <p:nvPr/>
        </p:nvSpPr>
        <p:spPr>
          <a:xfrm>
            <a:off x="6675120" y="3200400"/>
            <a:ext cx="2011679" cy="365760"/>
          </a:xfrm>
          <a:prstGeom prst="rect">
            <a:avLst/>
          </a:prstGeom>
          <a:noFill/>
        </p:spPr>
        <p:txBody>
          <a:bodyPr wrap="square" anchor="ctr">
            <a:spAutoFit/>
          </a:bodyPr>
          <a:lstStyle/>
          <a:p>
            <a:pPr algn="l"/>
            <a:r>
              <a:rPr sz="900" b="0">
                <a:solidFill>
                  <a:srgbClr val="1F1F1F"/>
                </a:solidFill>
                <a:latin typeface="Arial"/>
              </a:rPr>
              <a:t>Limited; bakes into weights</a:t>
            </a:r>
          </a:p>
        </p:txBody>
      </p:sp>
      <p:sp>
        <p:nvSpPr>
          <p:cNvPr id="31" name="Rectangle 30"/>
          <p:cNvSpPr/>
          <p:nvPr/>
        </p:nvSpPr>
        <p:spPr>
          <a:xfrm>
            <a:off x="365760" y="3611880"/>
            <a:ext cx="8412480" cy="457200"/>
          </a:xfrm>
          <a:prstGeom prst="rect">
            <a:avLst/>
          </a:prstGeom>
          <a:solidFill>
            <a:srgbClr val="EEF3F8"/>
          </a:solidFill>
          <a:ln w="381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657600"/>
            <a:ext cx="1828800" cy="365760"/>
          </a:xfrm>
          <a:prstGeom prst="rect">
            <a:avLst/>
          </a:prstGeom>
          <a:noFill/>
        </p:spPr>
        <p:txBody>
          <a:bodyPr wrap="square" anchor="ctr">
            <a:spAutoFit/>
          </a:bodyPr>
          <a:lstStyle/>
          <a:p>
            <a:pPr algn="l"/>
            <a:r>
              <a:rPr sz="1000" b="1">
                <a:solidFill>
                  <a:srgbClr val="005587"/>
                </a:solidFill>
                <a:latin typeface="Arial"/>
              </a:rPr>
              <a:t>Best for</a:t>
            </a:r>
          </a:p>
        </p:txBody>
      </p:sp>
      <p:sp>
        <p:nvSpPr>
          <p:cNvPr id="33" name="TextBox 32"/>
          <p:cNvSpPr txBox="1"/>
          <p:nvPr/>
        </p:nvSpPr>
        <p:spPr>
          <a:xfrm>
            <a:off x="2468880" y="3657600"/>
            <a:ext cx="1920239" cy="365760"/>
          </a:xfrm>
          <a:prstGeom prst="rect">
            <a:avLst/>
          </a:prstGeom>
          <a:noFill/>
        </p:spPr>
        <p:txBody>
          <a:bodyPr wrap="square" anchor="ctr">
            <a:spAutoFit/>
          </a:bodyPr>
          <a:lstStyle/>
          <a:p>
            <a:pPr algn="l"/>
            <a:r>
              <a:rPr sz="900" b="0">
                <a:solidFill>
                  <a:srgbClr val="1F1F1F"/>
                </a:solidFill>
                <a:latin typeface="Arial"/>
              </a:rPr>
              <a:t>Style, instructions,
quick wins</a:t>
            </a:r>
          </a:p>
        </p:txBody>
      </p:sp>
      <p:sp>
        <p:nvSpPr>
          <p:cNvPr id="34" name="TextBox 33"/>
          <p:cNvSpPr txBox="1"/>
          <p:nvPr/>
        </p:nvSpPr>
        <p:spPr>
          <a:xfrm>
            <a:off x="4572000" y="3657600"/>
            <a:ext cx="1920239" cy="365760"/>
          </a:xfrm>
          <a:prstGeom prst="rect">
            <a:avLst/>
          </a:prstGeom>
          <a:noFill/>
        </p:spPr>
        <p:txBody>
          <a:bodyPr wrap="square" anchor="ctr">
            <a:spAutoFit/>
          </a:bodyPr>
          <a:lstStyle/>
          <a:p>
            <a:pPr algn="l"/>
            <a:r>
              <a:rPr sz="900" b="0">
                <a:solidFill>
                  <a:srgbClr val="1F1F1F"/>
                </a:solidFill>
                <a:latin typeface="Arial"/>
              </a:rPr>
              <a:t>Grounding on private or
fast-changing data</a:t>
            </a:r>
          </a:p>
        </p:txBody>
      </p:sp>
      <p:sp>
        <p:nvSpPr>
          <p:cNvPr id="35" name="TextBox 34"/>
          <p:cNvSpPr txBox="1"/>
          <p:nvPr/>
        </p:nvSpPr>
        <p:spPr>
          <a:xfrm>
            <a:off x="6675120" y="3657600"/>
            <a:ext cx="2011679" cy="365760"/>
          </a:xfrm>
          <a:prstGeom prst="rect">
            <a:avLst/>
          </a:prstGeom>
          <a:noFill/>
        </p:spPr>
        <p:txBody>
          <a:bodyPr wrap="square" anchor="ctr">
            <a:spAutoFit/>
          </a:bodyPr>
          <a:lstStyle/>
          <a:p>
            <a:pPr algn="l"/>
            <a:r>
              <a:rPr sz="900" b="0">
                <a:solidFill>
                  <a:srgbClr val="1F1F1F"/>
                </a:solidFill>
                <a:latin typeface="Arial"/>
              </a:rPr>
              <a:t>Locking in consistent
style / format / domain</a:t>
            </a:r>
          </a:p>
        </p:txBody>
      </p:sp>
      <p:sp>
        <p:nvSpPr>
          <p:cNvPr id="36" name="Rectangle 35"/>
          <p:cNvSpPr/>
          <p:nvPr/>
        </p:nvSpPr>
        <p:spPr>
          <a:xfrm>
            <a:off x="365760" y="4069080"/>
            <a:ext cx="8412480" cy="457200"/>
          </a:xfrm>
          <a:prstGeom prst="rect">
            <a:avLst/>
          </a:prstGeom>
          <a:solidFill>
            <a:srgbClr val="FFFFFF"/>
          </a:solidFill>
          <a:ln w="381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4114800"/>
            <a:ext cx="1828800" cy="365760"/>
          </a:xfrm>
          <a:prstGeom prst="rect">
            <a:avLst/>
          </a:prstGeom>
          <a:noFill/>
        </p:spPr>
        <p:txBody>
          <a:bodyPr wrap="square" anchor="ctr">
            <a:spAutoFit/>
          </a:bodyPr>
          <a:lstStyle/>
          <a:p>
            <a:pPr algn="l"/>
            <a:r>
              <a:rPr sz="1000" b="1">
                <a:solidFill>
                  <a:srgbClr val="005587"/>
                </a:solidFill>
                <a:latin typeface="Arial"/>
              </a:rPr>
              <a:t>Weakness</a:t>
            </a:r>
          </a:p>
        </p:txBody>
      </p:sp>
      <p:sp>
        <p:nvSpPr>
          <p:cNvPr id="38" name="TextBox 37"/>
          <p:cNvSpPr txBox="1"/>
          <p:nvPr/>
        </p:nvSpPr>
        <p:spPr>
          <a:xfrm>
            <a:off x="2468880" y="4114800"/>
            <a:ext cx="1920239" cy="365760"/>
          </a:xfrm>
          <a:prstGeom prst="rect">
            <a:avLst/>
          </a:prstGeom>
          <a:noFill/>
        </p:spPr>
        <p:txBody>
          <a:bodyPr wrap="square" anchor="ctr">
            <a:spAutoFit/>
          </a:bodyPr>
          <a:lstStyle/>
          <a:p>
            <a:pPr algn="l"/>
            <a:r>
              <a:rPr sz="900" b="0">
                <a:solidFill>
                  <a:srgbClr val="1F1F1F"/>
                </a:solidFill>
                <a:latin typeface="Arial"/>
              </a:rPr>
              <a:t>Fragile, finite context</a:t>
            </a:r>
          </a:p>
        </p:txBody>
      </p:sp>
      <p:sp>
        <p:nvSpPr>
          <p:cNvPr id="39" name="TextBox 38"/>
          <p:cNvSpPr txBox="1"/>
          <p:nvPr/>
        </p:nvSpPr>
        <p:spPr>
          <a:xfrm>
            <a:off x="4572000" y="4114800"/>
            <a:ext cx="1920239" cy="365760"/>
          </a:xfrm>
          <a:prstGeom prst="rect">
            <a:avLst/>
          </a:prstGeom>
          <a:noFill/>
        </p:spPr>
        <p:txBody>
          <a:bodyPr wrap="square" anchor="ctr">
            <a:spAutoFit/>
          </a:bodyPr>
          <a:lstStyle/>
          <a:p>
            <a:pPr algn="l"/>
            <a:r>
              <a:rPr sz="900" b="0">
                <a:solidFill>
                  <a:srgbClr val="1F1F1F"/>
                </a:solidFill>
                <a:latin typeface="Arial"/>
              </a:rPr>
              <a:t>Retrieval quality,
latency, stale data</a:t>
            </a:r>
          </a:p>
        </p:txBody>
      </p:sp>
      <p:sp>
        <p:nvSpPr>
          <p:cNvPr id="40" name="TextBox 39"/>
          <p:cNvSpPr txBox="1"/>
          <p:nvPr/>
        </p:nvSpPr>
        <p:spPr>
          <a:xfrm>
            <a:off x="6675120" y="4114800"/>
            <a:ext cx="2011679" cy="365760"/>
          </a:xfrm>
          <a:prstGeom prst="rect">
            <a:avLst/>
          </a:prstGeom>
          <a:noFill/>
        </p:spPr>
        <p:txBody>
          <a:bodyPr wrap="square" anchor="ctr">
            <a:spAutoFit/>
          </a:bodyPr>
          <a:lstStyle/>
          <a:p>
            <a:pPr algn="l"/>
            <a:r>
              <a:rPr sz="900" b="0">
                <a:solidFill>
                  <a:srgbClr val="1F1F1F"/>
                </a:solidFill>
                <a:latin typeface="Arial"/>
              </a:rPr>
              <a:t>Catastrophic forgetting,
label cost</a:t>
            </a:r>
          </a:p>
        </p:txBody>
      </p:sp>
      <p:sp>
        <p:nvSpPr>
          <p:cNvPr id="41" name="Rectangle 40"/>
          <p:cNvSpPr/>
          <p:nvPr/>
        </p:nvSpPr>
        <p:spPr>
          <a:xfrm>
            <a:off x="365760" y="4526280"/>
            <a:ext cx="8412480" cy="457200"/>
          </a:xfrm>
          <a:prstGeom prst="rect">
            <a:avLst/>
          </a:prstGeom>
          <a:solidFill>
            <a:srgbClr val="EEF3F8"/>
          </a:solidFill>
          <a:ln w="381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4572000"/>
            <a:ext cx="1828800" cy="365760"/>
          </a:xfrm>
          <a:prstGeom prst="rect">
            <a:avLst/>
          </a:prstGeom>
          <a:noFill/>
        </p:spPr>
        <p:txBody>
          <a:bodyPr wrap="square" anchor="ctr">
            <a:spAutoFit/>
          </a:bodyPr>
          <a:lstStyle/>
          <a:p>
            <a:pPr algn="l"/>
            <a:r>
              <a:rPr sz="1000" b="1">
                <a:solidFill>
                  <a:srgbClr val="005587"/>
                </a:solidFill>
                <a:latin typeface="Arial"/>
              </a:rPr>
              <a:t>Reach for it when…</a:t>
            </a:r>
          </a:p>
        </p:txBody>
      </p:sp>
      <p:sp>
        <p:nvSpPr>
          <p:cNvPr id="43" name="TextBox 42"/>
          <p:cNvSpPr txBox="1"/>
          <p:nvPr/>
        </p:nvSpPr>
        <p:spPr>
          <a:xfrm>
            <a:off x="2468880" y="4572000"/>
            <a:ext cx="1920239" cy="365760"/>
          </a:xfrm>
          <a:prstGeom prst="rect">
            <a:avLst/>
          </a:prstGeom>
          <a:noFill/>
        </p:spPr>
        <p:txBody>
          <a:bodyPr wrap="square" anchor="ctr">
            <a:spAutoFit/>
          </a:bodyPr>
          <a:lstStyle/>
          <a:p>
            <a:pPr algn="l"/>
            <a:r>
              <a:rPr sz="900" b="0">
                <a:solidFill>
                  <a:srgbClr val="1F1F1F"/>
                </a:solidFill>
                <a:latin typeface="Arial"/>
              </a:rPr>
              <a:t>You haven't tried
prompting yet</a:t>
            </a:r>
          </a:p>
        </p:txBody>
      </p:sp>
      <p:sp>
        <p:nvSpPr>
          <p:cNvPr id="44" name="TextBox 43"/>
          <p:cNvSpPr txBox="1"/>
          <p:nvPr/>
        </p:nvSpPr>
        <p:spPr>
          <a:xfrm>
            <a:off x="4572000" y="4572000"/>
            <a:ext cx="1920239" cy="365760"/>
          </a:xfrm>
          <a:prstGeom prst="rect">
            <a:avLst/>
          </a:prstGeom>
          <a:noFill/>
        </p:spPr>
        <p:txBody>
          <a:bodyPr wrap="square" anchor="ctr">
            <a:spAutoFit/>
          </a:bodyPr>
          <a:lstStyle/>
          <a:p>
            <a:pPr algn="l"/>
            <a:r>
              <a:rPr sz="900" b="0">
                <a:solidFill>
                  <a:srgbClr val="1F1F1F"/>
                </a:solidFill>
                <a:latin typeface="Arial"/>
              </a:rPr>
              <a:t>Answers must cite
your documents</a:t>
            </a:r>
          </a:p>
        </p:txBody>
      </p:sp>
      <p:sp>
        <p:nvSpPr>
          <p:cNvPr id="45" name="TextBox 44"/>
          <p:cNvSpPr txBox="1"/>
          <p:nvPr/>
        </p:nvSpPr>
        <p:spPr>
          <a:xfrm>
            <a:off x="6675120" y="4572000"/>
            <a:ext cx="2011679" cy="365760"/>
          </a:xfrm>
          <a:prstGeom prst="rect">
            <a:avLst/>
          </a:prstGeom>
          <a:noFill/>
        </p:spPr>
        <p:txBody>
          <a:bodyPr wrap="square" anchor="ctr">
            <a:spAutoFit/>
          </a:bodyPr>
          <a:lstStyle/>
          <a:p>
            <a:pPr algn="l"/>
            <a:r>
              <a:rPr sz="900" b="0">
                <a:solidFill>
                  <a:srgbClr val="1F1F1F"/>
                </a:solidFill>
                <a:latin typeface="Arial"/>
              </a:rPr>
              <a:t>Prompting plateaued and
you have labeled data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005587"/>
        </a:solidFill>
        <a:effectLst/>
      </p:bgPr>
    </p:bg>
    <p:spTree>
      <p:nvGrpSpPr>
        <p:cNvPr id="1" name=""/>
        <p:cNvGrpSpPr/>
        <p:nvPr/>
      </p:nvGrpSpPr>
      <p:grpSpPr>
        <a:xfrm>
          <a:off x="0" y="0"/>
          <a:ext cx="0" cy="0"/>
          <a:chOff x="0" y="0"/>
          <a:chExt cx="0" cy="0"/>
        </a:xfrm>
      </p:grpSpPr>
      <p:sp>
        <p:nvSpPr>
          <p:cNvPr id="2" name="Text 0"/>
          <p:cNvSpPr/>
          <p:nvPr/>
        </p:nvSpPr>
        <p:spPr>
          <a:xfrm>
            <a:off x="914400" y="1371600"/>
            <a:ext cx="7315200" cy="2286000"/>
          </a:xfrm>
          <a:prstGeom prst="rect">
            <a:avLst/>
          </a:prstGeom>
          <a:noFill/>
          <a:ln/>
        </p:spPr>
        <p:txBody>
          <a:bodyPr wrap="square" rtlCol="0" anchor="ctr"/>
          <a:lstStyle/>
          <a:p>
            <a:pPr marL="0" indent="0" algn="ctr">
              <a:buNone/>
            </a:pPr>
            <a:r>
              <a:rPr lang="en-US" sz="3600" b="1" dirty="0">
                <a:solidFill>
                  <a:srgbClr val="FFFFFF"/>
                </a:solidFill>
                <a:latin typeface="Whitney Bold" pitchFamily="34" charset="0"/>
                <a:ea typeface="Whitney Bold" pitchFamily="34" charset="-122"/>
                <a:cs typeface="Whitney Bold" pitchFamily="34" charset="-120"/>
              </a:rPr>
              <a:t>15-min Break</a:t>
            </a:r>
            <a:endParaRPr lang="en-US" sz="3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005587"/>
        </a:solidFill>
        <a:effectLst/>
      </p:bgPr>
    </p:bg>
    <p:spTree>
      <p:nvGrpSpPr>
        <p:cNvPr id="1" name=""/>
        <p:cNvGrpSpPr/>
        <p:nvPr/>
      </p:nvGrpSpPr>
      <p:grpSpPr>
        <a:xfrm>
          <a:off x="0" y="0"/>
          <a:ext cx="0" cy="0"/>
          <a:chOff x="0" y="0"/>
          <a:chExt cx="0" cy="0"/>
        </a:xfrm>
      </p:grpSpPr>
      <p:sp>
        <p:nvSpPr>
          <p:cNvPr id="2" name="Text 0"/>
          <p:cNvSpPr/>
          <p:nvPr/>
        </p:nvSpPr>
        <p:spPr>
          <a:xfrm>
            <a:off x="914400" y="1371600"/>
            <a:ext cx="7315200" cy="2286000"/>
          </a:xfrm>
          <a:prstGeom prst="rect">
            <a:avLst/>
          </a:prstGeom>
          <a:noFill/>
          <a:ln/>
        </p:spPr>
        <p:txBody>
          <a:bodyPr wrap="square" rtlCol="0" anchor="ctr"/>
          <a:lstStyle/>
          <a:p>
            <a:pPr marL="0" indent="0" algn="ctr">
              <a:buNone/>
            </a:pPr>
            <a:r>
              <a:rPr lang="en-US" sz="3600" b="1" dirty="0">
                <a:solidFill>
                  <a:srgbClr val="FFFFFF"/>
                </a:solidFill>
                <a:latin typeface="Whitney Bold" pitchFamily="34" charset="0"/>
                <a:ea typeface="Whitney Bold" pitchFamily="34" charset="-122"/>
                <a:cs typeface="Whitney Bold" pitchFamily="34" charset="-120"/>
              </a:rPr>
              <a:t>Part 2: App Project</a:t>
            </a:r>
            <a:endParaRPr lang="en-US" sz="3600" dirty="0"/>
          </a:p>
          <a:p>
            <a:pPr marL="0" indent="0" algn="ctr">
              <a:buNone/>
            </a:pPr>
            <a:r>
              <a:rPr lang="en-US" sz="3600" b="1" dirty="0">
                <a:solidFill>
                  <a:srgbClr val="FFFFFF"/>
                </a:solidFill>
                <a:latin typeface="Whitney Bold" pitchFamily="34" charset="0"/>
                <a:ea typeface="Whitney Bold" pitchFamily="34" charset="-122"/>
                <a:cs typeface="Whitney Bold" pitchFamily="34" charset="-120"/>
              </a:rPr>
              <a:t>&amp; Toolkit</a:t>
            </a:r>
            <a:endParaRPr lang="en-US" sz="3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54864" cy="5148072"/>
          </a:xfrm>
          <a:prstGeom prst="rect">
            <a:avLst/>
          </a:prstGeom>
          <a:solidFill>
            <a:srgbClr val="005587"/>
          </a:solidFill>
          <a:ln/>
        </p:spPr>
        <p:txBody>
          <a:bodyPr/>
          <a:lstStyle/>
          <a:p>
            <a:endParaRPr lang="en-US"/>
          </a:p>
        </p:txBody>
      </p:sp>
      <p:sp>
        <p:nvSpPr>
          <p:cNvPr id="3" name="Text 1"/>
          <p:cNvSpPr/>
          <p:nvPr/>
        </p:nvSpPr>
        <p:spPr>
          <a:xfrm>
            <a:off x="457200" y="182880"/>
            <a:ext cx="8321040" cy="685800"/>
          </a:xfrm>
          <a:prstGeom prst="rect">
            <a:avLst/>
          </a:prstGeom>
          <a:noFill/>
          <a:ln/>
        </p:spPr>
        <p:txBody>
          <a:bodyPr wrap="square" lIns="0" tIns="0" rIns="0" bIns="0" rtlCol="0" anchor="ctr"/>
          <a:lstStyle/>
          <a:p>
            <a:pPr marL="0" indent="0">
              <a:buNone/>
            </a:pPr>
            <a:r>
              <a:rPr lang="en-US" sz="2800" b="1" dirty="0">
                <a:solidFill>
                  <a:srgbClr val="005587"/>
                </a:solidFill>
                <a:latin typeface="Whitney Bold" pitchFamily="34" charset="0"/>
                <a:ea typeface="Whitney Bold" pitchFamily="34" charset="-122"/>
                <a:cs typeface="Whitney Bold" pitchFamily="34" charset="-120"/>
              </a:rPr>
              <a:t>App Project: Overview</a:t>
            </a:r>
            <a:endParaRPr lang="en-US" sz="2800" dirty="0"/>
          </a:p>
        </p:txBody>
      </p:sp>
      <p:sp>
        <p:nvSpPr>
          <p:cNvPr id="4" name="Shape 2"/>
          <p:cNvSpPr/>
          <p:nvPr/>
        </p:nvSpPr>
        <p:spPr>
          <a:xfrm>
            <a:off x="457200" y="896112"/>
            <a:ext cx="8321040" cy="0"/>
          </a:xfrm>
          <a:prstGeom prst="line">
            <a:avLst/>
          </a:prstGeom>
          <a:noFill/>
          <a:ln w="12700">
            <a:solidFill>
              <a:srgbClr val="E8E8E8"/>
            </a:solidFill>
            <a:prstDash val="solid"/>
          </a:ln>
        </p:spPr>
        <p:txBody>
          <a:bodyPr/>
          <a:lstStyle/>
          <a:p>
            <a:endParaRPr lang="en-US"/>
          </a:p>
        </p:txBody>
      </p:sp>
      <p:sp>
        <p:nvSpPr>
          <p:cNvPr id="5" name="Shape 3"/>
          <p:cNvSpPr/>
          <p:nvPr/>
        </p:nvSpPr>
        <p:spPr>
          <a:xfrm>
            <a:off x="457200" y="1051560"/>
            <a:ext cx="54864" cy="502920"/>
          </a:xfrm>
          <a:prstGeom prst="rect">
            <a:avLst/>
          </a:prstGeom>
          <a:solidFill>
            <a:srgbClr val="005587"/>
          </a:solidFill>
          <a:ln/>
        </p:spPr>
        <p:txBody>
          <a:bodyPr/>
          <a:lstStyle/>
          <a:p>
            <a:endParaRPr lang="en-US"/>
          </a:p>
        </p:txBody>
      </p:sp>
      <p:sp>
        <p:nvSpPr>
          <p:cNvPr id="6" name="Text 4"/>
          <p:cNvSpPr/>
          <p:nvPr/>
        </p:nvSpPr>
        <p:spPr>
          <a:xfrm>
            <a:off x="621792" y="1051560"/>
            <a:ext cx="2286000" cy="502920"/>
          </a:xfrm>
          <a:prstGeom prst="rect">
            <a:avLst/>
          </a:prstGeom>
          <a:noFill/>
          <a:ln/>
        </p:spPr>
        <p:txBody>
          <a:bodyPr wrap="square" lIns="0" tIns="0" rIns="0" bIns="0" rtlCol="0" anchor="ctr"/>
          <a:lstStyle/>
          <a:p>
            <a:pPr marL="0" indent="0">
              <a:buNone/>
            </a:pPr>
            <a:r>
              <a:rPr lang="en-US" sz="1400" b="1" dirty="0">
                <a:solidFill>
                  <a:srgbClr val="005587"/>
                </a:solidFill>
                <a:latin typeface="Arial" pitchFamily="34" charset="0"/>
                <a:ea typeface="Arial" pitchFamily="34" charset="-122"/>
                <a:cs typeface="Arial" pitchFamily="34" charset="-120"/>
              </a:rPr>
              <a:t>Teams</a:t>
            </a:r>
            <a:endParaRPr lang="en-US" sz="1400" dirty="0"/>
          </a:p>
        </p:txBody>
      </p:sp>
      <p:sp>
        <p:nvSpPr>
          <p:cNvPr id="7" name="Text 5"/>
          <p:cNvSpPr/>
          <p:nvPr/>
        </p:nvSpPr>
        <p:spPr>
          <a:xfrm>
            <a:off x="3044952" y="1051560"/>
            <a:ext cx="5577840" cy="502920"/>
          </a:xfrm>
          <a:prstGeom prst="rect">
            <a:avLst/>
          </a:prstGeom>
          <a:noFill/>
          <a:ln/>
        </p:spPr>
        <p:txBody>
          <a:bodyPr wrap="square" lIns="0" tIns="0" rIns="0" bIns="0" rtlCol="0" anchor="ctr"/>
          <a:lstStyle/>
          <a:p>
            <a:pPr marL="0" indent="0">
              <a:buNone/>
            </a:pPr>
            <a:r>
              <a:rPr lang="en-US" sz="1400" dirty="0">
                <a:solidFill>
                  <a:srgbClr val="000000"/>
                </a:solidFill>
                <a:latin typeface="Arial" pitchFamily="34" charset="0"/>
                <a:ea typeface="Arial" pitchFamily="34" charset="-122"/>
                <a:cs typeface="Arial" pitchFamily="34" charset="-120"/>
              </a:rPr>
              <a:t>Groups of 3 students. Form your team today.</a:t>
            </a:r>
            <a:endParaRPr lang="en-US" sz="1400" dirty="0"/>
          </a:p>
        </p:txBody>
      </p:sp>
      <p:sp>
        <p:nvSpPr>
          <p:cNvPr id="8" name="Shape 6"/>
          <p:cNvSpPr/>
          <p:nvPr/>
        </p:nvSpPr>
        <p:spPr>
          <a:xfrm>
            <a:off x="457200" y="1618488"/>
            <a:ext cx="54864" cy="502920"/>
          </a:xfrm>
          <a:prstGeom prst="rect">
            <a:avLst/>
          </a:prstGeom>
          <a:solidFill>
            <a:srgbClr val="005587"/>
          </a:solidFill>
          <a:ln/>
        </p:spPr>
        <p:txBody>
          <a:bodyPr/>
          <a:lstStyle/>
          <a:p>
            <a:endParaRPr lang="en-US"/>
          </a:p>
        </p:txBody>
      </p:sp>
      <p:sp>
        <p:nvSpPr>
          <p:cNvPr id="9" name="Text 7"/>
          <p:cNvSpPr/>
          <p:nvPr/>
        </p:nvSpPr>
        <p:spPr>
          <a:xfrm>
            <a:off x="621792" y="1618488"/>
            <a:ext cx="2286000" cy="502920"/>
          </a:xfrm>
          <a:prstGeom prst="rect">
            <a:avLst/>
          </a:prstGeom>
          <a:noFill/>
          <a:ln/>
        </p:spPr>
        <p:txBody>
          <a:bodyPr wrap="square" lIns="0" tIns="0" rIns="0" bIns="0" rtlCol="0" anchor="ctr"/>
          <a:lstStyle/>
          <a:p>
            <a:pPr marL="0" indent="0">
              <a:buNone/>
            </a:pPr>
            <a:r>
              <a:rPr lang="en-US" sz="1400" b="1" dirty="0">
                <a:solidFill>
                  <a:srgbClr val="005587"/>
                </a:solidFill>
                <a:latin typeface="Arial" pitchFamily="34" charset="0"/>
                <a:ea typeface="Arial" pitchFamily="34" charset="-122"/>
                <a:cs typeface="Arial" pitchFamily="34" charset="-120"/>
              </a:rPr>
              <a:t>Objective</a:t>
            </a:r>
            <a:endParaRPr lang="en-US" sz="1400" dirty="0"/>
          </a:p>
        </p:txBody>
      </p:sp>
      <p:sp>
        <p:nvSpPr>
          <p:cNvPr id="10" name="Text 8"/>
          <p:cNvSpPr/>
          <p:nvPr/>
        </p:nvSpPr>
        <p:spPr>
          <a:xfrm>
            <a:off x="3044952" y="1618488"/>
            <a:ext cx="5577840" cy="502920"/>
          </a:xfrm>
          <a:prstGeom prst="rect">
            <a:avLst/>
          </a:prstGeom>
          <a:noFill/>
          <a:ln/>
        </p:spPr>
        <p:txBody>
          <a:bodyPr wrap="square" lIns="0" tIns="0" rIns="0" bIns="0" rtlCol="0" anchor="ctr"/>
          <a:lstStyle/>
          <a:p>
            <a:pPr marL="0" indent="0">
              <a:buNone/>
            </a:pPr>
            <a:r>
              <a:rPr lang="en-US" sz="1400" dirty="0">
                <a:solidFill>
                  <a:srgbClr val="000000"/>
                </a:solidFill>
                <a:latin typeface="Arial" pitchFamily="34" charset="0"/>
                <a:ea typeface="Arial" pitchFamily="34" charset="-122"/>
                <a:cs typeface="Arial" pitchFamily="34" charset="-120"/>
              </a:rPr>
              <a:t>Build a web app that incorporates an LLM to solve a specific use case.</a:t>
            </a:r>
            <a:endParaRPr lang="en-US" sz="1400" dirty="0"/>
          </a:p>
        </p:txBody>
      </p:sp>
      <p:sp>
        <p:nvSpPr>
          <p:cNvPr id="11" name="Shape 9"/>
          <p:cNvSpPr/>
          <p:nvPr/>
        </p:nvSpPr>
        <p:spPr>
          <a:xfrm>
            <a:off x="457200" y="2185416"/>
            <a:ext cx="54864" cy="502920"/>
          </a:xfrm>
          <a:prstGeom prst="rect">
            <a:avLst/>
          </a:prstGeom>
          <a:solidFill>
            <a:srgbClr val="005587"/>
          </a:solidFill>
          <a:ln/>
        </p:spPr>
        <p:txBody>
          <a:bodyPr/>
          <a:lstStyle/>
          <a:p>
            <a:endParaRPr lang="en-US"/>
          </a:p>
        </p:txBody>
      </p:sp>
      <p:sp>
        <p:nvSpPr>
          <p:cNvPr id="12" name="Text 10"/>
          <p:cNvSpPr/>
          <p:nvPr/>
        </p:nvSpPr>
        <p:spPr>
          <a:xfrm>
            <a:off x="621792" y="2185416"/>
            <a:ext cx="2286000" cy="502920"/>
          </a:xfrm>
          <a:prstGeom prst="rect">
            <a:avLst/>
          </a:prstGeom>
          <a:noFill/>
          <a:ln/>
        </p:spPr>
        <p:txBody>
          <a:bodyPr wrap="square" lIns="0" tIns="0" rIns="0" bIns="0" rtlCol="0" anchor="ctr"/>
          <a:lstStyle/>
          <a:p>
            <a:pPr marL="0" indent="0">
              <a:buNone/>
            </a:pPr>
            <a:r>
              <a:rPr lang="en-US" sz="1400" b="1" dirty="0">
                <a:solidFill>
                  <a:srgbClr val="005587"/>
                </a:solidFill>
                <a:latin typeface="Arial" pitchFamily="34" charset="0"/>
                <a:ea typeface="Arial" pitchFamily="34" charset="-122"/>
                <a:cs typeface="Arial" pitchFamily="34" charset="-120"/>
              </a:rPr>
              <a:t>Value proposition</a:t>
            </a:r>
            <a:endParaRPr lang="en-US" sz="1400" dirty="0"/>
          </a:p>
        </p:txBody>
      </p:sp>
      <p:sp>
        <p:nvSpPr>
          <p:cNvPr id="13" name="Text 11"/>
          <p:cNvSpPr/>
          <p:nvPr/>
        </p:nvSpPr>
        <p:spPr>
          <a:xfrm>
            <a:off x="3044952" y="2185416"/>
            <a:ext cx="5577840" cy="502920"/>
          </a:xfrm>
          <a:prstGeom prst="rect">
            <a:avLst/>
          </a:prstGeom>
          <a:noFill/>
          <a:ln/>
        </p:spPr>
        <p:txBody>
          <a:bodyPr wrap="square" lIns="0" tIns="0" rIns="0" bIns="0" rtlCol="0" anchor="ctr"/>
          <a:lstStyle/>
          <a:p>
            <a:pPr marL="0" indent="0">
              <a:buNone/>
            </a:pPr>
            <a:r>
              <a:rPr lang="en-US" sz="1400" dirty="0">
                <a:solidFill>
                  <a:srgbClr val="000000"/>
                </a:solidFill>
                <a:latin typeface="Arial" pitchFamily="34" charset="0"/>
                <a:ea typeface="Arial" pitchFamily="34" charset="-122"/>
                <a:cs typeface="Arial" pitchFamily="34" charset="-120"/>
              </a:rPr>
              <a:t>Explain why AI makes this app meaningfully better than the non-AI alternative.</a:t>
            </a:r>
            <a:endParaRPr lang="en-US" sz="1400" dirty="0"/>
          </a:p>
        </p:txBody>
      </p:sp>
      <p:sp>
        <p:nvSpPr>
          <p:cNvPr id="14" name="Shape 12"/>
          <p:cNvSpPr/>
          <p:nvPr/>
        </p:nvSpPr>
        <p:spPr>
          <a:xfrm>
            <a:off x="457200" y="2752344"/>
            <a:ext cx="54864" cy="502920"/>
          </a:xfrm>
          <a:prstGeom prst="rect">
            <a:avLst/>
          </a:prstGeom>
          <a:solidFill>
            <a:srgbClr val="005587"/>
          </a:solidFill>
          <a:ln/>
        </p:spPr>
        <p:txBody>
          <a:bodyPr/>
          <a:lstStyle/>
          <a:p>
            <a:endParaRPr lang="en-US"/>
          </a:p>
        </p:txBody>
      </p:sp>
      <p:sp>
        <p:nvSpPr>
          <p:cNvPr id="15" name="Text 13"/>
          <p:cNvSpPr/>
          <p:nvPr/>
        </p:nvSpPr>
        <p:spPr>
          <a:xfrm>
            <a:off x="621792" y="2752344"/>
            <a:ext cx="2286000" cy="502920"/>
          </a:xfrm>
          <a:prstGeom prst="rect">
            <a:avLst/>
          </a:prstGeom>
          <a:noFill/>
          <a:ln/>
        </p:spPr>
        <p:txBody>
          <a:bodyPr wrap="square" lIns="0" tIns="0" rIns="0" bIns="0" rtlCol="0" anchor="ctr"/>
          <a:lstStyle/>
          <a:p>
            <a:pPr marL="0" indent="0">
              <a:buNone/>
            </a:pPr>
            <a:r>
              <a:rPr lang="en-US" sz="1400" b="1" dirty="0">
                <a:solidFill>
                  <a:srgbClr val="005587"/>
                </a:solidFill>
                <a:latin typeface="Arial" pitchFamily="34" charset="0"/>
                <a:ea typeface="Arial" pitchFamily="34" charset="-122"/>
                <a:cs typeface="Arial" pitchFamily="34" charset="-120"/>
              </a:rPr>
              <a:t>Deliverable</a:t>
            </a:r>
            <a:endParaRPr lang="en-US" sz="1400" dirty="0"/>
          </a:p>
        </p:txBody>
      </p:sp>
      <p:sp>
        <p:nvSpPr>
          <p:cNvPr id="16" name="Text 14"/>
          <p:cNvSpPr/>
          <p:nvPr/>
        </p:nvSpPr>
        <p:spPr>
          <a:xfrm>
            <a:off x="3044952" y="2752344"/>
            <a:ext cx="5577840" cy="502920"/>
          </a:xfrm>
          <a:prstGeom prst="rect">
            <a:avLst/>
          </a:prstGeom>
          <a:noFill/>
          <a:ln/>
        </p:spPr>
        <p:txBody>
          <a:bodyPr wrap="square" lIns="0" tIns="0" rIns="0" bIns="0" rtlCol="0" anchor="ctr"/>
          <a:lstStyle/>
          <a:p>
            <a:pPr marL="0" indent="0">
              <a:buNone/>
            </a:pPr>
            <a:r>
              <a:rPr lang="en-US" sz="1400" dirty="0">
                <a:solidFill>
                  <a:srgbClr val="000000"/>
                </a:solidFill>
                <a:latin typeface="Arial" pitchFamily="34" charset="0"/>
                <a:ea typeface="Arial" pitchFamily="34" charset="-122"/>
                <a:cs typeface="Arial" pitchFamily="34" charset="-120"/>
              </a:rPr>
              <a:t>A working deployed web app + a short presentation explaining the use case and value add.</a:t>
            </a:r>
            <a:endParaRPr lang="en-US" sz="1400" dirty="0"/>
          </a:p>
        </p:txBody>
      </p:sp>
      <p:sp>
        <p:nvSpPr>
          <p:cNvPr id="17" name="Shape 15"/>
          <p:cNvSpPr/>
          <p:nvPr/>
        </p:nvSpPr>
        <p:spPr>
          <a:xfrm>
            <a:off x="457200" y="3319272"/>
            <a:ext cx="54864" cy="502920"/>
          </a:xfrm>
          <a:prstGeom prst="rect">
            <a:avLst/>
          </a:prstGeom>
          <a:solidFill>
            <a:srgbClr val="005587"/>
          </a:solidFill>
          <a:ln/>
        </p:spPr>
        <p:txBody>
          <a:bodyPr/>
          <a:lstStyle/>
          <a:p>
            <a:endParaRPr lang="en-US"/>
          </a:p>
        </p:txBody>
      </p:sp>
      <p:sp>
        <p:nvSpPr>
          <p:cNvPr id="18" name="Text 16"/>
          <p:cNvSpPr/>
          <p:nvPr/>
        </p:nvSpPr>
        <p:spPr>
          <a:xfrm>
            <a:off x="621792" y="3319272"/>
            <a:ext cx="2286000" cy="502920"/>
          </a:xfrm>
          <a:prstGeom prst="rect">
            <a:avLst/>
          </a:prstGeom>
          <a:noFill/>
          <a:ln/>
        </p:spPr>
        <p:txBody>
          <a:bodyPr wrap="square" lIns="0" tIns="0" rIns="0" bIns="0" rtlCol="0" anchor="ctr"/>
          <a:lstStyle/>
          <a:p>
            <a:pPr marL="0" indent="0">
              <a:buNone/>
            </a:pPr>
            <a:r>
              <a:rPr lang="en-US" sz="1400" b="1" dirty="0">
                <a:solidFill>
                  <a:srgbClr val="005587"/>
                </a:solidFill>
                <a:latin typeface="Arial" pitchFamily="34" charset="0"/>
                <a:ea typeface="Arial" pitchFamily="34" charset="-122"/>
                <a:cs typeface="Arial" pitchFamily="34" charset="-120"/>
              </a:rPr>
              <a:t>Hosting</a:t>
            </a:r>
            <a:endParaRPr lang="en-US" sz="1400" dirty="0"/>
          </a:p>
        </p:txBody>
      </p:sp>
      <p:sp>
        <p:nvSpPr>
          <p:cNvPr id="19" name="Text 17"/>
          <p:cNvSpPr/>
          <p:nvPr/>
        </p:nvSpPr>
        <p:spPr>
          <a:xfrm>
            <a:off x="3044952" y="3319272"/>
            <a:ext cx="5577840" cy="502920"/>
          </a:xfrm>
          <a:prstGeom prst="rect">
            <a:avLst/>
          </a:prstGeom>
          <a:noFill/>
          <a:ln/>
        </p:spPr>
        <p:txBody>
          <a:bodyPr wrap="square" lIns="0" tIns="0" rIns="0" bIns="0" rtlCol="0" anchor="ctr"/>
          <a:lstStyle/>
          <a:p>
            <a:pPr marL="0" indent="0">
              <a:buNone/>
            </a:pPr>
            <a:r>
              <a:rPr lang="en-US" sz="1400" dirty="0">
                <a:solidFill>
                  <a:srgbClr val="000000"/>
                </a:solidFill>
                <a:latin typeface="Arial" pitchFamily="34" charset="0"/>
                <a:ea typeface="Arial" pitchFamily="34" charset="-122"/>
                <a:cs typeface="Arial" pitchFamily="34" charset="-120"/>
              </a:rPr>
              <a:t>Deployed on Railway so anyone can access it via a URL.</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54864" cy="5148072"/>
          </a:xfrm>
          <a:prstGeom prst="rect">
            <a:avLst/>
          </a:prstGeom>
          <a:solidFill>
            <a:srgbClr val="005587"/>
          </a:solidFill>
          <a:ln/>
        </p:spPr>
        <p:txBody>
          <a:bodyPr/>
          <a:lstStyle/>
          <a:p>
            <a:endParaRPr lang="en-US"/>
          </a:p>
        </p:txBody>
      </p:sp>
      <p:sp>
        <p:nvSpPr>
          <p:cNvPr id="3" name="Text 1"/>
          <p:cNvSpPr/>
          <p:nvPr/>
        </p:nvSpPr>
        <p:spPr>
          <a:xfrm>
            <a:off x="457200" y="182880"/>
            <a:ext cx="8321040" cy="685800"/>
          </a:xfrm>
          <a:prstGeom prst="rect">
            <a:avLst/>
          </a:prstGeom>
          <a:noFill/>
          <a:ln/>
        </p:spPr>
        <p:txBody>
          <a:bodyPr wrap="square" lIns="0" tIns="0" rIns="0" bIns="0" rtlCol="0" anchor="ctr"/>
          <a:lstStyle/>
          <a:p>
            <a:pPr marL="0" indent="0">
              <a:buNone/>
            </a:pPr>
            <a:r>
              <a:rPr lang="en-US" sz="2800" b="1" dirty="0">
                <a:solidFill>
                  <a:srgbClr val="005587"/>
                </a:solidFill>
                <a:latin typeface="Whitney Bold" pitchFamily="34" charset="0"/>
                <a:ea typeface="Whitney Bold" pitchFamily="34" charset="-122"/>
                <a:cs typeface="Whitney Bold" pitchFamily="34" charset="-120"/>
              </a:rPr>
              <a:t>Picking a Use Case</a:t>
            </a:r>
            <a:endParaRPr lang="en-US" sz="2800" dirty="0"/>
          </a:p>
        </p:txBody>
      </p:sp>
      <p:sp>
        <p:nvSpPr>
          <p:cNvPr id="4" name="Shape 2"/>
          <p:cNvSpPr/>
          <p:nvPr/>
        </p:nvSpPr>
        <p:spPr>
          <a:xfrm>
            <a:off x="457200" y="896112"/>
            <a:ext cx="8321040" cy="0"/>
          </a:xfrm>
          <a:prstGeom prst="line">
            <a:avLst/>
          </a:prstGeom>
          <a:noFill/>
          <a:ln w="12700">
            <a:solidFill>
              <a:srgbClr val="E8E8E8"/>
            </a:solidFill>
            <a:prstDash val="solid"/>
          </a:ln>
        </p:spPr>
        <p:txBody>
          <a:bodyPr/>
          <a:lstStyle/>
          <a:p>
            <a:endParaRPr lang="en-US"/>
          </a:p>
        </p:txBody>
      </p:sp>
      <p:sp>
        <p:nvSpPr>
          <p:cNvPr id="5" name="Text 3"/>
          <p:cNvSpPr/>
          <p:nvPr/>
        </p:nvSpPr>
        <p:spPr>
          <a:xfrm>
            <a:off x="457200" y="960120"/>
            <a:ext cx="8321040" cy="365760"/>
          </a:xfrm>
          <a:prstGeom prst="rect">
            <a:avLst/>
          </a:prstGeom>
          <a:noFill/>
          <a:ln/>
        </p:spPr>
        <p:txBody>
          <a:bodyPr wrap="square" lIns="0" tIns="0" rIns="0" bIns="0" rtlCol="0" anchor="ctr"/>
          <a:lstStyle/>
          <a:p>
            <a:pPr marL="0" indent="0">
              <a:buNone/>
            </a:pPr>
            <a:r>
              <a:rPr lang="en-US" sz="1200" dirty="0">
                <a:solidFill>
                  <a:srgbClr val="000000"/>
                </a:solidFill>
                <a:latin typeface="Arial" pitchFamily="34" charset="0"/>
                <a:ea typeface="Arial" pitchFamily="34" charset="-122"/>
                <a:cs typeface="Arial" pitchFamily="34" charset="-120"/>
              </a:rPr>
              <a:t>Start from a problem, not from the technology. Ask: "What task is painful, repetitive, or requires judgment that an LLM can assist with?"</a:t>
            </a:r>
            <a:endParaRPr lang="en-US" sz="1200" dirty="0"/>
          </a:p>
        </p:txBody>
      </p:sp>
      <p:sp>
        <p:nvSpPr>
          <p:cNvPr id="6" name="Shape 4"/>
          <p:cNvSpPr/>
          <p:nvPr/>
        </p:nvSpPr>
        <p:spPr>
          <a:xfrm>
            <a:off x="457200" y="1508760"/>
            <a:ext cx="2606040" cy="1737360"/>
          </a:xfrm>
          <a:prstGeom prst="rect">
            <a:avLst/>
          </a:prstGeom>
          <a:solidFill>
            <a:srgbClr val="FFFFFF"/>
          </a:solidFill>
          <a:ln w="9525">
            <a:solidFill>
              <a:srgbClr val="CCCCCC"/>
            </a:solidFill>
            <a:prstDash val="solid"/>
          </a:ln>
        </p:spPr>
        <p:txBody>
          <a:bodyPr/>
          <a:lstStyle/>
          <a:p>
            <a:endParaRPr lang="en-US"/>
          </a:p>
        </p:txBody>
      </p:sp>
      <p:sp>
        <p:nvSpPr>
          <p:cNvPr id="7" name="Shape 5"/>
          <p:cNvSpPr/>
          <p:nvPr/>
        </p:nvSpPr>
        <p:spPr>
          <a:xfrm>
            <a:off x="457200" y="1508760"/>
            <a:ext cx="2606040" cy="73152"/>
          </a:xfrm>
          <a:prstGeom prst="rect">
            <a:avLst/>
          </a:prstGeom>
          <a:solidFill>
            <a:srgbClr val="005587"/>
          </a:solidFill>
          <a:ln/>
        </p:spPr>
        <p:txBody>
          <a:bodyPr/>
          <a:lstStyle/>
          <a:p>
            <a:endParaRPr lang="en-US"/>
          </a:p>
        </p:txBody>
      </p:sp>
      <p:sp>
        <p:nvSpPr>
          <p:cNvPr id="8" name="Text 6"/>
          <p:cNvSpPr/>
          <p:nvPr/>
        </p:nvSpPr>
        <p:spPr>
          <a:xfrm>
            <a:off x="566928" y="1645920"/>
            <a:ext cx="2386584" cy="274320"/>
          </a:xfrm>
          <a:prstGeom prst="rect">
            <a:avLst/>
          </a:prstGeom>
          <a:noFill/>
          <a:ln/>
        </p:spPr>
        <p:txBody>
          <a:bodyPr wrap="square" lIns="0" tIns="0" rIns="0" bIns="0" rtlCol="0" anchor="ctr"/>
          <a:lstStyle/>
          <a:p>
            <a:pPr marL="0" indent="0" algn="ctr">
              <a:buNone/>
            </a:pPr>
            <a:r>
              <a:rPr lang="en-US" sz="1300" b="1" dirty="0">
                <a:solidFill>
                  <a:srgbClr val="005587"/>
                </a:solidFill>
                <a:latin typeface="Arial" pitchFamily="34" charset="0"/>
                <a:ea typeface="Arial" pitchFamily="34" charset="-122"/>
                <a:cs typeface="Arial" pitchFamily="34" charset="-120"/>
              </a:rPr>
              <a:t>Customer-facing</a:t>
            </a:r>
            <a:endParaRPr lang="en-US" sz="1300" dirty="0"/>
          </a:p>
        </p:txBody>
      </p:sp>
      <p:sp>
        <p:nvSpPr>
          <p:cNvPr id="9" name="Text 7"/>
          <p:cNvSpPr/>
          <p:nvPr/>
        </p:nvSpPr>
        <p:spPr>
          <a:xfrm>
            <a:off x="594360" y="1965960"/>
            <a:ext cx="2331720" cy="1188720"/>
          </a:xfrm>
          <a:prstGeom prst="rect">
            <a:avLst/>
          </a:prstGeom>
          <a:noFill/>
          <a:ln/>
        </p:spPr>
        <p:txBody>
          <a:bodyPr wrap="square" lIns="0" tIns="0" rIns="0" bIns="0" rtlCol="0" anchor="ctr"/>
          <a:lstStyle/>
          <a:p>
            <a:pPr marL="0" indent="0">
              <a:buNone/>
            </a:pPr>
            <a:r>
              <a:rPr lang="en-US" sz="1100" dirty="0">
                <a:solidFill>
                  <a:srgbClr val="000000"/>
                </a:solidFill>
                <a:latin typeface="Arial" pitchFamily="34" charset="0"/>
                <a:ea typeface="Arial" pitchFamily="34" charset="-122"/>
                <a:cs typeface="Arial" pitchFamily="34" charset="-120"/>
              </a:rPr>
              <a:t>• AI tutor for a subject</a:t>
            </a:r>
            <a:endParaRPr lang="en-US" sz="1100" dirty="0"/>
          </a:p>
          <a:p>
            <a:pPr marL="0" indent="0">
              <a:buNone/>
            </a:pPr>
            <a:r>
              <a:rPr lang="en-US" sz="1100" dirty="0">
                <a:solidFill>
                  <a:srgbClr val="000000"/>
                </a:solidFill>
                <a:latin typeface="Arial" pitchFamily="34" charset="0"/>
                <a:ea typeface="Arial" pitchFamily="34" charset="-122"/>
                <a:cs typeface="Arial" pitchFamily="34" charset="-120"/>
              </a:rPr>
              <a:t>• Travel itinerary builder</a:t>
            </a:r>
            <a:endParaRPr lang="en-US" sz="1100" dirty="0"/>
          </a:p>
          <a:p>
            <a:pPr marL="0" indent="0">
              <a:buNone/>
            </a:pPr>
            <a:r>
              <a:rPr lang="en-US" sz="1100" dirty="0">
                <a:solidFill>
                  <a:srgbClr val="000000"/>
                </a:solidFill>
                <a:latin typeface="Arial" pitchFamily="34" charset="0"/>
                <a:ea typeface="Arial" pitchFamily="34" charset="-122"/>
                <a:cs typeface="Arial" pitchFamily="34" charset="-120"/>
              </a:rPr>
              <a:t>• Product recommendation</a:t>
            </a:r>
            <a:endParaRPr lang="en-US" sz="1100" dirty="0"/>
          </a:p>
          <a:p>
            <a:pPr marL="0" indent="0">
              <a:buNone/>
            </a:pPr>
            <a:r>
              <a:rPr lang="en-US" sz="1100" dirty="0">
                <a:solidFill>
                  <a:srgbClr val="000000"/>
                </a:solidFill>
                <a:latin typeface="Arial" pitchFamily="34" charset="0"/>
                <a:ea typeface="Arial" pitchFamily="34" charset="-122"/>
                <a:cs typeface="Arial" pitchFamily="34" charset="-120"/>
              </a:rPr>
              <a:t>• Legal FAQ assistant</a:t>
            </a:r>
            <a:endParaRPr lang="en-US" sz="1100" dirty="0"/>
          </a:p>
        </p:txBody>
      </p:sp>
      <p:sp>
        <p:nvSpPr>
          <p:cNvPr id="10" name="Shape 8"/>
          <p:cNvSpPr/>
          <p:nvPr/>
        </p:nvSpPr>
        <p:spPr>
          <a:xfrm>
            <a:off x="3200400" y="1508760"/>
            <a:ext cx="2606040" cy="1737360"/>
          </a:xfrm>
          <a:prstGeom prst="rect">
            <a:avLst/>
          </a:prstGeom>
          <a:solidFill>
            <a:srgbClr val="FFFFFF"/>
          </a:solidFill>
          <a:ln w="9525">
            <a:solidFill>
              <a:srgbClr val="CCCCCC"/>
            </a:solidFill>
            <a:prstDash val="solid"/>
          </a:ln>
        </p:spPr>
        <p:txBody>
          <a:bodyPr/>
          <a:lstStyle/>
          <a:p>
            <a:endParaRPr lang="en-US"/>
          </a:p>
        </p:txBody>
      </p:sp>
      <p:sp>
        <p:nvSpPr>
          <p:cNvPr id="11" name="Shape 9"/>
          <p:cNvSpPr/>
          <p:nvPr/>
        </p:nvSpPr>
        <p:spPr>
          <a:xfrm>
            <a:off x="3200400" y="1508760"/>
            <a:ext cx="2606040" cy="73152"/>
          </a:xfrm>
          <a:prstGeom prst="rect">
            <a:avLst/>
          </a:prstGeom>
          <a:solidFill>
            <a:srgbClr val="2774AE"/>
          </a:solidFill>
          <a:ln/>
        </p:spPr>
        <p:txBody>
          <a:bodyPr/>
          <a:lstStyle/>
          <a:p>
            <a:endParaRPr lang="en-US"/>
          </a:p>
        </p:txBody>
      </p:sp>
      <p:sp>
        <p:nvSpPr>
          <p:cNvPr id="12" name="Text 10"/>
          <p:cNvSpPr/>
          <p:nvPr/>
        </p:nvSpPr>
        <p:spPr>
          <a:xfrm>
            <a:off x="3310128" y="1645920"/>
            <a:ext cx="2386584" cy="274320"/>
          </a:xfrm>
          <a:prstGeom prst="rect">
            <a:avLst/>
          </a:prstGeom>
          <a:noFill/>
          <a:ln/>
        </p:spPr>
        <p:txBody>
          <a:bodyPr wrap="square" lIns="0" tIns="0" rIns="0" bIns="0" rtlCol="0" anchor="ctr"/>
          <a:lstStyle/>
          <a:p>
            <a:pPr marL="0" indent="0" algn="ctr">
              <a:buNone/>
            </a:pPr>
            <a:r>
              <a:rPr lang="en-US" sz="1300" b="1" dirty="0">
                <a:solidFill>
                  <a:srgbClr val="005587"/>
                </a:solidFill>
                <a:latin typeface="Arial" pitchFamily="34" charset="0"/>
                <a:ea typeface="Arial" pitchFamily="34" charset="-122"/>
                <a:cs typeface="Arial" pitchFamily="34" charset="-120"/>
              </a:rPr>
              <a:t>Internal / business</a:t>
            </a:r>
            <a:endParaRPr lang="en-US" sz="1300" dirty="0"/>
          </a:p>
        </p:txBody>
      </p:sp>
      <p:sp>
        <p:nvSpPr>
          <p:cNvPr id="13" name="Text 11"/>
          <p:cNvSpPr/>
          <p:nvPr/>
        </p:nvSpPr>
        <p:spPr>
          <a:xfrm>
            <a:off x="3337560" y="1965960"/>
            <a:ext cx="2331720" cy="1188720"/>
          </a:xfrm>
          <a:prstGeom prst="rect">
            <a:avLst/>
          </a:prstGeom>
          <a:noFill/>
          <a:ln/>
        </p:spPr>
        <p:txBody>
          <a:bodyPr wrap="square" lIns="0" tIns="0" rIns="0" bIns="0" rtlCol="0" anchor="ctr"/>
          <a:lstStyle/>
          <a:p>
            <a:pPr marL="0" indent="0">
              <a:buNone/>
            </a:pPr>
            <a:r>
              <a:rPr lang="en-US" sz="1100" dirty="0">
                <a:solidFill>
                  <a:srgbClr val="000000"/>
                </a:solidFill>
                <a:latin typeface="Arial" pitchFamily="34" charset="0"/>
                <a:ea typeface="Arial" pitchFamily="34" charset="-122"/>
                <a:cs typeface="Arial" pitchFamily="34" charset="-120"/>
              </a:rPr>
              <a:t>• Meeting notes summarizer</a:t>
            </a:r>
            <a:endParaRPr lang="en-US" sz="1100" dirty="0"/>
          </a:p>
          <a:p>
            <a:pPr marL="0" indent="0">
              <a:buNone/>
            </a:pPr>
            <a:r>
              <a:rPr lang="en-US" sz="1100" dirty="0">
                <a:solidFill>
                  <a:srgbClr val="000000"/>
                </a:solidFill>
                <a:latin typeface="Arial" pitchFamily="34" charset="0"/>
                <a:ea typeface="Arial" pitchFamily="34" charset="-122"/>
                <a:cs typeface="Arial" pitchFamily="34" charset="-120"/>
              </a:rPr>
              <a:t>• Contract clause reviewer</a:t>
            </a:r>
            <a:endParaRPr lang="en-US" sz="1100" dirty="0"/>
          </a:p>
          <a:p>
            <a:pPr marL="0" indent="0">
              <a:buNone/>
            </a:pPr>
            <a:r>
              <a:rPr lang="en-US" sz="1100" dirty="0">
                <a:solidFill>
                  <a:srgbClr val="000000"/>
                </a:solidFill>
                <a:latin typeface="Arial" pitchFamily="34" charset="0"/>
                <a:ea typeface="Arial" pitchFamily="34" charset="-122"/>
                <a:cs typeface="Arial" pitchFamily="34" charset="-120"/>
              </a:rPr>
              <a:t>• Job posting generator</a:t>
            </a:r>
            <a:endParaRPr lang="en-US" sz="1100" dirty="0"/>
          </a:p>
          <a:p>
            <a:pPr marL="0" indent="0">
              <a:buNone/>
            </a:pPr>
            <a:r>
              <a:rPr lang="en-US" sz="1100" dirty="0">
                <a:solidFill>
                  <a:srgbClr val="000000"/>
                </a:solidFill>
                <a:latin typeface="Arial" pitchFamily="34" charset="0"/>
                <a:ea typeface="Arial" pitchFamily="34" charset="-122"/>
                <a:cs typeface="Arial" pitchFamily="34" charset="-120"/>
              </a:rPr>
              <a:t>• Expense categorizer</a:t>
            </a:r>
            <a:endParaRPr lang="en-US" sz="1100" dirty="0"/>
          </a:p>
        </p:txBody>
      </p:sp>
      <p:sp>
        <p:nvSpPr>
          <p:cNvPr id="14" name="Shape 12"/>
          <p:cNvSpPr/>
          <p:nvPr/>
        </p:nvSpPr>
        <p:spPr>
          <a:xfrm>
            <a:off x="5943600" y="1508760"/>
            <a:ext cx="2606040" cy="1737360"/>
          </a:xfrm>
          <a:prstGeom prst="rect">
            <a:avLst/>
          </a:prstGeom>
          <a:solidFill>
            <a:srgbClr val="FFFFFF"/>
          </a:solidFill>
          <a:ln w="9525">
            <a:solidFill>
              <a:srgbClr val="CCCCCC"/>
            </a:solidFill>
            <a:prstDash val="solid"/>
          </a:ln>
        </p:spPr>
        <p:txBody>
          <a:bodyPr/>
          <a:lstStyle/>
          <a:p>
            <a:endParaRPr lang="en-US"/>
          </a:p>
        </p:txBody>
      </p:sp>
      <p:sp>
        <p:nvSpPr>
          <p:cNvPr id="15" name="Shape 13"/>
          <p:cNvSpPr/>
          <p:nvPr/>
        </p:nvSpPr>
        <p:spPr>
          <a:xfrm>
            <a:off x="5943600" y="1508760"/>
            <a:ext cx="2606040" cy="73152"/>
          </a:xfrm>
          <a:prstGeom prst="rect">
            <a:avLst/>
          </a:prstGeom>
          <a:solidFill>
            <a:srgbClr val="C4820E"/>
          </a:solidFill>
          <a:ln/>
        </p:spPr>
        <p:txBody>
          <a:bodyPr/>
          <a:lstStyle/>
          <a:p>
            <a:endParaRPr lang="en-US"/>
          </a:p>
        </p:txBody>
      </p:sp>
      <p:sp>
        <p:nvSpPr>
          <p:cNvPr id="16" name="Text 14"/>
          <p:cNvSpPr/>
          <p:nvPr/>
        </p:nvSpPr>
        <p:spPr>
          <a:xfrm>
            <a:off x="6053328" y="1645920"/>
            <a:ext cx="2386584" cy="274320"/>
          </a:xfrm>
          <a:prstGeom prst="rect">
            <a:avLst/>
          </a:prstGeom>
          <a:noFill/>
          <a:ln/>
        </p:spPr>
        <p:txBody>
          <a:bodyPr wrap="square" lIns="0" tIns="0" rIns="0" bIns="0" rtlCol="0" anchor="ctr"/>
          <a:lstStyle/>
          <a:p>
            <a:pPr marL="0" indent="0" algn="ctr">
              <a:buNone/>
            </a:pPr>
            <a:r>
              <a:rPr lang="en-US" sz="1300" b="1" dirty="0">
                <a:solidFill>
                  <a:srgbClr val="005587"/>
                </a:solidFill>
                <a:latin typeface="Arial" pitchFamily="34" charset="0"/>
                <a:ea typeface="Arial" pitchFamily="34" charset="-122"/>
                <a:cs typeface="Arial" pitchFamily="34" charset="-120"/>
              </a:rPr>
              <a:t>Creative / other</a:t>
            </a:r>
            <a:endParaRPr lang="en-US" sz="1300" dirty="0"/>
          </a:p>
        </p:txBody>
      </p:sp>
      <p:sp>
        <p:nvSpPr>
          <p:cNvPr id="17" name="Text 15"/>
          <p:cNvSpPr/>
          <p:nvPr/>
        </p:nvSpPr>
        <p:spPr>
          <a:xfrm>
            <a:off x="6080760" y="1965960"/>
            <a:ext cx="2331720" cy="1188720"/>
          </a:xfrm>
          <a:prstGeom prst="rect">
            <a:avLst/>
          </a:prstGeom>
          <a:noFill/>
          <a:ln/>
        </p:spPr>
        <p:txBody>
          <a:bodyPr wrap="square" lIns="0" tIns="0" rIns="0" bIns="0" rtlCol="0" anchor="ctr"/>
          <a:lstStyle/>
          <a:p>
            <a:pPr marL="0" indent="0">
              <a:buNone/>
            </a:pPr>
            <a:r>
              <a:rPr lang="en-US" sz="1100" dirty="0">
                <a:solidFill>
                  <a:srgbClr val="000000"/>
                </a:solidFill>
                <a:latin typeface="Arial" pitchFamily="34" charset="0"/>
                <a:ea typeface="Arial" pitchFamily="34" charset="-122"/>
                <a:cs typeface="Arial" pitchFamily="34" charset="-120"/>
              </a:rPr>
              <a:t>• Recipe generator from pantry</a:t>
            </a:r>
            <a:endParaRPr lang="en-US" sz="1100" dirty="0"/>
          </a:p>
          <a:p>
            <a:pPr marL="0" indent="0">
              <a:buNone/>
            </a:pPr>
            <a:r>
              <a:rPr lang="en-US" sz="1100" dirty="0">
                <a:solidFill>
                  <a:srgbClr val="000000"/>
                </a:solidFill>
                <a:latin typeface="Arial" pitchFamily="34" charset="0"/>
                <a:ea typeface="Arial" pitchFamily="34" charset="-122"/>
                <a:cs typeface="Arial" pitchFamily="34" charset="-120"/>
              </a:rPr>
              <a:t>• Workout plan builder</a:t>
            </a:r>
            <a:endParaRPr lang="en-US" sz="1100" dirty="0"/>
          </a:p>
          <a:p>
            <a:pPr marL="0" indent="0">
              <a:buNone/>
            </a:pPr>
            <a:r>
              <a:rPr lang="en-US" sz="1100" dirty="0">
                <a:solidFill>
                  <a:srgbClr val="000000"/>
                </a:solidFill>
                <a:latin typeface="Arial" pitchFamily="34" charset="0"/>
                <a:ea typeface="Arial" pitchFamily="34" charset="-122"/>
                <a:cs typeface="Arial" pitchFamily="34" charset="-120"/>
              </a:rPr>
              <a:t>• Email draft assistant</a:t>
            </a:r>
            <a:endParaRPr lang="en-US" sz="1100" dirty="0"/>
          </a:p>
          <a:p>
            <a:pPr marL="0" indent="0">
              <a:buNone/>
            </a:pPr>
            <a:r>
              <a:rPr lang="en-US" sz="1100" dirty="0">
                <a:solidFill>
                  <a:srgbClr val="000000"/>
                </a:solidFill>
                <a:latin typeface="Arial" pitchFamily="34" charset="0"/>
                <a:ea typeface="Arial" pitchFamily="34" charset="-122"/>
                <a:cs typeface="Arial" pitchFamily="34" charset="-120"/>
              </a:rPr>
              <a:t>• Interview prep coach</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54864" cy="5148072"/>
          </a:xfrm>
          <a:prstGeom prst="rect">
            <a:avLst/>
          </a:prstGeom>
          <a:solidFill>
            <a:srgbClr val="005587"/>
          </a:solidFill>
          <a:ln/>
        </p:spPr>
        <p:txBody>
          <a:bodyPr/>
          <a:lstStyle/>
          <a:p>
            <a:endParaRPr lang="en-US"/>
          </a:p>
        </p:txBody>
      </p:sp>
      <p:sp>
        <p:nvSpPr>
          <p:cNvPr id="3" name="Text 1"/>
          <p:cNvSpPr/>
          <p:nvPr/>
        </p:nvSpPr>
        <p:spPr>
          <a:xfrm>
            <a:off x="457200" y="182880"/>
            <a:ext cx="8321040" cy="685800"/>
          </a:xfrm>
          <a:prstGeom prst="rect">
            <a:avLst/>
          </a:prstGeom>
          <a:noFill/>
          <a:ln/>
        </p:spPr>
        <p:txBody>
          <a:bodyPr wrap="square" lIns="0" tIns="0" rIns="0" bIns="0" rtlCol="0" anchor="ctr"/>
          <a:lstStyle/>
          <a:p>
            <a:pPr marL="0" indent="0">
              <a:buNone/>
            </a:pPr>
            <a:r>
              <a:rPr lang="en-US" sz="2800" b="1" dirty="0">
                <a:solidFill>
                  <a:srgbClr val="005587"/>
                </a:solidFill>
                <a:latin typeface="Whitney Bold" pitchFamily="34" charset="0"/>
                <a:ea typeface="Whitney Bold" pitchFamily="34" charset="-122"/>
                <a:cs typeface="Whitney Bold" pitchFamily="34" charset="-120"/>
              </a:rPr>
              <a:t>Your Toolkit</a:t>
            </a:r>
            <a:endParaRPr lang="en-US" sz="2800" dirty="0"/>
          </a:p>
        </p:txBody>
      </p:sp>
      <p:sp>
        <p:nvSpPr>
          <p:cNvPr id="4" name="Shape 2"/>
          <p:cNvSpPr/>
          <p:nvPr/>
        </p:nvSpPr>
        <p:spPr>
          <a:xfrm>
            <a:off x="457200" y="896112"/>
            <a:ext cx="8321040" cy="0"/>
          </a:xfrm>
          <a:prstGeom prst="line">
            <a:avLst/>
          </a:prstGeom>
          <a:noFill/>
          <a:ln w="12700">
            <a:solidFill>
              <a:srgbClr val="E8E8E8"/>
            </a:solidFill>
            <a:prstDash val="solid"/>
          </a:ln>
        </p:spPr>
        <p:txBody>
          <a:bodyPr/>
          <a:lstStyle/>
          <a:p>
            <a:endParaRPr lang="en-US"/>
          </a:p>
        </p:txBody>
      </p:sp>
      <p:sp>
        <p:nvSpPr>
          <p:cNvPr id="5" name="Text 3"/>
          <p:cNvSpPr/>
          <p:nvPr/>
        </p:nvSpPr>
        <p:spPr>
          <a:xfrm>
            <a:off x="457200" y="960120"/>
            <a:ext cx="8321040" cy="274320"/>
          </a:xfrm>
          <a:prstGeom prst="rect">
            <a:avLst/>
          </a:prstGeom>
          <a:noFill/>
          <a:ln/>
        </p:spPr>
        <p:txBody>
          <a:bodyPr wrap="square" lIns="0" tIns="0" rIns="0" bIns="0" rtlCol="0" anchor="ctr"/>
          <a:lstStyle/>
          <a:p>
            <a:pPr marL="0" indent="0">
              <a:buNone/>
            </a:pPr>
            <a:r>
              <a:rPr lang="en-US" sz="1200" dirty="0">
                <a:solidFill>
                  <a:srgbClr val="000000"/>
                </a:solidFill>
                <a:latin typeface="Arial" pitchFamily="34" charset="0"/>
                <a:ea typeface="Arial" pitchFamily="34" charset="-122"/>
                <a:cs typeface="Arial" pitchFamily="34" charset="-120"/>
              </a:rPr>
              <a:t>You'll vibe-code your app using AI coding assistants. Here's what you need:</a:t>
            </a:r>
            <a:endParaRPr lang="en-US" sz="1200" dirty="0"/>
          </a:p>
        </p:txBody>
      </p:sp>
      <p:sp>
        <p:nvSpPr>
          <p:cNvPr id="6" name="Shape 4"/>
          <p:cNvSpPr/>
          <p:nvPr/>
        </p:nvSpPr>
        <p:spPr>
          <a:xfrm>
            <a:off x="457200" y="1371600"/>
            <a:ext cx="8321040" cy="685800"/>
          </a:xfrm>
          <a:prstGeom prst="rect">
            <a:avLst/>
          </a:prstGeom>
          <a:solidFill>
            <a:srgbClr val="FFFFFF"/>
          </a:solidFill>
          <a:ln w="9525">
            <a:solidFill>
              <a:srgbClr val="CCCCCC"/>
            </a:solidFill>
            <a:prstDash val="solid"/>
          </a:ln>
        </p:spPr>
        <p:txBody>
          <a:bodyPr/>
          <a:lstStyle/>
          <a:p>
            <a:endParaRPr lang="en-US"/>
          </a:p>
        </p:txBody>
      </p:sp>
      <p:sp>
        <p:nvSpPr>
          <p:cNvPr id="7" name="Shape 5"/>
          <p:cNvSpPr/>
          <p:nvPr/>
        </p:nvSpPr>
        <p:spPr>
          <a:xfrm>
            <a:off x="457200" y="1371600"/>
            <a:ext cx="54864" cy="685800"/>
          </a:xfrm>
          <a:prstGeom prst="rect">
            <a:avLst/>
          </a:prstGeom>
          <a:solidFill>
            <a:srgbClr val="005587"/>
          </a:solidFill>
          <a:ln/>
        </p:spPr>
        <p:txBody>
          <a:bodyPr/>
          <a:lstStyle/>
          <a:p>
            <a:endParaRPr lang="en-US"/>
          </a:p>
        </p:txBody>
      </p:sp>
      <p:sp>
        <p:nvSpPr>
          <p:cNvPr id="8" name="Text 6"/>
          <p:cNvSpPr/>
          <p:nvPr/>
        </p:nvSpPr>
        <p:spPr>
          <a:xfrm>
            <a:off x="621792" y="1426464"/>
            <a:ext cx="8046720" cy="237744"/>
          </a:xfrm>
          <a:prstGeom prst="rect">
            <a:avLst/>
          </a:prstGeom>
          <a:noFill/>
          <a:ln/>
        </p:spPr>
        <p:txBody>
          <a:bodyPr wrap="square" lIns="0" tIns="0" rIns="0" bIns="0" rtlCol="0" anchor="ctr"/>
          <a:lstStyle/>
          <a:p>
            <a:pPr marL="0" indent="0">
              <a:buNone/>
            </a:pPr>
            <a:r>
              <a:rPr lang="en-US" sz="1000" b="1" dirty="0">
                <a:solidFill>
                  <a:srgbClr val="005587"/>
                </a:solidFill>
                <a:latin typeface="Arial" pitchFamily="34" charset="0"/>
                <a:ea typeface="Arial" pitchFamily="34" charset="-122"/>
                <a:cs typeface="Arial" pitchFamily="34" charset="-120"/>
              </a:rPr>
              <a:t>Language</a:t>
            </a:r>
            <a:endParaRPr lang="en-US" sz="1000" dirty="0"/>
          </a:p>
        </p:txBody>
      </p:sp>
      <p:sp>
        <p:nvSpPr>
          <p:cNvPr id="9" name="Text 7"/>
          <p:cNvSpPr/>
          <p:nvPr/>
        </p:nvSpPr>
        <p:spPr>
          <a:xfrm>
            <a:off x="621792" y="1645920"/>
            <a:ext cx="8046720" cy="256032"/>
          </a:xfrm>
          <a:prstGeom prst="rect">
            <a:avLst/>
          </a:prstGeom>
          <a:noFill/>
          <a:ln/>
        </p:spPr>
        <p:txBody>
          <a:bodyPr wrap="square" lIns="0" tIns="0" rIns="0" bIns="0" rtlCol="0" anchor="ctr"/>
          <a:lstStyle/>
          <a:p>
            <a:pPr marL="0" indent="0">
              <a:buNone/>
            </a:pPr>
            <a:r>
              <a:rPr lang="en-US" sz="1500" b="1" dirty="0">
                <a:solidFill>
                  <a:srgbClr val="000000"/>
                </a:solidFill>
                <a:latin typeface="Arial" pitchFamily="34" charset="0"/>
                <a:ea typeface="Arial" pitchFamily="34" charset="-122"/>
                <a:cs typeface="Arial" pitchFamily="34" charset="-120"/>
              </a:rPr>
              <a:t>Python + HTML/React</a:t>
            </a:r>
            <a:endParaRPr lang="en-US" sz="1500" dirty="0"/>
          </a:p>
        </p:txBody>
      </p:sp>
      <p:sp>
        <p:nvSpPr>
          <p:cNvPr id="10" name="Text 8"/>
          <p:cNvSpPr/>
          <p:nvPr/>
        </p:nvSpPr>
        <p:spPr>
          <a:xfrm>
            <a:off x="621792" y="1883664"/>
            <a:ext cx="8046720" cy="365760"/>
          </a:xfrm>
          <a:prstGeom prst="rect">
            <a:avLst/>
          </a:prstGeom>
          <a:noFill/>
          <a:ln/>
        </p:spPr>
        <p:txBody>
          <a:bodyPr wrap="square" lIns="0" tIns="0" rIns="0" bIns="0" rtlCol="0" anchor="ctr"/>
          <a:lstStyle/>
          <a:p>
            <a:pPr marL="0" indent="0">
              <a:buNone/>
            </a:pPr>
            <a:r>
              <a:rPr lang="en-US" sz="950" dirty="0">
                <a:solidFill>
                  <a:srgbClr val="000000"/>
                </a:solidFill>
                <a:latin typeface="Arial" pitchFamily="34" charset="0"/>
                <a:ea typeface="Arial" pitchFamily="34" charset="-122"/>
                <a:cs typeface="Arial" pitchFamily="34" charset="-120"/>
              </a:rPr>
              <a:t>Python backend (Flask/FastAPI), React or plain HTML frontend.</a:t>
            </a:r>
            <a:endParaRPr lang="en-US" sz="950" dirty="0"/>
          </a:p>
        </p:txBody>
      </p:sp>
      <p:sp>
        <p:nvSpPr>
          <p:cNvPr id="11" name="Shape 9"/>
          <p:cNvSpPr/>
          <p:nvPr/>
        </p:nvSpPr>
        <p:spPr>
          <a:xfrm>
            <a:off x="457200" y="2121408"/>
            <a:ext cx="8321040" cy="685800"/>
          </a:xfrm>
          <a:prstGeom prst="rect">
            <a:avLst/>
          </a:prstGeom>
          <a:solidFill>
            <a:srgbClr val="FFFFFF"/>
          </a:solidFill>
          <a:ln w="9525">
            <a:solidFill>
              <a:srgbClr val="CCCCCC"/>
            </a:solidFill>
            <a:prstDash val="solid"/>
          </a:ln>
        </p:spPr>
        <p:txBody>
          <a:bodyPr/>
          <a:lstStyle/>
          <a:p>
            <a:endParaRPr lang="en-US"/>
          </a:p>
        </p:txBody>
      </p:sp>
      <p:sp>
        <p:nvSpPr>
          <p:cNvPr id="12" name="Shape 10"/>
          <p:cNvSpPr/>
          <p:nvPr/>
        </p:nvSpPr>
        <p:spPr>
          <a:xfrm>
            <a:off x="457200" y="2121408"/>
            <a:ext cx="54864" cy="685800"/>
          </a:xfrm>
          <a:prstGeom prst="rect">
            <a:avLst/>
          </a:prstGeom>
          <a:solidFill>
            <a:srgbClr val="005587"/>
          </a:solidFill>
          <a:ln/>
        </p:spPr>
        <p:txBody>
          <a:bodyPr/>
          <a:lstStyle/>
          <a:p>
            <a:endParaRPr lang="en-US"/>
          </a:p>
        </p:txBody>
      </p:sp>
      <p:sp>
        <p:nvSpPr>
          <p:cNvPr id="13" name="Text 11"/>
          <p:cNvSpPr/>
          <p:nvPr/>
        </p:nvSpPr>
        <p:spPr>
          <a:xfrm>
            <a:off x="621792" y="2176272"/>
            <a:ext cx="8046720" cy="237744"/>
          </a:xfrm>
          <a:prstGeom prst="rect">
            <a:avLst/>
          </a:prstGeom>
          <a:noFill/>
          <a:ln/>
        </p:spPr>
        <p:txBody>
          <a:bodyPr wrap="square" lIns="0" tIns="0" rIns="0" bIns="0" rtlCol="0" anchor="ctr"/>
          <a:lstStyle/>
          <a:p>
            <a:pPr marL="0" indent="0">
              <a:buNone/>
            </a:pPr>
            <a:r>
              <a:rPr lang="en-US" sz="1000" b="1" dirty="0">
                <a:solidFill>
                  <a:srgbClr val="005587"/>
                </a:solidFill>
                <a:latin typeface="Arial" pitchFamily="34" charset="0"/>
                <a:ea typeface="Arial" pitchFamily="34" charset="-122"/>
                <a:cs typeface="Arial" pitchFamily="34" charset="-120"/>
              </a:rPr>
              <a:t>LLM API</a:t>
            </a:r>
            <a:endParaRPr lang="en-US" sz="1000" dirty="0"/>
          </a:p>
        </p:txBody>
      </p:sp>
      <p:sp>
        <p:nvSpPr>
          <p:cNvPr id="14" name="Text 12"/>
          <p:cNvSpPr/>
          <p:nvPr/>
        </p:nvSpPr>
        <p:spPr>
          <a:xfrm>
            <a:off x="621792" y="2395728"/>
            <a:ext cx="8046720" cy="256032"/>
          </a:xfrm>
          <a:prstGeom prst="rect">
            <a:avLst/>
          </a:prstGeom>
          <a:noFill/>
          <a:ln/>
        </p:spPr>
        <p:txBody>
          <a:bodyPr wrap="square" lIns="0" tIns="0" rIns="0" bIns="0" rtlCol="0" anchor="ctr"/>
          <a:lstStyle/>
          <a:p>
            <a:pPr marL="0" indent="0">
              <a:buNone/>
            </a:pPr>
            <a:r>
              <a:rPr lang="en-US" sz="1500" b="1" dirty="0">
                <a:solidFill>
                  <a:srgbClr val="000000"/>
                </a:solidFill>
                <a:latin typeface="Arial" pitchFamily="34" charset="0"/>
                <a:ea typeface="Arial" pitchFamily="34" charset="-122"/>
                <a:cs typeface="Arial" pitchFamily="34" charset="-120"/>
              </a:rPr>
              <a:t>Google Gemini</a:t>
            </a:r>
            <a:endParaRPr lang="en-US" sz="1500" dirty="0"/>
          </a:p>
        </p:txBody>
      </p:sp>
      <p:sp>
        <p:nvSpPr>
          <p:cNvPr id="15" name="Text 13"/>
          <p:cNvSpPr/>
          <p:nvPr/>
        </p:nvSpPr>
        <p:spPr>
          <a:xfrm>
            <a:off x="621792" y="2633472"/>
            <a:ext cx="8046720" cy="365760"/>
          </a:xfrm>
          <a:prstGeom prst="rect">
            <a:avLst/>
          </a:prstGeom>
          <a:noFill/>
          <a:ln/>
        </p:spPr>
        <p:txBody>
          <a:bodyPr wrap="square" lIns="0" tIns="0" rIns="0" bIns="0" rtlCol="0" anchor="ctr"/>
          <a:lstStyle/>
          <a:p>
            <a:pPr marL="0" indent="0">
              <a:buNone/>
            </a:pPr>
            <a:r>
              <a:rPr lang="en-US" sz="950" dirty="0">
                <a:solidFill>
                  <a:srgbClr val="000000"/>
                </a:solidFill>
                <a:latin typeface="Arial" pitchFamily="34" charset="0"/>
                <a:ea typeface="Arial" pitchFamily="34" charset="-122"/>
                <a:cs typeface="Arial" pitchFamily="34" charset="-120"/>
              </a:rPr>
              <a:t>Free tier available. Get an API key from aistudio.google.com.</a:t>
            </a:r>
            <a:endParaRPr lang="en-US" sz="950" dirty="0"/>
          </a:p>
        </p:txBody>
      </p:sp>
      <p:sp>
        <p:nvSpPr>
          <p:cNvPr id="16" name="Shape 14"/>
          <p:cNvSpPr/>
          <p:nvPr/>
        </p:nvSpPr>
        <p:spPr>
          <a:xfrm>
            <a:off x="457200" y="2871216"/>
            <a:ext cx="8321040" cy="685800"/>
          </a:xfrm>
          <a:prstGeom prst="rect">
            <a:avLst/>
          </a:prstGeom>
          <a:solidFill>
            <a:srgbClr val="FFFFFF"/>
          </a:solidFill>
          <a:ln w="9525">
            <a:solidFill>
              <a:srgbClr val="CCCCCC"/>
            </a:solidFill>
            <a:prstDash val="solid"/>
          </a:ln>
        </p:spPr>
        <p:txBody>
          <a:bodyPr/>
          <a:lstStyle/>
          <a:p>
            <a:endParaRPr lang="en-US"/>
          </a:p>
        </p:txBody>
      </p:sp>
      <p:sp>
        <p:nvSpPr>
          <p:cNvPr id="17" name="Shape 15"/>
          <p:cNvSpPr/>
          <p:nvPr/>
        </p:nvSpPr>
        <p:spPr>
          <a:xfrm>
            <a:off x="457200" y="2871216"/>
            <a:ext cx="54864" cy="685800"/>
          </a:xfrm>
          <a:prstGeom prst="rect">
            <a:avLst/>
          </a:prstGeom>
          <a:solidFill>
            <a:srgbClr val="005587"/>
          </a:solidFill>
          <a:ln/>
        </p:spPr>
        <p:txBody>
          <a:bodyPr/>
          <a:lstStyle/>
          <a:p>
            <a:endParaRPr lang="en-US"/>
          </a:p>
        </p:txBody>
      </p:sp>
      <p:sp>
        <p:nvSpPr>
          <p:cNvPr id="18" name="Text 16"/>
          <p:cNvSpPr/>
          <p:nvPr/>
        </p:nvSpPr>
        <p:spPr>
          <a:xfrm>
            <a:off x="621792" y="2926080"/>
            <a:ext cx="8046720" cy="237744"/>
          </a:xfrm>
          <a:prstGeom prst="rect">
            <a:avLst/>
          </a:prstGeom>
          <a:noFill/>
          <a:ln/>
        </p:spPr>
        <p:txBody>
          <a:bodyPr wrap="square" lIns="0" tIns="0" rIns="0" bIns="0" rtlCol="0" anchor="ctr"/>
          <a:lstStyle/>
          <a:p>
            <a:pPr marL="0" indent="0">
              <a:buNone/>
            </a:pPr>
            <a:r>
              <a:rPr lang="en-US" sz="1000" b="1" dirty="0">
                <a:solidFill>
                  <a:srgbClr val="005587"/>
                </a:solidFill>
                <a:latin typeface="Arial" pitchFamily="34" charset="0"/>
                <a:ea typeface="Arial" pitchFamily="34" charset="-122"/>
                <a:cs typeface="Arial" pitchFamily="34" charset="-120"/>
              </a:rPr>
              <a:t>AI coding assistant</a:t>
            </a:r>
            <a:endParaRPr lang="en-US" sz="1000" dirty="0"/>
          </a:p>
        </p:txBody>
      </p:sp>
      <p:sp>
        <p:nvSpPr>
          <p:cNvPr id="19" name="Text 17"/>
          <p:cNvSpPr/>
          <p:nvPr/>
        </p:nvSpPr>
        <p:spPr>
          <a:xfrm>
            <a:off x="621792" y="3145536"/>
            <a:ext cx="8046720" cy="256032"/>
          </a:xfrm>
          <a:prstGeom prst="rect">
            <a:avLst/>
          </a:prstGeom>
          <a:noFill/>
          <a:ln/>
        </p:spPr>
        <p:txBody>
          <a:bodyPr wrap="square" lIns="0" tIns="0" rIns="0" bIns="0" rtlCol="0" anchor="ctr"/>
          <a:lstStyle/>
          <a:p>
            <a:pPr marL="0" indent="0">
              <a:buNone/>
            </a:pPr>
            <a:r>
              <a:rPr lang="en-US" sz="1500" b="1" dirty="0">
                <a:solidFill>
                  <a:srgbClr val="000000"/>
                </a:solidFill>
                <a:latin typeface="Arial" pitchFamily="34" charset="0"/>
                <a:ea typeface="Arial" pitchFamily="34" charset="-122"/>
                <a:cs typeface="Arial" pitchFamily="34" charset="-120"/>
              </a:rPr>
              <a:t>Gemini + Claude</a:t>
            </a:r>
            <a:endParaRPr lang="en-US" sz="1500" dirty="0"/>
          </a:p>
        </p:txBody>
      </p:sp>
      <p:sp>
        <p:nvSpPr>
          <p:cNvPr id="20" name="Text 18"/>
          <p:cNvSpPr/>
          <p:nvPr/>
        </p:nvSpPr>
        <p:spPr>
          <a:xfrm>
            <a:off x="621792" y="3383280"/>
            <a:ext cx="8046720" cy="365760"/>
          </a:xfrm>
          <a:prstGeom prst="rect">
            <a:avLst/>
          </a:prstGeom>
          <a:noFill/>
          <a:ln/>
        </p:spPr>
        <p:txBody>
          <a:bodyPr wrap="square" lIns="0" tIns="0" rIns="0" bIns="0" rtlCol="0" anchor="ctr"/>
          <a:lstStyle/>
          <a:p>
            <a:pPr marL="0" indent="0">
              <a:buNone/>
            </a:pPr>
            <a:r>
              <a:rPr lang="en-US" sz="950" dirty="0">
                <a:solidFill>
                  <a:srgbClr val="000000"/>
                </a:solidFill>
                <a:latin typeface="Arial" pitchFamily="34" charset="0"/>
                <a:ea typeface="Arial" pitchFamily="34" charset="-122"/>
                <a:cs typeface="Arial" pitchFamily="34" charset="-120"/>
              </a:rPr>
              <a:t>Use Gemini or Claude to help write your code ("vibe coding").</a:t>
            </a:r>
            <a:endParaRPr lang="en-US" sz="950" dirty="0"/>
          </a:p>
        </p:txBody>
      </p:sp>
      <p:sp>
        <p:nvSpPr>
          <p:cNvPr id="21" name="Shape 19"/>
          <p:cNvSpPr/>
          <p:nvPr/>
        </p:nvSpPr>
        <p:spPr>
          <a:xfrm>
            <a:off x="457200" y="3621024"/>
            <a:ext cx="8321040" cy="685800"/>
          </a:xfrm>
          <a:prstGeom prst="rect">
            <a:avLst/>
          </a:prstGeom>
          <a:solidFill>
            <a:srgbClr val="FFFFFF"/>
          </a:solidFill>
          <a:ln w="9525">
            <a:solidFill>
              <a:srgbClr val="CCCCCC"/>
            </a:solidFill>
            <a:prstDash val="solid"/>
          </a:ln>
        </p:spPr>
        <p:txBody>
          <a:bodyPr/>
          <a:lstStyle/>
          <a:p>
            <a:endParaRPr lang="en-US"/>
          </a:p>
        </p:txBody>
      </p:sp>
      <p:sp>
        <p:nvSpPr>
          <p:cNvPr id="22" name="Shape 20"/>
          <p:cNvSpPr/>
          <p:nvPr/>
        </p:nvSpPr>
        <p:spPr>
          <a:xfrm>
            <a:off x="457200" y="3621024"/>
            <a:ext cx="54864" cy="685800"/>
          </a:xfrm>
          <a:prstGeom prst="rect">
            <a:avLst/>
          </a:prstGeom>
          <a:solidFill>
            <a:srgbClr val="005587"/>
          </a:solidFill>
          <a:ln/>
        </p:spPr>
        <p:txBody>
          <a:bodyPr/>
          <a:lstStyle/>
          <a:p>
            <a:endParaRPr lang="en-US"/>
          </a:p>
        </p:txBody>
      </p:sp>
      <p:sp>
        <p:nvSpPr>
          <p:cNvPr id="23" name="Text 21"/>
          <p:cNvSpPr/>
          <p:nvPr/>
        </p:nvSpPr>
        <p:spPr>
          <a:xfrm>
            <a:off x="621792" y="3675888"/>
            <a:ext cx="8046720" cy="237744"/>
          </a:xfrm>
          <a:prstGeom prst="rect">
            <a:avLst/>
          </a:prstGeom>
          <a:noFill/>
          <a:ln/>
        </p:spPr>
        <p:txBody>
          <a:bodyPr wrap="square" lIns="0" tIns="0" rIns="0" bIns="0" rtlCol="0" anchor="ctr"/>
          <a:lstStyle/>
          <a:p>
            <a:pPr marL="0" indent="0">
              <a:buNone/>
            </a:pPr>
            <a:r>
              <a:rPr lang="en-US" sz="1000" b="1" dirty="0">
                <a:solidFill>
                  <a:srgbClr val="005587"/>
                </a:solidFill>
                <a:latin typeface="Arial" pitchFamily="34" charset="0"/>
                <a:ea typeface="Arial" pitchFamily="34" charset="-122"/>
                <a:cs typeface="Arial" pitchFamily="34" charset="-120"/>
              </a:rPr>
              <a:t>Hosting</a:t>
            </a:r>
            <a:endParaRPr lang="en-US" sz="1000" dirty="0"/>
          </a:p>
        </p:txBody>
      </p:sp>
      <p:sp>
        <p:nvSpPr>
          <p:cNvPr id="24" name="Text 22"/>
          <p:cNvSpPr/>
          <p:nvPr/>
        </p:nvSpPr>
        <p:spPr>
          <a:xfrm>
            <a:off x="621792" y="3895344"/>
            <a:ext cx="8046720" cy="256032"/>
          </a:xfrm>
          <a:prstGeom prst="rect">
            <a:avLst/>
          </a:prstGeom>
          <a:noFill/>
          <a:ln/>
        </p:spPr>
        <p:txBody>
          <a:bodyPr wrap="square" lIns="0" tIns="0" rIns="0" bIns="0" rtlCol="0" anchor="ctr"/>
          <a:lstStyle/>
          <a:p>
            <a:pPr marL="0" indent="0">
              <a:buNone/>
            </a:pPr>
            <a:r>
              <a:rPr lang="en-US" sz="1500" b="1" dirty="0">
                <a:solidFill>
                  <a:srgbClr val="000000"/>
                </a:solidFill>
                <a:latin typeface="Arial" pitchFamily="34" charset="0"/>
                <a:ea typeface="Arial" pitchFamily="34" charset="-122"/>
                <a:cs typeface="Arial" pitchFamily="34" charset="-120"/>
              </a:rPr>
              <a:t>Railway</a:t>
            </a:r>
            <a:endParaRPr lang="en-US" sz="1500" dirty="0"/>
          </a:p>
        </p:txBody>
      </p:sp>
      <p:sp>
        <p:nvSpPr>
          <p:cNvPr id="25" name="Text 23"/>
          <p:cNvSpPr/>
          <p:nvPr/>
        </p:nvSpPr>
        <p:spPr>
          <a:xfrm>
            <a:off x="621792" y="4133088"/>
            <a:ext cx="8046720" cy="365760"/>
          </a:xfrm>
          <a:prstGeom prst="rect">
            <a:avLst/>
          </a:prstGeom>
          <a:noFill/>
          <a:ln/>
        </p:spPr>
        <p:txBody>
          <a:bodyPr wrap="square" lIns="0" tIns="0" rIns="0" bIns="0" rtlCol="0" anchor="ctr"/>
          <a:lstStyle/>
          <a:p>
            <a:pPr marL="0" indent="0">
              <a:buNone/>
            </a:pPr>
            <a:r>
              <a:rPr lang="en-US" sz="950" dirty="0">
                <a:solidFill>
                  <a:srgbClr val="000000"/>
                </a:solidFill>
                <a:latin typeface="Arial" pitchFamily="34" charset="0"/>
                <a:ea typeface="Arial" pitchFamily="34" charset="-122"/>
                <a:cs typeface="Arial" pitchFamily="34" charset="-120"/>
              </a:rPr>
              <a:t>Hobby tier ($5/mo). Deploy via CLI with one command.</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54864" cy="5148072"/>
          </a:xfrm>
          <a:prstGeom prst="rect">
            <a:avLst/>
          </a:prstGeom>
          <a:solidFill>
            <a:srgbClr val="005587"/>
          </a:solidFill>
          <a:ln/>
        </p:spPr>
        <p:txBody>
          <a:bodyPr/>
          <a:lstStyle/>
          <a:p>
            <a:endParaRPr lang="en-US"/>
          </a:p>
        </p:txBody>
      </p:sp>
      <p:sp>
        <p:nvSpPr>
          <p:cNvPr id="3" name="Text 1"/>
          <p:cNvSpPr/>
          <p:nvPr/>
        </p:nvSpPr>
        <p:spPr>
          <a:xfrm>
            <a:off x="457200" y="182880"/>
            <a:ext cx="8321040" cy="685800"/>
          </a:xfrm>
          <a:prstGeom prst="rect">
            <a:avLst/>
          </a:prstGeom>
          <a:noFill/>
          <a:ln/>
        </p:spPr>
        <p:txBody>
          <a:bodyPr wrap="square" lIns="0" tIns="0" rIns="0" bIns="0" rtlCol="0" anchor="ctr"/>
          <a:lstStyle/>
          <a:p>
            <a:pPr marL="0" indent="0">
              <a:buNone/>
            </a:pPr>
            <a:r>
              <a:rPr lang="en-US" sz="2800" b="1" dirty="0">
                <a:solidFill>
                  <a:srgbClr val="005587"/>
                </a:solidFill>
                <a:latin typeface="Whitney Bold" pitchFamily="34" charset="0"/>
                <a:ea typeface="Whitney Bold" pitchFamily="34" charset="-122"/>
                <a:cs typeface="Whitney Bold" pitchFamily="34" charset="-120"/>
              </a:rPr>
              <a:t>LLMs for Coding ("Vibe Coding")</a:t>
            </a:r>
            <a:endParaRPr lang="en-US" sz="2800" dirty="0"/>
          </a:p>
        </p:txBody>
      </p:sp>
      <p:sp>
        <p:nvSpPr>
          <p:cNvPr id="4" name="Shape 2"/>
          <p:cNvSpPr/>
          <p:nvPr/>
        </p:nvSpPr>
        <p:spPr>
          <a:xfrm>
            <a:off x="457200" y="896112"/>
            <a:ext cx="8321040" cy="0"/>
          </a:xfrm>
          <a:prstGeom prst="line">
            <a:avLst/>
          </a:prstGeom>
          <a:noFill/>
          <a:ln w="12700">
            <a:solidFill>
              <a:srgbClr val="E8E8E8"/>
            </a:solidFill>
            <a:prstDash val="solid"/>
          </a:ln>
        </p:spPr>
        <p:txBody>
          <a:bodyPr/>
          <a:lstStyle/>
          <a:p>
            <a:endParaRPr lang="en-US"/>
          </a:p>
        </p:txBody>
      </p:sp>
      <p:sp>
        <p:nvSpPr>
          <p:cNvPr id="5" name="Text 3"/>
          <p:cNvSpPr/>
          <p:nvPr/>
        </p:nvSpPr>
        <p:spPr>
          <a:xfrm>
            <a:off x="457200" y="960120"/>
            <a:ext cx="8321040" cy="274320"/>
          </a:xfrm>
          <a:prstGeom prst="rect">
            <a:avLst/>
          </a:prstGeom>
          <a:noFill/>
          <a:ln/>
        </p:spPr>
        <p:txBody>
          <a:bodyPr wrap="square" lIns="0" tIns="0" rIns="0" bIns="0" rtlCol="0" anchor="ctr"/>
          <a:lstStyle/>
          <a:p>
            <a:pPr marL="0" indent="0">
              <a:buNone/>
            </a:pPr>
            <a:r>
              <a:rPr lang="en-US" sz="1200" dirty="0">
                <a:solidFill>
                  <a:srgbClr val="000000"/>
                </a:solidFill>
                <a:latin typeface="Arial" pitchFamily="34" charset="0"/>
                <a:ea typeface="Arial" pitchFamily="34" charset="-122"/>
                <a:cs typeface="Arial" pitchFamily="34" charset="-120"/>
              </a:rPr>
              <a:t>You don't need to be a programmer. Use AI to generate, debug, and iterate on your code.</a:t>
            </a:r>
            <a:endParaRPr lang="en-US" sz="1200" dirty="0"/>
          </a:p>
        </p:txBody>
      </p:sp>
      <p:sp>
        <p:nvSpPr>
          <p:cNvPr id="6" name="Shape 4"/>
          <p:cNvSpPr/>
          <p:nvPr/>
        </p:nvSpPr>
        <p:spPr>
          <a:xfrm>
            <a:off x="457200" y="1417320"/>
            <a:ext cx="3931920" cy="2011680"/>
          </a:xfrm>
          <a:prstGeom prst="rect">
            <a:avLst/>
          </a:prstGeom>
          <a:solidFill>
            <a:srgbClr val="FFFFFF"/>
          </a:solidFill>
          <a:ln w="9525">
            <a:solidFill>
              <a:srgbClr val="CCCCCC"/>
            </a:solidFill>
            <a:prstDash val="solid"/>
          </a:ln>
        </p:spPr>
        <p:txBody>
          <a:bodyPr/>
          <a:lstStyle/>
          <a:p>
            <a:endParaRPr lang="en-US"/>
          </a:p>
        </p:txBody>
      </p:sp>
      <p:sp>
        <p:nvSpPr>
          <p:cNvPr id="7" name="Shape 5"/>
          <p:cNvSpPr/>
          <p:nvPr/>
        </p:nvSpPr>
        <p:spPr>
          <a:xfrm>
            <a:off x="457200" y="1417320"/>
            <a:ext cx="3931920" cy="73152"/>
          </a:xfrm>
          <a:prstGeom prst="rect">
            <a:avLst/>
          </a:prstGeom>
          <a:solidFill>
            <a:srgbClr val="005587"/>
          </a:solidFill>
          <a:ln/>
        </p:spPr>
        <p:txBody>
          <a:bodyPr/>
          <a:lstStyle/>
          <a:p>
            <a:endParaRPr lang="en-US"/>
          </a:p>
        </p:txBody>
      </p:sp>
      <p:sp>
        <p:nvSpPr>
          <p:cNvPr id="8" name="Text 6"/>
          <p:cNvSpPr/>
          <p:nvPr/>
        </p:nvSpPr>
        <p:spPr>
          <a:xfrm>
            <a:off x="566928" y="1527048"/>
            <a:ext cx="3712464" cy="320040"/>
          </a:xfrm>
          <a:prstGeom prst="rect">
            <a:avLst/>
          </a:prstGeom>
          <a:noFill/>
          <a:ln/>
        </p:spPr>
        <p:txBody>
          <a:bodyPr wrap="square" lIns="0" tIns="0" rIns="0" bIns="0" rtlCol="0" anchor="ctr"/>
          <a:lstStyle/>
          <a:p>
            <a:pPr marL="0" indent="0" algn="ctr">
              <a:buNone/>
            </a:pPr>
            <a:r>
              <a:rPr lang="en-US" sz="1300" b="1" dirty="0">
                <a:solidFill>
                  <a:srgbClr val="005587"/>
                </a:solidFill>
                <a:latin typeface="Arial" pitchFamily="34" charset="0"/>
                <a:ea typeface="Arial" pitchFamily="34" charset="-122"/>
                <a:cs typeface="Arial" pitchFamily="34" charset="-120"/>
              </a:rPr>
              <a:t>Google Gemini</a:t>
            </a:r>
            <a:endParaRPr lang="en-US" sz="1300" dirty="0"/>
          </a:p>
        </p:txBody>
      </p:sp>
      <p:sp>
        <p:nvSpPr>
          <p:cNvPr id="9" name="Shape 7"/>
          <p:cNvSpPr/>
          <p:nvPr/>
        </p:nvSpPr>
        <p:spPr>
          <a:xfrm>
            <a:off x="566928" y="1856232"/>
            <a:ext cx="3712464" cy="0"/>
          </a:xfrm>
          <a:prstGeom prst="line">
            <a:avLst/>
          </a:prstGeom>
          <a:noFill/>
          <a:ln w="6350">
            <a:solidFill>
              <a:srgbClr val="E8E8E8"/>
            </a:solidFill>
            <a:prstDash val="solid"/>
          </a:ln>
        </p:spPr>
        <p:txBody>
          <a:bodyPr/>
          <a:lstStyle/>
          <a:p>
            <a:endParaRPr lang="en-US"/>
          </a:p>
        </p:txBody>
      </p:sp>
      <p:sp>
        <p:nvSpPr>
          <p:cNvPr id="10" name="Text 8"/>
          <p:cNvSpPr/>
          <p:nvPr/>
        </p:nvSpPr>
        <p:spPr>
          <a:xfrm>
            <a:off x="566928" y="1920240"/>
            <a:ext cx="3712464" cy="201168"/>
          </a:xfrm>
          <a:prstGeom prst="rect">
            <a:avLst/>
          </a:prstGeom>
          <a:noFill/>
          <a:ln/>
        </p:spPr>
        <p:txBody>
          <a:bodyPr wrap="square" lIns="0" tIns="0" rIns="0" bIns="0" rtlCol="0" anchor="ctr"/>
          <a:lstStyle/>
          <a:p>
            <a:pPr marL="0" indent="0" algn="ctr">
              <a:buNone/>
            </a:pPr>
            <a:r>
              <a:rPr lang="en-US" sz="900" dirty="0">
                <a:solidFill>
                  <a:srgbClr val="000000"/>
                </a:solidFill>
                <a:latin typeface="Arial" pitchFamily="34" charset="0"/>
                <a:ea typeface="Arial" pitchFamily="34" charset="-122"/>
                <a:cs typeface="Arial" pitchFamily="34" charset="-120"/>
              </a:rPr>
              <a:t>Best for</a:t>
            </a:r>
            <a:endParaRPr lang="en-US" sz="900" dirty="0"/>
          </a:p>
        </p:txBody>
      </p:sp>
      <p:sp>
        <p:nvSpPr>
          <p:cNvPr id="11" name="Text 9"/>
          <p:cNvSpPr/>
          <p:nvPr/>
        </p:nvSpPr>
        <p:spPr>
          <a:xfrm>
            <a:off x="566928" y="2084832"/>
            <a:ext cx="3712464" cy="274320"/>
          </a:xfrm>
          <a:prstGeom prst="rect">
            <a:avLst/>
          </a:prstGeom>
          <a:noFill/>
          <a:ln/>
        </p:spPr>
        <p:txBody>
          <a:bodyPr wrap="square" lIns="0" tIns="0" rIns="0" bIns="0" rtlCol="0" anchor="ctr"/>
          <a:lstStyle/>
          <a:p>
            <a:pPr marL="0" indent="0" algn="ctr">
              <a:buNone/>
            </a:pPr>
            <a:r>
              <a:rPr lang="en-US" sz="1600" b="1" dirty="0">
                <a:solidFill>
                  <a:srgbClr val="000000"/>
                </a:solidFill>
                <a:latin typeface="Arial" pitchFamily="34" charset="0"/>
                <a:ea typeface="Arial" pitchFamily="34" charset="-122"/>
                <a:cs typeface="Arial" pitchFamily="34" charset="-120"/>
              </a:rPr>
              <a:t>Rapid prototyping</a:t>
            </a:r>
            <a:endParaRPr lang="en-US" sz="1600" dirty="0"/>
          </a:p>
        </p:txBody>
      </p:sp>
      <p:sp>
        <p:nvSpPr>
          <p:cNvPr id="12" name="Shape 10"/>
          <p:cNvSpPr/>
          <p:nvPr/>
        </p:nvSpPr>
        <p:spPr>
          <a:xfrm>
            <a:off x="640080" y="2377440"/>
            <a:ext cx="3566160" cy="0"/>
          </a:xfrm>
          <a:prstGeom prst="line">
            <a:avLst/>
          </a:prstGeom>
          <a:noFill/>
          <a:ln w="6350">
            <a:solidFill>
              <a:srgbClr val="E8E8E8"/>
            </a:solidFill>
            <a:prstDash val="solid"/>
          </a:ln>
        </p:spPr>
        <p:txBody>
          <a:bodyPr/>
          <a:lstStyle/>
          <a:p>
            <a:endParaRPr lang="en-US"/>
          </a:p>
        </p:txBody>
      </p:sp>
      <p:sp>
        <p:nvSpPr>
          <p:cNvPr id="13" name="Text 11"/>
          <p:cNvSpPr/>
          <p:nvPr/>
        </p:nvSpPr>
        <p:spPr>
          <a:xfrm>
            <a:off x="566928" y="2423160"/>
            <a:ext cx="3712464" cy="201168"/>
          </a:xfrm>
          <a:prstGeom prst="rect">
            <a:avLst/>
          </a:prstGeom>
          <a:noFill/>
          <a:ln/>
        </p:spPr>
        <p:txBody>
          <a:bodyPr wrap="square" lIns="0" tIns="0" rIns="0" bIns="0" rtlCol="0" anchor="ctr"/>
          <a:lstStyle/>
          <a:p>
            <a:pPr marL="0" indent="0" algn="ctr">
              <a:buNone/>
            </a:pPr>
            <a:r>
              <a:rPr lang="en-US" sz="900" dirty="0">
                <a:solidFill>
                  <a:srgbClr val="000000"/>
                </a:solidFill>
                <a:latin typeface="Arial" pitchFamily="34" charset="0"/>
                <a:ea typeface="Arial" pitchFamily="34" charset="-122"/>
                <a:cs typeface="Arial" pitchFamily="34" charset="-120"/>
              </a:rPr>
              <a:t>Access</a:t>
            </a:r>
            <a:endParaRPr lang="en-US" sz="900" dirty="0"/>
          </a:p>
        </p:txBody>
      </p:sp>
      <p:sp>
        <p:nvSpPr>
          <p:cNvPr id="14" name="Text 12"/>
          <p:cNvSpPr/>
          <p:nvPr/>
        </p:nvSpPr>
        <p:spPr>
          <a:xfrm>
            <a:off x="566928" y="2587752"/>
            <a:ext cx="3712464" cy="274320"/>
          </a:xfrm>
          <a:prstGeom prst="rect">
            <a:avLst/>
          </a:prstGeom>
          <a:noFill/>
          <a:ln/>
        </p:spPr>
        <p:txBody>
          <a:bodyPr wrap="square" lIns="0" tIns="0" rIns="0" bIns="0" rtlCol="0" anchor="ctr"/>
          <a:lstStyle/>
          <a:p>
            <a:pPr marL="0" indent="0" algn="ctr">
              <a:buNone/>
            </a:pPr>
            <a:r>
              <a:rPr lang="en-US" sz="1600" b="1" dirty="0">
                <a:solidFill>
                  <a:srgbClr val="000000"/>
                </a:solidFill>
                <a:latin typeface="Arial" pitchFamily="34" charset="0"/>
                <a:ea typeface="Arial" pitchFamily="34" charset="-122"/>
                <a:cs typeface="Arial" pitchFamily="34" charset="-120"/>
              </a:rPr>
              <a:t>Free via AI Studio</a:t>
            </a:r>
            <a:endParaRPr lang="en-US" sz="1600" dirty="0"/>
          </a:p>
        </p:txBody>
      </p:sp>
      <p:sp>
        <p:nvSpPr>
          <p:cNvPr id="15" name="Shape 13"/>
          <p:cNvSpPr/>
          <p:nvPr/>
        </p:nvSpPr>
        <p:spPr>
          <a:xfrm>
            <a:off x="640080" y="2880360"/>
            <a:ext cx="3566160" cy="0"/>
          </a:xfrm>
          <a:prstGeom prst="line">
            <a:avLst/>
          </a:prstGeom>
          <a:noFill/>
          <a:ln w="6350">
            <a:solidFill>
              <a:srgbClr val="E8E8E8"/>
            </a:solidFill>
            <a:prstDash val="solid"/>
          </a:ln>
        </p:spPr>
        <p:txBody>
          <a:bodyPr/>
          <a:lstStyle/>
          <a:p>
            <a:endParaRPr lang="en-US"/>
          </a:p>
        </p:txBody>
      </p:sp>
      <p:sp>
        <p:nvSpPr>
          <p:cNvPr id="16" name="Text 14"/>
          <p:cNvSpPr/>
          <p:nvPr/>
        </p:nvSpPr>
        <p:spPr>
          <a:xfrm>
            <a:off x="566928" y="3017520"/>
            <a:ext cx="3712464" cy="320040"/>
          </a:xfrm>
          <a:prstGeom prst="rect">
            <a:avLst/>
          </a:prstGeom>
          <a:noFill/>
          <a:ln/>
        </p:spPr>
        <p:txBody>
          <a:bodyPr wrap="square" lIns="0" tIns="0" rIns="0" bIns="0" rtlCol="0" anchor="ctr"/>
          <a:lstStyle/>
          <a:p>
            <a:pPr marL="0" indent="0" algn="ctr">
              <a:buNone/>
            </a:pPr>
            <a:r>
              <a:rPr lang="en-US" sz="900" i="1" dirty="0">
                <a:solidFill>
                  <a:srgbClr val="000000"/>
                </a:solidFill>
                <a:latin typeface="Arial" pitchFamily="34" charset="0"/>
                <a:ea typeface="Arial" pitchFamily="34" charset="-122"/>
                <a:cs typeface="Arial" pitchFamily="34" charset="-120"/>
              </a:rPr>
              <a:t>Large context window, good at full-file generation</a:t>
            </a:r>
            <a:endParaRPr lang="en-US" sz="900" dirty="0"/>
          </a:p>
        </p:txBody>
      </p:sp>
      <p:sp>
        <p:nvSpPr>
          <p:cNvPr id="17" name="Shape 15"/>
          <p:cNvSpPr/>
          <p:nvPr/>
        </p:nvSpPr>
        <p:spPr>
          <a:xfrm>
            <a:off x="4754880" y="1417320"/>
            <a:ext cx="3931920" cy="2011680"/>
          </a:xfrm>
          <a:prstGeom prst="rect">
            <a:avLst/>
          </a:prstGeom>
          <a:solidFill>
            <a:srgbClr val="FFFFFF"/>
          </a:solidFill>
          <a:ln w="9525">
            <a:solidFill>
              <a:srgbClr val="CCCCCC"/>
            </a:solidFill>
            <a:prstDash val="solid"/>
          </a:ln>
        </p:spPr>
        <p:txBody>
          <a:bodyPr/>
          <a:lstStyle/>
          <a:p>
            <a:endParaRPr lang="en-US"/>
          </a:p>
        </p:txBody>
      </p:sp>
      <p:sp>
        <p:nvSpPr>
          <p:cNvPr id="18" name="Shape 16"/>
          <p:cNvSpPr/>
          <p:nvPr/>
        </p:nvSpPr>
        <p:spPr>
          <a:xfrm>
            <a:off x="4754880" y="1417320"/>
            <a:ext cx="3931920" cy="73152"/>
          </a:xfrm>
          <a:prstGeom prst="rect">
            <a:avLst/>
          </a:prstGeom>
          <a:solidFill>
            <a:srgbClr val="C4820E"/>
          </a:solidFill>
          <a:ln/>
        </p:spPr>
        <p:txBody>
          <a:bodyPr/>
          <a:lstStyle/>
          <a:p>
            <a:endParaRPr lang="en-US"/>
          </a:p>
        </p:txBody>
      </p:sp>
      <p:sp>
        <p:nvSpPr>
          <p:cNvPr id="19" name="Text 17"/>
          <p:cNvSpPr/>
          <p:nvPr/>
        </p:nvSpPr>
        <p:spPr>
          <a:xfrm>
            <a:off x="4864608" y="1527048"/>
            <a:ext cx="3712464" cy="320040"/>
          </a:xfrm>
          <a:prstGeom prst="rect">
            <a:avLst/>
          </a:prstGeom>
          <a:noFill/>
          <a:ln/>
        </p:spPr>
        <p:txBody>
          <a:bodyPr wrap="square" lIns="0" tIns="0" rIns="0" bIns="0" rtlCol="0" anchor="ctr"/>
          <a:lstStyle/>
          <a:p>
            <a:pPr marL="0" indent="0" algn="ctr">
              <a:buNone/>
            </a:pPr>
            <a:r>
              <a:rPr lang="en-US" sz="1300" b="1" dirty="0">
                <a:solidFill>
                  <a:srgbClr val="005587"/>
                </a:solidFill>
                <a:latin typeface="Arial" pitchFamily="34" charset="0"/>
                <a:ea typeface="Arial" pitchFamily="34" charset="-122"/>
                <a:cs typeface="Arial" pitchFamily="34" charset="-120"/>
              </a:rPr>
              <a:t>Claude (Anthropic)</a:t>
            </a:r>
            <a:endParaRPr lang="en-US" sz="1300" dirty="0"/>
          </a:p>
        </p:txBody>
      </p:sp>
      <p:sp>
        <p:nvSpPr>
          <p:cNvPr id="20" name="Shape 18"/>
          <p:cNvSpPr/>
          <p:nvPr/>
        </p:nvSpPr>
        <p:spPr>
          <a:xfrm>
            <a:off x="4864608" y="1856232"/>
            <a:ext cx="3712464" cy="0"/>
          </a:xfrm>
          <a:prstGeom prst="line">
            <a:avLst/>
          </a:prstGeom>
          <a:noFill/>
          <a:ln w="6350">
            <a:solidFill>
              <a:srgbClr val="E8E8E8"/>
            </a:solidFill>
            <a:prstDash val="solid"/>
          </a:ln>
        </p:spPr>
        <p:txBody>
          <a:bodyPr/>
          <a:lstStyle/>
          <a:p>
            <a:endParaRPr lang="en-US"/>
          </a:p>
        </p:txBody>
      </p:sp>
      <p:sp>
        <p:nvSpPr>
          <p:cNvPr id="21" name="Text 19"/>
          <p:cNvSpPr/>
          <p:nvPr/>
        </p:nvSpPr>
        <p:spPr>
          <a:xfrm>
            <a:off x="4864608" y="1920240"/>
            <a:ext cx="3712464" cy="201168"/>
          </a:xfrm>
          <a:prstGeom prst="rect">
            <a:avLst/>
          </a:prstGeom>
          <a:noFill/>
          <a:ln/>
        </p:spPr>
        <p:txBody>
          <a:bodyPr wrap="square" lIns="0" tIns="0" rIns="0" bIns="0" rtlCol="0" anchor="ctr"/>
          <a:lstStyle/>
          <a:p>
            <a:pPr marL="0" indent="0" algn="ctr">
              <a:buNone/>
            </a:pPr>
            <a:r>
              <a:rPr lang="en-US" sz="900" dirty="0">
                <a:solidFill>
                  <a:srgbClr val="000000"/>
                </a:solidFill>
                <a:latin typeface="Arial" pitchFamily="34" charset="0"/>
                <a:ea typeface="Arial" pitchFamily="34" charset="-122"/>
                <a:cs typeface="Arial" pitchFamily="34" charset="-120"/>
              </a:rPr>
              <a:t>Best for</a:t>
            </a:r>
            <a:endParaRPr lang="en-US" sz="900" dirty="0"/>
          </a:p>
        </p:txBody>
      </p:sp>
      <p:sp>
        <p:nvSpPr>
          <p:cNvPr id="22" name="Text 20"/>
          <p:cNvSpPr/>
          <p:nvPr/>
        </p:nvSpPr>
        <p:spPr>
          <a:xfrm>
            <a:off x="4864608" y="2084832"/>
            <a:ext cx="3712464" cy="274320"/>
          </a:xfrm>
          <a:prstGeom prst="rect">
            <a:avLst/>
          </a:prstGeom>
          <a:noFill/>
          <a:ln/>
        </p:spPr>
        <p:txBody>
          <a:bodyPr wrap="square" lIns="0" tIns="0" rIns="0" bIns="0" rtlCol="0" anchor="ctr"/>
          <a:lstStyle/>
          <a:p>
            <a:pPr marL="0" indent="0" algn="ctr">
              <a:buNone/>
            </a:pPr>
            <a:r>
              <a:rPr lang="en-US" sz="1600" b="1" dirty="0">
                <a:solidFill>
                  <a:srgbClr val="000000"/>
                </a:solidFill>
                <a:latin typeface="Arial" pitchFamily="34" charset="0"/>
                <a:ea typeface="Arial" pitchFamily="34" charset="-122"/>
                <a:cs typeface="Arial" pitchFamily="34" charset="-120"/>
              </a:rPr>
              <a:t>Complex debugging</a:t>
            </a:r>
            <a:endParaRPr lang="en-US" sz="1600" dirty="0"/>
          </a:p>
        </p:txBody>
      </p:sp>
      <p:sp>
        <p:nvSpPr>
          <p:cNvPr id="23" name="Shape 21"/>
          <p:cNvSpPr/>
          <p:nvPr/>
        </p:nvSpPr>
        <p:spPr>
          <a:xfrm>
            <a:off x="4937760" y="2377440"/>
            <a:ext cx="3566160" cy="0"/>
          </a:xfrm>
          <a:prstGeom prst="line">
            <a:avLst/>
          </a:prstGeom>
          <a:noFill/>
          <a:ln w="6350">
            <a:solidFill>
              <a:srgbClr val="E8E8E8"/>
            </a:solidFill>
            <a:prstDash val="solid"/>
          </a:ln>
        </p:spPr>
        <p:txBody>
          <a:bodyPr/>
          <a:lstStyle/>
          <a:p>
            <a:endParaRPr lang="en-US"/>
          </a:p>
        </p:txBody>
      </p:sp>
      <p:sp>
        <p:nvSpPr>
          <p:cNvPr id="24" name="Text 22"/>
          <p:cNvSpPr/>
          <p:nvPr/>
        </p:nvSpPr>
        <p:spPr>
          <a:xfrm>
            <a:off x="4864608" y="2423160"/>
            <a:ext cx="3712464" cy="201168"/>
          </a:xfrm>
          <a:prstGeom prst="rect">
            <a:avLst/>
          </a:prstGeom>
          <a:noFill/>
          <a:ln/>
        </p:spPr>
        <p:txBody>
          <a:bodyPr wrap="square" lIns="0" tIns="0" rIns="0" bIns="0" rtlCol="0" anchor="ctr"/>
          <a:lstStyle/>
          <a:p>
            <a:pPr marL="0" indent="0" algn="ctr">
              <a:buNone/>
            </a:pPr>
            <a:r>
              <a:rPr lang="en-US" sz="900" dirty="0">
                <a:solidFill>
                  <a:srgbClr val="000000"/>
                </a:solidFill>
                <a:latin typeface="Arial" pitchFamily="34" charset="0"/>
                <a:ea typeface="Arial" pitchFamily="34" charset="-122"/>
                <a:cs typeface="Arial" pitchFamily="34" charset="-120"/>
              </a:rPr>
              <a:t>Access</a:t>
            </a:r>
            <a:endParaRPr lang="en-US" sz="900" dirty="0"/>
          </a:p>
        </p:txBody>
      </p:sp>
      <p:sp>
        <p:nvSpPr>
          <p:cNvPr id="25" name="Text 23"/>
          <p:cNvSpPr/>
          <p:nvPr/>
        </p:nvSpPr>
        <p:spPr>
          <a:xfrm>
            <a:off x="4864608" y="2587752"/>
            <a:ext cx="3712464" cy="274320"/>
          </a:xfrm>
          <a:prstGeom prst="rect">
            <a:avLst/>
          </a:prstGeom>
          <a:noFill/>
          <a:ln/>
        </p:spPr>
        <p:txBody>
          <a:bodyPr wrap="square" lIns="0" tIns="0" rIns="0" bIns="0" rtlCol="0" anchor="ctr"/>
          <a:lstStyle/>
          <a:p>
            <a:pPr marL="0" indent="0" algn="ctr">
              <a:buNone/>
            </a:pPr>
            <a:r>
              <a:rPr lang="en-US" sz="1600" b="1" dirty="0">
                <a:solidFill>
                  <a:srgbClr val="000000"/>
                </a:solidFill>
                <a:latin typeface="Arial" pitchFamily="34" charset="0"/>
                <a:ea typeface="Arial" pitchFamily="34" charset="-122"/>
                <a:cs typeface="Arial" pitchFamily="34" charset="-120"/>
              </a:rPr>
              <a:t>claude.ai (free tier)</a:t>
            </a:r>
            <a:endParaRPr lang="en-US" sz="1600" dirty="0"/>
          </a:p>
        </p:txBody>
      </p:sp>
      <p:sp>
        <p:nvSpPr>
          <p:cNvPr id="26" name="Shape 24"/>
          <p:cNvSpPr/>
          <p:nvPr/>
        </p:nvSpPr>
        <p:spPr>
          <a:xfrm>
            <a:off x="4937760" y="2880360"/>
            <a:ext cx="3566160" cy="0"/>
          </a:xfrm>
          <a:prstGeom prst="line">
            <a:avLst/>
          </a:prstGeom>
          <a:noFill/>
          <a:ln w="6350">
            <a:solidFill>
              <a:srgbClr val="E8E8E8"/>
            </a:solidFill>
            <a:prstDash val="solid"/>
          </a:ln>
        </p:spPr>
        <p:txBody>
          <a:bodyPr/>
          <a:lstStyle/>
          <a:p>
            <a:endParaRPr lang="en-US"/>
          </a:p>
        </p:txBody>
      </p:sp>
      <p:sp>
        <p:nvSpPr>
          <p:cNvPr id="27" name="Text 25"/>
          <p:cNvSpPr/>
          <p:nvPr/>
        </p:nvSpPr>
        <p:spPr>
          <a:xfrm>
            <a:off x="4864608" y="3017520"/>
            <a:ext cx="3712464" cy="320040"/>
          </a:xfrm>
          <a:prstGeom prst="rect">
            <a:avLst/>
          </a:prstGeom>
          <a:noFill/>
          <a:ln/>
        </p:spPr>
        <p:txBody>
          <a:bodyPr wrap="square" lIns="0" tIns="0" rIns="0" bIns="0" rtlCol="0" anchor="ctr"/>
          <a:lstStyle/>
          <a:p>
            <a:pPr marL="0" indent="0" algn="ctr">
              <a:buNone/>
            </a:pPr>
            <a:r>
              <a:rPr lang="en-US" sz="900" i="1" dirty="0">
                <a:solidFill>
                  <a:srgbClr val="000000"/>
                </a:solidFill>
                <a:latin typeface="Arial" pitchFamily="34" charset="0"/>
                <a:ea typeface="Arial" pitchFamily="34" charset="-122"/>
                <a:cs typeface="Arial" pitchFamily="34" charset="-120"/>
              </a:rPr>
              <a:t>Strong at understanding codebases and reasoning</a:t>
            </a:r>
            <a:endParaRPr lang="en-US" sz="900" dirty="0"/>
          </a:p>
        </p:txBody>
      </p:sp>
      <p:sp>
        <p:nvSpPr>
          <p:cNvPr id="28" name="Text 26"/>
          <p:cNvSpPr/>
          <p:nvPr/>
        </p:nvSpPr>
        <p:spPr>
          <a:xfrm>
            <a:off x="457200" y="3703320"/>
            <a:ext cx="8321040" cy="365760"/>
          </a:xfrm>
          <a:prstGeom prst="rect">
            <a:avLst/>
          </a:prstGeom>
          <a:noFill/>
          <a:ln/>
        </p:spPr>
        <p:txBody>
          <a:bodyPr wrap="square" lIns="0" tIns="0" rIns="0" bIns="0" rtlCol="0" anchor="ctr"/>
          <a:lstStyle/>
          <a:p>
            <a:pPr marL="0" indent="0">
              <a:buNone/>
            </a:pPr>
            <a:r>
              <a:rPr lang="en-US" sz="1200" b="1" dirty="0">
                <a:solidFill>
                  <a:srgbClr val="005587"/>
                </a:solidFill>
              </a:rPr>
              <a:t xml:space="preserve">Tip: </a:t>
            </a:r>
            <a:r>
              <a:rPr lang="en-US" sz="1200" dirty="0">
                <a:solidFill>
                  <a:srgbClr val="000000"/>
                </a:solidFill>
              </a:rPr>
              <a:t>Paste your entire file + the error message and ask the LLM to fix it. Be specific about what you want changed. Iterate; don't expect perfection on the first try.</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54864" cy="5148072"/>
          </a:xfrm>
          <a:prstGeom prst="rect">
            <a:avLst/>
          </a:prstGeom>
          <a:solidFill>
            <a:srgbClr val="005587"/>
          </a:solidFill>
          <a:ln/>
        </p:spPr>
        <p:txBody>
          <a:bodyPr/>
          <a:lstStyle/>
          <a:p>
            <a:endParaRPr lang="en-US"/>
          </a:p>
        </p:txBody>
      </p:sp>
      <p:sp>
        <p:nvSpPr>
          <p:cNvPr id="3" name="Text 1"/>
          <p:cNvSpPr/>
          <p:nvPr/>
        </p:nvSpPr>
        <p:spPr>
          <a:xfrm>
            <a:off x="457200" y="182880"/>
            <a:ext cx="8321040" cy="685800"/>
          </a:xfrm>
          <a:prstGeom prst="rect">
            <a:avLst/>
          </a:prstGeom>
          <a:noFill/>
          <a:ln/>
        </p:spPr>
        <p:txBody>
          <a:bodyPr wrap="square" lIns="0" tIns="0" rIns="0" bIns="0" rtlCol="0" anchor="ctr"/>
          <a:lstStyle/>
          <a:p>
            <a:pPr marL="0" indent="0">
              <a:buNone/>
            </a:pPr>
            <a:r>
              <a:rPr lang="en-US" sz="2800" b="1" dirty="0">
                <a:solidFill>
                  <a:srgbClr val="005587"/>
                </a:solidFill>
                <a:latin typeface="Whitney Bold" pitchFamily="34" charset="0"/>
                <a:ea typeface="Whitney Bold" pitchFamily="34" charset="-122"/>
                <a:cs typeface="Whitney Bold" pitchFamily="34" charset="-120"/>
              </a:rPr>
              <a:t>Getting Your Gemini API Key</a:t>
            </a:r>
            <a:endParaRPr lang="en-US" sz="2800" dirty="0"/>
          </a:p>
        </p:txBody>
      </p:sp>
      <p:sp>
        <p:nvSpPr>
          <p:cNvPr id="4" name="Shape 2"/>
          <p:cNvSpPr/>
          <p:nvPr/>
        </p:nvSpPr>
        <p:spPr>
          <a:xfrm>
            <a:off x="457200" y="896112"/>
            <a:ext cx="8321040" cy="0"/>
          </a:xfrm>
          <a:prstGeom prst="line">
            <a:avLst/>
          </a:prstGeom>
          <a:noFill/>
          <a:ln w="12700">
            <a:solidFill>
              <a:srgbClr val="E8E8E8"/>
            </a:solidFill>
            <a:prstDash val="solid"/>
          </a:ln>
        </p:spPr>
        <p:txBody>
          <a:bodyPr/>
          <a:lstStyle/>
          <a:p>
            <a:endParaRPr lang="en-US"/>
          </a:p>
        </p:txBody>
      </p:sp>
      <p:sp>
        <p:nvSpPr>
          <p:cNvPr id="5" name="Shape 3"/>
          <p:cNvSpPr/>
          <p:nvPr/>
        </p:nvSpPr>
        <p:spPr>
          <a:xfrm>
            <a:off x="548640" y="1152144"/>
            <a:ext cx="329184" cy="329184"/>
          </a:xfrm>
          <a:prstGeom prst="ellipse">
            <a:avLst/>
          </a:prstGeom>
          <a:solidFill>
            <a:srgbClr val="005587"/>
          </a:solidFill>
          <a:ln/>
        </p:spPr>
        <p:txBody>
          <a:bodyPr/>
          <a:lstStyle/>
          <a:p>
            <a:endParaRPr lang="en-US"/>
          </a:p>
        </p:txBody>
      </p:sp>
      <p:sp>
        <p:nvSpPr>
          <p:cNvPr id="6" name="Text 4"/>
          <p:cNvSpPr/>
          <p:nvPr/>
        </p:nvSpPr>
        <p:spPr>
          <a:xfrm>
            <a:off x="548640" y="115214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051560" y="1097280"/>
            <a:ext cx="7315200" cy="438912"/>
          </a:xfrm>
          <a:prstGeom prst="rect">
            <a:avLst/>
          </a:prstGeom>
          <a:noFill/>
          <a:ln/>
        </p:spPr>
        <p:txBody>
          <a:bodyPr wrap="square" lIns="0" tIns="0" rIns="0" bIns="0" rtlCol="0" anchor="ctr"/>
          <a:lstStyle/>
          <a:p>
            <a:pPr marL="0" indent="0">
              <a:buNone/>
            </a:pPr>
            <a:r>
              <a:rPr lang="en-US" sz="1400" dirty="0">
                <a:solidFill>
                  <a:srgbClr val="000000"/>
                </a:solidFill>
                <a:latin typeface="Arial" pitchFamily="34" charset="0"/>
                <a:ea typeface="Arial" pitchFamily="34" charset="-122"/>
                <a:cs typeface="Arial" pitchFamily="34" charset="-120"/>
              </a:rPr>
              <a:t>Go to aistudio.google.com</a:t>
            </a:r>
            <a:endParaRPr lang="en-US" sz="1400" dirty="0"/>
          </a:p>
        </p:txBody>
      </p:sp>
      <p:sp>
        <p:nvSpPr>
          <p:cNvPr id="8" name="Shape 6"/>
          <p:cNvSpPr/>
          <p:nvPr/>
        </p:nvSpPr>
        <p:spPr>
          <a:xfrm>
            <a:off x="548640" y="1655064"/>
            <a:ext cx="329184" cy="329184"/>
          </a:xfrm>
          <a:prstGeom prst="ellipse">
            <a:avLst/>
          </a:prstGeom>
          <a:solidFill>
            <a:srgbClr val="005587"/>
          </a:solidFill>
          <a:ln/>
        </p:spPr>
        <p:txBody>
          <a:bodyPr/>
          <a:lstStyle/>
          <a:p>
            <a:endParaRPr lang="en-US"/>
          </a:p>
        </p:txBody>
      </p:sp>
      <p:sp>
        <p:nvSpPr>
          <p:cNvPr id="9" name="Text 7"/>
          <p:cNvSpPr/>
          <p:nvPr/>
        </p:nvSpPr>
        <p:spPr>
          <a:xfrm>
            <a:off x="548640" y="16550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0" name="Text 8"/>
          <p:cNvSpPr/>
          <p:nvPr/>
        </p:nvSpPr>
        <p:spPr>
          <a:xfrm>
            <a:off x="1051560" y="1600200"/>
            <a:ext cx="7315200" cy="438912"/>
          </a:xfrm>
          <a:prstGeom prst="rect">
            <a:avLst/>
          </a:prstGeom>
          <a:noFill/>
          <a:ln/>
        </p:spPr>
        <p:txBody>
          <a:bodyPr wrap="square" lIns="0" tIns="0" rIns="0" bIns="0" rtlCol="0" anchor="ctr"/>
          <a:lstStyle/>
          <a:p>
            <a:pPr marL="0" indent="0">
              <a:buNone/>
            </a:pPr>
            <a:r>
              <a:rPr lang="en-US" sz="1400" dirty="0">
                <a:solidFill>
                  <a:srgbClr val="000000"/>
                </a:solidFill>
                <a:latin typeface="Arial" pitchFamily="34" charset="0"/>
                <a:ea typeface="Arial" pitchFamily="34" charset="-122"/>
                <a:cs typeface="Arial" pitchFamily="34" charset="-120"/>
              </a:rPr>
              <a:t>Sign in with your Google account</a:t>
            </a:r>
            <a:endParaRPr lang="en-US" sz="1400" dirty="0"/>
          </a:p>
        </p:txBody>
      </p:sp>
      <p:sp>
        <p:nvSpPr>
          <p:cNvPr id="11" name="Shape 9"/>
          <p:cNvSpPr/>
          <p:nvPr/>
        </p:nvSpPr>
        <p:spPr>
          <a:xfrm>
            <a:off x="548640" y="2157984"/>
            <a:ext cx="329184" cy="329184"/>
          </a:xfrm>
          <a:prstGeom prst="ellipse">
            <a:avLst/>
          </a:prstGeom>
          <a:solidFill>
            <a:srgbClr val="005587"/>
          </a:solidFill>
          <a:ln/>
        </p:spPr>
        <p:txBody>
          <a:bodyPr/>
          <a:lstStyle/>
          <a:p>
            <a:endParaRPr lang="en-US"/>
          </a:p>
        </p:txBody>
      </p:sp>
      <p:sp>
        <p:nvSpPr>
          <p:cNvPr id="12" name="Text 10"/>
          <p:cNvSpPr/>
          <p:nvPr/>
        </p:nvSpPr>
        <p:spPr>
          <a:xfrm>
            <a:off x="548640" y="215798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3" name="Text 11"/>
          <p:cNvSpPr/>
          <p:nvPr/>
        </p:nvSpPr>
        <p:spPr>
          <a:xfrm>
            <a:off x="1051560" y="2103120"/>
            <a:ext cx="7315200" cy="438912"/>
          </a:xfrm>
          <a:prstGeom prst="rect">
            <a:avLst/>
          </a:prstGeom>
          <a:noFill/>
          <a:ln/>
        </p:spPr>
        <p:txBody>
          <a:bodyPr wrap="square" lIns="0" tIns="0" rIns="0" bIns="0" rtlCol="0" anchor="ctr"/>
          <a:lstStyle/>
          <a:p>
            <a:pPr marL="0" indent="0">
              <a:buNone/>
            </a:pPr>
            <a:r>
              <a:rPr lang="en-US" sz="1400" dirty="0">
                <a:solidFill>
                  <a:srgbClr val="000000"/>
                </a:solidFill>
                <a:latin typeface="Arial" pitchFamily="34" charset="0"/>
                <a:ea typeface="Arial" pitchFamily="34" charset="-122"/>
                <a:cs typeface="Arial" pitchFamily="34" charset="-120"/>
              </a:rPr>
              <a:t>Click "Get API Key" in the left sidebar</a:t>
            </a:r>
            <a:endParaRPr lang="en-US" sz="1400" dirty="0"/>
          </a:p>
        </p:txBody>
      </p:sp>
      <p:sp>
        <p:nvSpPr>
          <p:cNvPr id="14" name="Shape 12"/>
          <p:cNvSpPr/>
          <p:nvPr/>
        </p:nvSpPr>
        <p:spPr>
          <a:xfrm>
            <a:off x="548640" y="2660904"/>
            <a:ext cx="329184" cy="329184"/>
          </a:xfrm>
          <a:prstGeom prst="ellipse">
            <a:avLst/>
          </a:prstGeom>
          <a:solidFill>
            <a:srgbClr val="005587"/>
          </a:solidFill>
          <a:ln/>
        </p:spPr>
        <p:txBody>
          <a:bodyPr/>
          <a:lstStyle/>
          <a:p>
            <a:endParaRPr lang="en-US"/>
          </a:p>
        </p:txBody>
      </p:sp>
      <p:sp>
        <p:nvSpPr>
          <p:cNvPr id="15" name="Text 13"/>
          <p:cNvSpPr/>
          <p:nvPr/>
        </p:nvSpPr>
        <p:spPr>
          <a:xfrm>
            <a:off x="548640" y="266090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6" name="Text 14"/>
          <p:cNvSpPr/>
          <p:nvPr/>
        </p:nvSpPr>
        <p:spPr>
          <a:xfrm>
            <a:off x="1051560" y="2606040"/>
            <a:ext cx="7315200" cy="438912"/>
          </a:xfrm>
          <a:prstGeom prst="rect">
            <a:avLst/>
          </a:prstGeom>
          <a:noFill/>
          <a:ln/>
        </p:spPr>
        <p:txBody>
          <a:bodyPr wrap="square" lIns="0" tIns="0" rIns="0" bIns="0" rtlCol="0" anchor="ctr"/>
          <a:lstStyle/>
          <a:p>
            <a:pPr marL="0" indent="0">
              <a:buNone/>
            </a:pPr>
            <a:r>
              <a:rPr lang="en-US" sz="1400" dirty="0">
                <a:solidFill>
                  <a:srgbClr val="000000"/>
                </a:solidFill>
                <a:latin typeface="Arial" pitchFamily="34" charset="0"/>
                <a:ea typeface="Arial" pitchFamily="34" charset="-122"/>
                <a:cs typeface="Arial" pitchFamily="34" charset="-120"/>
              </a:rPr>
              <a:t>Create a new API key (select "Create API key in new project")</a:t>
            </a:r>
            <a:endParaRPr lang="en-US" sz="1400" dirty="0"/>
          </a:p>
        </p:txBody>
      </p:sp>
      <p:sp>
        <p:nvSpPr>
          <p:cNvPr id="17" name="Shape 15"/>
          <p:cNvSpPr/>
          <p:nvPr/>
        </p:nvSpPr>
        <p:spPr>
          <a:xfrm>
            <a:off x="548640" y="3163824"/>
            <a:ext cx="329184" cy="329184"/>
          </a:xfrm>
          <a:prstGeom prst="ellipse">
            <a:avLst/>
          </a:prstGeom>
          <a:solidFill>
            <a:srgbClr val="005587"/>
          </a:solidFill>
          <a:ln/>
        </p:spPr>
        <p:txBody>
          <a:bodyPr/>
          <a:lstStyle/>
          <a:p>
            <a:endParaRPr lang="en-US"/>
          </a:p>
        </p:txBody>
      </p:sp>
      <p:sp>
        <p:nvSpPr>
          <p:cNvPr id="18" name="Text 16"/>
          <p:cNvSpPr/>
          <p:nvPr/>
        </p:nvSpPr>
        <p:spPr>
          <a:xfrm>
            <a:off x="548640" y="31638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9" name="Text 17"/>
          <p:cNvSpPr/>
          <p:nvPr/>
        </p:nvSpPr>
        <p:spPr>
          <a:xfrm>
            <a:off x="1051560" y="3108960"/>
            <a:ext cx="7315200" cy="438912"/>
          </a:xfrm>
          <a:prstGeom prst="rect">
            <a:avLst/>
          </a:prstGeom>
          <a:noFill/>
          <a:ln/>
        </p:spPr>
        <p:txBody>
          <a:bodyPr wrap="square" lIns="0" tIns="0" rIns="0" bIns="0" rtlCol="0" anchor="ctr"/>
          <a:lstStyle/>
          <a:p>
            <a:pPr marL="0" indent="0">
              <a:buNone/>
            </a:pPr>
            <a:r>
              <a:rPr lang="en-US" sz="1400" dirty="0">
                <a:solidFill>
                  <a:srgbClr val="000000"/>
                </a:solidFill>
                <a:latin typeface="Arial" pitchFamily="34" charset="0"/>
                <a:ea typeface="Arial" pitchFamily="34" charset="-122"/>
                <a:cs typeface="Arial" pitchFamily="34" charset="-120"/>
              </a:rPr>
              <a:t>Copy the key and store it safely; don't commit it to GitHub!</a:t>
            </a:r>
            <a:endParaRPr lang="en-US" sz="1400" dirty="0"/>
          </a:p>
        </p:txBody>
      </p:sp>
      <p:sp>
        <p:nvSpPr>
          <p:cNvPr id="20" name="Shape 18"/>
          <p:cNvSpPr/>
          <p:nvPr/>
        </p:nvSpPr>
        <p:spPr>
          <a:xfrm>
            <a:off x="457200" y="3657600"/>
            <a:ext cx="8321040" cy="502920"/>
          </a:xfrm>
          <a:prstGeom prst="rect">
            <a:avLst/>
          </a:prstGeom>
          <a:solidFill>
            <a:srgbClr val="EDF2F7"/>
          </a:solidFill>
          <a:ln/>
        </p:spPr>
        <p:txBody>
          <a:bodyPr/>
          <a:lstStyle/>
          <a:p>
            <a:endParaRPr lang="en-US"/>
          </a:p>
        </p:txBody>
      </p:sp>
      <p:sp>
        <p:nvSpPr>
          <p:cNvPr id="21" name="Text 19"/>
          <p:cNvSpPr/>
          <p:nvPr/>
        </p:nvSpPr>
        <p:spPr>
          <a:xfrm>
            <a:off x="640080" y="3657600"/>
            <a:ext cx="7955280" cy="502920"/>
          </a:xfrm>
          <a:prstGeom prst="rect">
            <a:avLst/>
          </a:prstGeom>
          <a:noFill/>
          <a:ln/>
        </p:spPr>
        <p:txBody>
          <a:bodyPr wrap="square" lIns="0" tIns="0" rIns="0" bIns="0" rtlCol="0" anchor="ctr"/>
          <a:lstStyle/>
          <a:p>
            <a:pPr marL="0" indent="0">
              <a:buNone/>
            </a:pPr>
            <a:r>
              <a:rPr lang="en-US" sz="1200" b="1" dirty="0">
                <a:solidFill>
                  <a:srgbClr val="005587"/>
                </a:solidFill>
              </a:rPr>
              <a:t xml:space="preserve">Free tier: </a:t>
            </a:r>
            <a:r>
              <a:rPr lang="en-US" sz="1200" dirty="0">
                <a:solidFill>
                  <a:srgbClr val="000000"/>
                </a:solidFill>
              </a:rPr>
              <a:t>Gemini 2.5 Flash, free, no credit card required. Sufficient for your class project (up to ~1,000 requests/day).</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54864" cy="5148072"/>
          </a:xfrm>
          <a:prstGeom prst="rect">
            <a:avLst/>
          </a:prstGeom>
          <a:solidFill>
            <a:srgbClr val="005587"/>
          </a:solidFill>
          <a:ln/>
        </p:spPr>
        <p:txBody>
          <a:bodyPr/>
          <a:lstStyle/>
          <a:p>
            <a:endParaRPr lang="en-US"/>
          </a:p>
        </p:txBody>
      </p:sp>
      <p:sp>
        <p:nvSpPr>
          <p:cNvPr id="3" name="Text 1"/>
          <p:cNvSpPr/>
          <p:nvPr/>
        </p:nvSpPr>
        <p:spPr>
          <a:xfrm>
            <a:off x="457200" y="182880"/>
            <a:ext cx="8321040" cy="685800"/>
          </a:xfrm>
          <a:prstGeom prst="rect">
            <a:avLst/>
          </a:prstGeom>
          <a:noFill/>
          <a:ln/>
        </p:spPr>
        <p:txBody>
          <a:bodyPr wrap="square" lIns="0" tIns="0" rIns="0" bIns="0" rtlCol="0" anchor="ctr"/>
          <a:lstStyle/>
          <a:p>
            <a:pPr marL="0" indent="0">
              <a:buNone/>
            </a:pPr>
            <a:r>
              <a:rPr lang="en-US" sz="2800" b="1" dirty="0">
                <a:solidFill>
                  <a:srgbClr val="005587"/>
                </a:solidFill>
                <a:latin typeface="Whitney Bold" pitchFamily="34" charset="0"/>
                <a:ea typeface="Whitney Bold" pitchFamily="34" charset="-122"/>
                <a:cs typeface="Whitney Bold" pitchFamily="34" charset="-120"/>
              </a:rPr>
              <a:t>Deploying on Railway</a:t>
            </a:r>
            <a:endParaRPr lang="en-US" sz="2800" dirty="0"/>
          </a:p>
        </p:txBody>
      </p:sp>
      <p:sp>
        <p:nvSpPr>
          <p:cNvPr id="4" name="Shape 2"/>
          <p:cNvSpPr/>
          <p:nvPr/>
        </p:nvSpPr>
        <p:spPr>
          <a:xfrm>
            <a:off x="457200" y="896112"/>
            <a:ext cx="8321040" cy="0"/>
          </a:xfrm>
          <a:prstGeom prst="line">
            <a:avLst/>
          </a:prstGeom>
          <a:noFill/>
          <a:ln w="12700">
            <a:solidFill>
              <a:srgbClr val="E8E8E8"/>
            </a:solidFill>
            <a:prstDash val="solid"/>
          </a:ln>
        </p:spPr>
        <p:txBody>
          <a:bodyPr/>
          <a:lstStyle/>
          <a:p>
            <a:endParaRPr lang="en-US"/>
          </a:p>
        </p:txBody>
      </p:sp>
      <p:sp>
        <p:nvSpPr>
          <p:cNvPr id="5" name="Shape 3"/>
          <p:cNvSpPr/>
          <p:nvPr/>
        </p:nvSpPr>
        <p:spPr>
          <a:xfrm>
            <a:off x="548640" y="1152144"/>
            <a:ext cx="329184" cy="329184"/>
          </a:xfrm>
          <a:prstGeom prst="ellipse">
            <a:avLst/>
          </a:prstGeom>
          <a:solidFill>
            <a:srgbClr val="005587"/>
          </a:solidFill>
          <a:ln/>
        </p:spPr>
        <p:txBody>
          <a:bodyPr/>
          <a:lstStyle/>
          <a:p>
            <a:endParaRPr lang="en-US"/>
          </a:p>
        </p:txBody>
      </p:sp>
      <p:sp>
        <p:nvSpPr>
          <p:cNvPr id="6" name="Text 4"/>
          <p:cNvSpPr/>
          <p:nvPr/>
        </p:nvSpPr>
        <p:spPr>
          <a:xfrm>
            <a:off x="548640" y="115214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051560" y="1097280"/>
            <a:ext cx="7315200" cy="438912"/>
          </a:xfrm>
          <a:prstGeom prst="rect">
            <a:avLst/>
          </a:prstGeom>
          <a:noFill/>
          <a:ln/>
        </p:spPr>
        <p:txBody>
          <a:bodyPr wrap="square" lIns="0" tIns="0" rIns="0" bIns="0" rtlCol="0" anchor="ctr"/>
          <a:lstStyle/>
          <a:p>
            <a:pPr marL="0" indent="0">
              <a:buNone/>
            </a:pPr>
            <a:r>
              <a:rPr lang="en-US" sz="1300" dirty="0">
                <a:solidFill>
                  <a:srgbClr val="000000"/>
                </a:solidFill>
                <a:latin typeface="Arial" pitchFamily="34" charset="0"/>
                <a:ea typeface="Arial" pitchFamily="34" charset="-122"/>
                <a:cs typeface="Arial" pitchFamily="34" charset="-120"/>
              </a:rPr>
              <a:t>Sign up at railway.com and upgrade to the Hobby tier ($5/mo, includes $5 usage)</a:t>
            </a:r>
            <a:endParaRPr lang="en-US" sz="1300" dirty="0"/>
          </a:p>
        </p:txBody>
      </p:sp>
      <p:sp>
        <p:nvSpPr>
          <p:cNvPr id="8" name="Shape 6"/>
          <p:cNvSpPr/>
          <p:nvPr/>
        </p:nvSpPr>
        <p:spPr>
          <a:xfrm>
            <a:off x="548640" y="1655064"/>
            <a:ext cx="329184" cy="329184"/>
          </a:xfrm>
          <a:prstGeom prst="ellipse">
            <a:avLst/>
          </a:prstGeom>
          <a:solidFill>
            <a:srgbClr val="005587"/>
          </a:solidFill>
          <a:ln/>
        </p:spPr>
        <p:txBody>
          <a:bodyPr/>
          <a:lstStyle/>
          <a:p>
            <a:endParaRPr lang="en-US"/>
          </a:p>
        </p:txBody>
      </p:sp>
      <p:sp>
        <p:nvSpPr>
          <p:cNvPr id="9" name="Text 7"/>
          <p:cNvSpPr/>
          <p:nvPr/>
        </p:nvSpPr>
        <p:spPr>
          <a:xfrm>
            <a:off x="548640" y="16550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0" name="Text 8"/>
          <p:cNvSpPr/>
          <p:nvPr/>
        </p:nvSpPr>
        <p:spPr>
          <a:xfrm>
            <a:off x="1051560" y="1600200"/>
            <a:ext cx="7315200" cy="438912"/>
          </a:xfrm>
          <a:prstGeom prst="rect">
            <a:avLst/>
          </a:prstGeom>
          <a:noFill/>
          <a:ln/>
        </p:spPr>
        <p:txBody>
          <a:bodyPr wrap="square" lIns="0" tIns="0" rIns="0" bIns="0" rtlCol="0" anchor="ctr"/>
          <a:lstStyle/>
          <a:p>
            <a:pPr marL="0" indent="0">
              <a:buNone/>
            </a:pPr>
            <a:r>
              <a:rPr lang="en-US" sz="1300" dirty="0">
                <a:solidFill>
                  <a:srgbClr val="000000"/>
                </a:solidFill>
                <a:latin typeface="Arial" pitchFamily="34" charset="0"/>
                <a:ea typeface="Arial" pitchFamily="34" charset="-122"/>
                <a:cs typeface="Arial" pitchFamily="34" charset="-120"/>
              </a:rPr>
              <a:t>Install the Railway CLI:  npm install -g @railway/cli</a:t>
            </a:r>
            <a:endParaRPr lang="en-US" sz="1300" dirty="0"/>
          </a:p>
        </p:txBody>
      </p:sp>
      <p:sp>
        <p:nvSpPr>
          <p:cNvPr id="11" name="Shape 9"/>
          <p:cNvSpPr/>
          <p:nvPr/>
        </p:nvSpPr>
        <p:spPr>
          <a:xfrm>
            <a:off x="548640" y="2157984"/>
            <a:ext cx="329184" cy="329184"/>
          </a:xfrm>
          <a:prstGeom prst="ellipse">
            <a:avLst/>
          </a:prstGeom>
          <a:solidFill>
            <a:srgbClr val="005587"/>
          </a:solidFill>
          <a:ln/>
        </p:spPr>
        <p:txBody>
          <a:bodyPr/>
          <a:lstStyle/>
          <a:p>
            <a:endParaRPr lang="en-US"/>
          </a:p>
        </p:txBody>
      </p:sp>
      <p:sp>
        <p:nvSpPr>
          <p:cNvPr id="12" name="Text 10"/>
          <p:cNvSpPr/>
          <p:nvPr/>
        </p:nvSpPr>
        <p:spPr>
          <a:xfrm>
            <a:off x="548640" y="215798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3" name="Text 11"/>
          <p:cNvSpPr/>
          <p:nvPr/>
        </p:nvSpPr>
        <p:spPr>
          <a:xfrm>
            <a:off x="1051560" y="2103120"/>
            <a:ext cx="7315200" cy="438912"/>
          </a:xfrm>
          <a:prstGeom prst="rect">
            <a:avLst/>
          </a:prstGeom>
          <a:noFill/>
          <a:ln/>
        </p:spPr>
        <p:txBody>
          <a:bodyPr wrap="square" lIns="0" tIns="0" rIns="0" bIns="0" rtlCol="0" anchor="ctr"/>
          <a:lstStyle/>
          <a:p>
            <a:pPr marL="0" indent="0">
              <a:buNone/>
            </a:pPr>
            <a:r>
              <a:rPr lang="en-US" sz="1300" dirty="0">
                <a:solidFill>
                  <a:srgbClr val="000000"/>
                </a:solidFill>
                <a:latin typeface="Arial" pitchFamily="34" charset="0"/>
                <a:ea typeface="Arial" pitchFamily="34" charset="-122"/>
                <a:cs typeface="Arial" pitchFamily="34" charset="-120"/>
              </a:rPr>
              <a:t>Login from your terminal:  railway login</a:t>
            </a:r>
            <a:endParaRPr lang="en-US" sz="1300" dirty="0"/>
          </a:p>
        </p:txBody>
      </p:sp>
      <p:sp>
        <p:nvSpPr>
          <p:cNvPr id="14" name="Shape 12"/>
          <p:cNvSpPr/>
          <p:nvPr/>
        </p:nvSpPr>
        <p:spPr>
          <a:xfrm>
            <a:off x="548640" y="2660904"/>
            <a:ext cx="329184" cy="329184"/>
          </a:xfrm>
          <a:prstGeom prst="ellipse">
            <a:avLst/>
          </a:prstGeom>
          <a:solidFill>
            <a:srgbClr val="005587"/>
          </a:solidFill>
          <a:ln/>
        </p:spPr>
        <p:txBody>
          <a:bodyPr/>
          <a:lstStyle/>
          <a:p>
            <a:endParaRPr lang="en-US"/>
          </a:p>
        </p:txBody>
      </p:sp>
      <p:sp>
        <p:nvSpPr>
          <p:cNvPr id="15" name="Text 13"/>
          <p:cNvSpPr/>
          <p:nvPr/>
        </p:nvSpPr>
        <p:spPr>
          <a:xfrm>
            <a:off x="548640" y="266090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6" name="Text 14"/>
          <p:cNvSpPr/>
          <p:nvPr/>
        </p:nvSpPr>
        <p:spPr>
          <a:xfrm>
            <a:off x="1051560" y="2606040"/>
            <a:ext cx="7315200" cy="438912"/>
          </a:xfrm>
          <a:prstGeom prst="rect">
            <a:avLst/>
          </a:prstGeom>
          <a:noFill/>
          <a:ln/>
        </p:spPr>
        <p:txBody>
          <a:bodyPr wrap="square" lIns="0" tIns="0" rIns="0" bIns="0" rtlCol="0" anchor="ctr"/>
          <a:lstStyle/>
          <a:p>
            <a:pPr marL="0" indent="0">
              <a:buNone/>
            </a:pPr>
            <a:r>
              <a:rPr lang="en-US" sz="1300" dirty="0">
                <a:solidFill>
                  <a:srgbClr val="000000"/>
                </a:solidFill>
                <a:latin typeface="Arial" pitchFamily="34" charset="0"/>
                <a:ea typeface="Arial" pitchFamily="34" charset="-122"/>
                <a:cs typeface="Arial" pitchFamily="34" charset="-120"/>
              </a:rPr>
              <a:t>In your project folder:  railway init  →  railway up</a:t>
            </a:r>
            <a:endParaRPr lang="en-US" sz="1300" dirty="0"/>
          </a:p>
        </p:txBody>
      </p:sp>
      <p:sp>
        <p:nvSpPr>
          <p:cNvPr id="17" name="Shape 15"/>
          <p:cNvSpPr/>
          <p:nvPr/>
        </p:nvSpPr>
        <p:spPr>
          <a:xfrm>
            <a:off x="548640" y="3163824"/>
            <a:ext cx="329184" cy="329184"/>
          </a:xfrm>
          <a:prstGeom prst="ellipse">
            <a:avLst/>
          </a:prstGeom>
          <a:solidFill>
            <a:srgbClr val="005587"/>
          </a:solidFill>
          <a:ln/>
        </p:spPr>
        <p:txBody>
          <a:bodyPr/>
          <a:lstStyle/>
          <a:p>
            <a:endParaRPr lang="en-US"/>
          </a:p>
        </p:txBody>
      </p:sp>
      <p:sp>
        <p:nvSpPr>
          <p:cNvPr id="18" name="Text 16"/>
          <p:cNvSpPr/>
          <p:nvPr/>
        </p:nvSpPr>
        <p:spPr>
          <a:xfrm>
            <a:off x="548640" y="31638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9" name="Text 17"/>
          <p:cNvSpPr/>
          <p:nvPr/>
        </p:nvSpPr>
        <p:spPr>
          <a:xfrm>
            <a:off x="1051560" y="3108960"/>
            <a:ext cx="7315200" cy="438912"/>
          </a:xfrm>
          <a:prstGeom prst="rect">
            <a:avLst/>
          </a:prstGeom>
          <a:noFill/>
          <a:ln/>
        </p:spPr>
        <p:txBody>
          <a:bodyPr wrap="square" lIns="0" tIns="0" rIns="0" bIns="0" rtlCol="0" anchor="ctr"/>
          <a:lstStyle/>
          <a:p>
            <a:pPr marL="0" indent="0">
              <a:buNone/>
            </a:pPr>
            <a:r>
              <a:rPr lang="en-US" sz="1300" dirty="0">
                <a:solidFill>
                  <a:srgbClr val="000000"/>
                </a:solidFill>
                <a:latin typeface="Arial" pitchFamily="34" charset="0"/>
                <a:ea typeface="Arial" pitchFamily="34" charset="-122"/>
                <a:cs typeface="Arial" pitchFamily="34" charset="-120"/>
              </a:rPr>
              <a:t>Railway auto-detects your stack, builds, and gives you a public URL</a:t>
            </a:r>
            <a:endParaRPr lang="en-US" sz="1300" dirty="0"/>
          </a:p>
        </p:txBody>
      </p:sp>
      <p:sp>
        <p:nvSpPr>
          <p:cNvPr id="20" name="Shape 18"/>
          <p:cNvSpPr/>
          <p:nvPr/>
        </p:nvSpPr>
        <p:spPr>
          <a:xfrm>
            <a:off x="457200" y="3657600"/>
            <a:ext cx="8321040" cy="502920"/>
          </a:xfrm>
          <a:prstGeom prst="rect">
            <a:avLst/>
          </a:prstGeom>
          <a:solidFill>
            <a:srgbClr val="EDF2F7"/>
          </a:solidFill>
          <a:ln/>
        </p:spPr>
        <p:txBody>
          <a:bodyPr/>
          <a:lstStyle/>
          <a:p>
            <a:endParaRPr lang="en-US"/>
          </a:p>
        </p:txBody>
      </p:sp>
      <p:sp>
        <p:nvSpPr>
          <p:cNvPr id="21" name="Text 19"/>
          <p:cNvSpPr/>
          <p:nvPr/>
        </p:nvSpPr>
        <p:spPr>
          <a:xfrm>
            <a:off x="640080" y="3657600"/>
            <a:ext cx="7955280" cy="502920"/>
          </a:xfrm>
          <a:prstGeom prst="rect">
            <a:avLst/>
          </a:prstGeom>
          <a:noFill/>
          <a:ln/>
        </p:spPr>
        <p:txBody>
          <a:bodyPr wrap="square" lIns="0" tIns="0" rIns="0" bIns="0" rtlCol="0" anchor="ctr"/>
          <a:lstStyle/>
          <a:p>
            <a:pPr marL="0" indent="0">
              <a:buNone/>
            </a:pPr>
            <a:r>
              <a:rPr lang="en-US" sz="1200" b="1" dirty="0">
                <a:solidFill>
                  <a:srgbClr val="005587"/>
                </a:solidFill>
              </a:rPr>
              <a:t xml:space="preserve">Environment variables: </a:t>
            </a:r>
            <a:r>
              <a:rPr lang="en-US" sz="1200" dirty="0">
                <a:solidFill>
                  <a:srgbClr val="000000"/>
                </a:solidFill>
              </a:rPr>
              <a:t>Set your Gemini API key via  railway variables set GEMINI_API_KEY=your_key_here. Keeps secrets out of your code.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54864" cy="5148072"/>
          </a:xfrm>
          <a:prstGeom prst="rect">
            <a:avLst/>
          </a:prstGeom>
          <a:solidFill>
            <a:srgbClr val="005587"/>
          </a:solidFill>
          <a:ln/>
        </p:spPr>
        <p:txBody>
          <a:bodyPr/>
          <a:lstStyle/>
          <a:p>
            <a:endParaRPr lang="en-US"/>
          </a:p>
        </p:txBody>
      </p:sp>
      <p:sp>
        <p:nvSpPr>
          <p:cNvPr id="3" name="Text 1"/>
          <p:cNvSpPr/>
          <p:nvPr/>
        </p:nvSpPr>
        <p:spPr>
          <a:xfrm>
            <a:off x="457200" y="182880"/>
            <a:ext cx="8321040" cy="685800"/>
          </a:xfrm>
          <a:prstGeom prst="rect">
            <a:avLst/>
          </a:prstGeom>
          <a:noFill/>
          <a:ln/>
        </p:spPr>
        <p:txBody>
          <a:bodyPr wrap="square" lIns="0" tIns="0" rIns="0" bIns="0" rtlCol="0" anchor="ctr"/>
          <a:lstStyle/>
          <a:p>
            <a:pPr marL="0" indent="0">
              <a:buNone/>
            </a:pPr>
            <a:r>
              <a:rPr lang="en-US" sz="2800" b="1" dirty="0">
                <a:solidFill>
                  <a:srgbClr val="005587"/>
                </a:solidFill>
                <a:latin typeface="Whitney Bold" pitchFamily="34" charset="0"/>
                <a:ea typeface="Whitney Bold" pitchFamily="34" charset="-122"/>
                <a:cs typeface="Whitney Bold" pitchFamily="34" charset="-120"/>
              </a:rPr>
              <a:t>Setup Checklist</a:t>
            </a:r>
            <a:endParaRPr lang="en-US" sz="2800" dirty="0"/>
          </a:p>
        </p:txBody>
      </p:sp>
      <p:sp>
        <p:nvSpPr>
          <p:cNvPr id="4" name="Shape 2"/>
          <p:cNvSpPr/>
          <p:nvPr/>
        </p:nvSpPr>
        <p:spPr>
          <a:xfrm>
            <a:off x="457200" y="896112"/>
            <a:ext cx="8321040" cy="0"/>
          </a:xfrm>
          <a:prstGeom prst="line">
            <a:avLst/>
          </a:prstGeom>
          <a:noFill/>
          <a:ln w="12700">
            <a:solidFill>
              <a:srgbClr val="E8E8E8"/>
            </a:solidFill>
            <a:prstDash val="solid"/>
          </a:ln>
        </p:spPr>
        <p:txBody>
          <a:bodyPr/>
          <a:lstStyle/>
          <a:p>
            <a:endParaRPr lang="en-US"/>
          </a:p>
        </p:txBody>
      </p:sp>
      <p:sp>
        <p:nvSpPr>
          <p:cNvPr id="5" name="Text 3"/>
          <p:cNvSpPr/>
          <p:nvPr/>
        </p:nvSpPr>
        <p:spPr>
          <a:xfrm>
            <a:off x="457200" y="960120"/>
            <a:ext cx="8321040" cy="274320"/>
          </a:xfrm>
          <a:prstGeom prst="rect">
            <a:avLst/>
          </a:prstGeom>
          <a:noFill/>
          <a:ln/>
        </p:spPr>
        <p:txBody>
          <a:bodyPr wrap="square" lIns="0" tIns="0" rIns="0" bIns="0" rtlCol="0" anchor="ctr"/>
          <a:lstStyle/>
          <a:p>
            <a:pPr marL="0" indent="0">
              <a:buNone/>
            </a:pPr>
            <a:r>
              <a:rPr lang="en-US" sz="1200" dirty="0">
                <a:solidFill>
                  <a:srgbClr val="000000"/>
                </a:solidFill>
                <a:latin typeface="Arial" pitchFamily="34" charset="0"/>
                <a:ea typeface="Arial" pitchFamily="34" charset="-122"/>
                <a:cs typeface="Arial" pitchFamily="34" charset="-120"/>
              </a:rPr>
              <a:t>Get these set up before next class. Ask your team's most technical member to lead the setup.</a:t>
            </a:r>
            <a:endParaRPr lang="en-US" sz="1200" dirty="0"/>
          </a:p>
        </p:txBody>
      </p:sp>
      <p:sp>
        <p:nvSpPr>
          <p:cNvPr id="6" name="Shape 4"/>
          <p:cNvSpPr/>
          <p:nvPr/>
        </p:nvSpPr>
        <p:spPr>
          <a:xfrm>
            <a:off x="502920" y="1435608"/>
            <a:ext cx="201168" cy="201168"/>
          </a:xfrm>
          <a:prstGeom prst="rect">
            <a:avLst/>
          </a:prstGeom>
          <a:solidFill>
            <a:srgbClr val="FFFFFF"/>
          </a:solidFill>
          <a:ln w="19050">
            <a:solidFill>
              <a:srgbClr val="005587"/>
            </a:solidFill>
            <a:prstDash val="solid"/>
          </a:ln>
        </p:spPr>
        <p:txBody>
          <a:bodyPr/>
          <a:lstStyle/>
          <a:p>
            <a:endParaRPr lang="en-US"/>
          </a:p>
        </p:txBody>
      </p:sp>
      <p:sp>
        <p:nvSpPr>
          <p:cNvPr id="7" name="Text 5"/>
          <p:cNvSpPr/>
          <p:nvPr/>
        </p:nvSpPr>
        <p:spPr>
          <a:xfrm>
            <a:off x="822960" y="1371600"/>
            <a:ext cx="1828800" cy="329184"/>
          </a:xfrm>
          <a:prstGeom prst="rect">
            <a:avLst/>
          </a:prstGeom>
          <a:noFill/>
          <a:ln/>
        </p:spPr>
        <p:txBody>
          <a:bodyPr wrap="square" lIns="0" tIns="0" rIns="0" bIns="0" rtlCol="0" anchor="ctr"/>
          <a:lstStyle/>
          <a:p>
            <a:pPr marL="0" indent="0">
              <a:buNone/>
            </a:pPr>
            <a:r>
              <a:rPr lang="en-US" sz="1200" b="1" dirty="0">
                <a:solidFill>
                  <a:srgbClr val="005587"/>
                </a:solidFill>
                <a:latin typeface="Arial" pitchFamily="34" charset="0"/>
                <a:ea typeface="Arial" pitchFamily="34" charset="-122"/>
                <a:cs typeface="Arial" pitchFamily="34" charset="-120"/>
              </a:rPr>
              <a:t>Python 3.10+</a:t>
            </a:r>
            <a:endParaRPr lang="en-US" sz="1200" dirty="0"/>
          </a:p>
        </p:txBody>
      </p:sp>
      <p:sp>
        <p:nvSpPr>
          <p:cNvPr id="8" name="Text 6"/>
          <p:cNvSpPr/>
          <p:nvPr/>
        </p:nvSpPr>
        <p:spPr>
          <a:xfrm>
            <a:off x="2651760" y="1371600"/>
            <a:ext cx="5943600" cy="329184"/>
          </a:xfrm>
          <a:prstGeom prst="rect">
            <a:avLst/>
          </a:prstGeom>
          <a:noFill/>
          <a:ln/>
        </p:spPr>
        <p:txBody>
          <a:bodyPr wrap="square" lIns="0" tIns="0" rIns="0" bIns="0" rtlCol="0" anchor="ctr"/>
          <a:lstStyle/>
          <a:p>
            <a:pPr marL="0" indent="0">
              <a:buNone/>
            </a:pPr>
            <a:r>
              <a:rPr lang="en-US" sz="1200" dirty="0">
                <a:solidFill>
                  <a:srgbClr val="000000"/>
                </a:solidFill>
                <a:latin typeface="Arial" pitchFamily="34" charset="0"/>
                <a:ea typeface="Arial" pitchFamily="34" charset="-122"/>
                <a:cs typeface="Arial" pitchFamily="34" charset="-120"/>
              </a:rPr>
              <a:t>Install from python.org. Verify:  python --version</a:t>
            </a:r>
            <a:endParaRPr lang="en-US" sz="1200" dirty="0"/>
          </a:p>
        </p:txBody>
      </p:sp>
      <p:sp>
        <p:nvSpPr>
          <p:cNvPr id="9" name="Shape 7"/>
          <p:cNvSpPr/>
          <p:nvPr/>
        </p:nvSpPr>
        <p:spPr>
          <a:xfrm>
            <a:off x="502920" y="1856232"/>
            <a:ext cx="201168" cy="201168"/>
          </a:xfrm>
          <a:prstGeom prst="rect">
            <a:avLst/>
          </a:prstGeom>
          <a:solidFill>
            <a:srgbClr val="FFFFFF"/>
          </a:solidFill>
          <a:ln w="19050">
            <a:solidFill>
              <a:srgbClr val="005587"/>
            </a:solidFill>
            <a:prstDash val="solid"/>
          </a:ln>
        </p:spPr>
        <p:txBody>
          <a:bodyPr/>
          <a:lstStyle/>
          <a:p>
            <a:endParaRPr lang="en-US"/>
          </a:p>
        </p:txBody>
      </p:sp>
      <p:sp>
        <p:nvSpPr>
          <p:cNvPr id="10" name="Text 8"/>
          <p:cNvSpPr/>
          <p:nvPr/>
        </p:nvSpPr>
        <p:spPr>
          <a:xfrm>
            <a:off x="822960" y="1792224"/>
            <a:ext cx="1828800" cy="329184"/>
          </a:xfrm>
          <a:prstGeom prst="rect">
            <a:avLst/>
          </a:prstGeom>
          <a:noFill/>
          <a:ln/>
        </p:spPr>
        <p:txBody>
          <a:bodyPr wrap="square" lIns="0" tIns="0" rIns="0" bIns="0" rtlCol="0" anchor="ctr"/>
          <a:lstStyle/>
          <a:p>
            <a:pPr marL="0" indent="0">
              <a:buNone/>
            </a:pPr>
            <a:r>
              <a:rPr lang="en-US" sz="1200" b="1" dirty="0">
                <a:solidFill>
                  <a:srgbClr val="005587"/>
                </a:solidFill>
                <a:latin typeface="Arial" pitchFamily="34" charset="0"/>
                <a:ea typeface="Arial" pitchFamily="34" charset="-122"/>
                <a:cs typeface="Arial" pitchFamily="34" charset="-120"/>
              </a:rPr>
              <a:t>Node.js</a:t>
            </a:r>
            <a:endParaRPr lang="en-US" sz="1200" dirty="0"/>
          </a:p>
        </p:txBody>
      </p:sp>
      <p:sp>
        <p:nvSpPr>
          <p:cNvPr id="11" name="Text 9"/>
          <p:cNvSpPr/>
          <p:nvPr/>
        </p:nvSpPr>
        <p:spPr>
          <a:xfrm>
            <a:off x="2651760" y="1792224"/>
            <a:ext cx="5943600" cy="329184"/>
          </a:xfrm>
          <a:prstGeom prst="rect">
            <a:avLst/>
          </a:prstGeom>
          <a:noFill/>
          <a:ln/>
        </p:spPr>
        <p:txBody>
          <a:bodyPr wrap="square" lIns="0" tIns="0" rIns="0" bIns="0" rtlCol="0" anchor="ctr"/>
          <a:lstStyle/>
          <a:p>
            <a:pPr marL="0" indent="0">
              <a:buNone/>
            </a:pPr>
            <a:r>
              <a:rPr lang="en-US" sz="1200" dirty="0">
                <a:solidFill>
                  <a:srgbClr val="000000"/>
                </a:solidFill>
                <a:latin typeface="Arial" pitchFamily="34" charset="0"/>
                <a:ea typeface="Arial" pitchFamily="34" charset="-122"/>
                <a:cs typeface="Arial" pitchFamily="34" charset="-120"/>
              </a:rPr>
              <a:t>Install from nodejs.org. Needed for Railway CLI and React.</a:t>
            </a:r>
            <a:endParaRPr lang="en-US" sz="1200" dirty="0"/>
          </a:p>
        </p:txBody>
      </p:sp>
      <p:sp>
        <p:nvSpPr>
          <p:cNvPr id="12" name="Shape 10"/>
          <p:cNvSpPr/>
          <p:nvPr/>
        </p:nvSpPr>
        <p:spPr>
          <a:xfrm>
            <a:off x="502920" y="2276856"/>
            <a:ext cx="201168" cy="201168"/>
          </a:xfrm>
          <a:prstGeom prst="rect">
            <a:avLst/>
          </a:prstGeom>
          <a:solidFill>
            <a:srgbClr val="FFFFFF"/>
          </a:solidFill>
          <a:ln w="19050">
            <a:solidFill>
              <a:srgbClr val="005587"/>
            </a:solidFill>
            <a:prstDash val="solid"/>
          </a:ln>
        </p:spPr>
        <p:txBody>
          <a:bodyPr/>
          <a:lstStyle/>
          <a:p>
            <a:endParaRPr lang="en-US"/>
          </a:p>
        </p:txBody>
      </p:sp>
      <p:sp>
        <p:nvSpPr>
          <p:cNvPr id="13" name="Text 11"/>
          <p:cNvSpPr/>
          <p:nvPr/>
        </p:nvSpPr>
        <p:spPr>
          <a:xfrm>
            <a:off x="822960" y="2212848"/>
            <a:ext cx="1828800" cy="329184"/>
          </a:xfrm>
          <a:prstGeom prst="rect">
            <a:avLst/>
          </a:prstGeom>
          <a:noFill/>
          <a:ln/>
        </p:spPr>
        <p:txBody>
          <a:bodyPr wrap="square" lIns="0" tIns="0" rIns="0" bIns="0" rtlCol="0" anchor="ctr"/>
          <a:lstStyle/>
          <a:p>
            <a:pPr marL="0" indent="0">
              <a:buNone/>
            </a:pPr>
            <a:r>
              <a:rPr lang="en-US" sz="1200" b="1" dirty="0">
                <a:solidFill>
                  <a:srgbClr val="005587"/>
                </a:solidFill>
                <a:latin typeface="Arial" pitchFamily="34" charset="0"/>
                <a:ea typeface="Arial" pitchFamily="34" charset="-122"/>
                <a:cs typeface="Arial" pitchFamily="34" charset="-120"/>
              </a:rPr>
              <a:t>Railway CLI</a:t>
            </a:r>
            <a:endParaRPr lang="en-US" sz="1200" dirty="0"/>
          </a:p>
        </p:txBody>
      </p:sp>
      <p:sp>
        <p:nvSpPr>
          <p:cNvPr id="14" name="Text 12"/>
          <p:cNvSpPr/>
          <p:nvPr/>
        </p:nvSpPr>
        <p:spPr>
          <a:xfrm>
            <a:off x="2651760" y="2212848"/>
            <a:ext cx="5943600" cy="329184"/>
          </a:xfrm>
          <a:prstGeom prst="rect">
            <a:avLst/>
          </a:prstGeom>
          <a:noFill/>
          <a:ln/>
        </p:spPr>
        <p:txBody>
          <a:bodyPr wrap="square" lIns="0" tIns="0" rIns="0" bIns="0" rtlCol="0" anchor="ctr"/>
          <a:lstStyle/>
          <a:p>
            <a:pPr marL="0" indent="0">
              <a:buNone/>
            </a:pPr>
            <a:r>
              <a:rPr lang="en-US" sz="1200" dirty="0">
                <a:solidFill>
                  <a:srgbClr val="000000"/>
                </a:solidFill>
                <a:latin typeface="Arial" pitchFamily="34" charset="0"/>
                <a:ea typeface="Arial" pitchFamily="34" charset="-122"/>
                <a:cs typeface="Arial" pitchFamily="34" charset="-120"/>
              </a:rPr>
              <a:t>npm install -g @railway/cli  →  railway login</a:t>
            </a:r>
            <a:endParaRPr lang="en-US" sz="1200" dirty="0"/>
          </a:p>
        </p:txBody>
      </p:sp>
      <p:sp>
        <p:nvSpPr>
          <p:cNvPr id="15" name="Shape 13"/>
          <p:cNvSpPr/>
          <p:nvPr/>
        </p:nvSpPr>
        <p:spPr>
          <a:xfrm>
            <a:off x="502920" y="2697480"/>
            <a:ext cx="201168" cy="201168"/>
          </a:xfrm>
          <a:prstGeom prst="rect">
            <a:avLst/>
          </a:prstGeom>
          <a:solidFill>
            <a:srgbClr val="FFFFFF"/>
          </a:solidFill>
          <a:ln w="19050">
            <a:solidFill>
              <a:srgbClr val="005587"/>
            </a:solidFill>
            <a:prstDash val="solid"/>
          </a:ln>
        </p:spPr>
        <p:txBody>
          <a:bodyPr/>
          <a:lstStyle/>
          <a:p>
            <a:endParaRPr lang="en-US"/>
          </a:p>
        </p:txBody>
      </p:sp>
      <p:sp>
        <p:nvSpPr>
          <p:cNvPr id="16" name="Text 14"/>
          <p:cNvSpPr/>
          <p:nvPr/>
        </p:nvSpPr>
        <p:spPr>
          <a:xfrm>
            <a:off x="822960" y="2633472"/>
            <a:ext cx="1828800" cy="329184"/>
          </a:xfrm>
          <a:prstGeom prst="rect">
            <a:avLst/>
          </a:prstGeom>
          <a:noFill/>
          <a:ln/>
        </p:spPr>
        <p:txBody>
          <a:bodyPr wrap="square" lIns="0" tIns="0" rIns="0" bIns="0" rtlCol="0" anchor="ctr"/>
          <a:lstStyle/>
          <a:p>
            <a:pPr marL="0" indent="0">
              <a:buNone/>
            </a:pPr>
            <a:r>
              <a:rPr lang="en-US" sz="1200" b="1" dirty="0">
                <a:solidFill>
                  <a:srgbClr val="005587"/>
                </a:solidFill>
                <a:latin typeface="Arial" pitchFamily="34" charset="0"/>
                <a:ea typeface="Arial" pitchFamily="34" charset="-122"/>
                <a:cs typeface="Arial" pitchFamily="34" charset="-120"/>
              </a:rPr>
              <a:t>Railway Hobby tier</a:t>
            </a:r>
            <a:endParaRPr lang="en-US" sz="1200" dirty="0"/>
          </a:p>
        </p:txBody>
      </p:sp>
      <p:sp>
        <p:nvSpPr>
          <p:cNvPr id="17" name="Text 15"/>
          <p:cNvSpPr/>
          <p:nvPr/>
        </p:nvSpPr>
        <p:spPr>
          <a:xfrm>
            <a:off x="2651760" y="2633472"/>
            <a:ext cx="5943600" cy="329184"/>
          </a:xfrm>
          <a:prstGeom prst="rect">
            <a:avLst/>
          </a:prstGeom>
          <a:noFill/>
          <a:ln/>
        </p:spPr>
        <p:txBody>
          <a:bodyPr wrap="square" lIns="0" tIns="0" rIns="0" bIns="0" rtlCol="0" anchor="ctr"/>
          <a:lstStyle/>
          <a:p>
            <a:pPr marL="0" indent="0">
              <a:buNone/>
            </a:pPr>
            <a:r>
              <a:rPr lang="en-US" sz="1200" dirty="0">
                <a:solidFill>
                  <a:srgbClr val="000000"/>
                </a:solidFill>
                <a:latin typeface="Arial" pitchFamily="34" charset="0"/>
                <a:ea typeface="Arial" pitchFamily="34" charset="-122"/>
                <a:cs typeface="Arial" pitchFamily="34" charset="-120"/>
              </a:rPr>
              <a:t>Sign up at railway.com, add payment method ($5/mo).</a:t>
            </a:r>
            <a:endParaRPr lang="en-US" sz="1200" dirty="0"/>
          </a:p>
        </p:txBody>
      </p:sp>
      <p:sp>
        <p:nvSpPr>
          <p:cNvPr id="18" name="Shape 16"/>
          <p:cNvSpPr/>
          <p:nvPr/>
        </p:nvSpPr>
        <p:spPr>
          <a:xfrm>
            <a:off x="502920" y="3118104"/>
            <a:ext cx="201168" cy="201168"/>
          </a:xfrm>
          <a:prstGeom prst="rect">
            <a:avLst/>
          </a:prstGeom>
          <a:solidFill>
            <a:srgbClr val="FFFFFF"/>
          </a:solidFill>
          <a:ln w="19050">
            <a:solidFill>
              <a:srgbClr val="005587"/>
            </a:solidFill>
            <a:prstDash val="solid"/>
          </a:ln>
        </p:spPr>
        <p:txBody>
          <a:bodyPr/>
          <a:lstStyle/>
          <a:p>
            <a:endParaRPr lang="en-US"/>
          </a:p>
        </p:txBody>
      </p:sp>
      <p:sp>
        <p:nvSpPr>
          <p:cNvPr id="19" name="Text 17"/>
          <p:cNvSpPr/>
          <p:nvPr/>
        </p:nvSpPr>
        <p:spPr>
          <a:xfrm>
            <a:off x="822960" y="3054096"/>
            <a:ext cx="1828800" cy="329184"/>
          </a:xfrm>
          <a:prstGeom prst="rect">
            <a:avLst/>
          </a:prstGeom>
          <a:noFill/>
          <a:ln/>
        </p:spPr>
        <p:txBody>
          <a:bodyPr wrap="square" lIns="0" tIns="0" rIns="0" bIns="0" rtlCol="0" anchor="ctr"/>
          <a:lstStyle/>
          <a:p>
            <a:pPr marL="0" indent="0">
              <a:buNone/>
            </a:pPr>
            <a:r>
              <a:rPr lang="en-US" sz="1200" b="1" dirty="0">
                <a:solidFill>
                  <a:srgbClr val="005587"/>
                </a:solidFill>
                <a:latin typeface="Arial" pitchFamily="34" charset="0"/>
                <a:ea typeface="Arial" pitchFamily="34" charset="-122"/>
                <a:cs typeface="Arial" pitchFamily="34" charset="-120"/>
              </a:rPr>
              <a:t>Gemini API key</a:t>
            </a:r>
            <a:endParaRPr lang="en-US" sz="1200" dirty="0"/>
          </a:p>
        </p:txBody>
      </p:sp>
      <p:sp>
        <p:nvSpPr>
          <p:cNvPr id="20" name="Text 18"/>
          <p:cNvSpPr/>
          <p:nvPr/>
        </p:nvSpPr>
        <p:spPr>
          <a:xfrm>
            <a:off x="2651760" y="3054096"/>
            <a:ext cx="5943600" cy="329184"/>
          </a:xfrm>
          <a:prstGeom prst="rect">
            <a:avLst/>
          </a:prstGeom>
          <a:noFill/>
          <a:ln/>
        </p:spPr>
        <p:txBody>
          <a:bodyPr wrap="square" lIns="0" tIns="0" rIns="0" bIns="0" rtlCol="0" anchor="ctr"/>
          <a:lstStyle/>
          <a:p>
            <a:pPr marL="0" indent="0">
              <a:buNone/>
            </a:pPr>
            <a:r>
              <a:rPr lang="en-US" sz="1200" dirty="0">
                <a:solidFill>
                  <a:srgbClr val="000000"/>
                </a:solidFill>
                <a:latin typeface="Arial" pitchFamily="34" charset="0"/>
                <a:ea typeface="Arial" pitchFamily="34" charset="-122"/>
                <a:cs typeface="Arial" pitchFamily="34" charset="-120"/>
              </a:rPr>
              <a:t>Get from aistudio.google.com. Store as env variable.</a:t>
            </a:r>
            <a:endParaRPr lang="en-US" sz="1200" dirty="0"/>
          </a:p>
        </p:txBody>
      </p:sp>
      <p:sp>
        <p:nvSpPr>
          <p:cNvPr id="21" name="Shape 19"/>
          <p:cNvSpPr/>
          <p:nvPr/>
        </p:nvSpPr>
        <p:spPr>
          <a:xfrm>
            <a:off x="502920" y="3538728"/>
            <a:ext cx="201168" cy="201168"/>
          </a:xfrm>
          <a:prstGeom prst="rect">
            <a:avLst/>
          </a:prstGeom>
          <a:solidFill>
            <a:srgbClr val="FFFFFF"/>
          </a:solidFill>
          <a:ln w="19050">
            <a:solidFill>
              <a:srgbClr val="005587"/>
            </a:solidFill>
            <a:prstDash val="solid"/>
          </a:ln>
        </p:spPr>
        <p:txBody>
          <a:bodyPr/>
          <a:lstStyle/>
          <a:p>
            <a:endParaRPr lang="en-US"/>
          </a:p>
        </p:txBody>
      </p:sp>
      <p:sp>
        <p:nvSpPr>
          <p:cNvPr id="22" name="Text 20"/>
          <p:cNvSpPr/>
          <p:nvPr/>
        </p:nvSpPr>
        <p:spPr>
          <a:xfrm>
            <a:off x="822960" y="3474720"/>
            <a:ext cx="1828800" cy="329184"/>
          </a:xfrm>
          <a:prstGeom prst="rect">
            <a:avLst/>
          </a:prstGeom>
          <a:noFill/>
          <a:ln/>
        </p:spPr>
        <p:txBody>
          <a:bodyPr wrap="square" lIns="0" tIns="0" rIns="0" bIns="0" rtlCol="0" anchor="ctr"/>
          <a:lstStyle/>
          <a:p>
            <a:pPr marL="0" indent="0">
              <a:buNone/>
            </a:pPr>
            <a:r>
              <a:rPr lang="en-US" sz="1200" b="1" dirty="0">
                <a:solidFill>
                  <a:srgbClr val="005587"/>
                </a:solidFill>
                <a:latin typeface="Arial" pitchFamily="34" charset="0"/>
                <a:ea typeface="Arial" pitchFamily="34" charset="-122"/>
                <a:cs typeface="Arial" pitchFamily="34" charset="-120"/>
              </a:rPr>
              <a:t>Code editor</a:t>
            </a:r>
            <a:endParaRPr lang="en-US" sz="1200" dirty="0"/>
          </a:p>
        </p:txBody>
      </p:sp>
      <p:sp>
        <p:nvSpPr>
          <p:cNvPr id="23" name="Text 21"/>
          <p:cNvSpPr/>
          <p:nvPr/>
        </p:nvSpPr>
        <p:spPr>
          <a:xfrm>
            <a:off x="2651760" y="3474720"/>
            <a:ext cx="5943600" cy="329184"/>
          </a:xfrm>
          <a:prstGeom prst="rect">
            <a:avLst/>
          </a:prstGeom>
          <a:noFill/>
          <a:ln/>
        </p:spPr>
        <p:txBody>
          <a:bodyPr wrap="square" lIns="0" tIns="0" rIns="0" bIns="0" rtlCol="0" anchor="ctr"/>
          <a:lstStyle/>
          <a:p>
            <a:pPr marL="0" indent="0">
              <a:buNone/>
            </a:pPr>
            <a:r>
              <a:rPr lang="en-US" sz="1200" dirty="0">
                <a:solidFill>
                  <a:srgbClr val="000000"/>
                </a:solidFill>
                <a:latin typeface="Arial" pitchFamily="34" charset="0"/>
                <a:ea typeface="Arial" pitchFamily="34" charset="-122"/>
                <a:cs typeface="Arial" pitchFamily="34" charset="-120"/>
              </a:rPr>
              <a:t>VS Code recommended (free). Install the Python extension.</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005587"/>
        </a:solidFill>
        <a:effectLst/>
      </p:bgPr>
    </p:bg>
    <p:spTree>
      <p:nvGrpSpPr>
        <p:cNvPr id="1" name=""/>
        <p:cNvGrpSpPr/>
        <p:nvPr/>
      </p:nvGrpSpPr>
      <p:grpSpPr>
        <a:xfrm>
          <a:off x="0" y="0"/>
          <a:ext cx="0" cy="0"/>
          <a:chOff x="0" y="0"/>
          <a:chExt cx="0" cy="0"/>
        </a:xfrm>
      </p:grpSpPr>
      <p:sp>
        <p:nvSpPr>
          <p:cNvPr id="2" name="Text 0"/>
          <p:cNvSpPr/>
          <p:nvPr/>
        </p:nvSpPr>
        <p:spPr>
          <a:xfrm>
            <a:off x="914400" y="1371600"/>
            <a:ext cx="7315200" cy="2286000"/>
          </a:xfrm>
          <a:prstGeom prst="rect">
            <a:avLst/>
          </a:prstGeom>
          <a:noFill/>
          <a:ln/>
        </p:spPr>
        <p:txBody>
          <a:bodyPr wrap="square" rtlCol="0" anchor="ctr"/>
          <a:lstStyle/>
          <a:p>
            <a:pPr marL="0" indent="0" algn="ctr">
              <a:buNone/>
            </a:pPr>
            <a:r>
              <a:rPr lang="en-US" sz="3600" b="1" dirty="0">
                <a:solidFill>
                  <a:srgbClr val="FFFFFF"/>
                </a:solidFill>
                <a:latin typeface="Whitney Bold" pitchFamily="34" charset="0"/>
                <a:ea typeface="Whitney Bold" pitchFamily="34" charset="-122"/>
                <a:cs typeface="Whitney Bold" pitchFamily="34" charset="-120"/>
              </a:rPr>
              <a:t>Work Session</a:t>
            </a:r>
            <a:endParaRPr lang="en-US" sz="3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54864" cy="5148072"/>
          </a:xfrm>
          <a:prstGeom prst="rect">
            <a:avLst/>
          </a:prstGeom>
          <a:solidFill>
            <a:srgbClr val="005587"/>
          </a:solidFill>
          <a:ln/>
        </p:spPr>
        <p:txBody>
          <a:bodyPr/>
          <a:lstStyle/>
          <a:p>
            <a:endParaRPr lang="en-US"/>
          </a:p>
        </p:txBody>
      </p:sp>
      <p:sp>
        <p:nvSpPr>
          <p:cNvPr id="3" name="Text 1"/>
          <p:cNvSpPr/>
          <p:nvPr/>
        </p:nvSpPr>
        <p:spPr>
          <a:xfrm>
            <a:off x="457200" y="182880"/>
            <a:ext cx="8321040" cy="685800"/>
          </a:xfrm>
          <a:prstGeom prst="rect">
            <a:avLst/>
          </a:prstGeom>
          <a:noFill/>
          <a:ln/>
        </p:spPr>
        <p:txBody>
          <a:bodyPr wrap="square" lIns="0" tIns="0" rIns="0" bIns="0" rtlCol="0" anchor="ctr"/>
          <a:lstStyle/>
          <a:p>
            <a:pPr marL="0" indent="0">
              <a:buNone/>
            </a:pPr>
            <a:r>
              <a:rPr lang="en-US" sz="2800" b="1" dirty="0">
                <a:solidFill>
                  <a:srgbClr val="005587"/>
                </a:solidFill>
                <a:latin typeface="Whitney Bold" pitchFamily="34" charset="0"/>
                <a:ea typeface="Whitney Bold" pitchFamily="34" charset="-122"/>
                <a:cs typeface="Whitney Bold" pitchFamily="34" charset="-120"/>
              </a:rPr>
              <a:t>Today's Work Session</a:t>
            </a:r>
            <a:endParaRPr lang="en-US" sz="2800" dirty="0"/>
          </a:p>
        </p:txBody>
      </p:sp>
      <p:sp>
        <p:nvSpPr>
          <p:cNvPr id="4" name="Shape 2"/>
          <p:cNvSpPr/>
          <p:nvPr/>
        </p:nvSpPr>
        <p:spPr>
          <a:xfrm>
            <a:off x="457200" y="896112"/>
            <a:ext cx="8321040" cy="0"/>
          </a:xfrm>
          <a:prstGeom prst="line">
            <a:avLst/>
          </a:prstGeom>
          <a:noFill/>
          <a:ln w="12700">
            <a:solidFill>
              <a:srgbClr val="E8E8E8"/>
            </a:solidFill>
            <a:prstDash val="solid"/>
          </a:ln>
        </p:spPr>
        <p:txBody>
          <a:bodyPr/>
          <a:lstStyle/>
          <a:p>
            <a:endParaRPr lang="en-US"/>
          </a:p>
        </p:txBody>
      </p:sp>
      <p:sp>
        <p:nvSpPr>
          <p:cNvPr id="5" name="Shape 3"/>
          <p:cNvSpPr/>
          <p:nvPr/>
        </p:nvSpPr>
        <p:spPr>
          <a:xfrm>
            <a:off x="502920" y="1161288"/>
            <a:ext cx="365760" cy="365760"/>
          </a:xfrm>
          <a:prstGeom prst="ellipse">
            <a:avLst/>
          </a:prstGeom>
          <a:solidFill>
            <a:srgbClr val="005587"/>
          </a:solidFill>
          <a:ln/>
        </p:spPr>
        <p:txBody>
          <a:bodyPr/>
          <a:lstStyle/>
          <a:p>
            <a:endParaRPr lang="en-US"/>
          </a:p>
        </p:txBody>
      </p:sp>
      <p:sp>
        <p:nvSpPr>
          <p:cNvPr id="6" name="Text 4"/>
          <p:cNvSpPr/>
          <p:nvPr/>
        </p:nvSpPr>
        <p:spPr>
          <a:xfrm>
            <a:off x="502920" y="116128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051560" y="1051560"/>
            <a:ext cx="2743200" cy="320040"/>
          </a:xfrm>
          <a:prstGeom prst="rect">
            <a:avLst/>
          </a:prstGeom>
          <a:noFill/>
          <a:ln/>
        </p:spPr>
        <p:txBody>
          <a:bodyPr wrap="square" lIns="0" tIns="0" rIns="0" bIns="0" rtlCol="0" anchor="ctr"/>
          <a:lstStyle/>
          <a:p>
            <a:pPr marL="0" indent="0">
              <a:buNone/>
            </a:pPr>
            <a:r>
              <a:rPr lang="en-US" sz="1400" b="1" dirty="0">
                <a:solidFill>
                  <a:srgbClr val="005587"/>
                </a:solidFill>
                <a:latin typeface="Arial" pitchFamily="34" charset="0"/>
                <a:ea typeface="Arial" pitchFamily="34" charset="-122"/>
                <a:cs typeface="Arial" pitchFamily="34" charset="-120"/>
              </a:rPr>
              <a:t>Form your team</a:t>
            </a:r>
            <a:endParaRPr lang="en-US" sz="1400" dirty="0"/>
          </a:p>
        </p:txBody>
      </p:sp>
      <p:sp>
        <p:nvSpPr>
          <p:cNvPr id="8" name="Text 6"/>
          <p:cNvSpPr/>
          <p:nvPr/>
        </p:nvSpPr>
        <p:spPr>
          <a:xfrm>
            <a:off x="1051560" y="1344168"/>
            <a:ext cx="7315200" cy="320040"/>
          </a:xfrm>
          <a:prstGeom prst="rect">
            <a:avLst/>
          </a:prstGeom>
          <a:noFill/>
          <a:ln/>
        </p:spPr>
        <p:txBody>
          <a:bodyPr wrap="square" lIns="0" tIns="0" rIns="0" bIns="0" rtlCol="0" anchor="t"/>
          <a:lstStyle/>
          <a:p>
            <a:pPr marL="0" indent="0">
              <a:buNone/>
            </a:pPr>
            <a:r>
              <a:rPr lang="en-US" sz="1200" dirty="0">
                <a:solidFill>
                  <a:srgbClr val="000000"/>
                </a:solidFill>
                <a:latin typeface="Arial" pitchFamily="34" charset="0"/>
                <a:ea typeface="Arial" pitchFamily="34" charset="-122"/>
                <a:cs typeface="Arial" pitchFamily="34" charset="-120"/>
              </a:rPr>
              <a:t>Groups of 3. Write down your team members' names.</a:t>
            </a:r>
            <a:endParaRPr lang="en-US" sz="1200" dirty="0"/>
          </a:p>
        </p:txBody>
      </p:sp>
      <p:sp>
        <p:nvSpPr>
          <p:cNvPr id="9" name="Shape 7"/>
          <p:cNvSpPr/>
          <p:nvPr/>
        </p:nvSpPr>
        <p:spPr>
          <a:xfrm>
            <a:off x="502920" y="1892808"/>
            <a:ext cx="365760" cy="365760"/>
          </a:xfrm>
          <a:prstGeom prst="ellipse">
            <a:avLst/>
          </a:prstGeom>
          <a:solidFill>
            <a:srgbClr val="005587"/>
          </a:solidFill>
          <a:ln/>
        </p:spPr>
        <p:txBody>
          <a:bodyPr/>
          <a:lstStyle/>
          <a:p>
            <a:endParaRPr lang="en-US"/>
          </a:p>
        </p:txBody>
      </p:sp>
      <p:sp>
        <p:nvSpPr>
          <p:cNvPr id="10" name="Text 8"/>
          <p:cNvSpPr/>
          <p:nvPr/>
        </p:nvSpPr>
        <p:spPr>
          <a:xfrm>
            <a:off x="502920" y="189280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051560" y="1783080"/>
            <a:ext cx="2743200" cy="320040"/>
          </a:xfrm>
          <a:prstGeom prst="rect">
            <a:avLst/>
          </a:prstGeom>
          <a:noFill/>
          <a:ln/>
        </p:spPr>
        <p:txBody>
          <a:bodyPr wrap="square" lIns="0" tIns="0" rIns="0" bIns="0" rtlCol="0" anchor="ctr"/>
          <a:lstStyle/>
          <a:p>
            <a:pPr marL="0" indent="0">
              <a:buNone/>
            </a:pPr>
            <a:r>
              <a:rPr lang="en-US" sz="1400" b="1" dirty="0">
                <a:solidFill>
                  <a:srgbClr val="005587"/>
                </a:solidFill>
                <a:latin typeface="Arial" pitchFamily="34" charset="0"/>
                <a:ea typeface="Arial" pitchFamily="34" charset="-122"/>
                <a:cs typeface="Arial" pitchFamily="34" charset="-120"/>
              </a:rPr>
              <a:t>Brainstorm use cases</a:t>
            </a:r>
            <a:endParaRPr lang="en-US" sz="1400" dirty="0"/>
          </a:p>
        </p:txBody>
      </p:sp>
      <p:sp>
        <p:nvSpPr>
          <p:cNvPr id="12" name="Text 10"/>
          <p:cNvSpPr/>
          <p:nvPr/>
        </p:nvSpPr>
        <p:spPr>
          <a:xfrm>
            <a:off x="1051560" y="2075688"/>
            <a:ext cx="7315200" cy="320040"/>
          </a:xfrm>
          <a:prstGeom prst="rect">
            <a:avLst/>
          </a:prstGeom>
          <a:noFill/>
          <a:ln/>
        </p:spPr>
        <p:txBody>
          <a:bodyPr wrap="square" lIns="0" tIns="0" rIns="0" bIns="0" rtlCol="0" anchor="t"/>
          <a:lstStyle/>
          <a:p>
            <a:pPr marL="0" indent="0">
              <a:buNone/>
            </a:pPr>
            <a:r>
              <a:rPr lang="en-US" sz="1200" dirty="0">
                <a:solidFill>
                  <a:srgbClr val="000000"/>
                </a:solidFill>
                <a:latin typeface="Arial" pitchFamily="34" charset="0"/>
                <a:ea typeface="Arial" pitchFamily="34" charset="-122"/>
                <a:cs typeface="Arial" pitchFamily="34" charset="-120"/>
              </a:rPr>
              <a:t>Each person pitches 2 ideas. Discuss and pick one as a team.</a:t>
            </a:r>
            <a:endParaRPr lang="en-US" sz="1200" dirty="0"/>
          </a:p>
        </p:txBody>
      </p:sp>
      <p:sp>
        <p:nvSpPr>
          <p:cNvPr id="13" name="Shape 11"/>
          <p:cNvSpPr/>
          <p:nvPr/>
        </p:nvSpPr>
        <p:spPr>
          <a:xfrm>
            <a:off x="502920" y="2624328"/>
            <a:ext cx="365760" cy="365760"/>
          </a:xfrm>
          <a:prstGeom prst="ellipse">
            <a:avLst/>
          </a:prstGeom>
          <a:solidFill>
            <a:srgbClr val="005587"/>
          </a:solidFill>
          <a:ln/>
        </p:spPr>
        <p:txBody>
          <a:bodyPr/>
          <a:lstStyle/>
          <a:p>
            <a:endParaRPr lang="en-US"/>
          </a:p>
        </p:txBody>
      </p:sp>
      <p:sp>
        <p:nvSpPr>
          <p:cNvPr id="14" name="Text 12"/>
          <p:cNvSpPr/>
          <p:nvPr/>
        </p:nvSpPr>
        <p:spPr>
          <a:xfrm>
            <a:off x="502920" y="262432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051560" y="2514600"/>
            <a:ext cx="2743200" cy="320040"/>
          </a:xfrm>
          <a:prstGeom prst="rect">
            <a:avLst/>
          </a:prstGeom>
          <a:noFill/>
          <a:ln/>
        </p:spPr>
        <p:txBody>
          <a:bodyPr wrap="square" lIns="0" tIns="0" rIns="0" bIns="0" rtlCol="0" anchor="ctr"/>
          <a:lstStyle/>
          <a:p>
            <a:pPr marL="0" indent="0">
              <a:buNone/>
            </a:pPr>
            <a:r>
              <a:rPr lang="en-US" sz="1400" b="1" dirty="0">
                <a:solidFill>
                  <a:srgbClr val="005587"/>
                </a:solidFill>
                <a:latin typeface="Arial" pitchFamily="34" charset="0"/>
                <a:ea typeface="Arial" pitchFamily="34" charset="-122"/>
                <a:cs typeface="Arial" pitchFamily="34" charset="-120"/>
              </a:rPr>
              <a:t>Define the value add</a:t>
            </a:r>
            <a:endParaRPr lang="en-US" sz="1400" dirty="0"/>
          </a:p>
        </p:txBody>
      </p:sp>
      <p:sp>
        <p:nvSpPr>
          <p:cNvPr id="16" name="Text 14"/>
          <p:cNvSpPr/>
          <p:nvPr/>
        </p:nvSpPr>
        <p:spPr>
          <a:xfrm>
            <a:off x="1051560" y="2807208"/>
            <a:ext cx="7315200" cy="320040"/>
          </a:xfrm>
          <a:prstGeom prst="rect">
            <a:avLst/>
          </a:prstGeom>
          <a:noFill/>
          <a:ln/>
        </p:spPr>
        <p:txBody>
          <a:bodyPr wrap="square" lIns="0" tIns="0" rIns="0" bIns="0" rtlCol="0" anchor="t"/>
          <a:lstStyle/>
          <a:p>
            <a:pPr marL="0" indent="0">
              <a:buNone/>
            </a:pPr>
            <a:r>
              <a:rPr lang="en-US" sz="1200" dirty="0">
                <a:solidFill>
                  <a:srgbClr val="000000"/>
                </a:solidFill>
                <a:latin typeface="Arial" pitchFamily="34" charset="0"/>
                <a:ea typeface="Arial" pitchFamily="34" charset="-122"/>
                <a:cs typeface="Arial" pitchFamily="34" charset="-120"/>
              </a:rPr>
              <a:t>Write 1–2 sentences: why does AI make this app better than the non-AI version?</a:t>
            </a:r>
            <a:endParaRPr lang="en-US" sz="1200" dirty="0"/>
          </a:p>
        </p:txBody>
      </p:sp>
      <p:sp>
        <p:nvSpPr>
          <p:cNvPr id="17" name="Shape 15"/>
          <p:cNvSpPr/>
          <p:nvPr/>
        </p:nvSpPr>
        <p:spPr>
          <a:xfrm>
            <a:off x="502920" y="3355848"/>
            <a:ext cx="365760" cy="365760"/>
          </a:xfrm>
          <a:prstGeom prst="ellipse">
            <a:avLst/>
          </a:prstGeom>
          <a:solidFill>
            <a:srgbClr val="005587"/>
          </a:solidFill>
          <a:ln/>
        </p:spPr>
        <p:txBody>
          <a:bodyPr/>
          <a:lstStyle/>
          <a:p>
            <a:endParaRPr lang="en-US"/>
          </a:p>
        </p:txBody>
      </p:sp>
      <p:sp>
        <p:nvSpPr>
          <p:cNvPr id="18" name="Text 16"/>
          <p:cNvSpPr/>
          <p:nvPr/>
        </p:nvSpPr>
        <p:spPr>
          <a:xfrm>
            <a:off x="502920" y="33558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051560" y="3246120"/>
            <a:ext cx="2743200" cy="320040"/>
          </a:xfrm>
          <a:prstGeom prst="rect">
            <a:avLst/>
          </a:prstGeom>
          <a:noFill/>
          <a:ln/>
        </p:spPr>
        <p:txBody>
          <a:bodyPr wrap="square" lIns="0" tIns="0" rIns="0" bIns="0" rtlCol="0" anchor="ctr"/>
          <a:lstStyle/>
          <a:p>
            <a:pPr marL="0" indent="0">
              <a:buNone/>
            </a:pPr>
            <a:r>
              <a:rPr lang="en-US" sz="1400" b="1" dirty="0">
                <a:solidFill>
                  <a:srgbClr val="005587"/>
                </a:solidFill>
                <a:latin typeface="Arial" pitchFamily="34" charset="0"/>
                <a:ea typeface="Arial" pitchFamily="34" charset="-122"/>
                <a:cs typeface="Arial" pitchFamily="34" charset="-120"/>
              </a:rPr>
              <a:t>Start setup</a:t>
            </a:r>
            <a:endParaRPr lang="en-US" sz="1400" dirty="0"/>
          </a:p>
        </p:txBody>
      </p:sp>
      <p:sp>
        <p:nvSpPr>
          <p:cNvPr id="20" name="Text 18"/>
          <p:cNvSpPr/>
          <p:nvPr/>
        </p:nvSpPr>
        <p:spPr>
          <a:xfrm>
            <a:off x="1051560" y="3538728"/>
            <a:ext cx="7315200" cy="320040"/>
          </a:xfrm>
          <a:prstGeom prst="rect">
            <a:avLst/>
          </a:prstGeom>
          <a:noFill/>
          <a:ln/>
        </p:spPr>
        <p:txBody>
          <a:bodyPr wrap="square" lIns="0" tIns="0" rIns="0" bIns="0" rtlCol="0" anchor="t"/>
          <a:lstStyle/>
          <a:p>
            <a:pPr marL="0" indent="0">
              <a:buNone/>
            </a:pPr>
            <a:r>
              <a:rPr lang="en-US" sz="1200" dirty="0">
                <a:solidFill>
                  <a:srgbClr val="000000"/>
                </a:solidFill>
                <a:latin typeface="Arial" pitchFamily="34" charset="0"/>
                <a:ea typeface="Arial" pitchFamily="34" charset="-122"/>
                <a:cs typeface="Arial" pitchFamily="34" charset="-120"/>
              </a:rPr>
              <a:t>Get Python, Node, Railway CLI, and your Gemini API key set up on at least one team member's laptop.</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54864" cy="5148072"/>
          </a:xfrm>
          <a:prstGeom prst="rect">
            <a:avLst/>
          </a:prstGeom>
          <a:solidFill>
            <a:srgbClr val="005587"/>
          </a:solidFill>
          <a:ln/>
        </p:spPr>
        <p:txBody>
          <a:bodyPr/>
          <a:lstStyle/>
          <a:p>
            <a:endParaRPr lang="en-US"/>
          </a:p>
        </p:txBody>
      </p:sp>
      <p:sp>
        <p:nvSpPr>
          <p:cNvPr id="3" name="Text 1"/>
          <p:cNvSpPr/>
          <p:nvPr/>
        </p:nvSpPr>
        <p:spPr>
          <a:xfrm>
            <a:off x="457200" y="182880"/>
            <a:ext cx="8321040" cy="685800"/>
          </a:xfrm>
          <a:prstGeom prst="rect">
            <a:avLst/>
          </a:prstGeom>
          <a:noFill/>
          <a:ln/>
        </p:spPr>
        <p:txBody>
          <a:bodyPr wrap="square" lIns="0" tIns="0" rIns="0" bIns="0" rtlCol="0" anchor="ctr"/>
          <a:lstStyle/>
          <a:p>
            <a:pPr marL="0" indent="0">
              <a:buNone/>
            </a:pPr>
            <a:r>
              <a:rPr lang="en-US" sz="2800" b="1" dirty="0">
                <a:solidFill>
                  <a:srgbClr val="005587"/>
                </a:solidFill>
                <a:latin typeface="Whitney Bold" pitchFamily="34" charset="0"/>
                <a:ea typeface="Whitney Bold" pitchFamily="34" charset="-122"/>
                <a:cs typeface="Whitney Bold" pitchFamily="34" charset="-120"/>
              </a:rPr>
              <a:t>Glossary</a:t>
            </a:r>
            <a:endParaRPr lang="en-US" sz="2800" dirty="0"/>
          </a:p>
        </p:txBody>
      </p:sp>
      <p:sp>
        <p:nvSpPr>
          <p:cNvPr id="4" name="Shape 2"/>
          <p:cNvSpPr/>
          <p:nvPr/>
        </p:nvSpPr>
        <p:spPr>
          <a:xfrm>
            <a:off x="457200" y="896112"/>
            <a:ext cx="8321040" cy="0"/>
          </a:xfrm>
          <a:prstGeom prst="line">
            <a:avLst/>
          </a:prstGeom>
          <a:noFill/>
          <a:ln w="12700">
            <a:solidFill>
              <a:srgbClr val="E8E8E8"/>
            </a:solidFill>
            <a:prstDash val="solid"/>
          </a:ln>
        </p:spPr>
        <p:txBody>
          <a:bodyPr/>
          <a:lstStyle/>
          <a:p>
            <a:endParaRPr lang="en-US"/>
          </a:p>
        </p:txBody>
      </p:sp>
      <p:sp>
        <p:nvSpPr>
          <p:cNvPr id="5" name="Text 3"/>
          <p:cNvSpPr/>
          <p:nvPr/>
        </p:nvSpPr>
        <p:spPr>
          <a:xfrm>
            <a:off x="457200" y="1005840"/>
            <a:ext cx="2286000" cy="420624"/>
          </a:xfrm>
          <a:prstGeom prst="rect">
            <a:avLst/>
          </a:prstGeom>
          <a:noFill/>
          <a:ln/>
        </p:spPr>
        <p:txBody>
          <a:bodyPr wrap="square" lIns="0" tIns="0" rIns="0" bIns="0" rtlCol="0" anchor="t"/>
          <a:lstStyle/>
          <a:p>
            <a:pPr marL="0" indent="0">
              <a:buNone/>
            </a:pPr>
            <a:r>
              <a:rPr lang="en-US" sz="1200" b="1" dirty="0">
                <a:solidFill>
                  <a:srgbClr val="005587"/>
                </a:solidFill>
                <a:latin typeface="Arial" pitchFamily="34" charset="0"/>
                <a:ea typeface="Arial" pitchFamily="34" charset="-122"/>
                <a:cs typeface="Arial" pitchFamily="34" charset="-120"/>
              </a:rPr>
              <a:t>AI Agent</a:t>
            </a:r>
            <a:endParaRPr lang="en-US" sz="1200" dirty="0"/>
          </a:p>
        </p:txBody>
      </p:sp>
      <p:sp>
        <p:nvSpPr>
          <p:cNvPr id="6" name="Text 4"/>
          <p:cNvSpPr/>
          <p:nvPr/>
        </p:nvSpPr>
        <p:spPr>
          <a:xfrm>
            <a:off x="2743200" y="1005840"/>
            <a:ext cx="6035040" cy="420624"/>
          </a:xfrm>
          <a:prstGeom prst="rect">
            <a:avLst/>
          </a:prstGeom>
          <a:noFill/>
          <a:ln/>
        </p:spPr>
        <p:txBody>
          <a:bodyPr wrap="square" lIns="0" tIns="0" rIns="0" bIns="0" rtlCol="0" anchor="t"/>
          <a:lstStyle/>
          <a:p>
            <a:pPr marL="0" indent="0">
              <a:buNone/>
            </a:pPr>
            <a:r>
              <a:rPr lang="en-US" sz="1100" dirty="0">
                <a:solidFill>
                  <a:srgbClr val="000000"/>
                </a:solidFill>
                <a:latin typeface="Arial" pitchFamily="34" charset="0"/>
                <a:ea typeface="Arial" pitchFamily="34" charset="-122"/>
                <a:cs typeface="Arial" pitchFamily="34" charset="-120"/>
              </a:rPr>
              <a:t>A system where an LLM operates in a loop, reasoning, using tools, and adapting based on feedback to accomplish a goal.</a:t>
            </a:r>
            <a:endParaRPr lang="en-US" sz="1100" dirty="0"/>
          </a:p>
        </p:txBody>
      </p:sp>
      <p:sp>
        <p:nvSpPr>
          <p:cNvPr id="7" name="Text 5"/>
          <p:cNvSpPr/>
          <p:nvPr/>
        </p:nvSpPr>
        <p:spPr>
          <a:xfrm>
            <a:off x="457200" y="1490472"/>
            <a:ext cx="2286000" cy="420624"/>
          </a:xfrm>
          <a:prstGeom prst="rect">
            <a:avLst/>
          </a:prstGeom>
          <a:noFill/>
          <a:ln/>
        </p:spPr>
        <p:txBody>
          <a:bodyPr wrap="square" lIns="0" tIns="0" rIns="0" bIns="0" rtlCol="0" anchor="t"/>
          <a:lstStyle/>
          <a:p>
            <a:pPr marL="0" indent="0">
              <a:buNone/>
            </a:pPr>
            <a:r>
              <a:rPr lang="en-US" sz="1200" b="1" dirty="0">
                <a:solidFill>
                  <a:srgbClr val="005587"/>
                </a:solidFill>
                <a:latin typeface="Arial" pitchFamily="34" charset="0"/>
                <a:ea typeface="Arial" pitchFamily="34" charset="-122"/>
                <a:cs typeface="Arial" pitchFamily="34" charset="-120"/>
              </a:rPr>
              <a:t>Agentic workflow</a:t>
            </a:r>
            <a:endParaRPr lang="en-US" sz="1200" dirty="0"/>
          </a:p>
        </p:txBody>
      </p:sp>
      <p:sp>
        <p:nvSpPr>
          <p:cNvPr id="8" name="Text 6"/>
          <p:cNvSpPr/>
          <p:nvPr/>
        </p:nvSpPr>
        <p:spPr>
          <a:xfrm>
            <a:off x="2743200" y="1490472"/>
            <a:ext cx="6035040" cy="420624"/>
          </a:xfrm>
          <a:prstGeom prst="rect">
            <a:avLst/>
          </a:prstGeom>
          <a:noFill/>
          <a:ln/>
        </p:spPr>
        <p:txBody>
          <a:bodyPr wrap="square" lIns="0" tIns="0" rIns="0" bIns="0" rtlCol="0" anchor="t"/>
          <a:lstStyle/>
          <a:p>
            <a:pPr marL="0" indent="0">
              <a:buNone/>
            </a:pPr>
            <a:r>
              <a:rPr lang="en-US" sz="1100" dirty="0">
                <a:solidFill>
                  <a:srgbClr val="000000"/>
                </a:solidFill>
                <a:latin typeface="Arial" pitchFamily="34" charset="0"/>
                <a:ea typeface="Arial" pitchFamily="34" charset="-122"/>
                <a:cs typeface="Arial" pitchFamily="34" charset="-120"/>
              </a:rPr>
              <a:t>A multi-step process that uses LLMs for decision-making, ranging from simple prompt chains to fully autonomous agents.</a:t>
            </a:r>
            <a:endParaRPr lang="en-US" sz="1100" dirty="0"/>
          </a:p>
        </p:txBody>
      </p:sp>
      <p:sp>
        <p:nvSpPr>
          <p:cNvPr id="9" name="Text 7"/>
          <p:cNvSpPr/>
          <p:nvPr/>
        </p:nvSpPr>
        <p:spPr>
          <a:xfrm>
            <a:off x="457200" y="1975104"/>
            <a:ext cx="2286000" cy="420624"/>
          </a:xfrm>
          <a:prstGeom prst="rect">
            <a:avLst/>
          </a:prstGeom>
          <a:noFill/>
          <a:ln/>
        </p:spPr>
        <p:txBody>
          <a:bodyPr wrap="square" lIns="0" tIns="0" rIns="0" bIns="0" rtlCol="0" anchor="t"/>
          <a:lstStyle/>
          <a:p>
            <a:pPr marL="0" indent="0">
              <a:buNone/>
            </a:pPr>
            <a:r>
              <a:rPr lang="en-US" sz="1200" b="1" dirty="0">
                <a:solidFill>
                  <a:srgbClr val="005587"/>
                </a:solidFill>
                <a:latin typeface="Arial" pitchFamily="34" charset="0"/>
                <a:ea typeface="Arial" pitchFamily="34" charset="-122"/>
                <a:cs typeface="Arial" pitchFamily="34" charset="-120"/>
              </a:rPr>
              <a:t>Reflection</a:t>
            </a:r>
            <a:endParaRPr lang="en-US" sz="1200" dirty="0"/>
          </a:p>
        </p:txBody>
      </p:sp>
      <p:sp>
        <p:nvSpPr>
          <p:cNvPr id="10" name="Text 8"/>
          <p:cNvSpPr/>
          <p:nvPr/>
        </p:nvSpPr>
        <p:spPr>
          <a:xfrm>
            <a:off x="2743200" y="1975104"/>
            <a:ext cx="6035040" cy="420624"/>
          </a:xfrm>
          <a:prstGeom prst="rect">
            <a:avLst/>
          </a:prstGeom>
          <a:noFill/>
          <a:ln/>
        </p:spPr>
        <p:txBody>
          <a:bodyPr wrap="square" lIns="0" tIns="0" rIns="0" bIns="0" rtlCol="0" anchor="t"/>
          <a:lstStyle/>
          <a:p>
            <a:pPr marL="0" indent="0">
              <a:buNone/>
            </a:pPr>
            <a:r>
              <a:rPr lang="en-US" sz="1100" dirty="0">
                <a:solidFill>
                  <a:srgbClr val="000000"/>
                </a:solidFill>
                <a:latin typeface="Arial" pitchFamily="34" charset="0"/>
                <a:ea typeface="Arial" pitchFamily="34" charset="-122"/>
                <a:cs typeface="Arial" pitchFamily="34" charset="-120"/>
              </a:rPr>
              <a:t>An agentic pattern where the LLM critiques and improves its own output through iterative self-review.</a:t>
            </a:r>
            <a:endParaRPr lang="en-US" sz="1100" dirty="0"/>
          </a:p>
        </p:txBody>
      </p:sp>
      <p:sp>
        <p:nvSpPr>
          <p:cNvPr id="11" name="Text 9"/>
          <p:cNvSpPr/>
          <p:nvPr/>
        </p:nvSpPr>
        <p:spPr>
          <a:xfrm>
            <a:off x="457200" y="2459736"/>
            <a:ext cx="2286000" cy="420624"/>
          </a:xfrm>
          <a:prstGeom prst="rect">
            <a:avLst/>
          </a:prstGeom>
          <a:noFill/>
          <a:ln/>
        </p:spPr>
        <p:txBody>
          <a:bodyPr wrap="square" lIns="0" tIns="0" rIns="0" bIns="0" rtlCol="0" anchor="t"/>
          <a:lstStyle/>
          <a:p>
            <a:pPr marL="0" indent="0">
              <a:buNone/>
            </a:pPr>
            <a:r>
              <a:rPr lang="en-US" sz="1200" b="1" dirty="0">
                <a:solidFill>
                  <a:srgbClr val="005587"/>
                </a:solidFill>
                <a:latin typeface="Arial" pitchFamily="34" charset="0"/>
                <a:ea typeface="Arial" pitchFamily="34" charset="-122"/>
                <a:cs typeface="Arial" pitchFamily="34" charset="-120"/>
              </a:rPr>
              <a:t>Tool use</a:t>
            </a:r>
            <a:endParaRPr lang="en-US" sz="1200" dirty="0"/>
          </a:p>
        </p:txBody>
      </p:sp>
      <p:sp>
        <p:nvSpPr>
          <p:cNvPr id="12" name="Text 10"/>
          <p:cNvSpPr/>
          <p:nvPr/>
        </p:nvSpPr>
        <p:spPr>
          <a:xfrm>
            <a:off x="2743200" y="2459736"/>
            <a:ext cx="6035040" cy="420624"/>
          </a:xfrm>
          <a:prstGeom prst="rect">
            <a:avLst/>
          </a:prstGeom>
          <a:noFill/>
          <a:ln/>
        </p:spPr>
        <p:txBody>
          <a:bodyPr wrap="square" lIns="0" tIns="0" rIns="0" bIns="0" rtlCol="0" anchor="t"/>
          <a:lstStyle/>
          <a:p>
            <a:pPr marL="0" indent="0">
              <a:buNone/>
            </a:pPr>
            <a:r>
              <a:rPr lang="en-US" sz="1100" dirty="0">
                <a:solidFill>
                  <a:srgbClr val="000000"/>
                </a:solidFill>
                <a:latin typeface="Arial" pitchFamily="34" charset="0"/>
                <a:ea typeface="Arial" pitchFamily="34" charset="-122"/>
                <a:cs typeface="Arial" pitchFamily="34" charset="-120"/>
              </a:rPr>
              <a:t>Giving an LLM the ability to call external functions (APIs, search, code execution) instead of relying only on its training data.</a:t>
            </a:r>
            <a:endParaRPr lang="en-US" sz="1100" dirty="0"/>
          </a:p>
        </p:txBody>
      </p:sp>
      <p:sp>
        <p:nvSpPr>
          <p:cNvPr id="13" name="Text 11"/>
          <p:cNvSpPr/>
          <p:nvPr/>
        </p:nvSpPr>
        <p:spPr>
          <a:xfrm>
            <a:off x="457200" y="2944368"/>
            <a:ext cx="2286000" cy="420624"/>
          </a:xfrm>
          <a:prstGeom prst="rect">
            <a:avLst/>
          </a:prstGeom>
          <a:noFill/>
          <a:ln/>
        </p:spPr>
        <p:txBody>
          <a:bodyPr wrap="square" lIns="0" tIns="0" rIns="0" bIns="0" rtlCol="0" anchor="t"/>
          <a:lstStyle/>
          <a:p>
            <a:pPr marL="0" indent="0">
              <a:buNone/>
            </a:pPr>
            <a:r>
              <a:rPr lang="en-US" sz="1200" b="1" dirty="0">
                <a:solidFill>
                  <a:srgbClr val="005587"/>
                </a:solidFill>
                <a:latin typeface="Arial" pitchFamily="34" charset="0"/>
                <a:ea typeface="Arial" pitchFamily="34" charset="-122"/>
                <a:cs typeface="Arial" pitchFamily="34" charset="-120"/>
              </a:rPr>
              <a:t>ReAct</a:t>
            </a:r>
            <a:endParaRPr lang="en-US" sz="1200" dirty="0"/>
          </a:p>
        </p:txBody>
      </p:sp>
      <p:sp>
        <p:nvSpPr>
          <p:cNvPr id="14" name="Text 12"/>
          <p:cNvSpPr/>
          <p:nvPr/>
        </p:nvSpPr>
        <p:spPr>
          <a:xfrm>
            <a:off x="2743200" y="2944368"/>
            <a:ext cx="6035040" cy="420624"/>
          </a:xfrm>
          <a:prstGeom prst="rect">
            <a:avLst/>
          </a:prstGeom>
          <a:noFill/>
          <a:ln/>
        </p:spPr>
        <p:txBody>
          <a:bodyPr wrap="square" lIns="0" tIns="0" rIns="0" bIns="0" rtlCol="0" anchor="t"/>
          <a:lstStyle/>
          <a:p>
            <a:pPr marL="0" indent="0">
              <a:buNone/>
            </a:pPr>
            <a:r>
              <a:rPr lang="en-US" sz="1100" dirty="0">
                <a:solidFill>
                  <a:srgbClr val="000000"/>
                </a:solidFill>
                <a:latin typeface="Arial" pitchFamily="34" charset="0"/>
                <a:ea typeface="Arial" pitchFamily="34" charset="-122"/>
                <a:cs typeface="Arial" pitchFamily="34" charset="-120"/>
              </a:rPr>
              <a:t>Reason + Act (Yao et al. 2023): each inference loop produces a Thought (reasoning tokens), an Action (structured tool call), and receives an Observation (tool result) appended to the context window before the next forward pass.</a:t>
            </a:r>
            <a:endParaRPr lang="en-US" sz="1100" dirty="0"/>
          </a:p>
        </p:txBody>
      </p:sp>
      <p:sp>
        <p:nvSpPr>
          <p:cNvPr id="15" name="Text 13"/>
          <p:cNvSpPr/>
          <p:nvPr/>
        </p:nvSpPr>
        <p:spPr>
          <a:xfrm>
            <a:off x="457200" y="3429000"/>
            <a:ext cx="2286000" cy="420624"/>
          </a:xfrm>
          <a:prstGeom prst="rect">
            <a:avLst/>
          </a:prstGeom>
          <a:noFill/>
          <a:ln/>
        </p:spPr>
        <p:txBody>
          <a:bodyPr wrap="square" lIns="0" tIns="0" rIns="0" bIns="0" rtlCol="0" anchor="t"/>
          <a:lstStyle/>
          <a:p>
            <a:pPr marL="0" indent="0">
              <a:buNone/>
            </a:pPr>
            <a:r>
              <a:rPr lang="en-US" sz="1200" b="1" dirty="0">
                <a:solidFill>
                  <a:srgbClr val="005587"/>
                </a:solidFill>
                <a:latin typeface="Arial" pitchFamily="34" charset="0"/>
                <a:ea typeface="Arial" pitchFamily="34" charset="-122"/>
                <a:cs typeface="Arial" pitchFamily="34" charset="-120"/>
              </a:rPr>
              <a:t>Multi-agent system</a:t>
            </a:r>
            <a:endParaRPr lang="en-US" sz="1200" dirty="0"/>
          </a:p>
        </p:txBody>
      </p:sp>
      <p:sp>
        <p:nvSpPr>
          <p:cNvPr id="16" name="Text 14"/>
          <p:cNvSpPr/>
          <p:nvPr/>
        </p:nvSpPr>
        <p:spPr>
          <a:xfrm>
            <a:off x="2743200" y="3429000"/>
            <a:ext cx="6035040" cy="420624"/>
          </a:xfrm>
          <a:prstGeom prst="rect">
            <a:avLst/>
          </a:prstGeom>
          <a:noFill/>
          <a:ln/>
        </p:spPr>
        <p:txBody>
          <a:bodyPr wrap="square" lIns="0" tIns="0" rIns="0" bIns="0" rtlCol="0" anchor="t"/>
          <a:lstStyle/>
          <a:p>
            <a:pPr marL="0" indent="0">
              <a:buNone/>
            </a:pPr>
            <a:r>
              <a:rPr lang="en-US" sz="1100" dirty="0">
                <a:solidFill>
                  <a:srgbClr val="000000"/>
                </a:solidFill>
                <a:latin typeface="Arial" pitchFamily="34" charset="0"/>
                <a:ea typeface="Arial" pitchFamily="34" charset="-122"/>
                <a:cs typeface="Arial" pitchFamily="34" charset="-120"/>
              </a:rPr>
              <a:t>Multiple specialized LLM agents collaborating on a task, each with distinct roles, tools, and system prompts.</a:t>
            </a:r>
            <a:endParaRPr lang="en-US" sz="1100" dirty="0"/>
          </a:p>
        </p:txBody>
      </p:sp>
      <p:sp>
        <p:nvSpPr>
          <p:cNvPr id="17" name="Text 15"/>
          <p:cNvSpPr/>
          <p:nvPr/>
        </p:nvSpPr>
        <p:spPr>
          <a:xfrm>
            <a:off x="457200" y="3913632"/>
            <a:ext cx="2286000" cy="420624"/>
          </a:xfrm>
          <a:prstGeom prst="rect">
            <a:avLst/>
          </a:prstGeom>
          <a:noFill/>
          <a:ln/>
        </p:spPr>
        <p:txBody>
          <a:bodyPr wrap="square" lIns="0" tIns="0" rIns="0" bIns="0" rtlCol="0" anchor="t"/>
          <a:lstStyle/>
          <a:p>
            <a:pPr marL="0" indent="0">
              <a:buNone/>
            </a:pPr>
            <a:r>
              <a:rPr lang="en-US" sz="1200" b="1" dirty="0">
                <a:solidFill>
                  <a:srgbClr val="005587"/>
                </a:solidFill>
                <a:latin typeface="Arial" pitchFamily="34" charset="0"/>
                <a:ea typeface="Arial" pitchFamily="34" charset="-122"/>
                <a:cs typeface="Arial" pitchFamily="34" charset="-120"/>
              </a:rPr>
              <a:t>Vibe coding</a:t>
            </a:r>
            <a:endParaRPr lang="en-US" sz="1200" dirty="0"/>
          </a:p>
        </p:txBody>
      </p:sp>
      <p:sp>
        <p:nvSpPr>
          <p:cNvPr id="18" name="Text 16"/>
          <p:cNvSpPr/>
          <p:nvPr/>
        </p:nvSpPr>
        <p:spPr>
          <a:xfrm>
            <a:off x="2743200" y="3913632"/>
            <a:ext cx="6035040" cy="420624"/>
          </a:xfrm>
          <a:prstGeom prst="rect">
            <a:avLst/>
          </a:prstGeom>
          <a:noFill/>
          <a:ln/>
        </p:spPr>
        <p:txBody>
          <a:bodyPr wrap="square" lIns="0" tIns="0" rIns="0" bIns="0" rtlCol="0" anchor="t"/>
          <a:lstStyle/>
          <a:p>
            <a:pPr marL="0" indent="0">
              <a:buNone/>
            </a:pPr>
            <a:r>
              <a:rPr lang="en-US" sz="1100" dirty="0">
                <a:solidFill>
                  <a:srgbClr val="000000"/>
                </a:solidFill>
                <a:latin typeface="Arial" pitchFamily="34" charset="0"/>
                <a:ea typeface="Arial" pitchFamily="34" charset="-122"/>
                <a:cs typeface="Arial" pitchFamily="34" charset="-120"/>
              </a:rPr>
              <a:t>Using AI coding assistants (like Gemini or Claude) to generate and iterate on code through natural-language prompts.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2488</Words>
  <Application>Microsoft Macintosh PowerPoint</Application>
  <PresentationFormat>On-screen Show (16:9)</PresentationFormat>
  <Paragraphs>353</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Whitney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MGMT298D Week 8 – AI Agents &amp; App Toolkit</dc:title>
  <dc:subject>PptxGenJS Presentation</dc:subject>
  <dc:creator>Auyon Siddiq</dc:creator>
  <cp:lastModifiedBy>Siddiq, Auyon</cp:lastModifiedBy>
  <cp:revision>1</cp:revision>
  <dcterms:created xsi:type="dcterms:W3CDTF">2026-02-25T19:03:22Z</dcterms:created>
  <dcterms:modified xsi:type="dcterms:W3CDTF">2026-02-25T19:41:08Z</dcterms:modified>
</cp:coreProperties>
</file>