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00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005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2286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Building LLM Apps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3794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7 Recap: LLMs in the Wild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Pre-training learns broad language patterns from huge text corpora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Post-training turns a base model into a useful assistant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is the product moment: user input → model output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how do we wrap that model in an app?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Today's Class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Deployment approaches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Prompting, RAG, and fine-tuning — three ways to adapt an LLM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App project + toolkit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your team will build, test, and deploy a working product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Part 1: Deployment Approaches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Builder's Question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frontier model, many possible products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only one component — prompts, data, UI, and workflow matter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Builder's question: what should change when the app needs better answers?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Input? Evidence? Weights?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Three Ways to Adapt an LLM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417320"/>
            <a:ext cx="18288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25880" y="153619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44168" y="18196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input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36392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749040" y="1417320"/>
            <a:ext cx="1828800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0" y="153619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58768" y="18196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evidence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50992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18288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53619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73368" y="18196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97180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start from the same base model.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58368" y="342900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real apps combine at least two.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Which Lever Solves Which Problem?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170432"/>
            <a:ext cx="2615184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0352" y="1170432"/>
            <a:ext cx="2615184" cy="7315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35024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94944" y="1792224"/>
            <a:ext cx="22860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568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better behavior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24597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clearer format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96265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faster iteration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13232" y="38862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instructions first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19272" y="1170432"/>
            <a:ext cx="2615184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9272" y="1170432"/>
            <a:ext cx="2615184" cy="7315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47288" y="1335024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83864" y="1792224"/>
            <a:ext cx="22860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0440" y="19568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fresh facts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20440" y="24597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private documents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20440" y="296265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citations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502152" y="38862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evidence at runtime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08192" y="1170432"/>
            <a:ext cx="2615184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08192" y="1170432"/>
            <a:ext cx="2615184" cy="73152"/>
          </a:xfrm>
          <a:prstGeom prst="rect">
            <a:avLst/>
          </a:prstGeom>
          <a:solidFill>
            <a:srgbClr val="C4820E"/>
          </a:solidFill>
          <a:ln w="12700">
            <a:solidFill>
              <a:srgbClr val="C4820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1335024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72784" y="1792224"/>
            <a:ext cx="22860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19568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stable style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09360" y="24597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narrow skill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09360" y="296265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cheaper model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291072" y="38862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on examples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Approach 1: Prompting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Same Weights, Different Prompt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changes the input, not the model weights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 prompt: short, underspecified, easy to misread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prompt: role + task + context + format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app behavior starts here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What Goes Into a Prompt?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148132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3619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41248" y="1819656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should the model be?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24328" y="1417320"/>
            <a:ext cx="148132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53619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34056" y="1819656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it do?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78808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17136" y="1417320"/>
            <a:ext cx="148132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153619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26864" y="1819656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facts matter?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71616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9944" y="1417320"/>
            <a:ext cx="148132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153619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19672" y="1819656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output look like?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28803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prompts make the desired behavior boringly explicit.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33375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app needs consistency, specify the contract.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System Prompts and Roles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message: high-priority instruction for the assistant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message: what the person asks right 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message: app-level rules and workflow constraints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hierarchy is product design, not just wording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Few-Shot Prompting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prompting: show examples in the prompt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imitates the pattern at inference time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for classification, rewriting, extraction, and formatting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training step — just better examples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Prompting: When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15568"/>
            <a:ext cx="2743200" cy="50292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18872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prompting when...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46120" y="1115568"/>
            <a:ext cx="5486400" cy="50292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19272" y="118872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fits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61848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169164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is simple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3246120" y="161848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69164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are enough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02920" y="2121408"/>
            <a:ext cx="27432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219456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matters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3246120" y="2121408"/>
            <a:ext cx="54864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19272" y="219456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text, test again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502920" y="262432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69748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not private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3246120" y="262432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269748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retrieval layer needed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502920" y="3127248"/>
            <a:ext cx="27432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" y="320040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must follow a format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3246120" y="3127248"/>
            <a:ext cx="54864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9272" y="320040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anchor the pattern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502920" y="363016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370332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still exploring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3246120" y="363016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19272" y="370332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Cheapest lever to adjust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prompting. It is the fastest honest test.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Approach 2: RAG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RAG Adds Evidence at Runtime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= retrieval-augmented generation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relevant chunks from your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those chunks to the prompt before the model answers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still generates — it just has better context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RAG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Policies, PDFs, pages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002536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93976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12264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passages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74136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547872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9312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 as vectors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19472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93208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02936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closest chunks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64808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638544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48272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with evidence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28346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Indexing happens offline. Retrieval happens for each user question.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58368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decides what evidence reaches the model.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Chunking Is a Design Choice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chunks are precise, but may lose surrounding context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chunks preserve context, but can retrieve extra noise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helps avoid splitting an idea in half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quality starts before the model sees anything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RAG Failure Modes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retrieval: the answer never had the right evidence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synthesis: evidence was present, but the model used it badly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index: source documents changed, embeddings did not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reduces hallucination. It does not eliminate it.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RAG: When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15568"/>
            <a:ext cx="2743200" cy="50292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18872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RAG when...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46120" y="1115568"/>
            <a:ext cx="5486400" cy="50292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19272" y="118872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fits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61848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169164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change often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3246120" y="161848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69164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the index, not the weights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02920" y="2121408"/>
            <a:ext cx="27432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219456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is private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3246120" y="2121408"/>
            <a:ext cx="54864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19272" y="219456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from your own corpus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502920" y="262432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69748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need citations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3246120" y="262432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269748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back to source chunks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502920" y="3127248"/>
            <a:ext cx="27432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" y="320040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is broad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3246120" y="3127248"/>
            <a:ext cx="54864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9272" y="320040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more than fits in the context window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502920" y="363016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370332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need grounding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3246120" y="363016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19272" y="370332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travels with the prompt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problem is missing knowledge, retrieve before you train.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Approach 3: Fine-Tuning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Fine-Tuning Updates Weights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changes the model, not just the prompt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version usually means supervised fine-tuning (SFT)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examples look like: prompt → ideal answer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 repeated behavior you want baked in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What Fine-Tuning Looks Like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34440"/>
            <a:ext cx="54864" cy="62179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243584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04288" y="1243584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fine-tuning on prompt / ideal-answer pairs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2112264"/>
            <a:ext cx="54864" cy="62179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2140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04288" y="2121408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to a few thousand high-quality examples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990088"/>
            <a:ext cx="54864" cy="62179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999232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04288" y="2999232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style, format, tone, or narrow domain behavior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58368" y="3867912"/>
            <a:ext cx="54864" cy="62179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77056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304288" y="3877056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examples teach the model bad habits very efficiently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Fine-Tuning: When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15568"/>
            <a:ext cx="2743200" cy="50292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18872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fine-tuning when...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46120" y="1115568"/>
            <a:ext cx="5486400" cy="50292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19272" y="118872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fits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61848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169164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repeats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3246120" y="161848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69164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examples can cover it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02920" y="2121408"/>
            <a:ext cx="27432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219456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 must be stable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3246120" y="2121408"/>
            <a:ext cx="54864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19272" y="219456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 learn the pattern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502920" y="262432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69748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is too long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3246120" y="262432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269748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per-call instruction overhead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502920" y="3127248"/>
            <a:ext cx="27432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" y="320040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model is enough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3246120" y="3127248"/>
            <a:ext cx="5486400" cy="502920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9272" y="320040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 cheaper infrastructure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502920" y="363016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3703320"/>
            <a:ext cx="25968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evaluate outputs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3246120" y="363016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19272" y="3703320"/>
            <a:ext cx="5340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without eval is guesswork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is powerful, but unforgiving.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Three Levers Compared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15568"/>
            <a:ext cx="1828800" cy="38404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18872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331720" y="1115568"/>
            <a:ext cx="2148840" cy="38404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04872" y="11887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0560" y="1115568"/>
            <a:ext cx="2148840" cy="38404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1887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29400" y="1115568"/>
            <a:ext cx="2148840" cy="38404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02552" y="11887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1499616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1572768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weights?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2331720" y="1499616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04872" y="157276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4480560" y="1499616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2" y="157276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6629400" y="1499616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02552" y="157276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502920" y="1883664"/>
            <a:ext cx="18288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" y="1956816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new facts?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2331720" y="1883664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04872" y="1956816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little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4480560" y="1883664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1956816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6629400" y="1883664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02552" y="1956816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502920" y="2267712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23408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cost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2331720" y="2267712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04872" y="234086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4480560" y="2267712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53712" y="234086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to weeks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6629400" y="2267712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02552" y="234086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Weeks+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502920" y="2651760"/>
            <a:ext cx="18288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" y="272491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2331720" y="2651760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04872" y="272491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4480560" y="2651760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53712" y="272491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940" dirty="0"/>
          </a:p>
        </p:txBody>
      </p:sp>
      <p:sp>
        <p:nvSpPr>
          <p:cNvPr id="43" name="Shape 41"/>
          <p:cNvSpPr/>
          <p:nvPr/>
        </p:nvSpPr>
        <p:spPr>
          <a:xfrm>
            <a:off x="6629400" y="2651760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02552" y="272491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skill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502920" y="303580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6072" y="310896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by</a:t>
            </a:r>
            <a:endParaRPr lang="en-US" sz="940" dirty="0"/>
          </a:p>
        </p:txBody>
      </p:sp>
      <p:sp>
        <p:nvSpPr>
          <p:cNvPr id="47" name="Shape 45"/>
          <p:cNvSpPr/>
          <p:nvPr/>
        </p:nvSpPr>
        <p:spPr>
          <a:xfrm>
            <a:off x="2331720" y="3035808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04872" y="310896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prompt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4480560" y="3035808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53712" y="310896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retrieval</a:t>
            </a:r>
            <a:endParaRPr lang="en-US" sz="940" dirty="0"/>
          </a:p>
        </p:txBody>
      </p:sp>
      <p:sp>
        <p:nvSpPr>
          <p:cNvPr id="51" name="Shape 49"/>
          <p:cNvSpPr/>
          <p:nvPr/>
        </p:nvSpPr>
        <p:spPr>
          <a:xfrm>
            <a:off x="6629400" y="3035808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702552" y="310896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examples</a:t>
            </a:r>
            <a:endParaRPr lang="en-US" sz="940" dirty="0"/>
          </a:p>
        </p:txBody>
      </p:sp>
      <p:sp>
        <p:nvSpPr>
          <p:cNvPr id="53" name="Shape 51"/>
          <p:cNvSpPr/>
          <p:nvPr/>
        </p:nvSpPr>
        <p:spPr>
          <a:xfrm>
            <a:off x="502920" y="3419856"/>
            <a:ext cx="18288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" y="3493008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move?</a:t>
            </a:r>
            <a:endParaRPr lang="en-US" sz="940" dirty="0"/>
          </a:p>
        </p:txBody>
      </p:sp>
      <p:sp>
        <p:nvSpPr>
          <p:cNvPr id="55" name="Shape 53"/>
          <p:cNvSpPr/>
          <p:nvPr/>
        </p:nvSpPr>
        <p:spPr>
          <a:xfrm>
            <a:off x="2331720" y="3419856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04872" y="349300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Usually</a:t>
            </a:r>
            <a:endParaRPr lang="en-US" sz="940" dirty="0"/>
          </a:p>
        </p:txBody>
      </p:sp>
      <p:sp>
        <p:nvSpPr>
          <p:cNvPr id="57" name="Shape 55"/>
          <p:cNvSpPr/>
          <p:nvPr/>
        </p:nvSpPr>
        <p:spPr>
          <a:xfrm>
            <a:off x="4480560" y="3419856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53712" y="349300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facts matter</a:t>
            </a:r>
            <a:endParaRPr lang="en-US" sz="940" dirty="0"/>
          </a:p>
        </p:txBody>
      </p:sp>
      <p:sp>
        <p:nvSpPr>
          <p:cNvPr id="59" name="Shape 57"/>
          <p:cNvSpPr/>
          <p:nvPr/>
        </p:nvSpPr>
        <p:spPr>
          <a:xfrm>
            <a:off x="6629400" y="3419856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2552" y="349300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evals</a:t>
            </a:r>
            <a:endParaRPr lang="en-US" sz="940" dirty="0"/>
          </a:p>
        </p:txBody>
      </p:sp>
      <p:sp>
        <p:nvSpPr>
          <p:cNvPr id="61" name="Text 59"/>
          <p:cNvSpPr/>
          <p:nvPr/>
        </p:nvSpPr>
        <p:spPr>
          <a:xfrm>
            <a:off x="502920" y="44988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the lever to the failure mode is the whole game.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 Simple Debugging Rule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format? Improve the prompt.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or stale fact? Add retrieval.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Inconsistent repeated behavior? Consider fine-tuning.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train your way out of a product problem.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480000">
            <a:off x="960120" y="1444752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74AE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15-min Break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126480" y="3154680"/>
            <a:ext cx="1691640" cy="457200"/>
          </a:xfrm>
          <a:prstGeom prst="arc">
            <a:avLst/>
          </a:prstGeom>
          <a:noFill/>
          <a:ln w="25400">
            <a:solidFill>
              <a:srgbClr val="FFD1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37960" y="2743200"/>
            <a:ext cx="9144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2615184"/>
            <a:ext cx="1188720" cy="457200"/>
          </a:xfrm>
          <a:prstGeom prst="arc">
            <a:avLst/>
          </a:prstGeom>
          <a:noFill/>
          <a:ln w="1778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69480" y="217627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z z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Part 2: App Project + Toolkit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App Project: The Goal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web app that uses an LLM to solve a specific problem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should feel like a product, not a prompt pasted into a page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should make the workflow meaningfully better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user's painful task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Teams and Deliverable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Teams: groups of 3 students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public app URL + short project write-up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date: 11:59pm PT, May 27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presentations: Week 10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Picking a Use Case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task is painful, repetitive, or judgment-heavy?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information does the user bring?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app return that is actually useful?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AI disappeared, would the product still make sense?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Good Starter App Shapes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170432"/>
            <a:ext cx="2615184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0352" y="1170432"/>
            <a:ext cx="2615184" cy="7315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35024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94944" y="1792224"/>
            <a:ext cx="22860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568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24597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96265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13232" y="38862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Helps a user think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19272" y="1170432"/>
            <a:ext cx="2615184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9272" y="1170432"/>
            <a:ext cx="2615184" cy="7315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47288" y="1335024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83864" y="1792224"/>
            <a:ext cx="22860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0440" y="19568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20440" y="24597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20440" y="296265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502152" y="38862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input into structure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08192" y="1170432"/>
            <a:ext cx="2615184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08192" y="1170432"/>
            <a:ext cx="2615184" cy="73152"/>
          </a:xfrm>
          <a:prstGeom prst="rect">
            <a:avLst/>
          </a:prstGeom>
          <a:solidFill>
            <a:srgbClr val="C4820E"/>
          </a:solidFill>
          <a:ln w="12700">
            <a:solidFill>
              <a:srgbClr val="C4820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1335024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72784" y="1792224"/>
            <a:ext cx="22860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19568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09360" y="24597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09360" y="296265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291072" y="38862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 work forward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Development Toolkit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 for the small web server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HTML is enough; React is optional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for the LLM call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 for deployment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AI Coding With Cowork / Codex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not need to write every line manually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assistant to inspect folders, edit files, and debug errors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 to explain changes before you accept them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builder habit: small steps, frequent tests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Getting Your Gemini API Key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61872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2130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97280" y="123444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AI Studio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35808" y="1234440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aistudio.google.com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1920240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9796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97280" y="189280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35808" y="1892808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your Google account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2578608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6380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97280" y="255117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key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35808" y="2551176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Get API Key, then create a new key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36976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2964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320954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it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035808" y="3209544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key in .env, never in public code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belong in environment variables.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Deploying on Railway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61872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2130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97280" y="123444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account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35808" y="1234440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railway.com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1920240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9796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97280" y="189280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CLI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35808" y="1892808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brew install railway or npm install -g @railway/cli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2578608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6380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97280" y="255117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35808" y="2551176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railway login from the terminal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36976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29641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320954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035808" y="3209544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the folder, set variables, publish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app first. Public URL second.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Setup Checklist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15568"/>
            <a:ext cx="1645920" cy="438912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188720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48840" y="1115568"/>
            <a:ext cx="3383280" cy="438912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21992" y="1188720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532120" y="1115568"/>
            <a:ext cx="3200400" cy="438912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05272" y="1188720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554480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627632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2148840" y="1554480"/>
            <a:ext cx="3383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21992" y="162763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server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5532120" y="1554480"/>
            <a:ext cx="32004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05272" y="1627632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--version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502920" y="1993392"/>
            <a:ext cx="1645920" cy="438912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066544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key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2148840" y="1993392"/>
            <a:ext cx="3383280" cy="438912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21992" y="2066544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the model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5532120" y="1993392"/>
            <a:ext cx="3200400" cy="438912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05272" y="2066544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contains API key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02920" y="2432304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505456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2148840" y="2432304"/>
            <a:ext cx="3383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21992" y="2505456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app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5532120" y="2432304"/>
            <a:ext cx="32004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05272" y="2505456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 login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502920" y="2871216"/>
            <a:ext cx="1645920" cy="438912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2944368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2148840" y="2871216"/>
            <a:ext cx="3383280" cy="438912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21992" y="2944368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code if needed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5532120" y="2871216"/>
            <a:ext cx="3200400" cy="438912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05272" y="2944368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exists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502920" y="3310128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3383280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kit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2148840" y="3310128"/>
            <a:ext cx="3383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21992" y="3383280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instructions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5532120" y="3310128"/>
            <a:ext cx="32004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05272" y="3383280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is open</a:t>
            </a:r>
            <a:endParaRPr lang="en-US" sz="940" dirty="0"/>
          </a:p>
        </p:txBody>
      </p:sp>
      <p:sp>
        <p:nvSpPr>
          <p:cNvPr id="41" name="Text 39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most technical teammate to lead setup.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Work Session</a:t>
            </a:r>
            <a:endParaRPr lang="en-US" sz="3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Today's Work Session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088136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14757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97280" y="10607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team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35808" y="1060704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of 3. Write names down.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67792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97280" y="159105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ideas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35808" y="1591056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person brings 2 possible use cases.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2148840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20827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97280" y="212140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35808" y="2121408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painful task, not the flashiest demo.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2679192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73862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26517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value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035808" y="2651760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AI make this better?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3209544"/>
            <a:ext cx="310896" cy="310896"/>
          </a:xfrm>
          <a:prstGeom prst="ellipse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268980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31821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kit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035808" y="3182112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folder and first README.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class with a real product direction.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How the App Fits Together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+ setup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002536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93976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12264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/ Express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74136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547872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9312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+ user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19472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93208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02936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call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64808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638544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48272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workflow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28346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project folder holds the instructions, code, prompts, and deployment settings.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58368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 / Codex can work inside that folder with you.</a:t>
            </a:r>
            <a:endParaRPr lang="en-US" sz="14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How an LLM API Call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Collects input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002536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93976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12264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messages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74136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547872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9312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model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19472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93208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02936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text / JSON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64808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638544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48272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result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28346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API is a contract: send structured input, receive structured output.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58368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API key proves your app is allowed to call the model.</a:t>
            </a:r>
            <a:endParaRPr lang="en-US" sz="14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What APIs Let Builders 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an LLM behind a button, form, chat box, or workflow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text, structured JSON, classification, or extraction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temperature, max tokens, and system instructions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frontier AI like a software component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From Local Folder to Public URL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laptop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002536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93976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12264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npm start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74136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547872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9312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variables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19472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93208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7F9F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02936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64808" y="163677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638544" y="1417320"/>
            <a:ext cx="1298448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5361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48272" y="18196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28346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project, different environment.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58368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does not run locally, deployment will not magically fix it.</a:t>
            </a:r>
            <a:endParaRPr lang="en-US" sz="14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What Makes a Good Final App?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user: someone specific has a real task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workflow: input, AI step, useful output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improvement: faster, better, cheaper, or more personalized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limits: what the app should not do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Before Next Class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formed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selected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key created and stored in .env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app runs locally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21868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ready to build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Glossary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069848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359152" y="1069848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the model input to steer behavior without updating weights.</a:t>
            </a:r>
            <a:endParaRPr lang="en-US" sz="1140" dirty="0"/>
          </a:p>
        </p:txBody>
      </p:sp>
      <p:sp>
        <p:nvSpPr>
          <p:cNvPr id="7" name="Text 5"/>
          <p:cNvSpPr/>
          <p:nvPr/>
        </p:nvSpPr>
        <p:spPr>
          <a:xfrm>
            <a:off x="658368" y="1517904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359152" y="1517904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High-priority instruction that defines role, rules, and boundaries.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658368" y="196596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359152" y="1965960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examples in the prompt so the model imitates a pattern.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658368" y="2414016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59152" y="2414016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generation; adding retrieved evidence before generation.</a:t>
            </a:r>
            <a:endParaRPr lang="en-US" sz="1140" dirty="0"/>
          </a:p>
        </p:txBody>
      </p:sp>
      <p:sp>
        <p:nvSpPr>
          <p:cNvPr id="13" name="Text 11"/>
          <p:cNvSpPr/>
          <p:nvPr/>
        </p:nvSpPr>
        <p:spPr>
          <a:xfrm>
            <a:off x="658368" y="286207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862072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passage-sized piece of a document stored for retrieval.</a:t>
            </a:r>
            <a:endParaRPr lang="en-US" sz="1140" dirty="0"/>
          </a:p>
        </p:txBody>
      </p:sp>
      <p:sp>
        <p:nvSpPr>
          <p:cNvPr id="15" name="Text 13"/>
          <p:cNvSpPr/>
          <p:nvPr/>
        </p:nvSpPr>
        <p:spPr>
          <a:xfrm>
            <a:off x="658368" y="3310128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359152" y="3310128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representation used to compare semantic similarity.</a:t>
            </a:r>
            <a:endParaRPr lang="en-US" sz="1140" dirty="0"/>
          </a:p>
        </p:txBody>
      </p:sp>
      <p:sp>
        <p:nvSpPr>
          <p:cNvPr id="17" name="Text 15"/>
          <p:cNvSpPr/>
          <p:nvPr/>
        </p:nvSpPr>
        <p:spPr>
          <a:xfrm>
            <a:off x="658368" y="3758184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DB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359152" y="3758184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optimized for nearest-neighbor search over embeddings.</a:t>
            </a:r>
            <a:endParaRPr lang="en-US" sz="114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Glossary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069848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359152" y="1069848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Updating model weights using additional training examples.</a:t>
            </a:r>
            <a:endParaRPr lang="en-US" sz="1140" dirty="0"/>
          </a:p>
        </p:txBody>
      </p:sp>
      <p:sp>
        <p:nvSpPr>
          <p:cNvPr id="7" name="Text 5"/>
          <p:cNvSpPr/>
          <p:nvPr/>
        </p:nvSpPr>
        <p:spPr>
          <a:xfrm>
            <a:off x="658368" y="1517904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359152" y="1517904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fine-tuning on prompt / ideal-answer pairs.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658368" y="196596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359152" y="1965960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for sending structured requests and receiving structured responses.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658368" y="2414016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59152" y="2414016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URL where an API receives requests.</a:t>
            </a:r>
            <a:endParaRPr lang="en-US" sz="1140" dirty="0"/>
          </a:p>
        </p:txBody>
      </p:sp>
      <p:sp>
        <p:nvSpPr>
          <p:cNvPr id="13" name="Text 11"/>
          <p:cNvSpPr/>
          <p:nvPr/>
        </p:nvSpPr>
        <p:spPr>
          <a:xfrm>
            <a:off x="658368" y="286207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variable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862072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or config value stored outside source code.</a:t>
            </a:r>
            <a:endParaRPr lang="en-US" sz="1140" dirty="0"/>
          </a:p>
        </p:txBody>
      </p:sp>
      <p:sp>
        <p:nvSpPr>
          <p:cNvPr id="15" name="Text 13"/>
          <p:cNvSpPr/>
          <p:nvPr/>
        </p:nvSpPr>
        <p:spPr>
          <a:xfrm>
            <a:off x="658368" y="3310128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359152" y="3310128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an app from local development to a public server.</a:t>
            </a:r>
            <a:endParaRPr lang="en-US" sz="1140" dirty="0"/>
          </a:p>
        </p:txBody>
      </p:sp>
      <p:sp>
        <p:nvSpPr>
          <p:cNvPr id="17" name="Text 15"/>
          <p:cNvSpPr/>
          <p:nvPr/>
        </p:nvSpPr>
        <p:spPr>
          <a:xfrm>
            <a:off x="658368" y="3758184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359152" y="3758184"/>
            <a:ext cx="6080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platform we will use to host project apps.</a:t>
            </a:r>
            <a:endParaRPr lang="en-US" sz="11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UCLA Anderson School of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MGMT298D Week 8 - Building LLM Apps</dc:title>
  <dc:subject>Science and Strategy of AI</dc:subject>
  <dc:creator>Auyon Siddiq</dc:creator>
  <cp:lastModifiedBy>Auyon Siddiq</cp:lastModifiedBy>
  <cp:revision>1</cp:revision>
  <dcterms:created xsi:type="dcterms:W3CDTF">2026-05-14T15:59:47Z</dcterms:created>
  <dcterms:modified xsi:type="dcterms:W3CDTF">2026-05-14T15:59:47Z</dcterms:modified>
</cp:coreProperties>
</file>