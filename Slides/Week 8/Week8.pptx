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1" r:id="rId6"/>
    <p:sldId id="262" r:id="rId7"/>
    <p:sldId id="265" r:id="rId8"/>
    <p:sldId id="268" r:id="rId9"/>
    <p:sldId id="270" r:id="rId10"/>
    <p:sldId id="273" r:id="rId11"/>
    <p:sldId id="274" r:id="rId12"/>
    <p:sldId id="275" r:id="rId13"/>
    <p:sldId id="276" r:id="rId14"/>
    <p:sldId id="278" r:id="rId15"/>
    <p:sldId id="279" r:id="rId16"/>
    <p:sldId id="280" r:id="rId17"/>
    <p:sldId id="281" r:id="rId18"/>
    <p:sldId id="283" r:id="rId19"/>
    <p:sldId id="285" r:id="rId20"/>
    <p:sldId id="286" r:id="rId21"/>
    <p:sldId id="287" r:id="rId22"/>
    <p:sldId id="290" r:id="rId23"/>
    <p:sldId id="291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5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4332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00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Building LLM Apps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94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Today's Class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Building with LLMs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Prompting, RAG, and fine-tuning — three ways products adapt a model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Product Sprint + live demo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App Development Kit to build, test, and deploy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1: Deployment Approaches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changes the input, not the model weights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 = lightweight customization for one app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for role, rules, tone, and output format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training step — the model is still the same model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System 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prompt: persistent instructions the app sends with every request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 role, rules, boundaries, tone, and output format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make the model act like a strict classifier or product coach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customization, not new knowledge or new weights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Hidden Context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context: information the app sends that the user did not type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user profile, current page state, selected record, rubric, policy excerpt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when the app needs continuity, personalization, or private product state</a:t>
            </a:r>
            <a:endParaRPr lang="en-US" sz="1540" dirty="0"/>
          </a:p>
        </p:txBody>
      </p:sp>
      <p:sp>
        <p:nvSpPr>
          <p:cNvPr id="8" name="Text 6"/>
          <p:cNvSpPr/>
          <p:nvPr/>
        </p:nvSpPr>
        <p:spPr>
          <a:xfrm>
            <a:off x="640080" y="268833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sees it as part of the request; it is hidden from the UI, not hidden from the model</a:t>
            </a:r>
            <a:endParaRPr lang="en-US" sz="1540" dirty="0"/>
          </a:p>
        </p:txBody>
      </p:sp>
      <p:sp>
        <p:nvSpPr>
          <p:cNvPr id="9" name="Text 7"/>
          <p:cNvSpPr/>
          <p:nvPr/>
        </p:nvSpPr>
        <p:spPr>
          <a:xfrm>
            <a:off x="640080" y="321868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practice: label it clearly and separate it from the user's words</a:t>
            </a:r>
            <a:endParaRPr lang="en-US" sz="15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Few-Shot 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prompting: include a few labeled examples in the prompt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when the task is hard to explain but easy to demonstrate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well for classification, extraction, rewriting, and formatting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imitates the pattern at inference time</a:t>
            </a:r>
            <a:endParaRPr lang="en-US" sz="1650" dirty="0"/>
          </a:p>
        </p:txBody>
      </p:sp>
      <p:sp>
        <p:nvSpPr>
          <p:cNvPr id="9" name="TextLine"/>
          <p:cNvSpPr/>
          <p:nvPr/>
        </p:nvSpPr>
        <p:spPr>
          <a:xfrm>
            <a:off x="640080" y="3380000"/>
            <a:ext cx="78181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examples?</a:t>
            </a:r>
            <a:endParaRPr lang="en-US" sz="1400" dirty="0"/>
          </a:p>
        </p:txBody>
      </p:sp>
      <p:sp>
        <p:nvSpPr>
          <p:cNvPr id="10" name="TextLine"/>
          <p:cNvSpPr/>
          <p:nvPr/>
        </p:nvSpPr>
        <p:spPr>
          <a:xfrm>
            <a:off x="640080" y="3760000"/>
            <a:ext cx="78181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starting point: 2–5 short examples</a:t>
            </a:r>
            <a:endParaRPr lang="en-US" sz="1300" dirty="0"/>
          </a:p>
        </p:txBody>
      </p:sp>
      <p:sp>
        <p:nvSpPr>
          <p:cNvPr id="11" name="TextLine"/>
          <p:cNvSpPr/>
          <p:nvPr/>
        </p:nvSpPr>
        <p:spPr>
          <a:xfrm>
            <a:off x="640080" y="4140000"/>
            <a:ext cx="78181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10 only if examples are tiny and the task really needs them</a:t>
            </a:r>
            <a:endParaRPr lang="en-US" sz="1300" dirty="0"/>
          </a:p>
        </p:txBody>
      </p:sp>
      <p:sp>
        <p:nvSpPr>
          <p:cNvPr id="12" name="TextLine"/>
          <p:cNvSpPr/>
          <p:nvPr/>
        </p:nvSpPr>
        <p:spPr>
          <a:xfrm>
            <a:off x="640080" y="4520000"/>
            <a:ext cx="78181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labeled datasets do not belong in the system prompt</a:t>
            </a:r>
            <a:endParaRPr lang="en-US" sz="1300" dirty="0"/>
          </a:p>
        </p:txBody>
      </p:sp>
      <p:sp>
        <p:nvSpPr>
          <p:cNvPr id="13" name="TextLine"/>
          <p:cNvSpPr/>
          <p:nvPr/>
        </p:nvSpPr>
        <p:spPr>
          <a:xfrm>
            <a:off x="640080" y="4900000"/>
            <a:ext cx="78181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examples are large or changing: use RAG, ML, or fine-tuning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RAG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Picture 30" descr="A diagram of a diagram&#10;&#10;AI-generated content may be incorrect.">
            <a:extLst>
              <a:ext uri="{FF2B5EF4-FFF2-40B4-BE49-F238E27FC236}">
                <a16:creationId xmlns:a16="http://schemas.microsoft.com/office/drawing/2014/main" id="{BA73882C-91BB-2797-1451-0B97C36CB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3" y="986220"/>
            <a:ext cx="5168066" cy="2736034"/>
          </a:xfrm>
          <a:prstGeom prst="rect">
            <a:avLst/>
          </a:prstGeom>
        </p:spPr>
      </p:pic>
      <p:pic>
        <p:nvPicPr>
          <p:cNvPr id="33" name="Picture 32" descr="A diagram of a diagram&#10;&#10;AI-generated content may be incorrect.">
            <a:extLst>
              <a:ext uri="{FF2B5EF4-FFF2-40B4-BE49-F238E27FC236}">
                <a16:creationId xmlns:a16="http://schemas.microsoft.com/office/drawing/2014/main" id="{4552C7A5-6B66-9D53-E1EA-EA17D67B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628" y="923545"/>
            <a:ext cx="2689596" cy="3420044"/>
          </a:xfrm>
          <a:prstGeom prst="rect">
            <a:avLst/>
          </a:prstGeom>
        </p:spPr>
      </p:pic>
      <p:pic>
        <p:nvPicPr>
          <p:cNvPr id="35" name="Picture 34" descr="A diagram of a process&#10;&#10;AI-generated content may be incorrect.">
            <a:extLst>
              <a:ext uri="{FF2B5EF4-FFF2-40B4-BE49-F238E27FC236}">
                <a16:creationId xmlns:a16="http://schemas.microsoft.com/office/drawing/2014/main" id="{25D123FD-FBB8-775D-39E6-269019523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9864" y="1874735"/>
            <a:ext cx="4560058" cy="34200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Fine-Tuning Needs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243584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04288" y="1243584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High-quality prompt / ideal-answer pairs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2112264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12140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04288" y="2121408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style, format, tone, or narrow domain behavior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990088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999232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04288" y="2999232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way to tell whether the tuned model got better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58368" y="3867912"/>
            <a:ext cx="54864" cy="62179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877056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304288" y="3877056"/>
            <a:ext cx="6583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examples teach bad habits very efficiently</a:t>
            </a:r>
            <a:endParaRPr lang="en-US" sz="1400" dirty="0"/>
          </a:p>
        </p:txBody>
      </p:sp>
      <p:sp>
        <p:nvSpPr>
          <p:cNvPr id="17" name="TextLine"/>
          <p:cNvSpPr/>
          <p:nvPr/>
        </p:nvSpPr>
        <p:spPr>
          <a:xfrm>
            <a:off x="640080" y="960000"/>
            <a:ext cx="781812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changes the model (SFT: prompt → ideal-answer pairs). What you need: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The Three Levers Compared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82880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18872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2331720" y="1115568"/>
            <a:ext cx="214884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04872" y="11887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4480560" y="1115568"/>
            <a:ext cx="214884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53712" y="11887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6629400" y="1115568"/>
            <a:ext cx="2148840" cy="38404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02552" y="11887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502920" y="1499616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" y="157276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weights?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2331720" y="1499616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04872" y="15727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4480560" y="1499616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53712" y="15727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6629400" y="1499616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02552" y="157276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502920" y="1883664"/>
            <a:ext cx="18288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" y="1956816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new facts?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2331720" y="1883664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404872" y="1956816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little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4480560" y="1883664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53712" y="1956816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629400" y="1883664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702552" y="1956816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502920" y="2267712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76072" y="23408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cost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2331720" y="2267712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404872" y="234086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4480560" y="2267712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53712" y="234086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to weeks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6629400" y="2267712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702552" y="234086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Weeks+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502920" y="2651760"/>
            <a:ext cx="18288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76072" y="272491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2331720" y="2651760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404872" y="27249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4480560" y="2651760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553712" y="27249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020" dirty="0"/>
          </a:p>
        </p:txBody>
      </p:sp>
      <p:sp>
        <p:nvSpPr>
          <p:cNvPr id="43" name="Shape 41"/>
          <p:cNvSpPr/>
          <p:nvPr/>
        </p:nvSpPr>
        <p:spPr>
          <a:xfrm>
            <a:off x="6629400" y="2651760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702552" y="272491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skill</a:t>
            </a:r>
            <a:endParaRPr lang="en-US" sz="1020" dirty="0"/>
          </a:p>
        </p:txBody>
      </p:sp>
      <p:sp>
        <p:nvSpPr>
          <p:cNvPr id="45" name="Shape 43"/>
          <p:cNvSpPr/>
          <p:nvPr/>
        </p:nvSpPr>
        <p:spPr>
          <a:xfrm>
            <a:off x="502920" y="303580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76072" y="3108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by</a:t>
            </a:r>
            <a:endParaRPr lang="en-US" sz="1020" dirty="0"/>
          </a:p>
        </p:txBody>
      </p:sp>
      <p:sp>
        <p:nvSpPr>
          <p:cNvPr id="47" name="Shape 45"/>
          <p:cNvSpPr/>
          <p:nvPr/>
        </p:nvSpPr>
        <p:spPr>
          <a:xfrm>
            <a:off x="2331720" y="3035808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04872" y="310896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prompt</a:t>
            </a:r>
            <a:endParaRPr lang="en-US" sz="1020" dirty="0"/>
          </a:p>
        </p:txBody>
      </p:sp>
      <p:sp>
        <p:nvSpPr>
          <p:cNvPr id="49" name="Shape 47"/>
          <p:cNvSpPr/>
          <p:nvPr/>
        </p:nvSpPr>
        <p:spPr>
          <a:xfrm>
            <a:off x="4480560" y="3035808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553712" y="310896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retrieval</a:t>
            </a:r>
            <a:endParaRPr lang="en-US" sz="1020" dirty="0"/>
          </a:p>
        </p:txBody>
      </p:sp>
      <p:sp>
        <p:nvSpPr>
          <p:cNvPr id="51" name="Shape 49"/>
          <p:cNvSpPr/>
          <p:nvPr/>
        </p:nvSpPr>
        <p:spPr>
          <a:xfrm>
            <a:off x="6629400" y="3035808"/>
            <a:ext cx="21488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702552" y="310896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examples</a:t>
            </a:r>
            <a:endParaRPr lang="en-US" sz="1020" dirty="0"/>
          </a:p>
        </p:txBody>
      </p:sp>
      <p:sp>
        <p:nvSpPr>
          <p:cNvPr id="53" name="Shape 51"/>
          <p:cNvSpPr/>
          <p:nvPr/>
        </p:nvSpPr>
        <p:spPr>
          <a:xfrm>
            <a:off x="502920" y="3419856"/>
            <a:ext cx="182880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76072" y="3493008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move?</a:t>
            </a:r>
            <a:endParaRPr lang="en-US" sz="1020" dirty="0"/>
          </a:p>
        </p:txBody>
      </p:sp>
      <p:sp>
        <p:nvSpPr>
          <p:cNvPr id="55" name="Shape 53"/>
          <p:cNvSpPr/>
          <p:nvPr/>
        </p:nvSpPr>
        <p:spPr>
          <a:xfrm>
            <a:off x="2331720" y="3419856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2404872" y="349300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Usually</a:t>
            </a:r>
            <a:endParaRPr lang="en-US" sz="1020" dirty="0"/>
          </a:p>
        </p:txBody>
      </p:sp>
      <p:sp>
        <p:nvSpPr>
          <p:cNvPr id="57" name="Shape 55"/>
          <p:cNvSpPr/>
          <p:nvPr/>
        </p:nvSpPr>
        <p:spPr>
          <a:xfrm>
            <a:off x="4480560" y="3419856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53712" y="349300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facts matter</a:t>
            </a:r>
            <a:endParaRPr lang="en-US" sz="1020" dirty="0"/>
          </a:p>
        </p:txBody>
      </p:sp>
      <p:sp>
        <p:nvSpPr>
          <p:cNvPr id="59" name="Shape 57"/>
          <p:cNvSpPr/>
          <p:nvPr/>
        </p:nvSpPr>
        <p:spPr>
          <a:xfrm>
            <a:off x="6629400" y="3419856"/>
            <a:ext cx="2148840" cy="38404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702552" y="3493008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evals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 Simple Debugging Rule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format? Improve the prompt.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or stale fact? Add retrieval.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 repeated behavior? Consider fine-tuning.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train your way out of a product problem.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480000">
            <a:off x="960120" y="1444752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2774AE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15-min Break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126480" y="3154680"/>
            <a:ext cx="1691640" cy="457200"/>
          </a:xfrm>
          <a:prstGeom prst="arc">
            <a:avLst/>
          </a:prstGeom>
          <a:noFill/>
          <a:ln w="25400">
            <a:solidFill>
              <a:srgbClr val="FFD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37960" y="2743200"/>
            <a:ext cx="9144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0" y="2615184"/>
            <a:ext cx="1188720" cy="457200"/>
          </a:xfrm>
          <a:prstGeom prst="arc">
            <a:avLst/>
          </a:prstGeom>
          <a:noFill/>
          <a:ln w="17780">
            <a:solidFill>
              <a:srgbClr val="FFD1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69480" y="217627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z z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2: Product Sprint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You Will Turn 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Teams: groups of 3 students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public app URL + short project write-up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date: 11:59pm PT, May 27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presentations: Week 10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What We Are Looking For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2011680" cy="47548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1887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2514600" y="1115568"/>
            <a:ext cx="6217920" cy="47548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587752" y="1188720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project signal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02920" y="1591056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6072" y="1664208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2514600" y="1591056"/>
            <a:ext cx="6217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87752" y="1664208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specific person with a real task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502920" y="2066544"/>
            <a:ext cx="2011680" cy="47548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" y="2139696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2514600" y="2066544"/>
            <a:ext cx="6217920" cy="47548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87752" y="2139696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input, AI step, and useful output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502920" y="2542032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6072" y="2615184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value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2514600" y="2542032"/>
            <a:ext cx="6217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587752" y="2615184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better, cheaper, or more personalized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2011680" cy="47548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" y="309067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feel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2514600" y="3017520"/>
            <a:ext cx="6217920" cy="47548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87752" y="3090672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can use it without you narrating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502920" y="3493008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76072" y="356616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2514600" y="3493008"/>
            <a:ext cx="6217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587752" y="3566160"/>
            <a:ext cx="607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what the app should not do</a:t>
            </a:r>
            <a:endParaRPr lang="en-US" sz="1020" dirty="0"/>
          </a:p>
        </p:txBody>
      </p:sp>
      <p:sp>
        <p:nvSpPr>
          <p:cNvPr id="29" name="TextLine"/>
          <p:cNvSpPr/>
          <p:nvPr/>
        </p:nvSpPr>
        <p:spPr>
          <a:xfrm>
            <a:off x="640080" y="935000"/>
            <a:ext cx="781812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small web app where AI meaningfully improves a real user's painful task.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Good Starter Products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Advisor: interview prep coach for a specific role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" y="168249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product-review summarizer with next-step recommendations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40080" y="226771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 customer-support triage for a small business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tool: policy Q&amp;A for an internal handbook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Not Every App Needs an LLM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645920" cy="56692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76072" y="118872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2148840" y="1115568"/>
            <a:ext cx="3840480" cy="56692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21992" y="1188720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when...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89320" y="1115568"/>
            <a:ext cx="2743200" cy="566928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62472" y="11887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502920" y="1682496"/>
            <a:ext cx="1645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" y="175564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app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2148840" y="1682496"/>
            <a:ext cx="3840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21992" y="1755648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Language, reasoning, summarizing, conversation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989320" y="1682496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62472" y="1755648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Q&amp;A coach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1645920" cy="56692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6072" y="2322576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/ MobileNetV2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2148840" y="2249424"/>
            <a:ext cx="3840480" cy="56692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21992" y="2322576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are the input and classes are known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989320" y="2249424"/>
            <a:ext cx="2743200" cy="566928"/>
          </a:xfrm>
          <a:prstGeom prst="rect">
            <a:avLst/>
          </a:prstGeom>
          <a:solidFill>
            <a:srgbClr val="EDF2F7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62472" y="2322576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disease classifier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2816352"/>
            <a:ext cx="1645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76072" y="2889504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ML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2148840" y="2816352"/>
            <a:ext cx="3840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221992" y="2889504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rows predict a number or class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989320" y="2816352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62472" y="2889504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or demand prediction</a:t>
            </a:r>
            <a:endParaRPr lang="en-US" sz="980" dirty="0"/>
          </a:p>
        </p:txBody>
      </p:sp>
      <p:sp>
        <p:nvSpPr>
          <p:cNvPr id="29" name="TextLine"/>
          <p:cNvSpPr/>
          <p:nvPr/>
        </p:nvSpPr>
        <p:spPr>
          <a:xfrm>
            <a:off x="640080" y="3450000"/>
            <a:ext cx="781812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alternatives beat an LLM:</a:t>
            </a:r>
            <a:endParaRPr lang="en-US" sz="1300" dirty="0"/>
          </a:p>
        </p:txBody>
      </p:sp>
      <p:sp>
        <p:nvSpPr>
          <p:cNvPr id="30" name="TextLine"/>
          <p:cNvSpPr/>
          <p:nvPr/>
        </p:nvSpPr>
        <p:spPr>
          <a:xfrm>
            <a:off x="640080" y="3790000"/>
            <a:ext cx="781812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MobileNetV2: when the app mostly recognizes visual categories</a:t>
            </a:r>
            <a:endParaRPr lang="en-US" sz="1150" dirty="0"/>
          </a:p>
        </p:txBody>
      </p:sp>
      <p:sp>
        <p:nvSpPr>
          <p:cNvPr id="31" name="TextLine"/>
          <p:cNvSpPr/>
          <p:nvPr/>
        </p:nvSpPr>
        <p:spPr>
          <a:xfrm>
            <a:off x="640080" y="4090000"/>
            <a:ext cx="781812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ML: when the app predicts from tabular features</a:t>
            </a:r>
            <a:endParaRPr lang="en-US" sz="1150" dirty="0"/>
          </a:p>
        </p:txBody>
      </p:sp>
      <p:sp>
        <p:nvSpPr>
          <p:cNvPr id="32" name="TextLine"/>
          <p:cNvSpPr/>
          <p:nvPr/>
        </p:nvSpPr>
        <p:spPr>
          <a:xfrm>
            <a:off x="640080" y="4390000"/>
            <a:ext cx="781812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LLM: when language, judgment, or flexible generation is central</a:t>
            </a:r>
            <a:endParaRPr lang="en-US" sz="1150" dirty="0"/>
          </a:p>
        </p:txBody>
      </p:sp>
      <p:sp>
        <p:nvSpPr>
          <p:cNvPr id="33" name="TextLine"/>
          <p:cNvSpPr/>
          <p:nvPr/>
        </p:nvSpPr>
        <p:spPr>
          <a:xfrm>
            <a:off x="640080" y="4690000"/>
            <a:ext cx="781812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combine them — e.g., ML prediction + LLM explanation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App Development Kit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Gemini 2.5 Flash: What It Can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code: gemini-2.5-flash</a:t>
            </a:r>
            <a:endParaRPr lang="en-US" sz="148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text, images, video, audio; output: text</a:t>
            </a:r>
            <a:endParaRPr lang="en-US" sz="1480" dirty="0"/>
          </a:p>
        </p:txBody>
      </p:sp>
      <p:sp>
        <p:nvSpPr>
          <p:cNvPr id="7" name="Text 5"/>
          <p:cNvSpPr/>
          <p:nvPr/>
        </p:nvSpPr>
        <p:spPr>
          <a:xfrm>
            <a:off x="640080" y="2048256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for: low-latency, high-volume apps that still need reasoning</a:t>
            </a:r>
            <a:endParaRPr lang="en-US" sz="1480" dirty="0"/>
          </a:p>
        </p:txBody>
      </p:sp>
      <p:sp>
        <p:nvSpPr>
          <p:cNvPr id="8" name="Text 6"/>
          <p:cNvSpPr/>
          <p:nvPr/>
        </p:nvSpPr>
        <p:spPr>
          <a:xfrm>
            <a:off x="640080" y="2523744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Supported: thinking, structured outputs, function calling, code execution</a:t>
            </a:r>
            <a:endParaRPr lang="en-US" sz="1480" dirty="0"/>
          </a:p>
        </p:txBody>
      </p:sp>
      <p:sp>
        <p:nvSpPr>
          <p:cNvPr id="9" name="Text 7"/>
          <p:cNvSpPr/>
          <p:nvPr/>
        </p:nvSpPr>
        <p:spPr>
          <a:xfrm>
            <a:off x="640080" y="2999232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supported: file search, URL context, Search grounding, Maps grounding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818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supported in this model: image generation, audio generation, Live API</a:t>
            </a:r>
            <a:endParaRPr lang="en-US" sz="14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Gemini 2.5 Flash: Pricing + Limits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eaderBg"/>
          <p:cNvSpPr/>
          <p:nvPr/>
        </p:nvSpPr>
        <p:spPr>
          <a:xfrm>
            <a:off x="502920" y="1115568"/>
            <a:ext cx="2194560" cy="34000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eaderText"/>
          <p:cNvSpPr/>
          <p:nvPr/>
        </p:nvSpPr>
        <p:spPr>
          <a:xfrm>
            <a:off x="576072" y="10935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1120" dirty="0"/>
          </a:p>
        </p:txBody>
      </p:sp>
      <p:sp>
        <p:nvSpPr>
          <p:cNvPr id="7" name="HeaderBg"/>
          <p:cNvSpPr/>
          <p:nvPr/>
        </p:nvSpPr>
        <p:spPr>
          <a:xfrm>
            <a:off x="2697480" y="1115568"/>
            <a:ext cx="6035040" cy="34000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eaderText"/>
          <p:cNvSpPr/>
          <p:nvPr/>
        </p:nvSpPr>
        <p:spPr>
          <a:xfrm>
            <a:off x="2770632" y="10935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120" dirty="0"/>
          </a:p>
        </p:txBody>
      </p:sp>
      <p:sp>
        <p:nvSpPr>
          <p:cNvPr id="9" name="CellBg"/>
          <p:cNvSpPr/>
          <p:nvPr/>
        </p:nvSpPr>
        <p:spPr>
          <a:xfrm>
            <a:off x="502920" y="145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abel"/>
          <p:cNvSpPr/>
          <p:nvPr/>
        </p:nvSpPr>
        <p:spPr>
          <a:xfrm>
            <a:off x="576072" y="141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code</a:t>
            </a:r>
            <a:endParaRPr lang="en-US" sz="1020" dirty="0"/>
          </a:p>
        </p:txBody>
      </p:sp>
      <p:sp>
        <p:nvSpPr>
          <p:cNvPr id="11" name="CellBg"/>
          <p:cNvSpPr/>
          <p:nvPr/>
        </p:nvSpPr>
        <p:spPr>
          <a:xfrm>
            <a:off x="2697480" y="145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Value"/>
          <p:cNvSpPr/>
          <p:nvPr/>
        </p:nvSpPr>
        <p:spPr>
          <a:xfrm>
            <a:off x="2770632" y="141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gemini-2.5-flash</a:t>
            </a:r>
            <a:endParaRPr lang="en-US" sz="1020" dirty="0"/>
          </a:p>
        </p:txBody>
      </p:sp>
      <p:sp>
        <p:nvSpPr>
          <p:cNvPr id="13" name="CellBg"/>
          <p:cNvSpPr/>
          <p:nvPr/>
        </p:nvSpPr>
        <p:spPr>
          <a:xfrm>
            <a:off x="502920" y="175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Label"/>
          <p:cNvSpPr/>
          <p:nvPr/>
        </p:nvSpPr>
        <p:spPr>
          <a:xfrm>
            <a:off x="576072" y="170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/ output</a:t>
            </a:r>
            <a:endParaRPr lang="en-US" sz="1020" dirty="0"/>
          </a:p>
        </p:txBody>
      </p:sp>
      <p:sp>
        <p:nvSpPr>
          <p:cNvPr id="15" name="CellBg"/>
          <p:cNvSpPr/>
          <p:nvPr/>
        </p:nvSpPr>
        <p:spPr>
          <a:xfrm>
            <a:off x="2697480" y="175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Value"/>
          <p:cNvSpPr/>
          <p:nvPr/>
        </p:nvSpPr>
        <p:spPr>
          <a:xfrm>
            <a:off x="2770632" y="170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text, image, video, audio  |  Output: text</a:t>
            </a:r>
            <a:endParaRPr lang="en-US" sz="1020" dirty="0"/>
          </a:p>
        </p:txBody>
      </p:sp>
      <p:sp>
        <p:nvSpPr>
          <p:cNvPr id="17" name="CellBg"/>
          <p:cNvSpPr/>
          <p:nvPr/>
        </p:nvSpPr>
        <p:spPr>
          <a:xfrm>
            <a:off x="502920" y="204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Label"/>
          <p:cNvSpPr/>
          <p:nvPr/>
        </p:nvSpPr>
        <p:spPr>
          <a:xfrm>
            <a:off x="576072" y="200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</a:t>
            </a:r>
            <a:endParaRPr lang="en-US" sz="1020" dirty="0"/>
          </a:p>
        </p:txBody>
      </p:sp>
      <p:sp>
        <p:nvSpPr>
          <p:cNvPr id="19" name="CellBg"/>
          <p:cNvSpPr/>
          <p:nvPr/>
        </p:nvSpPr>
        <p:spPr>
          <a:xfrm>
            <a:off x="2697480" y="204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Value"/>
          <p:cNvSpPr/>
          <p:nvPr/>
        </p:nvSpPr>
        <p:spPr>
          <a:xfrm>
            <a:off x="2770632" y="200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1,048,576 input tokens</a:t>
            </a:r>
            <a:endParaRPr lang="en-US" sz="1020" dirty="0"/>
          </a:p>
        </p:txBody>
      </p:sp>
      <p:sp>
        <p:nvSpPr>
          <p:cNvPr id="21" name="CellBg"/>
          <p:cNvSpPr/>
          <p:nvPr/>
        </p:nvSpPr>
        <p:spPr>
          <a:xfrm>
            <a:off x="502920" y="234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Label"/>
          <p:cNvSpPr/>
          <p:nvPr/>
        </p:nvSpPr>
        <p:spPr>
          <a:xfrm>
            <a:off x="576072" y="229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output</a:t>
            </a:r>
            <a:endParaRPr lang="en-US" sz="1020" dirty="0"/>
          </a:p>
        </p:txBody>
      </p:sp>
      <p:sp>
        <p:nvSpPr>
          <p:cNvPr id="23" name="CellBg"/>
          <p:cNvSpPr/>
          <p:nvPr/>
        </p:nvSpPr>
        <p:spPr>
          <a:xfrm>
            <a:off x="2697480" y="234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Value"/>
          <p:cNvSpPr/>
          <p:nvPr/>
        </p:nvSpPr>
        <p:spPr>
          <a:xfrm>
            <a:off x="2770632" y="229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65,536 tokens</a:t>
            </a:r>
            <a:endParaRPr lang="en-US" sz="1020" dirty="0"/>
          </a:p>
        </p:txBody>
      </p:sp>
      <p:sp>
        <p:nvSpPr>
          <p:cNvPr id="25" name="CellBg"/>
          <p:cNvSpPr/>
          <p:nvPr/>
        </p:nvSpPr>
        <p:spPr>
          <a:xfrm>
            <a:off x="502920" y="263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Label"/>
          <p:cNvSpPr/>
          <p:nvPr/>
        </p:nvSpPr>
        <p:spPr>
          <a:xfrm>
            <a:off x="576072" y="259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price (text/image/video)</a:t>
            </a:r>
            <a:endParaRPr lang="en-US" sz="1020" dirty="0"/>
          </a:p>
        </p:txBody>
      </p:sp>
      <p:sp>
        <p:nvSpPr>
          <p:cNvPr id="27" name="CellBg"/>
          <p:cNvSpPr/>
          <p:nvPr/>
        </p:nvSpPr>
        <p:spPr>
          <a:xfrm>
            <a:off x="2697480" y="263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Value"/>
          <p:cNvSpPr/>
          <p:nvPr/>
        </p:nvSpPr>
        <p:spPr>
          <a:xfrm>
            <a:off x="2770632" y="259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 per 1M tokens</a:t>
            </a:r>
            <a:endParaRPr lang="en-US" sz="1020" dirty="0"/>
          </a:p>
        </p:txBody>
      </p:sp>
      <p:sp>
        <p:nvSpPr>
          <p:cNvPr id="29" name="CellBg"/>
          <p:cNvSpPr/>
          <p:nvPr/>
        </p:nvSpPr>
        <p:spPr>
          <a:xfrm>
            <a:off x="502920" y="293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"/>
          <p:cNvSpPr/>
          <p:nvPr/>
        </p:nvSpPr>
        <p:spPr>
          <a:xfrm>
            <a:off x="576072" y="288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price (audio)</a:t>
            </a:r>
            <a:endParaRPr lang="en-US" sz="1020" dirty="0"/>
          </a:p>
        </p:txBody>
      </p:sp>
      <p:sp>
        <p:nvSpPr>
          <p:cNvPr id="31" name="CellBg"/>
          <p:cNvSpPr/>
          <p:nvPr/>
        </p:nvSpPr>
        <p:spPr>
          <a:xfrm>
            <a:off x="2697480" y="293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Value"/>
          <p:cNvSpPr/>
          <p:nvPr/>
        </p:nvSpPr>
        <p:spPr>
          <a:xfrm>
            <a:off x="2770632" y="288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$1.00 per 1M tokens</a:t>
            </a:r>
            <a:endParaRPr lang="en-US" sz="1020" dirty="0"/>
          </a:p>
        </p:txBody>
      </p:sp>
      <p:sp>
        <p:nvSpPr>
          <p:cNvPr id="33" name="CellBg"/>
          <p:cNvSpPr/>
          <p:nvPr/>
        </p:nvSpPr>
        <p:spPr>
          <a:xfrm>
            <a:off x="502920" y="322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Label"/>
          <p:cNvSpPr/>
          <p:nvPr/>
        </p:nvSpPr>
        <p:spPr>
          <a:xfrm>
            <a:off x="576072" y="318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price</a:t>
            </a:r>
            <a:endParaRPr lang="en-US" sz="1020" dirty="0"/>
          </a:p>
        </p:txBody>
      </p:sp>
      <p:sp>
        <p:nvSpPr>
          <p:cNvPr id="35" name="CellBg"/>
          <p:cNvSpPr/>
          <p:nvPr/>
        </p:nvSpPr>
        <p:spPr>
          <a:xfrm>
            <a:off x="2697480" y="322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Value"/>
          <p:cNvSpPr/>
          <p:nvPr/>
        </p:nvSpPr>
        <p:spPr>
          <a:xfrm>
            <a:off x="2770632" y="318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$2.50 per 1M tokens</a:t>
            </a:r>
            <a:endParaRPr lang="en-US" sz="1020" dirty="0"/>
          </a:p>
        </p:txBody>
      </p:sp>
      <p:sp>
        <p:nvSpPr>
          <p:cNvPr id="37" name="CellBg"/>
          <p:cNvSpPr/>
          <p:nvPr/>
        </p:nvSpPr>
        <p:spPr>
          <a:xfrm>
            <a:off x="502920" y="352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Label"/>
          <p:cNvSpPr/>
          <p:nvPr/>
        </p:nvSpPr>
        <p:spPr>
          <a:xfrm>
            <a:off x="576072" y="347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caching</a:t>
            </a:r>
            <a:endParaRPr lang="en-US" sz="1020" dirty="0"/>
          </a:p>
        </p:txBody>
      </p:sp>
      <p:sp>
        <p:nvSpPr>
          <p:cNvPr id="39" name="CellBg"/>
          <p:cNvSpPr/>
          <p:nvPr/>
        </p:nvSpPr>
        <p:spPr>
          <a:xfrm>
            <a:off x="2697480" y="352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Value"/>
          <p:cNvSpPr/>
          <p:nvPr/>
        </p:nvSpPr>
        <p:spPr>
          <a:xfrm>
            <a:off x="2770632" y="347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$0.03 per 1M tokens + $1.00 / 1M / hour storage</a:t>
            </a:r>
            <a:endParaRPr lang="en-US" sz="1020" dirty="0"/>
          </a:p>
        </p:txBody>
      </p:sp>
      <p:sp>
        <p:nvSpPr>
          <p:cNvPr id="41" name="CellBg"/>
          <p:cNvSpPr/>
          <p:nvPr/>
        </p:nvSpPr>
        <p:spPr>
          <a:xfrm>
            <a:off x="502920" y="381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abel"/>
          <p:cNvSpPr/>
          <p:nvPr/>
        </p:nvSpPr>
        <p:spPr>
          <a:xfrm>
            <a:off x="576072" y="377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(AI Studio)</a:t>
            </a:r>
            <a:endParaRPr lang="en-US" sz="1020" dirty="0"/>
          </a:p>
        </p:txBody>
      </p:sp>
      <p:sp>
        <p:nvSpPr>
          <p:cNvPr id="43" name="CellBg"/>
          <p:cNvSpPr/>
          <p:nvPr/>
        </p:nvSpPr>
        <p:spPr>
          <a:xfrm>
            <a:off x="2697480" y="381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Value"/>
          <p:cNvSpPr/>
          <p:nvPr/>
        </p:nvSpPr>
        <p:spPr>
          <a:xfrm>
            <a:off x="2770632" y="377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limited daily quotas for development</a:t>
            </a:r>
            <a:endParaRPr lang="en-US" sz="1020" dirty="0"/>
          </a:p>
        </p:txBody>
      </p:sp>
      <p:sp>
        <p:nvSpPr>
          <p:cNvPr id="45" name="CellBg"/>
          <p:cNvSpPr/>
          <p:nvPr/>
        </p:nvSpPr>
        <p:spPr>
          <a:xfrm>
            <a:off x="502920" y="411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Label"/>
          <p:cNvSpPr/>
          <p:nvPr/>
        </p:nvSpPr>
        <p:spPr>
          <a:xfrm>
            <a:off x="576072" y="406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limits</a:t>
            </a:r>
            <a:endParaRPr lang="en-US" sz="1020" dirty="0"/>
          </a:p>
        </p:txBody>
      </p:sp>
      <p:sp>
        <p:nvSpPr>
          <p:cNvPr id="47" name="CellBg"/>
          <p:cNvSpPr/>
          <p:nvPr/>
        </p:nvSpPr>
        <p:spPr>
          <a:xfrm>
            <a:off x="2697480" y="411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Value"/>
          <p:cNvSpPr/>
          <p:nvPr/>
        </p:nvSpPr>
        <p:spPr>
          <a:xfrm>
            <a:off x="2770632" y="406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Project-level RPM / TPM / RPD (see AI Studio)</a:t>
            </a:r>
            <a:endParaRPr lang="en-US" sz="1020" dirty="0"/>
          </a:p>
        </p:txBody>
      </p:sp>
      <p:sp>
        <p:nvSpPr>
          <p:cNvPr id="49" name="CellBg"/>
          <p:cNvSpPr/>
          <p:nvPr/>
        </p:nvSpPr>
        <p:spPr>
          <a:xfrm>
            <a:off x="502920" y="440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Label"/>
          <p:cNvSpPr/>
          <p:nvPr/>
        </p:nvSpPr>
        <p:spPr>
          <a:xfrm>
            <a:off x="576072" y="436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020" dirty="0"/>
          </a:p>
        </p:txBody>
      </p:sp>
      <p:sp>
        <p:nvSpPr>
          <p:cNvPr id="51" name="CellBg"/>
          <p:cNvSpPr/>
          <p:nvPr/>
        </p:nvSpPr>
        <p:spPr>
          <a:xfrm>
            <a:off x="2697480" y="440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Value"/>
          <p:cNvSpPr/>
          <p:nvPr/>
        </p:nvSpPr>
        <p:spPr>
          <a:xfrm>
            <a:off x="2770632" y="436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this API — use Vertex AI for tuning</a:t>
            </a:r>
            <a:endParaRPr lang="en-US" sz="1020" dirty="0"/>
          </a:p>
        </p:txBody>
      </p:sp>
      <p:sp>
        <p:nvSpPr>
          <p:cNvPr id="53" name="Footer"/>
          <p:cNvSpPr/>
          <p:nvPr/>
        </p:nvSpPr>
        <p:spPr>
          <a:xfrm>
            <a:off x="502920" y="47605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API: 50% discount on input/output for async (24-hour) jobs. Pricing per ai.google.dev.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OpenAI GPT-4.1 Mini: Fine-Tuning Pick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HeaderBg"/>
          <p:cNvSpPr/>
          <p:nvPr/>
        </p:nvSpPr>
        <p:spPr>
          <a:xfrm>
            <a:off x="502920" y="1115568"/>
            <a:ext cx="2194560" cy="34000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eaderText"/>
          <p:cNvSpPr/>
          <p:nvPr/>
        </p:nvSpPr>
        <p:spPr>
          <a:xfrm>
            <a:off x="576072" y="10935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1120" dirty="0"/>
          </a:p>
        </p:txBody>
      </p:sp>
      <p:sp>
        <p:nvSpPr>
          <p:cNvPr id="7" name="HeaderBg"/>
          <p:cNvSpPr/>
          <p:nvPr/>
        </p:nvSpPr>
        <p:spPr>
          <a:xfrm>
            <a:off x="2697480" y="1115568"/>
            <a:ext cx="6035040" cy="340000"/>
          </a:xfrm>
          <a:prstGeom prst="rect">
            <a:avLst/>
          </a:prstGeom>
          <a:solidFill>
            <a:srgbClr val="00558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eaderText"/>
          <p:cNvSpPr/>
          <p:nvPr/>
        </p:nvSpPr>
        <p:spPr>
          <a:xfrm>
            <a:off x="2770632" y="10935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120" dirty="0"/>
          </a:p>
        </p:txBody>
      </p:sp>
      <p:sp>
        <p:nvSpPr>
          <p:cNvPr id="9" name="CellBg"/>
          <p:cNvSpPr/>
          <p:nvPr/>
        </p:nvSpPr>
        <p:spPr>
          <a:xfrm>
            <a:off x="502920" y="145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abel"/>
          <p:cNvSpPr/>
          <p:nvPr/>
        </p:nvSpPr>
        <p:spPr>
          <a:xfrm>
            <a:off x="576072" y="141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code</a:t>
            </a:r>
            <a:endParaRPr lang="en-US" sz="1020" dirty="0"/>
          </a:p>
        </p:txBody>
      </p:sp>
      <p:sp>
        <p:nvSpPr>
          <p:cNvPr id="11" name="CellBg"/>
          <p:cNvSpPr/>
          <p:nvPr/>
        </p:nvSpPr>
        <p:spPr>
          <a:xfrm>
            <a:off x="2697480" y="145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Value"/>
          <p:cNvSpPr/>
          <p:nvPr/>
        </p:nvSpPr>
        <p:spPr>
          <a:xfrm>
            <a:off x="2770632" y="141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gpt-4.1-mini</a:t>
            </a:r>
            <a:endParaRPr lang="en-US" sz="1020" dirty="0"/>
          </a:p>
        </p:txBody>
      </p:sp>
      <p:sp>
        <p:nvSpPr>
          <p:cNvPr id="13" name="CellBg"/>
          <p:cNvSpPr/>
          <p:nvPr/>
        </p:nvSpPr>
        <p:spPr>
          <a:xfrm>
            <a:off x="502920" y="175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Label"/>
          <p:cNvSpPr/>
          <p:nvPr/>
        </p:nvSpPr>
        <p:spPr>
          <a:xfrm>
            <a:off x="576072" y="170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one for fine-tuning</a:t>
            </a:r>
            <a:endParaRPr lang="en-US" sz="1020" dirty="0"/>
          </a:p>
        </p:txBody>
      </p:sp>
      <p:sp>
        <p:nvSpPr>
          <p:cNvPr id="15" name="CellBg"/>
          <p:cNvSpPr/>
          <p:nvPr/>
        </p:nvSpPr>
        <p:spPr>
          <a:xfrm>
            <a:off x="2697480" y="175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Value"/>
          <p:cNvSpPr/>
          <p:nvPr/>
        </p:nvSpPr>
        <p:spPr>
          <a:xfrm>
            <a:off x="2770632" y="170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 GPT-4.1 family member that supports SFT</a:t>
            </a:r>
            <a:endParaRPr lang="en-US" sz="1020" dirty="0"/>
          </a:p>
        </p:txBody>
      </p:sp>
      <p:sp>
        <p:nvSpPr>
          <p:cNvPr id="17" name="CellBg"/>
          <p:cNvSpPr/>
          <p:nvPr/>
        </p:nvSpPr>
        <p:spPr>
          <a:xfrm>
            <a:off x="502920" y="204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Label"/>
          <p:cNvSpPr/>
          <p:nvPr/>
        </p:nvSpPr>
        <p:spPr>
          <a:xfrm>
            <a:off x="576072" y="200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</a:t>
            </a:r>
            <a:endParaRPr lang="en-US" sz="1020" dirty="0"/>
          </a:p>
        </p:txBody>
      </p:sp>
      <p:sp>
        <p:nvSpPr>
          <p:cNvPr id="19" name="CellBg"/>
          <p:cNvSpPr/>
          <p:nvPr/>
        </p:nvSpPr>
        <p:spPr>
          <a:xfrm>
            <a:off x="2697480" y="204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Value"/>
          <p:cNvSpPr/>
          <p:nvPr/>
        </p:nvSpPr>
        <p:spPr>
          <a:xfrm>
            <a:off x="2770632" y="200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1,000,000 input tokens; 32,768 output</a:t>
            </a:r>
            <a:endParaRPr lang="en-US" sz="1020" dirty="0"/>
          </a:p>
        </p:txBody>
      </p:sp>
      <p:sp>
        <p:nvSpPr>
          <p:cNvPr id="21" name="CellBg"/>
          <p:cNvSpPr/>
          <p:nvPr/>
        </p:nvSpPr>
        <p:spPr>
          <a:xfrm>
            <a:off x="502920" y="234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Label"/>
          <p:cNvSpPr/>
          <p:nvPr/>
        </p:nvSpPr>
        <p:spPr>
          <a:xfrm>
            <a:off x="576072" y="229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input / output price</a:t>
            </a:r>
            <a:endParaRPr lang="en-US" sz="1020" dirty="0"/>
          </a:p>
        </p:txBody>
      </p:sp>
      <p:sp>
        <p:nvSpPr>
          <p:cNvPr id="23" name="CellBg"/>
          <p:cNvSpPr/>
          <p:nvPr/>
        </p:nvSpPr>
        <p:spPr>
          <a:xfrm>
            <a:off x="2697480" y="234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Value"/>
          <p:cNvSpPr/>
          <p:nvPr/>
        </p:nvSpPr>
        <p:spPr>
          <a:xfrm>
            <a:off x="2770632" y="229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$0.40 / $1.60 per 1M tokens</a:t>
            </a:r>
            <a:endParaRPr lang="en-US" sz="1020" dirty="0"/>
          </a:p>
        </p:txBody>
      </p:sp>
      <p:sp>
        <p:nvSpPr>
          <p:cNvPr id="25" name="CellBg"/>
          <p:cNvSpPr/>
          <p:nvPr/>
        </p:nvSpPr>
        <p:spPr>
          <a:xfrm>
            <a:off x="502920" y="263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Label"/>
          <p:cNvSpPr/>
          <p:nvPr/>
        </p:nvSpPr>
        <p:spPr>
          <a:xfrm>
            <a:off x="576072" y="259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input price</a:t>
            </a:r>
            <a:endParaRPr lang="en-US" sz="1020" dirty="0"/>
          </a:p>
        </p:txBody>
      </p:sp>
      <p:sp>
        <p:nvSpPr>
          <p:cNvPr id="27" name="CellBg"/>
          <p:cNvSpPr/>
          <p:nvPr/>
        </p:nvSpPr>
        <p:spPr>
          <a:xfrm>
            <a:off x="2697480" y="263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Value"/>
          <p:cNvSpPr/>
          <p:nvPr/>
        </p:nvSpPr>
        <p:spPr>
          <a:xfrm>
            <a:off x="2770632" y="259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$0.10 per 1M tokens (75% off)</a:t>
            </a:r>
            <a:endParaRPr lang="en-US" sz="1020" dirty="0"/>
          </a:p>
        </p:txBody>
      </p:sp>
      <p:sp>
        <p:nvSpPr>
          <p:cNvPr id="29" name="CellBg"/>
          <p:cNvSpPr/>
          <p:nvPr/>
        </p:nvSpPr>
        <p:spPr>
          <a:xfrm>
            <a:off x="502920" y="293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"/>
          <p:cNvSpPr/>
          <p:nvPr/>
        </p:nvSpPr>
        <p:spPr>
          <a:xfrm>
            <a:off x="576072" y="288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training cost</a:t>
            </a:r>
            <a:endParaRPr lang="en-US" sz="1020" dirty="0"/>
          </a:p>
        </p:txBody>
      </p:sp>
      <p:sp>
        <p:nvSpPr>
          <p:cNvPr id="31" name="CellBg"/>
          <p:cNvSpPr/>
          <p:nvPr/>
        </p:nvSpPr>
        <p:spPr>
          <a:xfrm>
            <a:off x="2697480" y="293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Value"/>
          <p:cNvSpPr/>
          <p:nvPr/>
        </p:nvSpPr>
        <p:spPr>
          <a:xfrm>
            <a:off x="2770632" y="288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~$5.00 per 1M training tokens (paid per epoch)</a:t>
            </a:r>
            <a:endParaRPr lang="en-US" sz="1020" dirty="0"/>
          </a:p>
        </p:txBody>
      </p:sp>
      <p:sp>
        <p:nvSpPr>
          <p:cNvPr id="33" name="CellBg"/>
          <p:cNvSpPr/>
          <p:nvPr/>
        </p:nvSpPr>
        <p:spPr>
          <a:xfrm>
            <a:off x="502920" y="322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Label"/>
          <p:cNvSpPr/>
          <p:nvPr/>
        </p:nvSpPr>
        <p:spPr>
          <a:xfrm>
            <a:off x="576072" y="318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Fine-tuned inference price</a:t>
            </a:r>
            <a:endParaRPr lang="en-US" sz="1020" dirty="0"/>
          </a:p>
        </p:txBody>
      </p:sp>
      <p:sp>
        <p:nvSpPr>
          <p:cNvPr id="35" name="CellBg"/>
          <p:cNvSpPr/>
          <p:nvPr/>
        </p:nvSpPr>
        <p:spPr>
          <a:xfrm>
            <a:off x="2697480" y="322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Value"/>
          <p:cNvSpPr/>
          <p:nvPr/>
        </p:nvSpPr>
        <p:spPr>
          <a:xfrm>
            <a:off x="2770632" y="318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~$0.80 in / $3.20 out per 1M tokens (~2x base)</a:t>
            </a:r>
            <a:endParaRPr lang="en-US" sz="1020" dirty="0"/>
          </a:p>
        </p:txBody>
      </p:sp>
      <p:sp>
        <p:nvSpPr>
          <p:cNvPr id="37" name="CellBg"/>
          <p:cNvSpPr/>
          <p:nvPr/>
        </p:nvSpPr>
        <p:spPr>
          <a:xfrm>
            <a:off x="502920" y="3520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Label"/>
          <p:cNvSpPr/>
          <p:nvPr/>
        </p:nvSpPr>
        <p:spPr>
          <a:xfrm>
            <a:off x="576072" y="3476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API discount</a:t>
            </a:r>
            <a:endParaRPr lang="en-US" sz="1020" dirty="0"/>
          </a:p>
        </p:txBody>
      </p:sp>
      <p:sp>
        <p:nvSpPr>
          <p:cNvPr id="39" name="CellBg"/>
          <p:cNvSpPr/>
          <p:nvPr/>
        </p:nvSpPr>
        <p:spPr>
          <a:xfrm>
            <a:off x="2697480" y="3520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Value"/>
          <p:cNvSpPr/>
          <p:nvPr/>
        </p:nvSpPr>
        <p:spPr>
          <a:xfrm>
            <a:off x="2770632" y="3476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off input/output for async (24-hour) jobs</a:t>
            </a:r>
            <a:endParaRPr lang="en-US" sz="1020" dirty="0"/>
          </a:p>
        </p:txBody>
      </p:sp>
      <p:sp>
        <p:nvSpPr>
          <p:cNvPr id="41" name="CellBg"/>
          <p:cNvSpPr/>
          <p:nvPr/>
        </p:nvSpPr>
        <p:spPr>
          <a:xfrm>
            <a:off x="502920" y="3815568"/>
            <a:ext cx="219456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abel"/>
          <p:cNvSpPr/>
          <p:nvPr/>
        </p:nvSpPr>
        <p:spPr>
          <a:xfrm>
            <a:off x="576072" y="3771044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limits</a:t>
            </a:r>
            <a:endParaRPr lang="en-US" sz="1020" dirty="0"/>
          </a:p>
        </p:txBody>
      </p:sp>
      <p:sp>
        <p:nvSpPr>
          <p:cNvPr id="43" name="CellBg"/>
          <p:cNvSpPr/>
          <p:nvPr/>
        </p:nvSpPr>
        <p:spPr>
          <a:xfrm>
            <a:off x="2697480" y="3815568"/>
            <a:ext cx="6035040" cy="29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C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Value"/>
          <p:cNvSpPr/>
          <p:nvPr/>
        </p:nvSpPr>
        <p:spPr>
          <a:xfrm>
            <a:off x="2770632" y="3771044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Tier-based; Tier 1 typically 500 RPM / 200K TPM</a:t>
            </a:r>
            <a:endParaRPr lang="en-US" sz="1020" dirty="0"/>
          </a:p>
        </p:txBody>
      </p:sp>
      <p:sp>
        <p:nvSpPr>
          <p:cNvPr id="45" name="CalloutBg"/>
          <p:cNvSpPr/>
          <p:nvPr/>
        </p:nvSpPr>
        <p:spPr>
          <a:xfrm>
            <a:off x="502920" y="4190568"/>
            <a:ext cx="8229600" cy="700000"/>
          </a:xfrm>
          <a:prstGeom prst="rect">
            <a:avLst/>
          </a:prstGeom>
          <a:solidFill>
            <a:srgbClr val="F4F7FA"/>
          </a:solidFill>
          <a:ln w="635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CalloutText"/>
          <p:cNvSpPr/>
          <p:nvPr/>
        </p:nvSpPr>
        <p:spPr>
          <a:xfrm>
            <a:off x="602920" y="4240568"/>
            <a:ext cx="80296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generation: gpt-image-1 (separate endpoint, per-image pricing)</a:t>
            </a:r>
          </a:p>
          <a:p>
            <a:pPr marL="0" indent="0" algn="l">
              <a:buNone/>
            </a:pPr>
            <a:r>
              <a:rPr lang="en-US" sz="10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1024×1024 image: ~$0.011 (low) / $0.04 (medium) / $0.167 (high). Mini variant from $0.005. Billed per image, not per token.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How the Tools Fit Together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0352" y="196596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143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30352" y="1965960"/>
            <a:ext cx="1417320" cy="7315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2112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621792" y="23500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chooses goal</a:t>
            </a:r>
            <a:endParaRPr lang="en-US" sz="860" dirty="0"/>
          </a:p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tests output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304288" y="1078992"/>
            <a:ext cx="1600200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143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304288" y="1078992"/>
            <a:ext cx="1600200" cy="73152"/>
          </a:xfrm>
          <a:prstGeom prst="rect">
            <a:avLst/>
          </a:prstGeom>
          <a:solidFill>
            <a:srgbClr val="C4820E"/>
          </a:solidFill>
          <a:ln w="12700">
            <a:solidFill>
              <a:srgbClr val="C482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95728" y="12252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 / Codex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2395728" y="146304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edits code</a:t>
            </a:r>
            <a:endParaRPr lang="en-US" sz="860" dirty="0"/>
          </a:p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errors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160520" y="1965960"/>
            <a:ext cx="1600200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143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60520" y="1965960"/>
            <a:ext cx="1600200" cy="7315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251960" y="211226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folder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4251960" y="23500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AppPlan, server,</a:t>
            </a:r>
            <a:endParaRPr lang="en-US" sz="860" dirty="0"/>
          </a:p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HTML, prompts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199632" y="1078992"/>
            <a:ext cx="1417320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143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99632" y="1078992"/>
            <a:ext cx="1417320" cy="731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91072" y="122529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API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291072" y="146304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key</a:t>
            </a:r>
            <a:endParaRPr lang="en-US" sz="860" dirty="0"/>
          </a:p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response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199632" y="2926080"/>
            <a:ext cx="1417320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143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99632" y="2926080"/>
            <a:ext cx="1417320" cy="73152"/>
          </a:xfrm>
          <a:prstGeom prst="rect">
            <a:avLst/>
          </a:prstGeom>
          <a:solidFill>
            <a:srgbClr val="005587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91072" y="30723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6291072" y="3310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 public</a:t>
            </a:r>
            <a:endParaRPr lang="en-US" sz="860" dirty="0"/>
          </a:p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7818120" y="1965960"/>
            <a:ext cx="9144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143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818120" y="1965960"/>
            <a:ext cx="914400" cy="73152"/>
          </a:xfrm>
          <a:prstGeom prst="rect">
            <a:avLst/>
          </a:prstGeom>
          <a:solidFill>
            <a:srgbClr val="C4820E"/>
          </a:solidFill>
          <a:ln w="12700">
            <a:solidFill>
              <a:srgbClr val="C482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909560" y="21122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909560" y="23500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URL</a:t>
            </a:r>
            <a:endParaRPr lang="en-US" sz="860" dirty="0"/>
          </a:p>
          <a:p>
            <a:pPr marL="0" indent="0" algn="ctr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workflow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1947672" y="2084832"/>
            <a:ext cx="356616" cy="0"/>
          </a:xfrm>
          <a:prstGeom prst="line">
            <a:avLst/>
          </a:prstGeom>
          <a:noFill/>
          <a:ln w="14605">
            <a:solidFill>
              <a:srgbClr val="00558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904488" y="1508760"/>
            <a:ext cx="256032" cy="649224"/>
          </a:xfrm>
          <a:prstGeom prst="line">
            <a:avLst/>
          </a:prstGeom>
          <a:noFill/>
          <a:ln w="14605">
            <a:solidFill>
              <a:srgbClr val="00558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760720" y="2084832"/>
            <a:ext cx="438912" cy="0"/>
          </a:xfrm>
          <a:prstGeom prst="line">
            <a:avLst/>
          </a:prstGeom>
          <a:noFill/>
          <a:ln w="14605">
            <a:solidFill>
              <a:srgbClr val="00558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760720" y="2542032"/>
            <a:ext cx="438912" cy="768096"/>
          </a:xfrm>
          <a:prstGeom prst="line">
            <a:avLst/>
          </a:prstGeom>
          <a:noFill/>
          <a:ln w="14605">
            <a:solidFill>
              <a:srgbClr val="00558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616952" y="3310128"/>
            <a:ext cx="201168" cy="0"/>
          </a:xfrm>
          <a:prstGeom prst="line">
            <a:avLst/>
          </a:prstGeom>
          <a:noFill/>
          <a:ln w="14605">
            <a:solidFill>
              <a:srgbClr val="00558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818120" y="3913632"/>
            <a:ext cx="0" cy="0"/>
          </a:xfrm>
          <a:prstGeom prst="line">
            <a:avLst/>
          </a:prstGeom>
          <a:noFill/>
          <a:ln w="13970">
            <a:solidFill>
              <a:srgbClr val="00558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127248" y="36941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loop: test, judge, revise</a:t>
            </a:r>
            <a:endParaRPr lang="en-US" sz="9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25880"/>
            <a:ext cx="7315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Sub-Part: Live Demo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1189</Words>
  <Application>Microsoft Macintosh PowerPoint</Application>
  <PresentationFormat>On-screen Show (16:9)</PresentationFormat>
  <Paragraphs>229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UCLA Anderson School of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8 - Building LLM Apps</dc:title>
  <dc:subject>Science and Strategy of AI</dc:subject>
  <dc:creator>Auyon Siddiq</dc:creator>
  <cp:lastModifiedBy>Siddiq, Auyon</cp:lastModifiedBy>
  <cp:revision>2</cp:revision>
  <dcterms:created xsi:type="dcterms:W3CDTF">2026-05-16T00:58:20Z</dcterms:created>
  <dcterms:modified xsi:type="dcterms:W3CDTF">2026-05-16T02:06:04Z</dcterms:modified>
</cp:coreProperties>
</file>