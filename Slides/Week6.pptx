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MGMT298D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Science and Strategy of AI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Week 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057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Convolutional Neural Networks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UCLA Anderson School of Management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749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Auyon Siddiq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i="1" dirty="0">
                <a:solidFill>
                  <a:srgbClr val="FFD100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Case Study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The Problem: Why MLPs Fail on Images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Standard Neural Networks Struggle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224x224 RGB image = 150,528 input features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Loses spatial structure - pixels treated independently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Translation problem: must relearn patterns in different positions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Massive parameters: millions of weights in first layer alone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834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00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 spatial structure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reusable local patterns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Drastically reduce parameters via weight sharing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43891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43891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CNNs solve this through convolution: same filter applied everywhere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i="1" dirty="0">
                <a:solidFill>
                  <a:srgbClr val="FFD100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The Convolution Operation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The Convolution Intuition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scanning with a small flashlight (the filter)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Filter: 3x3 or 5x5 window of learned weights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each position: compute similarity to pattern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across entire image (left to right, top to bottom)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 feature map showing where pattern appears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[Visualization placeholder: 5x5 grid with 3x3 filter sliding]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43891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43891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 Same filter everywhere = parameter sharing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How Convolution 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Mechanics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Overlay filter on image patch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Multiply: filter weight x pixel value (element-wise)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 all products -&gt; single output value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Stride: pixels to shift each step (typically 1 or 2)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Padding: border of zeros to control output size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3200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size: (W - F + 2P) / S + 1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W=input width, F=filter size, P=padding, S=stride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Numerical Example: Edge Detection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(5x5)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645920" cy="914400"/>
        </p:xfrm>
        <a:graphic>
          <a:graphicData uri="http://schemas.openxmlformats.org/drawingml/2006/table">
            <a:tbl>
              <a:tblPr/>
              <a:tblGrid>
                <a:gridCol w="329184"/>
                <a:gridCol w="329184"/>
                <a:gridCol w="329184"/>
                <a:gridCol w="329184"/>
                <a:gridCol w="329184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255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255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255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255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255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255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255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255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255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743200" y="9601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Edge Filter (3x3)</a:t>
            </a:r>
            <a:endParaRPr lang="en-US" sz="13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0" y="1234440"/>
          <a:ext cx="109728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65760"/>
                <a:gridCol w="3657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-1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-1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-1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24688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Calculation at (1,1):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(0)(-1) + (0)(0) + (255)(1) + (0)(-1) + (0)(0) + (255)(1) + (0)(-1) + (0)(0) + (255)(1) = 765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457200" y="32918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(3x3)</a:t>
            </a:r>
            <a:endParaRPr lang="en-US" sz="13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109728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65760"/>
                <a:gridCol w="3657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765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765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765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765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765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765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765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765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765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8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values = strong vertical edge detected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What Do Filters Learn?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Hierarchy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8229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layers: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Edges (horizontal, vertical, diagonal)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 blobs, simple textures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layers: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Corners, curves, simple shapes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Repeated patterns (brick, fur)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layers: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 object parts (eyes, wheels)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objects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[Visualization placeholder: Filter hierarchy simple -&gt; complex]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Multiple Filters and Channels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layer: many filters (32, 64, 128+)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filter -&gt; one feature map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of feature maps = layer depth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RGB input: 3 channels (red, green, blue)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conv: 3D filters (3x3x3) handle all colors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43891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43891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filters = richer features, but more parameters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i="1" dirty="0">
                <a:solidFill>
                  <a:srgbClr val="FFD100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Pooling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Pooling: Downsampling for Efficiency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Pooling (Most Common)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maximum value in each region (e.g., 2x2)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Reduces spatial dimensions by half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learnable parameters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651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parameters and computation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Translation invariance (small shifts don't change output)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Controls overfitting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Numerical Example: Max Pooling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(4x4)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4630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65760"/>
                <a:gridCol w="365760"/>
                <a:gridCol w="3657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2377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2x2 Max Pool, Stride=2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2651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Top-left: max(12,20,5,18) = 20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Top-right: max(8,15,22,9) = 22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Bottom-left: max(7,14,11,6) = 14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Bottom-right: max(3,19,16,25) = 25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3657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(2x2)</a:t>
            </a:r>
            <a:endParaRPr lang="en-US" sz="13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31920"/>
          <a:ext cx="7315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657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1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1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100" dirty="0"/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size reduction (4x4 -&gt; 2x2), retains strongest activations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i="1" dirty="0">
                <a:solidFill>
                  <a:srgbClr val="FFD100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CNN Architecture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The CNN Architecture Pattern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Repeating Block: Conv -&gt; ReLU -&gt; Pool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Convolutional layer (learns spatial features)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Activation (typically ReLU)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Pooling (reduces dimensions)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651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Progression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 filter count: 32 -&gt; 64 -&gt; 128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Decrease spatial size via pooling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layers: flatten + dense layers for classification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[Visualization placeholder: Conv-&gt;ReLU-&gt;Pool blocks stacked]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Complete Example: CIFAR-10 Classifier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11680"/>
                <a:gridCol w="2011680"/>
                <a:gridCol w="16459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Layer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Output Shape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Params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Input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Image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32x32x3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Conv1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3x3, 32 filters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32x32x32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896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Pool1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2x2 max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16x16x32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Conv2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3x3, 64 filters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16x16x64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18,496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Pool2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2x2 max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8x8x64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Conv3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3x3, 128 filters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8x8x128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73,856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Pool3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2x2 max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4x4x128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Flatten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-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2,048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Dense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256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256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524,544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Output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 classes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2,570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Total: ~620K params vs. 10M+ for equivalent MLP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Parameter Calculation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 Layer Parameters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(Filter_H x Filter_W x Input_Channels + 1) x Num_Filters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Conv1 Calculation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3x3 filters, 3 input channels (RGB), 32 output filters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 x 3 x 3 + 1) x 32 = 28 x 32 = 896 parameters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is bias term per filter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Pooling layers: zero learnable parameters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sharing dramatically reduces total parameters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CNN Hyperparameters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41148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Parameter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Typical Values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Trade-off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Filter size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3x3, 5x5, 7x7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Larger = more context, more params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Num filters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32, 64, 128, 256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More = richer features, slower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Stride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1, 2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Higher = faster, less detail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Padding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'same', 'valid'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'same' maintains size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Pool size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2x2, 3x3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Larger = more compression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Depth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5-20 layers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Deeper = more abstraction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Dropout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0.2-0.5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Higher = less overfit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important: number of filters and network depth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55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i="1" dirty="0">
                <a:solidFill>
                  <a:srgbClr val="FFD100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Transfer Learning</a:t>
            </a:r>
            <a:endParaRPr lang="en-US" sz="3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Transfer Learning: Using Pre-trained Models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Approach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model pre-trained on ImageNet (1.2M images)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 final classification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new layers for your specific task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Fine-tune on your dataset (much smaller OK)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Works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layers learn universal features (edges, textures)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need to retrain final layers for new task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43891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43891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Achieves high accuracy with 10-100x less data and training time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The Computer Vision Model Zoo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2377440"/>
                <a:gridCol w="2926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Year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Innovation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When to Use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VGG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2014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Very deep, simple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Baseline, features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ResNet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2015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Skip connections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Best accuracy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Inception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2014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Multi-scale filters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Efficiency + accuracy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MobileNet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2017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Depthwise separable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Mobile/edge devices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EfficientNet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2019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Compound scaling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Best efficiency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ResNet and EfficientNet: good default choices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Beyond Classification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Output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Models</a:t>
                      </a:r>
                      <a:endParaRPr lang="en-US" sz="11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Object Detection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Bounding boxes + classes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YOLO, Faster R-CNN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Semantic Segmentation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Pixel-level class map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U-Net, DeepLab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Instance Segmentation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Separate objects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Mask R-CNN</a:t>
                      </a:r>
                      <a:endParaRPr lang="en-US" sz="10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[Visualization placeholder: Examples of detection vs segmentation outputs]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Limitations and Challenges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examples: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 perturbations fool the model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 in training data: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Propagates to predictions (e.g., face recognition)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 of interpretability: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explain why prediction was made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labeled datasets required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Computationally expensive (GPUs essential)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CNNs preserve spatial structure via local connections and weight sharing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Convolution: sliding filter detects local patterns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Pooling reduces dimensions while keeping important features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hierarchies: simple edges -&gt; complex object parts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learning enables high performance with limited data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ResNet, EfficientNet handle most vision tasks well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429768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week: Recurrent Networks and Sequence Models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Google Colab Demo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Notebook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CNN for CIFAR-10 classification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Visualize learned filters and feature maps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CNN vs MLP performance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with transfer learning (ResNet)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data augmentation techniques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[Colab notebook URL]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Week 6 Assignment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Task: Product image quality control classifier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Dataset: 5,000 images (good vs defective parts)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CNN from scratch (3+ conv layers)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transfer learning with pre-trained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performance and training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Visualize misclassified examples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Due: Next week before class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749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Colab notebook + 1-page writeup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6: Convolutional Neural Networks</dc:title>
  <dc:subject>PptxGenJS Presentation</dc:subject>
  <dc:creator>Auyon Siddiq</dc:creator>
  <cp:lastModifiedBy>Auyon Siddiq</cp:lastModifiedBy>
  <cp:revision>1</cp:revision>
  <dcterms:created xsi:type="dcterms:W3CDTF">2026-02-03T04:29:41Z</dcterms:created>
  <dcterms:modified xsi:type="dcterms:W3CDTF">2026-02-03T04:29:41Z</dcterms:modified>
</cp:coreProperties>
</file>