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D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MGMT298D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D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Science and Strategy of 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Week 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Convolutional Neural Networks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Seeing Like a Machine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UCLA Anderson School of Management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Auyon Siddiq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Limits of Regular Neural Networks for Images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Fully-Connected Networks Struggle with Images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Parameter explosion: 224x224 RGB image + 1,000 neurons = 150M parameters in one layer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spatial awareness: pixel (0,0) treated same as pixel (100,100)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Translation variance: cat in top-left looks different from cat in bottom-right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weight sharing: must learn separate edge detectors for each position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566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Overfitting: too many parameters + limited data = memorization, not generalization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Object Recognition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Dataset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60,000 color images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32 x 32 pixels, 3 color channels (RGB)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3,072 features per image (32x32x3)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More challenging than Fashion-MNIST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Real-world objects with backgrounds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914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10 Categories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0" y="13258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 Airplane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61848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 Automobile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91109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2: Bird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220370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3: Cat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49631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4: Deer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66560" y="13258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5: Dog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66560" y="161848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6: Frog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66560" y="191109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7: Horse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66560" y="220370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8: Ship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66560" y="249631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 Truck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CIFAR-10 is Harder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3337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Color, varied poses/backgrounds, semantically similar categories. Human: ~94%, best models: ~99%.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MLP Baseline: Fully-Connected Network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 techniques applied to CIFAR-10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(Model A)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Input: 3,072 neurons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Hidden 1: 512 neurons, ReLU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Hidden 2: 256 neurons, ReLU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Dropout: 30% after each hidden layer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Output: 10 neurons, Softmax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63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Total parameters: 1,735,178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1371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Accuracy: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0" y="1737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62828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52.3%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754880" y="22860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Training accuracy: 61.5%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5603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Barely better than random (10%)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28346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1.7 million parameters wasted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31089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spatial understanding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Massive failure. MLP cannot learn spatial patterns.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The Convolution Intuition: A Flashlight Scanning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an image with a small 'flashlight'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Small grid slides across entire image, one position at a time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At each position: "Does this match my pattern?" Output score (high = match)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Same weights used everywhere (weight sharing)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Edge detector flashlight 'lights up' wherever edges appear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Sliding across all positions creates a feature map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86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Different flashlights detect edges, textures, colors, etc.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A cat is a cat regardless of position. One detector works everywhere.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The Convolution Operation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Definition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output[i,j] = sum + bias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Terms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Filter/Kernel: small learnable weight matrix = the pattern detector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Stride: pixels moved per step. Stride 2 shrinks output by half.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Padding: zeros around border. 'Same' preserves size, 'Valid' shrinks.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Feature Map: output showing where the pattern was detected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32x32 input, 3x3 filter, stride 1, 'same' padding = 32x32 output with only 10 parameters.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Filters as Pattern Detectors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filters learn? Visualizing trained CNNs reveals interpretable patterns: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Filters (Edge Detectors)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Horizontal edges: bright-to-dark transitions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Vertical edges: left-to-right changes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Diagonal edges: 45/135 degree lines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Color gradients: red-to-green transitions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Gabor-like patterns: oriented bars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1371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Deeper Layer Filters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16916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Textures: fur, feathers, grass patterns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9659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Object parts: wheels, eyes, wings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22402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Complex shapes: circles, curves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25146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Semantic features: car grills, bird beaks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7889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Scene elements: sky, water, roads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learns this hierarchy automatically via backpropagation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mirrors how the visual cortex processes images: V1 (edges) -&gt; V2 (textures) -&gt; V4 (shapes) -&gt; IT (objects)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Multiple Filters = Multiple Feature Maps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filter = one pattern. Many filters capture diverse features.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Typical layer: 32, 64, or 128 filters, each learning different patterns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64 filters on 32x32 input = 64 feature maps of 32x32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Output volume: 32 x 32 x 64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Deeper layers need MORE filters: lower-level features combine into exponentially more patterns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Parameters: 64 filters x 3x3x3 input + bias = 1,792 total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86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vs. fully-connected: 196,608 parameters. CNNs are 100x more efficient!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Pooling: Downsampling for Efficiency and Invariance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spatial dimensions while preserving key features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Pooling (Most Common)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Divide feature map into non-overlapping regions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Take maximum value from each region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2x2 pooling with stride 2 halves each dimension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32x32 -&gt; 16x16 -&gt; 8x8 -&gt; 4x4 as depth increases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Keeps strongest activations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1371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Pooling Matters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16916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Reduces computation: 4x fewer values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9659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Reduces parameters in later layers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22402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Translation invariance: small shifts don't change max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25146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Larger receptive field: each neuron 'sees' more of image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7889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Reduces overfitting by shrinking representation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Alternative: Strided convolution (stride=2) can replace pooling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The CNN Architecture: Conv -&gt; ReLU -&gt; Pool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Standard Building Block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-&gt; [Conv -&gt; ReLU -&gt; Pool] x N -&gt; Flatten -&gt; Dense -&gt; Output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by Layer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Convolutional Layer: filters detect patterns, preserves spatial 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359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ReLU: max(0, x) adds non-linearity after each convolution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70662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Pooling: downsample for efficiency + invariance, typically 2x2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05409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Stack blocks: depth increases, spatial size decreases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4015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Flatten: 3D volume to 1D vector for classification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Dense: fully-connected layers combine features for final output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09651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Softmax: convert to class probabilities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Model B: Simple CNN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CNN for CIFAR-10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Conv2D: 32 filters, 3x3, ReLU, same padding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MaxPooling2D: 2x2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Conv2D: 64 filters, 3x3, ReLU, same padding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MaxPooling2D: 2x2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Flatten -&gt; Dense 128 -&gt; Dense 10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63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Total parameters: 222,346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1371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Accuracy: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0" y="1737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774AE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70.8%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754880" y="22860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Training accuracy: 82.4%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5603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+18.5% improvement over MLP.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28346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8x fewer parameters than MLP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31089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Training time: ~2 min on GPU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outperforms MLP with 8x fewer parameters. Spatial structure matters!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Model C: Advanced CNN with Regularization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+ BatchNorm + Dropout = better performance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Block 1: Conv(32) -&gt; BN -&gt; ReLU -&gt; Conv(32) -&gt; BN -&gt; ReLU -&gt; Pool -&gt; Dropout(25%)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95681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Block 2: Conv(64) -&gt; BN -&gt; ReLU -&gt; Conv(64) -&gt; BN -&gt; ReLU -&gt; Pool -&gt; Dropout(25%)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2219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Block 3: Conv(128) -&gt; BN -&gt; ReLU -&gt; Pool -&gt; Dropout(25%)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4871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Dense: 256 neurons, Dropout(50%)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75234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Output: 10 neurons, Softmax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Total parameters: 576,394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1371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Accuracy: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0" y="1737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7D32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82.6%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754880" y="22860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Training accuracy: 85.3%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5603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+30.3% over MLP baseline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28346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+11.8% over simple CNN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31089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Gap: only 2.7%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Stacking conv layers before pooling enables more complex patterns.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Model Comparison: CIFAR-10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Parameters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Acc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vs MLP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A: MLP Baseline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Fully-Connected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1,735,178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52.3%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B: Simple CNN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Conv + 2 Pool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222,346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70.8%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+18.5%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C: Advanced CNN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Conv + BN + Dropout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576,394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82.6%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+30.3%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ResNet-20 (ref)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layers, skip connections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270,000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91.3%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+39.0%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Human Performance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~86B neurons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~94%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+41.7%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Insights: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35204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CNNs achieve significantly better results with far fewer parameters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3813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Simple CNN (70.8%) vs MLP (52.3%): spatial structure awareness provides massive gains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410565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Advanced CNN closes gap with state-of-art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39826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Even basic CNNs approach human performance on this benchmark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Transfer Learning: Standing on Giants' Shoulders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train from scratch when others have learned to see?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Insight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Early layers learn universal features: edges, textures apply to ALL images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ImageNet-trained networks have already learned excellent visual vocabulary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Start with pre-trained weights instead of random initialization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Transfer: use task A network as starting point for task 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3375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Achieves state-of-art with hundreds of examples instead of millions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learning democratized deep learning. No massive datasets or GPU clusters needed. Training: weeks to hours.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Pre-trained Models: The Computer Vision Zoo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of code in Keras/PyTorch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AlexNet (2012)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560320" y="12801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60M params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749040" y="12801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Breakthrough: CNNs on GPUs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VGG16/19 (2014)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60320" y="18288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138M params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749040" y="18288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3x3 convs. Proved depth matters. Still popular for transfer.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 (2015)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0" y="23774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25M params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49040" y="237744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 connections enable 152+ layers. Top choice for many tasks.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9260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EfficientNet (2019)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0320" y="29260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5-66M params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49040" y="29260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Systematic scaling of depth/width/resolution. Best efficiency.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4747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MobileNet (2017)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60320" y="34747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3.4M params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49040" y="347472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Mobile-optimized. Depthwise separable convs. Real-time on phones.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available in TensorFlow/Keras: tf.keras.applications.ResNet50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Using Pre-trained Models: Two Approaches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Extraction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Freeze all pre-trained layers (no training)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Remove original classification head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Add new Dense layer(s) for your classes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Only train the new layers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Fastest option: minutes to train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Best when: limited data, similar domain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9144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12344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Start with pre-trained weights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5087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Unfreeze some or all layers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17830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Train with very low learning rate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20574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Allows adaptation to new domain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331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Slower but often more accurate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26060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Best when: different domain, more data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Strategy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3375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Start with feature extraction for baseline (fast)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If insufficient, unfreeze layers top-to-bottom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Use tiny learning rate (1e-5) to preserve pre-trained features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CNNs in Production: Best current Applications</a:t>
            </a:r>
            <a:endParaRPr lang="en-US" sz="2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914400"/>
          <a:ext cx="8778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219456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Domain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Players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Healthcare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Medical imaging diagnosis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Health, Zebra Medical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Matches/exceeds radiologist accuracy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Retail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Visual search, product tagging, inventory monitoring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Pinterest, Amazon, Alibaba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Billions in e-commerce revenue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Automotive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Object detection for autonomous vehicles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Tesla, Waymo, Cruise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 safety system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Facial recognition, surveillance, access control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Clearview, NEC, Apple FaceID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Controversial but widespread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Agriculture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Crop disease detection, yield prediction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Blue River (John Deere)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Precision farming for large datasets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Manufacturing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Defect detection, quality control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Landing AI, Cognex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Reduces waste and recalls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thread: CNNs excel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Beyond Classification: Detection and Segmentation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is just the beginning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Detection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Find AND locate multiple objects in image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Output: bounding boxes + class labels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Architectures: YOLO, Faster R-CNN, SSD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on modern GPUs (30+ FPS)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Enables: autonomous causing, security, retail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1371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Segmentation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16916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Classify EVERY pixel in the image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9659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Output: pixel-level mask for each class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22402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Architectures: U-Net, DeepLab, Mask R-CNN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25146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More compute-intensive than detection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7889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Enables: medical imaging, satellite analysis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Instance Segmentation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+ segmentation combined: identifies each object AND segments exact boundaries. Enables AR/VR, photo editing, robotics.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The Deep Learning Revolution: Why 2012 Changed Everything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ImageNet 2012: The 'Big Bang' of Modern AI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AlexNet: 15.3% error vs 26.2% second place. 10%+ margin unprecedented.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Made It Possible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Big Data: 1.2M labeled ImageNet images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GPU Computing: made deep training feasible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Algorithmic improvements: ReLU, Dropout, data augmentation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Open research: published code, reproducible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17373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Followed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20574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Error rate: 26% (2011) -&gt; 3.6% (2015) -&gt; &lt;2% (2020)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2377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Google, Facebook, Baidu pivoted to DL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26974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Sparked NLP revolution (BERT, GPT)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30175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winter ended; billions invested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"[ImageNet 2012] was the moment the field of AI changed forever." - Fei-Fei Li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Limitations of CNNs: What Can Go Wrong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Examples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Imperceptible pixel changes can fool CNNs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'panda' becomes a 'gibbon' with 99% confidence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Physical-world attacks possible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concern for autonomous systems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Active research area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9144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 and Fairness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12344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Models inherit biases from training data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15087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Facial recognition less accurate for minorities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7830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ImageNet categories reflect Western perspective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20574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Disparate impact in real-world deployment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2331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Requires careful dataset curation and auditing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Limitations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063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 hungry: Need thousands of labeled examples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3558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reasoning: pattern recognition without true understanding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6484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Domain shift: studio-trained model may fail on smartphone photos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9410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Interpretability: hard to explain predictions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005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CNNs exploit spatial structure: local connectivity, weight sharing, hierarchical features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508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 -&gt; ReLU -&gt; Pool builds representations: edges to textures to objects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learning enables state-of-art with limited data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514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CNNs power billions of real-world applications: medical imaging, autonomous vehicles, visual search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3017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remain: adversarial vulnerability, bias, and lack of true visual understanding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3520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week: Recurrent Neural Networks for sequential data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6: Convolutional Neural Networks</dc:title>
  <dc:subject>MGMT298D: Science and Strategy of AI</dc:subject>
  <dc:creator>UCLA Anderson</dc:creator>
  <cp:lastModifiedBy>UCLA Anderson</cp:lastModifiedBy>
  <cp:revision>1</cp:revision>
  <dcterms:created xsi:type="dcterms:W3CDTF">2026-01-16T03:09:21Z</dcterms:created>
  <dcterms:modified xsi:type="dcterms:W3CDTF">2026-01-16T03:09:21Z</dcterms:modified>
</cp:coreProperties>
</file>