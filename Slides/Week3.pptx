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8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5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5756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8663B-0371-6E9A-0705-A2B4E5ED2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D90D1-E0A1-4436-FF67-3AD948970D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571053-8505-48AE-E830-539AFE863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7D884-D9EB-F68D-54AE-51C3844132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07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MGMT298D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 and Strategy of AI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Clustering and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Collaborative Filtering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UCLA Anderson School of Management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Auyon Siddiq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58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A85970-DEE3-8CEA-3AEA-D98AC2639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BA218425-44A9-EFA9-0395-B1FAF6C05DFA}"/>
              </a:ext>
            </a:extLst>
          </p:cNvPr>
          <p:cNvSpPr/>
          <p:nvPr/>
        </p:nvSpPr>
        <p:spPr>
          <a:xfrm>
            <a:off x="457200" y="2057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Case Study</a:t>
            </a:r>
          </a:p>
        </p:txBody>
      </p:sp>
    </p:spTree>
    <p:extLst>
      <p:ext uri="{BB962C8B-B14F-4D97-AF65-F5344CB8AC3E}">
        <p14:creationId xmlns:p14="http://schemas.microsoft.com/office/powerpoint/2010/main" val="118157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Personalization at Scale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863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you recommend content to 230M+ subscribers with different tastes?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catalog: 15,000+ titles spanning genres, languages, and formats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Personalization drives 80% of content watched on Netflix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behavior data provides rich signal for learning preferences implicitly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recommendations reduce churn; user attention is limited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start problem: new users have no history, new content has no ratings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curation enables long-tail content discovery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Netflix Taste Communities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divides 93M+ users into 1,300+ </a:t>
            </a: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"taste communities"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based on viewing patterns, not geography.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company looks for taste doppelgangers around the world to find series and movies you may not have realized would interest you."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Todd Yellin, VP of Product, Netflix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who enjoy foreign documentaries may also enjoy home-improvement shows — connections invisible to the naked eye but discoverable through data.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qz.com/939195</a:t>
            </a:r>
            <a:endParaRPr lang="en-US" sz="1000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DA4CE6E-A026-803F-61AB-F620046C2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9905" y="3020770"/>
            <a:ext cx="3551161" cy="1986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Spotify: Discover Weekly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499045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Weekly delivers 30 personalized songs to 100M+ users every Monday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Analyzes 500M+ users to find 'taste neighbors' with similar listening patterns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Recommends songs your taste neighbors love that you haven't heard yet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approach: collaborative filtering + content-based audio features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music-tomorrow.com/blog/how-spotify-recommendation-system-works-complete-guide</a:t>
            </a:r>
            <a:endParaRPr lang="en-US" sz="1400" dirty="0"/>
          </a:p>
        </p:txBody>
      </p:sp>
      <p:pic>
        <p:nvPicPr>
          <p:cNvPr id="6" name="Picture 4" descr="Solved: Recommendations for today - The Spotify Community">
            <a:extLst>
              <a:ext uri="{FF2B5EF4-FFF2-40B4-BE49-F238E27FC236}">
                <a16:creationId xmlns:a16="http://schemas.microsoft.com/office/drawing/2014/main" id="{2C8FC584-A03C-5C46-1EC2-81779D373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1497" y="1051560"/>
            <a:ext cx="3105303" cy="3383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Amazon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Pioneered item-to-item collaborative filtering (2003)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"Customers who bought this also bought..." = 35% of Amazon revenue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amazon.science/the-history-of-amazons-recommendation-algorithm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K-Means Clustering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From Supervised to Unsupervised Learning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443477"/>
              </p:ext>
            </p:extLst>
          </p:nvPr>
        </p:nvGraphicFramePr>
        <p:xfrm>
          <a:off x="457200" y="1097280"/>
          <a:ext cx="8229600" cy="24231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Aspect</a:t>
                      </a:r>
                      <a:endParaRPr lang="en-US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Supervised Learning</a:t>
                      </a:r>
                      <a:endParaRPr lang="en-US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Unsupervised Learning</a:t>
                      </a:r>
                      <a:endParaRPr lang="en-US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Inputs (X) paired with known outputs (y)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labels needed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Goal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Predict outcomes (churn, price, default)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Segment customers, find anomalies, reduce dimensions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Evaluation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Accuracy, RMSE, AUC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ground truth — harder to evaluate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Scalability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Labeling data is expensive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Scales easily — no labeling needed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Sample Dataset: Users × Items Matrix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448329"/>
              </p:ext>
            </p:extLst>
          </p:nvPr>
        </p:nvGraphicFramePr>
        <p:xfrm>
          <a:off x="457200" y="1005840"/>
          <a:ext cx="4800600" cy="144018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Inception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Notebook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Avengers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Titanic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...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 1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...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 2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...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 3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C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?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C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?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...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0" y="100584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Facts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users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movies across 7 genres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Ratings on 1–5 scale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80%+ entries are missing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4360" y="26060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Find natural groupings of users based on their rating patterns</a:t>
            </a:r>
            <a:endParaRPr lang="en-US" sz="1400" dirty="0"/>
          </a:p>
        </p:txBody>
      </p:sp>
      <p:sp>
        <p:nvSpPr>
          <p:cNvPr id="5" name="Text 6"/>
          <p:cNvSpPr/>
          <p:nvPr/>
        </p:nvSpPr>
        <p:spPr>
          <a:xfrm>
            <a:off x="457200" y="3200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Clustering First?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352044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5,000 individuals to manageable segments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interpretable "viewer personas"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54880" y="3200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Applications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754880" y="352044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marketing per segment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acquisition by segment size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K-Means Algorithm: How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863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Initialize K cluster centers (randomly or via K-means++)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Repeat until convergence: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each point to the nearest center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Recalculate each center as the mean of its assigned points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Minimize within-cluster sum of squares (WCSS)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WCSS = Σ Σ ||xᵢ - μₖ||²   (sum over all clusters k, all points i in cluster k)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Guaranteed to converge — but may find local optimum, not global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Complexity: O(n × K × d × iterations) — scales well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K-Means: Step-by-Step Example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Simplified example: </a:t>
            </a: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2, two features (Action rating, Romance rating)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736360"/>
              </p:ext>
            </p:extLst>
          </p:nvPr>
        </p:nvGraphicFramePr>
        <p:xfrm>
          <a:off x="457200" y="1417320"/>
          <a:ext cx="2560320" cy="146304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Action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Romance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91840" y="1325880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1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init: μ₁ = (5,1), μ₂ = (1,5)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Assign: d(B, μ₁) = √((4-5)²+(2-1)²) = √2 ≈ 1.41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d(B, μ₂) = √((4-1)²+(2-5)²) = √18 ≈ 4.24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→ Cluster 1 (closer to μ₁)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Cluster 1 = {A, B}, Cluster 2 = {C, D}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centers: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μ₁ = ((5+4)/2, (1+2)/2) = (4.5, 1.5)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μ₂ = ((1+2)/2, (5+4)/2) = (1.5, 4.5)</a:t>
            </a: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2: Reassign → same clusters → converged!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" y="425196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8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lovers {A, B} and Romance lovers {C, D} naturally separated by the algorithm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K-Means: Key Hyperparameters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85730"/>
              </p:ext>
            </p:extLst>
          </p:nvPr>
        </p:nvGraphicFramePr>
        <p:xfrm>
          <a:off x="457200" y="1051560"/>
          <a:ext cx="8229600" cy="30175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Parameter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What It Controls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Typical Values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Effect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 of clusters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3–10 for business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few: overly broad segments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 many: not actionable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init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Initialization method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k-means++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Better than random; avoids poor local optima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n_init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 random restarts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 (default)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More restarts = better chance of global optimum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max_iter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 iterations per run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 (default)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Usually converges in 10–20; rarely needs more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tol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Convergence tolerance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1e-4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Stops when centers move less than tol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is by far the most important hyperparameter — the others rarely need tuning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Choosing K: The Elbow Method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 WCSS vs. K and look for the </a:t>
            </a: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"elbow"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where adding more clusters gives diminishing returns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465163"/>
              </p:ext>
            </p:extLst>
          </p:nvPr>
        </p:nvGraphicFramePr>
        <p:xfrm>
          <a:off x="457200" y="1645920"/>
          <a:ext cx="8211312" cy="109728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WCSS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4,200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2,800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1,900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1,700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1,600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1,550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Δ WCSS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-1,400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-900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-200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-100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C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-50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drops (K=2→3: -1,400 and K=3→4: -900) show meaningful structure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drops after K=4 (-200, -100, -50) — diminishing returns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Elbow at K=4: best trade-off between fit and simplicity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More clusters always reduce WCSS — the question is whether the improvement is worth the added complexity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Silhouette Score: Validating Clusters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point i: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a(i) = average distance to other points in same cluster (cohesion)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b(i) = average distance to points in nearest other cluster (separation)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s(i) = (b(i) - a(i)) / max(a(i), b(i))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Interpretation: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s(i) ≈ +1: point is well-matched to its cluster, far from neighbors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s(i) ≈ 0: point is on the boundary between clusters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s(i) ≈ -1: point is probably in the wrong cluster</a:t>
            </a:r>
            <a:endParaRPr lang="en-US" sz="14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silhouette across all points gives an overall quality score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Practical Considerations for Choosing 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863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numbers: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Interpretability: 3–7 segments typically manageable for teams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each cluster must be large enough to warrant distinct treatment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Stability: run clustering multiple times — do the same segments emerge?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knowledge: marketing budget or campaign constraints may set 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Actionability: can you actually do something different for each segment?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practice: combine Elbow + Silhouette + business judgment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Cluster Profiles: Interpreting Your Segments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863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 centroids: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each segment distinct? Look at average ratings by genre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Validate: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actual preferences match the patterns? Spot-check real users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Enrich: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 demographics — age, location, viewing time?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segments: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Memorable, actionable labels ("Blockbuster Fans", "Thoughtful Viewers")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for marketing, product, and content team handoff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From Segments to Strategy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5371772"/>
              </p:ext>
            </p:extLst>
          </p:nvPr>
        </p:nvGraphicFramePr>
        <p:xfrm>
          <a:off x="457200" y="1051560"/>
          <a:ext cx="8229600" cy="22860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Segment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Characteristics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Strategic Action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Blockbuster Fans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action/sci-fi, weekend bingers, 4+ hrs/session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Early access to Marvel/DC releases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Thoughtful Viewers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Documentaries, foreign films, weekday evenings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Oscar season content, curated lists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Family Streamers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Animation, family comedies, shared profiles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Kids-safe filters, family movie night promos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Casual Browsers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 engagement, few ratings, high skip rate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Simplified UI, trending/popular content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4360" y="3520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individuals → 4 actionable segments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what about individual predictions? Enter Collaborative Filtering...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Collaborative Filtering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Industry Example: Spotify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CF Approach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500M+ users analyzed to find 'taste neighbors'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songs your neighbors love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more you listen, the better it gets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Hybrid: CF + content-based audio features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0" y="1051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0" y="141732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Weekly users: 20% higher retention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8B+ artist discoveries via playlists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competitive moat vs. Apple, YouTube Music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338328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idea: "Users who liked X also liked Y"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Amazon's Item-to-Item CF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863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pioneered item-to-item CF (2003) — transformed e-commerce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user-based CF: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"Find similar users, recommend what they bought"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Amazon's innovation — item-based CF: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"Find similar items, recommend items similar to what you bought"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"Customers who bought this also bought..." = 35% of revenue ($100B+)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Item-based CF scales better: item relationships change slowly; user preferences shift often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Now: CF + deep learning + contextual bandits + real-time signals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User-Based Collaborative Filtering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863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Three-step process: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Calculate User Similarity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user pairs on co-rated items using cosine similarity or Pearson correlation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Find Neighbors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K most similar users who rated the target item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Make Predictions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rating as weighted average of neighbor ratings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similarity = more weight (their vote counts more)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walk through each step with numbers...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Step 1: Cosine Similarity — Numerical Example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sim(u, v) = (u · v) / (||u|| × ||v||)     Range: -1 to +1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655823"/>
              </p:ext>
            </p:extLst>
          </p:nvPr>
        </p:nvGraphicFramePr>
        <p:xfrm>
          <a:off x="457200" y="1463040"/>
          <a:ext cx="3474720" cy="137160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Inception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Avengers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Titanic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Alice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Bob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Carol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206240" y="132588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sim(Alice, Bob):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product: (5)(4) + (4)(5) + (1)(2) = 42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||Alice|| = √(25+16+1) = √42 ≈ 6.48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||Bob|| = √(16+25+4) = √45 ≈ 6.71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 = 42 / (6.48 × 6.71) = 0.97  (very similar!)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sim(Alice, Carol):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product: (5)(1) + (4)(2) + (1)(5) = 18</a:t>
            </a:r>
            <a:endParaRPr lang="en-US" sz="13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||Carol|| = √(1+4+25) = √30 ≈ 5.48</a:t>
            </a: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 = 18 / (6.48 × 5.48) = 0.51  (less similar)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" y="425196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82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Alice and Bob are taste twins (both love action) — Carol has opposite preferences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Pearson vs. Cosine: When Ratings Are Biased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users rate everything high (generous), others rate low (tough critics)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Pearson correlation accounts for this by centering ratings around each user's mean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Alice rates: 5, 4, 1   (mean = 3.33)  →  centered: +1.67, +0.67, -2.33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Dave rates:  3, 2, 0    (mean = 1.67)  →  centered: +1.33, +0.33, -1.67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on raw ratings: different magnitudes make them seem less similar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Pearson on centered ratings: both show same relative pattern → high correlation!</a:t>
            </a:r>
            <a:endParaRPr lang="en-US" sz="14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Pearson is preferred when users have different rating scales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Step 3: Making Predictions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Prediction Formula: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r̂(u,i) = Σ sim(u,v) × r(v,i)  /  Σ |sim(u,v)|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(sum over all neighbors v who rated item i)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Mean-Centered Variant (adjusts for rating bias):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r̂(u,i) = r̅(u) + Σ sim(u,v) × (r(v,i) - r̅(v))  /  Σ |sim(u,v)|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r̂(u,i) = predicted rating       sim(u,v) = similarity weight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r(v,i) = neighbor's actual rating     r̅(u) = user's average rating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Denominator normalizes weights so predictions stay on the 1–5 scale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Prediction Walkthrough: Numerical Example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Alice's rating for </a:t>
            </a: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Notebook</a:t>
            </a: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(she hasn't seen it)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91869"/>
              </p:ext>
            </p:extLst>
          </p:nvPr>
        </p:nvGraphicFramePr>
        <p:xfrm>
          <a:off x="457200" y="1463040"/>
          <a:ext cx="6400800" cy="10058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Neighbor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sim(Alice, v)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Rating for Notebook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sim × rating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Bob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0.97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1.94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Carol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0.51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2.55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265176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Calculation: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r̂ = (0.97 × 2  +  0.51 × 5) / (|0.97| + |0.51|)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r̂ = (1.94 + 2.55) / (0.97 + 0.51)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r̂ = 4.49 / 1.48 = 3.03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 (very similar, weight 0.97) pulls prediction toward 2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Carol (less similar, weight 0.51) pulls toward 5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~3.0 — a middling prediction, weighted by similarity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CF as K-Nearest Neighbors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KNN Connection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User-based CF is KNN in "rating space"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predict a rating:</a:t>
            </a:r>
            <a:endParaRPr lang="en-US" sz="1300" dirty="0"/>
          </a:p>
          <a:p>
            <a:pPr marL="0" lvl="1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Find K nearest users</a:t>
            </a:r>
            <a:endParaRPr lang="en-US" sz="1300" dirty="0"/>
          </a:p>
          <a:p>
            <a:pPr marL="0" lvl="1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Collect their ratings</a:t>
            </a:r>
            <a:endParaRPr lang="en-US" sz="1300" dirty="0"/>
          </a:p>
          <a:p>
            <a:pPr marL="0" lvl="1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Weight by similarity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algorithm, different domain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0" y="1051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0" y="141732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framing enables: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 tuning (K)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metric choice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optimizations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to other ML methods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8229600" cy="82296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K in CF: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K (5–10): Highly personalized but noisy predictions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K (50–100): Smooth but may over-generalize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K via cross-validation — typically 20–50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CF Hyperparameters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271140"/>
              </p:ext>
            </p:extLst>
          </p:nvPr>
        </p:nvGraphicFramePr>
        <p:xfrm>
          <a:off x="457200" y="1051560"/>
          <a:ext cx="8229600" cy="3200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Parameter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Purpose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Typical Range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Trade-off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 (neighbors)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 of similar users to consult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20–50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 K = personalized but noisy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K = smooth but generic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Similarity metric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How to measure user closeness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Cosine, Pearson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Cosine: ignores bias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Pearson: adjusts for rating scale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 co-rated items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Minimum overlap to trust similarity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3–10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Low: more neighbors, noisier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High: fewer, more reliable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Similarity threshold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Minimum sim to be considered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0.0–0.3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Filters out weakly related users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Mean-centering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Adjust for user rating bias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 / Off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On: corrects for generous/harsh raters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and similarity metric have the biggest impact — tune these first via cross-validation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Evaluating Recommendation Systems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863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Metrics (before deployment):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RMSE: how far are predicted ratings from actual? Lower = better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Precision@K: of top-K recommendations, how many were relevant?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Recall@K: of all relevant items, how many appeared in top-K?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Metrics (in production):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Click-through rate, watch time, conversion, churn reduction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Accuracy: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Diversity: are we recommending different genres, not just top hits?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Novelty: are we surfacing things the user wouldn't find on their own?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Serendipity: are we delighting users with unexpected but relevant picks?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Limitations and Extensions of CF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773944"/>
              </p:ext>
            </p:extLst>
          </p:nvPr>
        </p:nvGraphicFramePr>
        <p:xfrm>
          <a:off x="457200" y="1051560"/>
          <a:ext cx="8229600" cy="17627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Cold Start</a:t>
                      </a:r>
                      <a:endParaRPr lang="en-US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Sparsity</a:t>
                      </a:r>
                      <a:endParaRPr lang="en-US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Scalability</a:t>
                      </a:r>
                      <a:endParaRPr lang="en-US" sz="13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 users/items have no history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Fix: content-based features, ask for initial preferences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Users rate &lt;1% of items — few overlapping ratings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Fix: matrix factorization, dimensionality reduction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Pairwise similarity = O(n²)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Netflix: 200M+ users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Fix: ANN, LSH, item-based CF</a:t>
                      </a:r>
                      <a:endParaRPr lang="en-US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Extensions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32918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 Factorization: latent factors capture underlying taste dimensions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Learning: neural CF, autoencoders, transformers for sequences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Systems: combine collaborative + content-based + contextual signals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 Bandits: balance exploration vs. exploitation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863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Unsupervised learning discovers structure without labels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K-Means groups users by similarity into actionable segments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K is the critical hyperparameter — use Elbow + Silhouette + business judgment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Collaborative Filtering: "wisdom of the crowd" for personalized recs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User-based CF: find neighbors → predict via weighted averages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Key CF hyperparameters: K, similarity metric, min overlap, mean-centering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 Real-world challenges: cold start, sparsity, scalability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D100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Colab Demo</a:t>
            </a:r>
            <a:endParaRPr lang="en-US" sz="3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D100"/>
                </a:solidFill>
                <a:latin typeface="Whitney Bold" pitchFamily="34" charset="0"/>
                <a:ea typeface="Arial" pitchFamily="34" charset="-122"/>
                <a:cs typeface="Arial" pitchFamily="34" charset="-120"/>
              </a:rPr>
              <a:t>Assignment 2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2688</Words>
  <Application>Microsoft Macintosh PowerPoint</Application>
  <PresentationFormat>On-screen Show (16:9)</PresentationFormat>
  <Paragraphs>446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Whitney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MGMT298D Week 3 - Clustering and Collaborative Filtering</dc:title>
  <dc:subject>PptxGenJS Presentation</dc:subject>
  <dc:creator>Auyon Siddiq</dc:creator>
  <cp:lastModifiedBy>Siddiq, Auyon</cp:lastModifiedBy>
  <cp:revision>6</cp:revision>
  <dcterms:created xsi:type="dcterms:W3CDTF">2026-02-02T18:45:57Z</dcterms:created>
  <dcterms:modified xsi:type="dcterms:W3CDTF">2026-02-02T21:45:05Z</dcterms:modified>
</cp:coreProperties>
</file>