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188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1691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Week 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20574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Clustering and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Collaborative Filtering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3749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Case Study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Personalization at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recommend content to 230M+ subscribers with different tastes?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catalog: 15,000+ titles spanning genres, languages, and formats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drives 80% of content watched on Netflix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behavior data provides rich signal for learning preferences implicitly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recommendations reduce churn; user attention is limited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 problem: new users have no history, new content has no ratings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curation enables long-tail content discovery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core techniques today: clustering (group similar users) and collaborative filtering (predict preferences)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Netflix Taste Communities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divides 93M+ users into 1,300+ "taste communities" based on viewing patterns, not geography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who enjoy foreign documentaries may also enjoy home-improvement shows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 invisible to the naked eye but discoverable through data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qz.com/939195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Spotify: Discover Weekly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delivers 30 personalized songs to 100M+ users every Monday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Analyzes 500M+ users to find 'taste neighbors' with similar listening patterns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Recommends songs your taste neighbors love that you haven't heard yet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approach: collaborative filtering + content-based audio features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music-tomorrow.com/blog/how-spotify-recommendation-system-works-complete-guide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Amazon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Pioneered item-to-item collaborative filtering (2003)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"Customers who bought this also bought..." = 35% of Amazon revenue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amazon.science/the-history-of-amazons-recommendation-algorithm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K-Means Clustering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From Supervised to Unsupervised Learning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Supervised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Unsupervised Learning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Inputs (X) paired with known outputs (y)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Inputs only — no labels needed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 outcomes (churn, price, default)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 customers, find anomalies, reduce dimensions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RMSE, AUC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ground truth — harder to evaluate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Scalability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Labeling data is expensive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Scales easily — no labeling needed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36576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1–2: supervised learning (regression). This week: unsupervised (no labels!)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Sample Dataset: Users × Items Matrix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645920"/>
                <a:gridCol w="1371600"/>
                <a:gridCol w="1371600"/>
                <a:gridCol w="457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Inception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Notebook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Avengers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Titanic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...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...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...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...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5,000 users, 100 movies, ratings 1–5 scale, 80%+ entries missing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find natural groupings of users based on their rating patterns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37490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5,000 individuals to manageable segments → targeted marketing, content strategy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K-Means: The Core Idea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data into K groups where each point belongs to the nearest cluster center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Initialize K cluster centers (randomly or via K-means++)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Assign each point to the nearest center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Recalculate each center as the mean of its assigned points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Repeat steps 2–3 until assignments stop changing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Objective: Minimize WCSS = Σ Σ ‖xᵢ − μₖ‖²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Guaranteed to converge — but may find a local optimum, not global. Use multiple restarts.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Complexity: O(n × K × d × iterations) — scales well to large datasets.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K-Means: How It Works Visually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1920240" cy="50292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920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K centers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77440" y="12344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06040" y="1097280"/>
            <a:ext cx="1920240" cy="50292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097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06040" y="1600200"/>
            <a:ext cx="1920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3" name="Text 11"/>
          <p:cNvSpPr/>
          <p:nvPr/>
        </p:nvSpPr>
        <p:spPr>
          <a:xfrm>
            <a:off x="2697480" y="16002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point → 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center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12344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1920240" cy="50292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097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1600200"/>
            <a:ext cx="1920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6002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centers 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of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75120" y="123444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03720" y="1097280"/>
            <a:ext cx="1920240" cy="50292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9728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903720" y="1600200"/>
            <a:ext cx="1920240" cy="50292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3" name="Text 21"/>
          <p:cNvSpPr/>
          <p:nvPr/>
        </p:nvSpPr>
        <p:spPr>
          <a:xfrm>
            <a:off x="6995160" y="16002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assignments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changing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371600" y="2834640"/>
            <a:ext cx="137160" cy="137160"/>
          </a:xfrm>
          <a:prstGeom prst="ellipse">
            <a:avLst/>
          </a:prstGeom>
          <a:solidFill>
            <a:srgbClr val="2774AE"/>
          </a:solidFill>
          <a:ln/>
        </p:spPr>
      </p:sp>
      <p:sp>
        <p:nvSpPr>
          <p:cNvPr id="25" name="Shape 23"/>
          <p:cNvSpPr/>
          <p:nvPr/>
        </p:nvSpPr>
        <p:spPr>
          <a:xfrm>
            <a:off x="1828800" y="3108960"/>
            <a:ext cx="137160" cy="137160"/>
          </a:xfrm>
          <a:prstGeom prst="ellipse">
            <a:avLst/>
          </a:prstGeom>
          <a:solidFill>
            <a:srgbClr val="2774AE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5920" y="3383280"/>
            <a:ext cx="137160" cy="137160"/>
          </a:xfrm>
          <a:prstGeom prst="ellipse">
            <a:avLst/>
          </a:prstGeom>
          <a:solidFill>
            <a:srgbClr val="2774AE"/>
          </a:solidFill>
          <a:ln/>
        </p:spPr>
      </p:sp>
      <p:sp>
        <p:nvSpPr>
          <p:cNvPr id="27" name="Shape 25"/>
          <p:cNvSpPr/>
          <p:nvPr/>
        </p:nvSpPr>
        <p:spPr>
          <a:xfrm>
            <a:off x="2103120" y="2926080"/>
            <a:ext cx="137160" cy="137160"/>
          </a:xfrm>
          <a:prstGeom prst="ellipse">
            <a:avLst/>
          </a:prstGeom>
          <a:solidFill>
            <a:srgbClr val="2774AE"/>
          </a:solidFill>
          <a:ln/>
        </p:spPr>
      </p:sp>
      <p:sp>
        <p:nvSpPr>
          <p:cNvPr id="28" name="Shape 26"/>
          <p:cNvSpPr/>
          <p:nvPr/>
        </p:nvSpPr>
        <p:spPr>
          <a:xfrm>
            <a:off x="3474720" y="2834640"/>
            <a:ext cx="137160" cy="137160"/>
          </a:xfrm>
          <a:prstGeom prst="ellipse">
            <a:avLst/>
          </a:prstGeom>
          <a:solidFill>
            <a:srgbClr val="FFD100"/>
          </a:solidFill>
          <a:ln/>
        </p:spPr>
      </p:sp>
      <p:sp>
        <p:nvSpPr>
          <p:cNvPr id="29" name="Shape 27"/>
          <p:cNvSpPr/>
          <p:nvPr/>
        </p:nvSpPr>
        <p:spPr>
          <a:xfrm>
            <a:off x="3840480" y="3200400"/>
            <a:ext cx="137160" cy="137160"/>
          </a:xfrm>
          <a:prstGeom prst="ellipse">
            <a:avLst/>
          </a:prstGeom>
          <a:solidFill>
            <a:srgbClr val="FFD100"/>
          </a:solidFill>
          <a:ln/>
        </p:spPr>
      </p:sp>
      <p:sp>
        <p:nvSpPr>
          <p:cNvPr id="30" name="Shape 28"/>
          <p:cNvSpPr/>
          <p:nvPr/>
        </p:nvSpPr>
        <p:spPr>
          <a:xfrm>
            <a:off x="3291840" y="3383280"/>
            <a:ext cx="137160" cy="137160"/>
          </a:xfrm>
          <a:prstGeom prst="ellipse">
            <a:avLst/>
          </a:prstGeom>
          <a:solidFill>
            <a:srgbClr val="FFD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3017520"/>
            <a:ext cx="137160" cy="137160"/>
          </a:xfrm>
          <a:prstGeom prst="ellipse">
            <a:avLst/>
          </a:prstGeom>
          <a:solidFill>
            <a:srgbClr val="FFD1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600200" y="3017520"/>
            <a:ext cx="228600" cy="228600"/>
          </a:xfrm>
          <a:prstGeom prst="ellipse">
            <a:avLst/>
          </a:prstGeom>
          <a:solidFill>
            <a:srgbClr val="00558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20440" y="3017520"/>
            <a:ext cx="228600" cy="228600"/>
          </a:xfrm>
          <a:prstGeom prst="ellipse">
            <a:avLst/>
          </a:prstGeom>
          <a:solidFill>
            <a:srgbClr val="C4820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97280" y="3657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(Action fans)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108960" y="3657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(Romance fans)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206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Rating 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0" y="2377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Romance Rating →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0" y="2468880"/>
            <a:ext cx="3657600" cy="20116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9" name="Text 37"/>
          <p:cNvSpPr/>
          <p:nvPr/>
        </p:nvSpPr>
        <p:spPr>
          <a:xfrm>
            <a:off x="5212080" y="256032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Properties: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Each point belongs to exactly one cluster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Centroids are the cluster "representatives"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Clusters are spherical (by construction)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Result depends on initialization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K-Means: Step-by-Step Example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Simplified: K = 2, two features (Action rating, Romance rating)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2468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Romance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137160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1: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init: μ₁ = (5,1), μ₂ = (1,5)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B: d(B,μ₁) = √2 ≈ 1.41, d(B,μ₂) = √18 ≈ 4.24 → Cluster 1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Cluster 1 = {A, B}, Cluster 2 = {C, D}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centers: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μ₁ = ((5+4)/2, (1+2)/2) = (4.5, 1.5)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μ₂ = ((1+2)/2, (5+4)/2) = (1.5, 4.5)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2: Reassign → same clusters → converged!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lovers {A, B} and Romance lovers {C, D} naturally separated by the algorithm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K-Means: Key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011680"/>
                <a:gridCol w="1463040"/>
                <a:gridCol w="34747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 of clusters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3–10 for business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 few: overly broad. Too many: not actionable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Initialization 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k-means++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 than random; avoids poor local optima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n_init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 of random restarts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(default)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restarts = better chance of global optimum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max_iter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iterations per run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(default)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Usually converges in 10–20; rarely needs more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Convergence tolerance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1e-4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Stops when centers move less than tol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is by far the most important hyperparameter — the others rarely need tuning.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Choosing K: The Elbow Method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 WCSS vs. K and look for the "elbow" — where adding clusters gives diminishing returns: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558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WCSS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drops (K=2→3 and K=3→4) show meaningful structure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drops after K=4 (–200, –100, –50) — diminishing returns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Elbow at K=4: best trade-off between fit and simplicity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40233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clusters always reduce WCSS — the question is whether the improvement is worth the added complexity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Silhouette Score: Validating Clusters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point i: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a(i) = avg distance to other points in same cluster (cohesion)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b(i) = avg distance to points in nearest other cluster (separation)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s(i) = (b(i) − a(i)) / max(a(i), b(i))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2468880" cy="36576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432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s(i) ≈ +1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108960"/>
            <a:ext cx="2468880" cy="548640"/>
          </a:xfrm>
          <a:prstGeom prst="rect">
            <a:avLst/>
          </a:prstGeom>
          <a:solidFill>
            <a:srgbClr val="D4EDD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Well-matched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cluster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66160" y="2743200"/>
            <a:ext cx="2468880" cy="36576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7432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s(i) ≈ 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66160" y="3108960"/>
            <a:ext cx="2468880" cy="548640"/>
          </a:xfrm>
          <a:prstGeom prst="rect">
            <a:avLst/>
          </a:prstGeom>
          <a:solidFill>
            <a:srgbClr val="FFF3CD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boundary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clusters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2743200"/>
            <a:ext cx="2468880" cy="36576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7432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s(i) ≈ −1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3108960"/>
            <a:ext cx="2468880" cy="548640"/>
          </a:xfrm>
          <a:prstGeom prst="rect">
            <a:avLst/>
          </a:prstGeom>
          <a:solidFill>
            <a:srgbClr val="F8D7DA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Probably in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cluster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silhouette across all points gives overall cluster quality — higher is better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Practical Considerations for Choosing 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numbers: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Interpretability: 3–7 segments typically manageable for teams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each cluster must be large enough to warrant distinct treatment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Stability: run clustering multiple times — do the same segments emerge?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knowledge: marketing budget or campaign constraints may set K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Actionability: can you actually do something different for each segment?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39319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practice: combine Elbow + Silhouette + business judgment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Cluster Profiles: Interpreting Segments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Examine centroids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each segment distinct? Look at average ratings by genre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actual preferences match the patterns? Spot-check real users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demographics — age, location, viewing time?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segments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Memorable, actionable labels ("Blockbuster Fans", "Thoughtful Viewers")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for marketing, product, and content team handoff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From Segments to Strategy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Characteristics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Strategic 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Blockbuster Fans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action/sci-fi, weekend bingers, 4+ hrs/session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access to Marvel/DC releases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Thoughtful Viewers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Documentaries, foreign films, weekday evenings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season content, curated lists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Family Streamers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Animation, family comedies, shared profiles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Kids-safe filters, family movie night promos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Casual Browsers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engagement, few ratings, high skip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Simplified UI, trending/popular content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34747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individuals → 4 actionable segments. But what about individual predictions?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 gives group-level insights. For individual recommendations → Collaborative Filtering.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Collaborative Filtering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CF in Industry: Spotify &amp; Amazon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60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500M+ users analyzed for 'taste neighbors'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Weekly: 20% higher retention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Hybrid: CF + content-based audio features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8B+ artist discoveries via playlists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5087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Pioneered item-to-item CF (2003)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"Customers who bought this..." = 35% of revenue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Item-based CF scales better than user-based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CF + deep learning + contextual bandits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33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idea: "Users who liked X also liked Y" — no labels needed, just behavioral data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User-Based Collaborative Filtering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Three-step process: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Calculate User Similarity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user pairs on co-rated items using cosine similarity or Pearson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Find Neighbors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K most similar users who rated the target item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Make Predictions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rating as weighted average of neighbor ratings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similarity = more weight (their vote counts more)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walk through each step with numbers on the next slides...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CF: How It Works Visually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801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00558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(Target User)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2011680" cy="411480"/>
          </a:xfrm>
          <a:prstGeom prst="roundRect">
            <a:avLst/>
          </a:prstGeom>
          <a:solidFill>
            <a:srgbClr val="FFF8E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Notebook = 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508760"/>
            <a:ext cx="731520" cy="0"/>
          </a:xfrm>
          <a:prstGeom prst="line">
            <a:avLst/>
          </a:prstGeom>
          <a:noFill/>
          <a:ln w="25400">
            <a:solidFill>
              <a:srgbClr val="6666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09728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similar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566160" y="1051560"/>
            <a:ext cx="2194560" cy="411480"/>
          </a:xfrm>
          <a:prstGeom prst="roundRect">
            <a:avLst>
              <a:gd name="adj" fmla="val 13333"/>
            </a:avLst>
          </a:prstGeom>
          <a:solidFill>
            <a:srgbClr val="2774AE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1051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 (sim=0.97)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15087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= 2 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1965960"/>
            <a:ext cx="2194560" cy="411480"/>
          </a:xfrm>
          <a:prstGeom prst="roundRect">
            <a:avLst>
              <a:gd name="adj" fmla="val 13333"/>
            </a:avLst>
          </a:prstGeom>
          <a:solidFill>
            <a:srgbClr val="2774AE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19659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(sim=0.51)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6616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= 5 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0" y="1737360"/>
            <a:ext cx="548640" cy="0"/>
          </a:xfrm>
          <a:prstGeom prst="line">
            <a:avLst/>
          </a:prstGeom>
          <a:noFill/>
          <a:ln w="25400">
            <a:solidFill>
              <a:srgbClr val="6666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13258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15087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D100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0" y="15087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Prediction: 3.03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10896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 (very similar) pulls prediction toward 2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(less similar) pulls toward 5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~3.0 — weighted toward the more similar neighbor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Step 1: Cosine Similarity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sim(u, v) = (u · v) / (‖u‖ × ‖v‖)     Range: −1 to +1</a:t>
            </a:r>
            <a:endParaRPr lang="en-US" sz="1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417320"/>
          <a:ext cx="30175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82296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Inception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Avengers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Titanic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141732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sim(Alice, Bob):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Dot: (5)(4)+(4)(5)+(1)(2) = 42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‖Alice‖ = √42 ≈ 6.48, ‖Bob‖ = √45 ≈ 6.71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 = 42 / (6.48 × 6.71) = 0.97 (very similar!)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sim(Alice, Carol):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Dot: (5)(1)+(4)(2)+(1)(5) = 18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‖Carol‖ = √30 ≈ 5.48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 = 18 / (6.48 × 5.48) = 0.51 (less similar)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Alice and Bob are taste twins (both love action) — Carol has opposite preferences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Pearson vs. Cosine: Rating Bias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Some users rate everything high, others rate low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Pearson correlation accounts for this by centering ratings around each user's mean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Alice rates: 5, 4, 1 (mean = 3.33) → centered: +1.67, +0.67, −2.33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Dave rates: 3, 2, 0 (mean = 1.67) → centered: +1.33, +0.33, −1.67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 on raw ratings: different magnitudes make them seem less similar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Pearson on centered ratings: same relative pattern → high correlation!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Takeaway: Pearson is preferred when users have different rating scales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Step 3: Making Predictions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Prediction Formula: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r̂(u,i) = Σ sim(u,v) × r(v,i)  /  Σ |sim(u,v)|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Mean-Centered Variant (adjusts for rating bias):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r̂(u,i) = r̄(u) + Σ sim(u,v) × (r(v,i) − r̄(v))  /  Σ |sim(u,v)|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2743200"/>
          <a:ext cx="6400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120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Symbol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r̂(u,i)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Predicted rating for user u on item 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sim(u,v)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Similarity weight between user u and neighbor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r(v,i)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Neighbor v's actual rating for item 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r̄(u)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u's average rating across all items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Denominator normalizes weights so predictions stay on the 1–5 scale.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Prediction Walkthrough: Numerical Example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Alice's rating for The Notebook (she hasn't seen it):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Neighbor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sim(Alice, 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Rating for Notebook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× rating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56032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Calculation: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r̂ = (0.97 × 2 + 0.51 × 5) / (|0.97| + |0.51|)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r̂ = (1.94 + 2.55) / (0.97 + 0.51)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r̂ = 4.49 / 1.48 = 3.03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0" y="2651760"/>
            <a:ext cx="3200400" cy="13716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0" y="274320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 (sim=0.97) pulls toward 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(sim=0.51) pulls toward 5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~3.0 — weighted by similarity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similar neighbors get more voting power — the prediction is a weighted average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CF as K-Nearest Neighbors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41148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60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KNN Connection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User-based CF is KNN in "rating space"</a:t>
            </a:r>
            <a:endParaRPr lang="en-US" sz="1300" dirty="0"/>
          </a:p>
          <a:p>
            <a:pPr lvl="1" marL="6858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Find K nearest users</a:t>
            </a:r>
            <a:endParaRPr lang="en-US" sz="1300" dirty="0"/>
          </a:p>
          <a:p>
            <a:pPr lvl="1" marL="6858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Collect their ratings</a:t>
            </a:r>
            <a:endParaRPr lang="en-US" sz="1300" dirty="0"/>
          </a:p>
          <a:p>
            <a:pPr lvl="1" marL="6858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Weight by similarity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solidFill>
            <a:srgbClr val="2774AE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K in CF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5087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K (5–10):</a:t>
            </a:r>
            <a:endParaRPr lang="en-US" sz="1300" dirty="0"/>
          </a:p>
          <a:p>
            <a:pPr lvl="1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Highly personalized but noisy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K (50–100):</a:t>
            </a:r>
            <a:endParaRPr lang="en-US" sz="1300" dirty="0"/>
          </a:p>
          <a:p>
            <a:pPr lvl="1"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but may over-generalize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Optimal: K=20–50 via cross-validation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6576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algorithm, different domain — KNN framing enables tuning and optimization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CF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1371600"/>
                <a:gridCol w="34747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Controls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/ Trade-off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(neighbors)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 similar users to consult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K = personalized but noisy. High K = smooth but generic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Similarity 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to measure closeness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Pearson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Cosine: ignores bias. Pearson: adjusts for rating scale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co-rated items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overlap to trust 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Low: more neighbors, noisier. High: fewer, more reliable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sim to be considered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0.0–0.3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Filters out weakly related users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Mean-centering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 for rating bias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/ 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On: corrects for generous/harsh raters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and similarity metric have the biggest impact — tune these first via cross-validation.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Evaluating Recommendation Systems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Metrics (before deployment)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RMSE: how far are predicted ratings from actual? Lower = better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Precision@K: of top-K recs, how many were relevant?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Recall@K: of all relevant items, how many appeared in top-K?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Metrics (in production)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Click-through rate, watch time, conversion, churn reduction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Accuracy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Diversity: recommending different genres, not just top hits?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Novelty: surfacing things the user wouldn't find on their own?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Serendipity: delighting users with unexpected but relevant picks?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Limitations of Collaborative Filtering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51560"/>
            <a:ext cx="2651760" cy="41148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554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50876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users/items have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history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content-based features,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initial preferences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051560"/>
            <a:ext cx="2651760" cy="41148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051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37560" y="1463040"/>
            <a:ext cx="2651760" cy="1554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50876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rate &lt;1% of items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few overlapping ratings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matrix factorization,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dimensionality reduction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051560"/>
            <a:ext cx="2651760" cy="41148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0515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651760" cy="1554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50876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similarity = O(n²)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Netflix: 200M+ users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ANN, LSH, item-based CF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3832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limitations drove the evolution to matrix factorization, deep learning, and hybrid systems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Modern Extensions of CF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Factorization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 factors capture underlying taste dimensions (e.g., action affinity, art-house preference)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 the Netflix Prize in 2009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collaborative filtering, autoencoders, transformers for sequences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model complex, nonlinear user-item interactions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Systems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collaborative + content-based + contextual signals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 Bandits</a:t>
            </a:r>
            <a:endParaRPr lang="en-US" sz="15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exploration (try new recs) vs. exploitation (use what works)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Unsupervised learning discovers structure without labels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K-Means groups users by similarity into actionable segments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 is the critical hyperparameter — use Elbow + Silhouette + business judgment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Collaborative Filtering: "wisdom of the crowd" for personalized recs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User-based CF: find neighbors → predict via weighted averages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Real-world challenges: cold start, sparsity, scalability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Modern systems combine CF + content + deep learning + bandits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Colab Demo</a:t>
            </a:r>
            <a:endParaRPr lang="en-US" sz="3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Assignment 3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MGMT298D Week 3 - Clustering and Collaborative Filtering</dc:title>
  <dc:subject>PptxGenJS Presentation</dc:subject>
  <dc:creator>Auyon Siddiq</dc:creator>
  <cp:lastModifiedBy>Auyon Siddiq</cp:lastModifiedBy>
  <cp:revision>1</cp:revision>
  <dcterms:created xsi:type="dcterms:W3CDTF">2026-02-05T14:59:00Z</dcterms:created>
  <dcterms:modified xsi:type="dcterms:W3CDTF">2026-02-05T14:59:00Z</dcterms:modified>
</cp:coreProperties>
</file>