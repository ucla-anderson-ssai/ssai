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8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6" r:id="rId30"/>
    <p:sldId id="287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020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E2D43-BB5D-0AE0-19D5-D04FD2C8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0B3F4-8FF9-8AA9-D406-6F504B1EC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AB716-0CF4-E16A-20A9-4E615318D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B87AB-05DC-06C0-7A8D-5036A3C74A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07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236D4-B6FF-EBA2-FA08-3C2B7548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41314-9A3C-B2DA-7463-E4414D42D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D4BEA-DF9C-C9AF-12F1-F599E9D99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42C8E-D628-7B11-8940-087CDCB075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027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5937A-345E-0565-FAF1-32E1A47A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98B7F-34B7-CA1B-6DC9-98DF86C95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4D507-0855-B9A4-EBAA-75F6294D5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8E8C1-49AF-795E-E853-F46E40045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8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2057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Reinforcement Learning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3749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9B4AC-7B92-6D3C-A67F-4490EABF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B77B3B1C-19AF-4520-5BFA-269709D70B9B}"/>
              </a:ext>
            </a:extLst>
          </p:cNvPr>
          <p:cNvSpPr/>
          <p:nvPr/>
        </p:nvSpPr>
        <p:spPr>
          <a:xfrm>
            <a:off x="0" y="2057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Case Study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515600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Industry Applications of RL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 - slide 2]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6F48E-A803-F540-9429-935B149EF947}"/>
              </a:ext>
            </a:extLst>
          </p:cNvPr>
          <p:cNvSpPr txBox="1"/>
          <p:nvPr/>
        </p:nvSpPr>
        <p:spPr>
          <a:xfrm>
            <a:off x="1232115" y="1524753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netflixtechblog.com</a:t>
            </a:r>
            <a:r>
              <a:rPr lang="en-US" dirty="0"/>
              <a:t>/artwork-personalization-c589f074ad76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Industry Applications of RL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 - slide 3]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F15B1C-8C24-9477-BDFE-C0937B85B87F}"/>
              </a:ext>
            </a:extLst>
          </p:cNvPr>
          <p:cNvSpPr txBox="1"/>
          <p:nvPr/>
        </p:nvSpPr>
        <p:spPr>
          <a:xfrm>
            <a:off x="906426" y="1058543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800" u="none" strike="noStrike" dirty="0">
                <a:effectLst/>
              </a:rPr>
              <a:t>https://</a:t>
            </a:r>
            <a:r>
              <a:rPr lang="en-US" sz="1800" u="none" strike="noStrike" dirty="0" err="1">
                <a:effectLst/>
              </a:rPr>
              <a:t>careersatdoordash.com</a:t>
            </a:r>
            <a:r>
              <a:rPr lang="en-US" sz="1800" u="none" strike="noStrike" dirty="0">
                <a:effectLst/>
              </a:rPr>
              <a:t>/blog/using-a-multi-armed-bandit-with-thompson-sampling-to-identify-responsive-dashers/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Industry Applications of RL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 - slide 4]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2D8B8-04BD-F228-3678-1455CD57B909}"/>
              </a:ext>
            </a:extLst>
          </p:cNvPr>
          <p:cNvSpPr txBox="1"/>
          <p:nvPr/>
        </p:nvSpPr>
        <p:spPr>
          <a:xfrm>
            <a:off x="1078704" y="2158473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engineering.atspotify.com</a:t>
            </a:r>
            <a:r>
              <a:rPr lang="en-US" dirty="0"/>
              <a:t>/2020/1/for-your-ears-only-personalizing-spotify-home-with-machine-learning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Industry Applications of RL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 - slide 5]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7CD62-A9BE-7423-6CF1-9F53406946EB}"/>
              </a:ext>
            </a:extLst>
          </p:cNvPr>
          <p:cNvSpPr txBox="1"/>
          <p:nvPr/>
        </p:nvSpPr>
        <p:spPr>
          <a:xfrm>
            <a:off x="813661" y="326567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800" u="none" strike="noStrike" dirty="0">
                <a:effectLst/>
              </a:rPr>
              <a:t>https://</a:t>
            </a:r>
            <a:r>
              <a:rPr lang="en-US" sz="1800" u="none" strike="noStrike" dirty="0" err="1">
                <a:effectLst/>
              </a:rPr>
              <a:t>www.mckinsey.com</a:t>
            </a:r>
            <a:r>
              <a:rPr lang="en-US" sz="1800" u="none" strike="noStrike" dirty="0">
                <a:effectLst/>
              </a:rPr>
              <a:t>/capabilities/</a:t>
            </a:r>
            <a:r>
              <a:rPr lang="en-US" sz="1800" u="none" strike="noStrike" dirty="0" err="1">
                <a:effectLst/>
              </a:rPr>
              <a:t>quantumblack</a:t>
            </a:r>
            <a:r>
              <a:rPr lang="en-US" sz="1800" u="none" strike="noStrike" dirty="0">
                <a:effectLst/>
              </a:rPr>
              <a:t>/our-insights/its-time-for-businesses-to-chart-a-course-for-reinforcement-learning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Industry Applications of RL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 - slide 6]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CFB494-2AAD-B9F5-EB57-2220192DC2A0}"/>
              </a:ext>
            </a:extLst>
          </p:cNvPr>
          <p:cNvSpPr txBox="1"/>
          <p:nvPr/>
        </p:nvSpPr>
        <p:spPr>
          <a:xfrm>
            <a:off x="813661" y="4365607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www.uber.com</a:t>
            </a:r>
            <a:r>
              <a:rPr lang="en-US" dirty="0"/>
              <a:t>/blog/reinforcement-learning-for-modeling-marketplace-balance/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Limits of A/B Testing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enables causal inference but has key 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A/B Testing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50/50 split throughout experiment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statistical significance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winner at 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poorly: N variants need O(N) traffic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Cost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6916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users get inferior experience during 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Prolonged exposure to worse options = lost revenue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Fast-changing environments: optimal may shift before test ends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gives one global answer, ignores user segment variation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Can we learn and improve simultaneously?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algorithms adaptively allocate traffic to maximize cumulative reward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Exploration-Exploitation Trade-off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645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best-known action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immediate reward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Miss better alternatives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114800" cy="164592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uncertain options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new information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Waste resources on suboptimal options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 of This Trade-off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Restaurant: Your favorite or try somewhere new?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search: Accept solid offer or keep interviewing?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placement: Best-performing ad or test new creatives?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Proven price point or test elasticity?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Multi-Armed Bandits: The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after slot machines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arms with unknown reward probabilities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step: pull one arm, observe stochastic reward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Maximize total reward over T rounds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Regret = gap vs. always playing optimal arm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Applications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optimization: Arms = headlines, layouts, CTAs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selection: Arms = ad creatives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Arms = price points; Reward = revenue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Recommendations: Arms = content; Reward = engagement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Bandits learn and improve simultaneously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shifts toward winners as evidence accumulates - minimizing regret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Multi-Armed Bandits in Industry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Streaming: Personalized thumbnail selection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Delivery: Optimal courier targeting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Music: Personalized playlist curation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Advertising: Ad auction and placement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Stitch Fix: Clothing recommendations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Case Study: Streaming Artwork Personalization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One Size Doesn't Fit All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respond differently to same title's artwork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Arms = artwork images per title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= viewing history, time, device, genre preferences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= clicks and plays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bandits learn user-segment × artwork interactions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 lift in plays vs. default artwork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non-obvious patterns (e.g., genre cross-preferences)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200M+ users, 15K+ titles - no manual curation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effective artwork in hours, not weeks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on Streaming is a personalized bandit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Case Study: Delivery Driver Targeting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Which driver gets each delivery request?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Multi-Armed Bandit Formulation: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Solved by Bandits: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15% fewer late deliveries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E-commerce Pricing: Our Running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pricing a new product. Which price point maximizes revenue?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4 price points (arms): $19, $29, $39, $49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customer sees one price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= price × conversion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Maximize total revenue over 10,000 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(Unknown) Conversion Rates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669584"/>
              </p:ext>
            </p:extLst>
          </p:nvPr>
        </p:nvGraphicFramePr>
        <p:xfrm>
          <a:off x="4572000" y="1600200"/>
          <a:ext cx="3657600" cy="1280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Conv. Rate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Exp. Revenue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$19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60%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$11.40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$29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45%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$13.05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$39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35%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$13.65 *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$49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$9.80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$39 is optimal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3429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Regret Calculation: If optimal revenue = $13.65/customer, and you achieve $12.00/customer,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per-customer regret = $1.65. Over 10,000 customers, total regret = $16,500 in lost revenue.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Strategy 1: Random Selection (Baseline)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Randomly select arm with probability 1/K each step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start here? Establishes baseline performance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Behavior in Our Pricing Example: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Pure exploration, zero exploitation - never learns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used? Initial exploration phase before smarter algorithms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 Linear regret O(T)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Strategy 2: Epsilon-Greedy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(1-ε)% of the time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Track running average reward per arm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With probability ε, pick a random arm (explore)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With prob 1-ε, pick highest avg reward arm (exploit)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Observe reward, update averages, repeat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implement and understand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is a hyperparameter: too high = over-explore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ε = explore forever, even after finding best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Variant: Decaying epsilon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example (ε=0.1): Converges to $39 arm after ~1000 samples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wastes 10% of traffic on random exploration forever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Strategy 3: Upper Confidence Bound (UCB)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 'Optimism in the face of uncertainty'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Formula: Select arm with highest UCB score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Intuition: UCB = optimistic estimate of true reward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Guarantee: UCB achieves O(log T) regret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UCB explores purposefully, not randomly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Strategy 4: Thompson Sampling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approach: Sample from posteriors, pick arm with best sample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with uniform prior for each arm's reward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Each round: sample from each arm's posterior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Pull arm with highest sampled value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Observe actual reward, update posterior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 arms: wide posteriors → more likely selected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winners: tight posteriors near high values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naturally decays - no annealing needed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Empirically matches or beats UCB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Thompson Sampling is probability matching: the probability of selecting an arm equals the probability that it is the best arm, given current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Comparing Bandit Strategies: Results on Pricing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977899"/>
              </p:ext>
            </p:extLst>
          </p:nvPr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Strategy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Revenue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Regret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Optimal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$119,800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$16,700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Epsilon-Greedy (0.1)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$131,200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$5,300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85%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UCB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$134,100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$2,400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94%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558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Thompson Sampling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58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$135,200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58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$1,300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58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97%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6666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Oracle (always optimal)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6666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$136,500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6666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6666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Thompson Sampling achieves 97% of optimal revenue, leaving only $1,300 on the table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UCB and Thompson significantly outperform epsilon-greedy because they reduce exploration as they learn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Epsilon-greedy wastes 10% of traffic on random exploration forever, even after convergence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practice, Thompson Sampling is often preferred: simple to implement, reliable, and interpretable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Q-Learning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Beyond Bandits: When State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Multi-Armed Bandits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situation every 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don't affect future state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are independent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Find single best 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114800" cy="15544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changes based on actions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645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transition you to new states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have consequences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Learn a policy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Where State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pricing: Price depends on inventory + time to deadline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Games: Board position changes after each move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Robotics: Position/orientation change with each action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lifecycle: Today's engagement affects tomorrow's state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Reinforcement Learning in Industry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Ride-hailing &amp; Lyft: Dynamic surge pricing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Robotics: Warehouse navigation for Kiva robots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DeepMind / Google: Data center cooling optimization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Alibaba: Real-time bidding in advertising auctions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Tesla: Autopilot decision making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Reinforcement Learning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1828800" cy="73152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1828800" cy="7315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(a) 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State (s), Reward (r)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(s)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9260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situation with all relevant info for decision-making.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(a)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3291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Agent's choice - causes state transition and generates reward.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(r)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36576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feedback. Goal: maximize cumulative reward over time.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(π)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4023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mapping states to actions.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Function (V or Q)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4389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future reward. Guides agent toward high long-term payoff.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Case: Dynamic Pricing with Inventory Constraints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Airline pricing 100 seats over 30 days before departure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components:</a:t>
            </a:r>
            <a:endParaRPr lang="en-US" sz="15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inventory</a:t>
            </a:r>
            <a:endParaRPr lang="en-US" sz="15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remaining</a:t>
            </a:r>
            <a:endParaRPr lang="en-US" sz="15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level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 Three price tiers per day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bandits fail here: Optimal price depends on state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Q-Learning: Learning the Value of Actions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Q(s, a) = Expected cumulative reward from action a in state s, then following optimal policy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Q-Learning Update Rule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Q(s,a) ← (1-α)·Q(s,a) + α·[r + γ·max Q(s',a')]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learning rate   |   γ = discount factor   |   r = immediate reward   |   max Q(s',a') = best value from next state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Initialize Q(s,a) = 0 for all state-action pairs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Observe current state 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Take action a, observe reward r and new state s'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Update Q(s,a) using the update rule above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Q-Table: A Lookup Table for Optimal Actions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Q-Table for Dynamic Pricing (Simplified)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872613"/>
              </p:ext>
            </p:extLst>
          </p:nvPr>
        </p:nvGraphicFramePr>
        <p:xfrm>
          <a:off x="457200" y="1325880"/>
          <a:ext cx="822960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 (Inventory, Days)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Q(s, Low)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Q(s, Med)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Q(s, High)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Action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(90 seats, 2 days)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58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$8,800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$7,200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$4,500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(50 seats, 15 days)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$9,200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58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$10,800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$10,100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 seats, 25 days)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$2,900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$5,600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58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$7,800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(5 seats, 1 day)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558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$480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$380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$290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Q-Table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is a state the airline might be 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Q-value represents expected total revenue from taking that action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Policy: For each state, choose the action with highest Q-value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The optimal action changes depending on the state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Hyperparameters in Q-Learning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(α): Speed of Q-value updates from new experience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Factor (γ): Future vs immediate reward weighting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Rate (ε): Explore vs exploit frequency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Tuning: Start with common defaults (α=0.1, γ=0.99, ε=0.1)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 encode beliefs about problem structure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A/B testing: rigorous but slow and costly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Bandits balance exploration and exploitation to minimize regret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Epsilon-greedy is simple but wastes exploration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Thompson Sampling: Bayesian uncertainty guides exploration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When actions affect future states, use full RL (Q-learning)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Q-learning: learns value of state-action pairs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Hyperparameters encode beliefs about learning speed, planning horizon, and exploration needs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2AEE5-69EF-1945-0F19-5B1C651E5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771CFCB6-C9A0-ABA3-C7A7-47B524A35B45}"/>
              </a:ext>
            </a:extLst>
          </p:cNvPr>
          <p:cNvSpPr/>
          <p:nvPr/>
        </p:nvSpPr>
        <p:spPr>
          <a:xfrm>
            <a:off x="0" y="2057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chemeClr val="accent4"/>
                </a:solidFill>
                <a:latin typeface="Whitney Bold" pitchFamily="34" charset="0"/>
                <a:cs typeface="Whitney Bold" pitchFamily="34" charset="-120"/>
              </a:rPr>
              <a:t>Colab</a:t>
            </a:r>
            <a:r>
              <a:rPr lang="en-US" sz="3400" b="1" dirty="0">
                <a:solidFill>
                  <a:schemeClr val="accent4"/>
                </a:solidFill>
                <a:latin typeface="Whitney Bold" pitchFamily="34" charset="0"/>
                <a:cs typeface="Whitney Bold" pitchFamily="34" charset="-120"/>
              </a:rPr>
              <a:t> Demo</a:t>
            </a:r>
            <a:endParaRPr lang="en-US" sz="3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867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5EF563-593A-7788-78AB-CBCDFEE61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4C9302A1-3AB0-B3F1-48BD-AEA96251780A}"/>
              </a:ext>
            </a:extLst>
          </p:cNvPr>
          <p:cNvSpPr/>
          <p:nvPr/>
        </p:nvSpPr>
        <p:spPr>
          <a:xfrm>
            <a:off x="0" y="2057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4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Assignment 4</a:t>
            </a:r>
            <a:endParaRPr lang="en-US" sz="3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038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1888</Words>
  <Application>Microsoft Macintosh PowerPoint</Application>
  <PresentationFormat>On-screen Show (16:9)</PresentationFormat>
  <Paragraphs>320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 Narrow</vt:lpstr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4: Reinforcement Learning</dc:title>
  <dc:subject>PptxGenJS Presentation</dc:subject>
  <dc:creator>Auyon Siddiq</dc:creator>
  <cp:lastModifiedBy>Siddiq, Auyon</cp:lastModifiedBy>
  <cp:revision>5</cp:revision>
  <dcterms:created xsi:type="dcterms:W3CDTF">2026-02-02T21:07:32Z</dcterms:created>
  <dcterms:modified xsi:type="dcterms:W3CDTF">2026-02-02T21:46:16Z</dcterms:modified>
</cp:coreProperties>
</file>