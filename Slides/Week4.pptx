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9" r:id="rId4"/>
    <p:sldId id="260" r:id="rId5"/>
    <p:sldId id="261" r:id="rId6"/>
    <p:sldId id="262" r:id="rId7"/>
    <p:sldId id="264" r:id="rId8"/>
    <p:sldId id="266" r:id="rId9"/>
    <p:sldId id="267" r:id="rId10"/>
    <p:sldId id="269" r:id="rId11"/>
    <p:sldId id="270" r:id="rId12"/>
    <p:sldId id="271" r:id="rId13"/>
    <p:sldId id="272" r:id="rId14"/>
    <p:sldId id="265" r:id="rId15"/>
    <p:sldId id="275" r:id="rId16"/>
    <p:sldId id="276" r:id="rId17"/>
    <p:sldId id="295" r:id="rId18"/>
    <p:sldId id="277" r:id="rId19"/>
    <p:sldId id="278" r:id="rId20"/>
    <p:sldId id="280" r:id="rId21"/>
    <p:sldId id="279" r:id="rId22"/>
    <p:sldId id="281" r:id="rId23"/>
    <p:sldId id="282" r:id="rId24"/>
    <p:sldId id="283" r:id="rId25"/>
    <p:sldId id="285" r:id="rId26"/>
    <p:sldId id="287" r:id="rId27"/>
    <p:sldId id="288" r:id="rId28"/>
    <p:sldId id="291" r:id="rId29"/>
    <p:sldId id="293" r:id="rId30"/>
    <p:sldId id="294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20"/>
    <p:restoredTop sz="94610"/>
  </p:normalViewPr>
  <p:slideViewPr>
    <p:cSldViewPr snapToGrid="0" snapToObjects="1">
      <p:cViewPr varScale="1">
        <p:scale>
          <a:sx n="152" d="100"/>
          <a:sy n="152" d="100"/>
        </p:scale>
        <p:origin x="5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92001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6172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13EB6-8D8C-3FE4-9381-9390565DA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D46CEE-D411-99A9-B9C4-8B5A8EADB0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3AF57C-CB4B-74E0-3866-139AC37486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A2664-5367-7ACA-C692-2E88C7AD8C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3597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1323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netflix-techblog/artwork-personalization-c589f074ad76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medium.com/@timesopen/how-the-new-york-times-cooking-team-makes-personalized-recipe-recommendations-669c26aa4825" TargetMode="External"/><Relationship Id="rId4" Type="http://schemas.openxmlformats.org/officeDocument/2006/relationships/hyperlink" Target="https://multithreaded.stitchfix.com/blog/2018/11/08/bandits/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MGMT298D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188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and Strategy of 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16916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Week 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0" y="20574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Reinforcement Learning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0" y="34747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UCLA Anderson School of 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0" y="3749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Case Study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Limits of A/B Testing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A/B Testing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50/50 split throughout experiment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for statistical significance, pick one winner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poorly: N variants need O(N) traffic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846320" y="960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 Cost Problem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32588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of users get inferior experience during test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Prolonged exposure to worse options = lost revenue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may shift before test ends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37490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Question: Can we learn and improve simultaneously?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algorithms adaptively allocate traffic to maximize cumulative reward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Exploration-Exploitation Trade-off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840480" cy="137160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9728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Exploitation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best-known action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Maximizes immediate reward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miss better alternatives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3840480" cy="137160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983480" y="109728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Exploration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uncertain options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new information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waste resources on suboptimal choices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Examples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Restaurant: Your favorite spot or try somewhere new?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placement: Best-performing ad or test new creatives?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Pricing: Proven price point or test elasticity?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Multi-Armed Bandits: The Framework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199" y="1325880"/>
            <a:ext cx="5138257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arms with unknown reward probabilities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step: pull one arm (action), observe reward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maximize total reward over T rounds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4003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Applications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766060"/>
            <a:ext cx="486595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optimization: arms = layouts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selection: arms = ads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Pricing: arms = price levels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28249" y="4206240"/>
            <a:ext cx="316424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Bandits learn and improve simultaneously — actions shift toward winners as evidence accumulates</a:t>
            </a:r>
            <a:endParaRPr lang="en-US" sz="1600" dirty="0"/>
          </a:p>
        </p:txBody>
      </p:sp>
      <p:pic>
        <p:nvPicPr>
          <p:cNvPr id="1026" name="Picture 2" descr="Multi-armed bandits — Mastering Reinforcement Learning">
            <a:extLst>
              <a:ext uri="{FF2B5EF4-FFF2-40B4-BE49-F238E27FC236}">
                <a16:creationId xmlns:a16="http://schemas.microsoft.com/office/drawing/2014/main" id="{03375F91-49AE-E029-5E06-39C8AC53DD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396" y="2514600"/>
            <a:ext cx="3703404" cy="1299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Multi-Armed Bandits in Industry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hlinkClick r:id="rId3"/>
              </a:rPr>
              <a:t>https://medium.com/netflix-techblog/artwork-personalization-c589f074ad76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hlinkClick r:id="rId4"/>
              </a:rPr>
              <a:t>https://multithreaded.stitchfix.com/blog/2018/11/08/bandits/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hlinkClick r:id="rId5"/>
              </a:rPr>
              <a:t>https://medium.com/@timesopen/how-the-new-york-times-cooking-team-makes-personalized-recipe-recommendations-669c26aa4825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/>
              <a:t>https://</a:t>
            </a:r>
            <a:r>
              <a:rPr lang="en-US" sz="1600" dirty="0" err="1"/>
              <a:t>careersatdoordash.com</a:t>
            </a:r>
            <a:r>
              <a:rPr lang="en-US" sz="1600" dirty="0"/>
              <a:t>/blog/using-a-multi-armed-bandit-with-thompson-sampling-to-identify-responsive-dashers/</a:t>
            </a:r>
            <a:br>
              <a:rPr lang="en-US" sz="1600" dirty="0"/>
            </a:b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Example: E-commerce Pricing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11173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pricing a new product. 10,000 customers arrive to the website, decide whether to purchase, and then leave. Which price maximizes revenue?</a:t>
            </a:r>
          </a:p>
          <a:p>
            <a:pPr marL="0" indent="0">
              <a:spcAft>
                <a:spcPts val="400"/>
              </a:spcAft>
              <a:buNone/>
            </a:pPr>
            <a:endParaRPr lang="en-US" sz="1500" dirty="0">
              <a:solidFill>
                <a:srgbClr val="33333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spcAft>
                <a:spcPts val="400"/>
              </a:spcAft>
              <a:buNone/>
            </a:pPr>
            <a:b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b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Suppose we have the following unknown true conversion rates: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4854373"/>
              </p:ext>
            </p:extLst>
          </p:nvPr>
        </p:nvGraphicFramePr>
        <p:xfrm>
          <a:off x="457200" y="2760980"/>
          <a:ext cx="8229600" cy="1422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Conv.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Exp. Revenue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$13.65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Strategy 1: Completely Random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Algorithm: 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Randomly select arm with probability 1/K each step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57713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arm gets ~2,500 pulls out of 10,000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revenue/customer ≈ ($11.40 + $13.05 + $13.65 + $9.80) / 4 = $11.98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revenue ≈ $119,800 out of possible $136,500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Strategy 2: Epsilon-Greedy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75626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Algorithm: </a:t>
            </a: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prob </a:t>
            </a:r>
            <a:r>
              <a:rPr lang="en-US" sz="15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ε</a:t>
            </a: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pick a random arm (explore), With prob 1−ε, pick highest average arm (exploit)</a:t>
            </a:r>
            <a:endParaRPr lang="en-US" sz="1500" b="1" dirty="0"/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726067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  <a:buSzPct val="100000"/>
            </a:pPr>
            <a:endParaRPr lang="en-US" sz="1500" b="1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6371439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to implement and understand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ε is a hyperparameter: too high = over-explore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ε = explore forever, even after convergence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Variant: decaying epsilon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Strategy 3: Upper Confidence Bound (UCB)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Idea: "Optimism in the face of uncertainty"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UCB(a)  =  x̄(a)  +  c × √( ln(t) / N(a) 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x̄(a) = avg reward    c = exploration parameter    N(a) = times arm pulled    t = total rounds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Frequently pulled arms → small bonus (we already know their value)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Rarely pulled arms → large bonus (uncertainty is high, worth exploring)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Exploration naturally decays as all arms get pulled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guarantee: UCB achieves O(log T) regret — much better than ε-greedy's O(T)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UCB: Numerical Walkthrough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100 rounds (c=2), computing UCB scores to decide round 101: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7040880" cy="1295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N(a)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x̄(a)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Bonus c×√(ln(100)/N(a))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UCB Score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2×√(4.6/30) = 0.78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$12.18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2×√(4.6/25) = 0.86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$13.91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$13.65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2×√(4.6/35) = 0.73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$14.38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2×√(4.6/10) = 1.36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$11.16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 has the biggest bonus (only 10 pulls) but still loses — its average is too low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" y="34747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 wins: high average + decent bonus. As N(a) grows, bonuses shrink → natural shift to exploitation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Strategy 4: Thompson Sampling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Bayesian approach: sample from posteriors, pick arm with best sample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Algorithm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uniform prior for each arm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round: sample from each arm's posterior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arm with highest sampled value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reward, update posterior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 arms: wide posteriors → more exploration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 winners: tight posteriors near high values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Exploration naturally decays — no tuning needed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Empirically matches or beats UCB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37490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widely used bandit algorithm in industry (streaming, DoorDash, Spotify, etc.)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Thompson Sampling: Numerical Walkthrough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50 rounds, each arm has a Beta(α, β) posterior. We sample once from each: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7040880" cy="1295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Successes (α)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Failures (β)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Posterior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Beta(8, 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Beta(6, 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Beta(7, 10)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Beta(2, 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$39's average (7/17=41%) isn't the highest, but its wide posterior allowed a high sample of 0.61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5661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" y="35661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pulls → wider posterior → more chance of a lucky sample → more exploration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A/B Test vs. Bandit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Test (fixed 25% each)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039112" cy="41148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20391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 (25%)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4600" y="1737360"/>
            <a:ext cx="2039112" cy="41148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14600" y="1737360"/>
            <a:ext cx="20391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 (25%)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0" y="1737360"/>
            <a:ext cx="2039112" cy="41148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1737360"/>
            <a:ext cx="20391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 (25%)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629400" y="1737360"/>
            <a:ext cx="2039112" cy="41148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29400" y="1737360"/>
            <a:ext cx="20391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 (25%)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2423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Bandit (adaptive — after learning)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35560" y="2743200"/>
            <a:ext cx="926312" cy="41148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280160" y="2743200"/>
            <a:ext cx="1627632" cy="41148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280160" y="2743200"/>
            <a:ext cx="1627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 (20%)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743200"/>
            <a:ext cx="4919472" cy="411480"/>
          </a:xfrm>
          <a:prstGeom prst="rect">
            <a:avLst/>
          </a:prstGeom>
          <a:solidFill>
            <a:srgbClr val="FFD1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926080" y="2743200"/>
            <a:ext cx="4919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 (60%)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863840" y="2743200"/>
            <a:ext cx="970103" cy="41148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7490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Bandits shift traffic toward the best arm — less waste, more revenue during the experiment</a:t>
            </a:r>
            <a:endParaRPr lang="en-US" sz="13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8E63FF-9B86-29CE-F525-A17CCD0B6D80}"/>
              </a:ext>
            </a:extLst>
          </p:cNvPr>
          <p:cNvSpPr txBox="1"/>
          <p:nvPr/>
        </p:nvSpPr>
        <p:spPr>
          <a:xfrm>
            <a:off x="310057" y="2788179"/>
            <a:ext cx="102765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 (10%)</a:t>
            </a:r>
            <a:endParaRPr lang="en-US" sz="13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47C53D-B668-6208-DD02-0FF8F7621178}"/>
              </a:ext>
            </a:extLst>
          </p:cNvPr>
          <p:cNvSpPr txBox="1"/>
          <p:nvPr/>
        </p:nvSpPr>
        <p:spPr>
          <a:xfrm>
            <a:off x="7845552" y="2795051"/>
            <a:ext cx="102765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 (10%)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0535892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Bandit Hyperparameters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2555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Controls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Values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 / Trade-off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ε (epsilon)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 frequency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0.05–0.2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= more random exploration, slower convergence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(UCB)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Exploration bonus weight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= more optimistic, explores more aggressively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Decay schedule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ε reduction over time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ε₀/√t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Reduces exploration as confidence builds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 (Thompson)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Initial belief strength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Beta(1,1)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Uniform = no bias; informative prior speeds learning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Batch size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Updates per decision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batches stabilize but delay adaptation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ε-greedy, ε dominates. For UCB, c matters. For Thompson, the prior is the key choice.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Thompson Sampling with weak priors works well out of the box — minimal tuning needed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When to Use Bandits vs. A/B Tests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429826"/>
              </p:ext>
            </p:extLst>
          </p:nvPr>
        </p:nvGraphicFramePr>
        <p:xfrm>
          <a:off x="457200" y="1051560"/>
          <a:ext cx="8229600" cy="188976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Aspect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A/B Testing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Multi-Armed Bandit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Identify best variant with statistical confidence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Maximize cumulative reward during learning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Traffic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Fixed (e.g., 50/50)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Adaptive — shifts toward winners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performance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Weak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(adaptation)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Statistical rigor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One-off decisions, regulatory contexts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Ongoing optimization, many variants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E53E4-3D18-346E-5DED-7AE60C03E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ECFF045-12B0-78AF-5A7F-04AD2034207B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F9F7FB0-E4A8-8751-C634-6B009EC63C4C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Contextual Bandits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5C5EAF5-BB10-ED12-47A1-BFD6D45A2D66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918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Q-Learning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Beyond Bandits: When State Matters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840480" cy="164592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9728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Multi-Armed Bandits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situation every round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don't affect future state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find single best action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3840480" cy="164592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983480" y="109728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Reinforcement Learning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 changes based on actions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transition you to new states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learn a policy (state → action)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Where State Matters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pricing: price depends on inventory + time to deadline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Games: board position changes after each move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lifecycle: today's engagement affects tomorrow's state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Reinforcement Learning Framework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0" y="1051560"/>
            <a:ext cx="1828800" cy="73152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286000" y="1051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1051560"/>
            <a:ext cx="1828800" cy="73152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0" y="1051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777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(a) →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783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State (s), Reward (r)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155448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Airline Pricing Example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(s)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situation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seats left, 15 days out, high demand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 (a)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Agent's choice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 price: Low ($199), Med ($349), High ($499)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Reward (r)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Immediate feedback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from today's ticket sales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Policy (π)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Strategy: states → actions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"If &lt;20 seats, 5+ days → price High"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Q(s,a)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cumulative future reward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remaining revenue from this state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Reinforcement Learning in Industry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1600" dirty="0"/>
              <a:t>https://</a:t>
            </a:r>
            <a:r>
              <a:rPr lang="en-US" sz="1600" dirty="0" err="1"/>
              <a:t>www.uber.com</a:t>
            </a:r>
            <a:r>
              <a:rPr lang="en-US" sz="1600" dirty="0"/>
              <a:t>/blog/reinforcement-learning-for-modeling-marketplace-balance/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192405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Case: Dynamic Pricing with Inventory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Airline pricing 100 seats over 30 days before departure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Components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inventory (0–100 seats)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remaining (1–30 days)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level (low, medium, high)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Actions: Three Price Tiers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($199), Medium ($349), High ($499)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bandits fail: optimal price depends on state (90 seats + 2 days → fire sale vs. 10 seats + 25 days → premium)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Q-Learning: Learning the Value of Actions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Q(s, a) = Expected cumulative reward from action a in state s, then following optimal policy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Q(s,a) ← (1−α) · Q(s,a) + α · [ r + γ · max Q(s',a') ]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learning rate   |   γ = discount factor   |   r = immediate reward   |   max Q(s',a') = best value from next state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Algorithm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788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 Q(s,a) = 0 for all state-action pairs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current state 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action a (ε-greedy), observe reward r and new state s'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Q(s,a) using the rule above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until Q-values converge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Q-Table: A Lookup Table for Optimal Actions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1422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(Inventory, Days)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Low)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Med)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High)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 seats, 2 days)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 seats, 15 days)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 seats, 25 days)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$5,600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 seats, 1 day)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Q-value = expected total revenue from taking that action in that state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Policy: for each state, choose the action with highest Q-value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4360" y="40233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optimal action changes depending on the state — this is what bandits can't capture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Q-Learning: Convergence Over Episodes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Q(50 seats/15 days, Medium) across training episodes: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170688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Episode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Low)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Med)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Q(s, High)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(init)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$8,400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$10,600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$10,780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Q-Learning Hyperparameters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2555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Controls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Values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 / Trade-off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Learning rate (α)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 of Q-value updates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0.01–0.3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= fast but noisy. Low = slow but stable.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Discount factor (γ)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Future vs. immediate reward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0.9–0.99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= plans further ahead. Lower = myopic.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Exploration (ε)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 vs. exploit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 → 0.01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Decay over time: explore early, exploit late.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Episodes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Training iterations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1K–100K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= better convergence, but slower.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discretization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Granularity of state 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5–20 bins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= more precise but slower to learn.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important to tune: α, γ, and ε schedule — these dominate learning dynamics.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defaults (α=0.1, γ=0.99, ε=0.1 decaying) and adjust based on convergence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Bandits vs. Q-Learning: When to Use What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170688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Aspect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Multi-Armed Bandits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Q-Learning (Full RL)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state (same context each round)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changes after each 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step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Multi-step planning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 — K arms, update averages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 — state×action table to learn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A/B optimization, ad selection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Dynamic pricing, robotics, games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needed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 (100s–1000s)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 (10K–100K+ episodes)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94360" y="365760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bandits when actions don't affect future state. Use Q-learning when they do.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Practical Considerations for RL in Business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Before Deployment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simulator of your environment before training live — much safer than learning on real customers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Design Is Critical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reward → wrong behavior. Optimizing for clicks leads to clickbait; optimize for long-term engagement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Simple, Scale Up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Bandits → Contextual Bandits → Q-Learning → Deep RL. Most problems solved at the bandit level.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and Safety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have fallback policies and guardrails in production RL systems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Colab Demo</a:t>
            </a:r>
            <a:endParaRPr lang="en-US" sz="3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Assignment 4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2236</Words>
  <Application>Microsoft Macintosh PowerPoint</Application>
  <PresentationFormat>On-screen Show (16:9)</PresentationFormat>
  <Paragraphs>428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Whitney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– Reinforcement Learning</dc:title>
  <dc:subject>PptxGenJS Presentation</dc:subject>
  <dc:creator>Auyon Siddiq</dc:creator>
  <cp:lastModifiedBy>Siddiq, Auyon</cp:lastModifiedBy>
  <cp:revision>24</cp:revision>
  <dcterms:created xsi:type="dcterms:W3CDTF">2026-02-05T16:20:48Z</dcterms:created>
  <dcterms:modified xsi:type="dcterms:W3CDTF">2026-02-06T00:58:09Z</dcterms:modified>
</cp:coreProperties>
</file>