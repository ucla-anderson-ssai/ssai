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5587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MGMT298D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D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Science and Strategy of AI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Week 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Neural Networks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From Pixels to Predictions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UCLA Anderson School of Management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Auyon Siddiq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Why Neural Networks?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Tree-Based Models Aren't Enough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Trees excel at tabular data, struggle with images, audio, text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28x28 image = 784 pixels; trees ignore spatial relationships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NNs learn hierarchical features: pixels -&gt; edges -&gt; shapes -&gt; objects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Breakthroughs: ImageNet 2012, Siri 2011, modern NLP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Today: recommendations, fraud detection, medical imaging, self-driving cars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Image Classification Example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Dataset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70,000 grayscale images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28 x 28 pixels per image = 784 features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 clothing categories to predict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challenging than MNIST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4114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Real-world e-commerce relevance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91440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 Categories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46320" y="13258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 T-shirt/Top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1618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 Trouser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91109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 Pullover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220370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 Dress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846320" y="249631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 Coat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66560" y="13258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5: Sandal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766560" y="161848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6: Shirt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66560" y="1911096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 Sneaker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766560" y="2203704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8: Bag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66560" y="2496312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 Ankle Boot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Applications: product categorization, inventory management, visual search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What Is an Image to a Computer?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Images Are Just Numbers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Each image is a 2D grid of pixels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28x28 image flattens to 784 numbers (row by row)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468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RGB images: 3 channels (R, G, B values 0-255); 28x28 color = 2,352 features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017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Normalize pixels to 0-1 (divide by 255) for faster optimization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5661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challenge: a classifier must learn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Biological Inspiration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Neurons to Artificial Networks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Neurons: receive signals (dendrites) -&gt; process (cell body) -&gt; transmit (axon)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neuron 'fires' (sends a signal) when the combined input signals exceed a threshold - an all-or-nothing activation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brain learns by strengthening connections (synapses) that lead to good outcomes - 'neurons that fire together, wire together'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Artificial neural networks loosely mirror this: inputs are weighted, summed, passed through an activation function, and output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383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power comes from many simple units working together, not from complex individual units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Important caveat: Modern deep learning has diverged significantly from neuroscience. The 'biological inspiration' is more historical than prescriptive.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Anatomy of a Neural Network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Layer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neuron per feature (passthrough)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2004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Layers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200400" y="12344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occurs. Each neuron: weighted sum → activation.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0" y="914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123444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neuron per class → softmax → probabilities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Components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Weights (W): Learnable parameters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7706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Biases (b): Learnable offsets (shift activation threshold)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209544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Activations: Output values after activation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648456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Parameters: Total count: 784→128→10 network has ~102K parameters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From Inputs to Outputs: The Forward Pass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Computation at Each Neuron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= activation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1: Multiply inputs by weights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21284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2: Add the bias term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88336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3: Apply activation function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163824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Step 4: Pass output to next layer, repeat until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63931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Matrix form: Z = W * X + b, A = activation(Z). GPUs excel at this.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pass is fast. The challenge is learning the right weights through training.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Activation Functions: Why Non-Linearity Matters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activation functions, a neural network is just linear regression in disguise.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ReLU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f(x) = max(0, x)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Outputs x if positive, else 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Simple, fast, and effective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choice for hidden layers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432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Can suffer from 'dead neurons'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Softmax (Output Layer)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6459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Converts outputs to probabilities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920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All outputs sum to 1.0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1945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Emphasizes the largest value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4688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Used for multi-class classification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7432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Paired with cross-entropy loss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Non-Linearity?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functions compose into linear: 100-layer linear network = 1-layer. Non-linearity enables approximating ANY continuous function.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Why Depth Matters: Hierarchical Feature Learning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networks learn features at multiple levels of abstraction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1: Edge Detectors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Detects simple patterns: edges, corners, gradients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2004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2: Textures/Parts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0" y="1691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edges into textures: fabric patterns, curves, buttons, zippers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0" y="13716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Layer 3+: Objects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0" y="16916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parts into objects: sleeves, collars, soles - then complete items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3774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Compositionality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269748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Shallow networks can approximate any function, but need exponentially more neurons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10896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Deep networks achieve same with fewer parameters via hierarchical feature reuse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52044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Example: 'Shirt' and 'T-shirt' share collar and sleeve detectors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Modern networks (ResNet, GPT): dozens to hundreds of layers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Training Neural Networks: The Learning Loop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Forward Pass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input through network, get predictions. Compare to true labels using loss function.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Compute Loss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Loss = how wrong are we? Cross-entropy: -sum). Lower is better. Average over all training examples in batch.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19456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Backward Pass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Backpropagation: compute gradient of loss w.r.t. each weight using chain rule. Tells us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83464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Update Weights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w_new = w_old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474720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Repeat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many batches. One epoch = all training data. Train 10-100+ epochs until convergence.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Model A: XGBoost Baseline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Starting with what we know: tree-based ensemble on flattened pixel features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Input: 784 flattened pixel features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feature engineering (raw pixels)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n_estimators: 100 trees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max_depth: 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learning_rate: 0.1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Standard multi-class softmax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1737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774AE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89.5%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Training time: ~2 minutes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560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Interpretable feature importances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834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GPU required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108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Solid baseline - but can we do better?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limitation: XGBoost treats pixels as independent. Cannot learn spatial relationships.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Model B: Simple Neural Network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hidden layer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Input: 784 neurons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Hidden: 128 neurons, ReLU activation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Output: 10 neurons, Softmax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parameters: 101,770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Improver: Adam (lr=0.001)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Loss: Categorical Cross-Entropy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1737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774AE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88.2%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Training time: ~30 seconds (GPU)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560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 epochs, batch size 128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834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 accuracy: 91.5%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108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Slight overfitting visible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Simpler isn't always worse, but XGBoost slightly beats this basic NN. Let's go deeper.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Model C: Going Deeper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hidden layers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Input: 784 neurons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Hidden 1: 256 neurons, ReLU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Hidden 2: 128 neurons, ReLU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Output: 10 neurons, Softmax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Total parameters: 235,146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0632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Same improver and loss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17373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Accuracy: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83680" y="173736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774AE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88.8%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754880" y="22860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Training time: ~45 seconds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5603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 accuracy: 94.2%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834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overfitting: 5.4% gap.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3108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More parameters != better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memorizes training data, not generalizable patterns. Solution: regularization.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Overfitting in Neural Networks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Overfitting: model learns noise in training data instead of true patterns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6187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NNs especially prone: millions of parameters can memorize training data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Signs of overfitting: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213055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247802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82549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34670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Why it happens with deep networks: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69417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04164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Dropout: Regularization for Neural Networks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Randomly 'turn off' neurons during training to prevent co-adaptation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During training: randomly set p% of neurons to 0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Common rates: 20-50% for hidden layers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240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Each batch sees different 'thinned' network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5146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Forces redundancy: no neuron can be essential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7889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At test time: use all neurons, scale by (1-p)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54880" y="13716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Works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754880" y="16916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Ensemble effect: like training many networks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0" y="19659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Prevents co-adaptation of features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22402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Acts as noise injection for reliableness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25146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Invented in 2014 by Hinton et al.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7889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Still widely used in modern architectures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Keras implementation: model.add(Dropout(0.3))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Batch Normalization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Normalize layer inputs to stabilize and accelerate training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Problem: Internal Covariate Shift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weights update, input distributions shift. Later layers must constantly adapt.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Solution: Normalize Each Batch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Compute mean and variance per feature across batch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27889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Normalize: (x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31089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Scale and shift: gamma * normalized + beta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4290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Gamma/beta: learnable, can undo normalization if needed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Benefits: Higher learning rates, less initialization sensitivity, regularization effect. Keras: BatchNormalization().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Model Comparison: image classification datasets</a:t>
            </a:r>
            <a:endParaRPr lang="en-US" sz="2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Model Comparison: image classification datasets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 Acc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Acc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XGBoost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trees, depth 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Simple NN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784-128-10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101,770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Deep NN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784-256-128-10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235,146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94.2%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D: Regularized NN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784-256-128-10 + Dropout + BN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236,426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90.1%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89.8%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Model Comparison: image classification datasets</a:t>
            </a:r>
            <a:endParaRPr lang="en-US" sz="2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1432560"/>
                <a:gridCol w="1432560"/>
                <a:gridCol w="1432560"/>
                <a:gridCol w="1432560"/>
                <a:gridCol w="1432560"/>
                <a:gridCol w="1432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Parameters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Train Acc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 Acc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58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XGBoost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 trees, depth 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B: Simple NN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784-128-10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101,770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Deep NN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784-256-128-10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235,146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94.2%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D: Regularized NN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784-256-128-10 + Dropout + BN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236,426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90.1%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2834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Insights: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57200" y="31546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XGBoost remains competitive on image classification datasets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34747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Adding layers without regularization increases overfitting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379476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Dropout + BatchNorm nearly eliminates overfitting and achieves best test accuracy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 'best' model depends on constraints: interpretability, training time, deployment environment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When to Use Neural Networks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Neural Networks When: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2344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Unstructured data: images, audio, text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Very high-dimensional input (1000+ features)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Spatial/sequential structure matters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2057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Large training datasets available (10K+)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317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Best current performance required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6060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Transfer learning is applicable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GPU resources available for training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54880" y="91440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Stick with Tree Models When: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754880" y="12344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Structured/tabular data with &lt;1000 features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54880" y="15087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Interpretability is essential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54880" y="178308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Small datasets (&lt;10K samples)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0" y="205740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Mixed feature types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0" y="233172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Fast training/iteration needed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754880" y="260604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No GPU available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754880" y="2880360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Features have clear business meaning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384048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solve the business problem, not use fanciest tech. XGBoost still wins most Kaggle tabular competitions.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The Deep Learning Stack: What's Next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are the foundation for specialized architectures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6: Convolutional Neural Networks (CNNs)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 spatial structure via local connectivity and weight sharing. Powers: object detection, facial recognition, medical imaging, autonomous driving.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7: Recurrent Neural Networks (RNNs)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Maintain 'memory' via recurrent connections. Powers: speech recognition, language modeling, time series. LSTM/GRU solve vanishing gradients.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58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8-9: Transformers &amp; LLMs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5204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Attention enables parallel sequence processing. Foundation for GPT, BERT, Claude. Extends to vision (ViT), proteins (AlphaFold), multimodal AI.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5587"/>
                </a:solidFill>
                <a:latin typeface="Whitney" pitchFamily="34" charset="0"/>
                <a:ea typeface="Whitney" pitchFamily="34" charset="-122"/>
                <a:cs typeface="Whitney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14400" y="10058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NNs learn hierarchical representations automatically, discovering features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Depth enables complex patterns but increases overfitting risk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01168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Regularization essential for generalization beyond training data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2514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NNs excel on unstructured, high-dimensional data; not always best for tabular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14400" y="30175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model depends on data, constraints, goals - not just benchmarks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3520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774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5204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week: CNNs exploit spatial structure for dramatic improvements in image understanding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5: Neural Networks</dc:title>
  <dc:subject>MGMT298D: Science and Strategy of AI</dc:subject>
  <dc:creator>UCLA Anderson</dc:creator>
  <cp:lastModifiedBy>UCLA Anderson</cp:lastModifiedBy>
  <cp:revision>1</cp:revision>
  <dcterms:created xsi:type="dcterms:W3CDTF">2026-01-16T03:09:19Z</dcterms:created>
  <dcterms:modified xsi:type="dcterms:W3CDTF">2026-01-16T03:09:19Z</dcterms:modified>
</cp:coreProperties>
</file>