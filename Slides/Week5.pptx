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Week 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2057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Neural Networks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3749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Why Neural Networks?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Approach to Learning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models: split data using rules (if-then logic)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networks: learn continuous functions through weighted combinations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solve classification and regression problems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Learn Neural Networks?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all deep learning (CNNs, Transformers, LLMs)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NNs is essential to understanding modern AI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Powers: medical diagnosis, fraud detection, image recognition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Example Dataset: Wisconsin Breast Cancer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classic medical diagnosis 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569 tumor samples from fine needle aspirates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numeric features computed from cell nuclei images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classification: Malignant (212) vs Benign (357)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distance from center to edge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 dev of gray-scale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Boundary length of nucleus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 of the nucleus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smoothness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variation in radius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concavity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 of concave portions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(30 features total: mean, SE, worst)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4206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Given cell measurements, predict if tumor is malignant or benign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Data Preprocessing for Neural Networks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Preprocessing Matters More for NNs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use gradient descent — sensitive to feature scales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feature is 0–1 and another is 0–1000, gradients are imbalanced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 don't care about scale (they only look at relative ordering)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Approach: Standardization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feature:  z = (x − mean) / std    →    Result: mean ≈ 0 and std ≈ 1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Standardization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radius_mean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6.98 – 28.11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-2.0 – 3.9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area_mean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143.5 – 2501.0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-1.5 – 5.2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4114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scaler on training data only, then apply to test data — prevents data leakage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FD100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Building Blocks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Artificial Neuron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computational unit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Multiply each input by a weight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Sum all weighted inputs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Add a bias term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Apply activation function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w₁x₁ + w₂x₂ + ... + 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activation(z)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0" y="1371600"/>
            <a:ext cx="457200" cy="457200"/>
          </a:xfrm>
          <a:prstGeom prst="ellipse">
            <a:avLst/>
          </a:prstGeom>
          <a:solidFill>
            <a:srgbClr val="EBF5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600200"/>
            <a:ext cx="822960" cy="0"/>
          </a:xfrm>
          <a:prstGeom prst="line">
            <a:avLst/>
          </a:prstGeom>
          <a:noFill/>
          <a:ln w="19050">
            <a:solidFill>
              <a:srgbClr val="277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2103120"/>
            <a:ext cx="457200" cy="457200"/>
          </a:xfrm>
          <a:prstGeom prst="ellipse">
            <a:avLst/>
          </a:prstGeom>
          <a:solidFill>
            <a:srgbClr val="EB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331720"/>
            <a:ext cx="822960" cy="0"/>
          </a:xfrm>
          <a:prstGeom prst="line">
            <a:avLst/>
          </a:prstGeom>
          <a:noFill/>
          <a:ln w="19050">
            <a:solidFill>
              <a:srgbClr val="277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2834640"/>
            <a:ext cx="457200" cy="457200"/>
          </a:xfrm>
          <a:prstGeom prst="ellipse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3063240"/>
            <a:ext cx="822960" cy="0"/>
          </a:xfrm>
          <a:prstGeom prst="line">
            <a:avLst/>
          </a:prstGeom>
          <a:noFill/>
          <a:ln w="19050">
            <a:solidFill>
              <a:srgbClr val="277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691640"/>
            <a:ext cx="822960" cy="822960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589520" y="2103120"/>
            <a:ext cx="640080" cy="0"/>
          </a:xfrm>
          <a:prstGeom prst="line">
            <a:avLst/>
          </a:prstGeom>
          <a:noFill/>
          <a:ln w="19050">
            <a:solidFill>
              <a:srgbClr val="2774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0558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Loosely inspired by biological neurons, but don't take the analogy too seriously.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Weights and Biases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learnable parameters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20116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(w)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how much each input matters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positive weight → input increases output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negative weight → input decreases output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near zero → input is ignored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20116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4173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(b)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 the activation threshold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the neuron to activate even when all inputs are zero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490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weights and biases are learned during training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Numerical Example: Single Neuron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malignancy from 3 features (simplified)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(x)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 (w)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× 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radius (standardized)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texture (standardized)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concavity (standardized)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0" y="28346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 + (-0.15) + 1.26 = 2.07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bias (b = -0.5):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2.07 + (-0.5) = 1.57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sigmoid: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0" y="3566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σ(1.57) = 0.83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40233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83% probability of malignant. High radius and concavity pushed the prediction up.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From One Neuron to a Network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12801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neuron per 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(just passes values through)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51760" cy="12801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Layer(s)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14630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learning happens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(feature extraction)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651760" cy="12801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final prediction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(probability or class)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Count Example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→ 16 → 1 network has (30×16 + 16) + (16×1 + 1) = 513 learnable parameters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6576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neurons = more capacity to learn complex patterns (but also more risk of overfitting)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What Hidden Layers 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builds progressively more complex representations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1645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Layers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combinations of raw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"radius is high AND texture is rough"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51760" cy="1645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Layers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Higher-order patterns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"this combination suggests irregular cell shape"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51760" cy="1645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Layers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828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concepts close to the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"these features together indicate malignancy"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representation learning — the network discovers useful features automatically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hand-engineered features in traditional ML, hidden layers learn what matters from data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you don't need to tell the network which features are important — it figures this out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Fully Connected (Dense) Layers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neuron connects to every neuron in the next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connection has its own weight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neuron has its own bias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from all inputs combines at each hidden neuron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Count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inputs → m outputs: n×m weights + m biases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inputs → 16 hidden = 30×16 + 16 = 496 parameters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200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neurons = more capacity, but also more risk of overfitting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Choosing Network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wide and how deep should your network be?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 (neurons per layer)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neurons → can capture more patterns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starting point: 32–128 for tabular data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use a "funnel" shape: wider early, narrower later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(number of layers)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layers → more abstract features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Tabular data: 1–3 hidden layers usually sufficient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Images/text need much deeper networks (100+ layers)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→ 16 →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tabular, small datasets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→ 64 → 32 →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complex tabular patterns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→ 128 → 64 → 32 →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features, larger datasets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start simple and add complexity only if validation performance plateaus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Forward Pass Through a Hidden Layer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a single input through the first hidden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example: 2 inputs → 2 hidden neurons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554480"/>
                <a:gridCol w="1097280"/>
                <a:gridCol w="91440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x₁ = 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x₂ = -1.0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ReLU(z)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Neuron h₁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w₁₁=0.6 → 0.30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w₁₂=0.4 → -0.40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b₁= 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Neuron h₂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w₂₁=-0.3 → -0.15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w₂₂=0.8 → -0.80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b₂= 1.2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h₁: (0.6×0.5) + (0.4×-1.0) + 0.1 = 0.00  →  ReLU kills it (output = 0)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h₂: (-0.3×0.5) + (0.8×-1.0) + 1.2 = 0.25  →  passes through unchanged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9319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"kills" negative signals (h₁ = 0) while letting positive ones pass (h₂ = 0.25)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outputs become the inputs to the next layer — this is the forward pass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FD100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Activation Functions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Why Non-Linearity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activation functions, a neural network is just linear regression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functions composed together are still linear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y = W₁x + b₁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z = W₂y + b₂ = (W₂W₁)x + (W₂b₁ + b₂)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Collapses to a single linear transformation!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non-linear activation after each layer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can now learn complex, curved decision boundaries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makes deep learning powerful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ReLU: The Default Activation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= Rectified Linear Unit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= max(0, x)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input &gt; 0: pass it through unchanged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input ≤ 0: output zero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ReLU?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and fast to compute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vanishing gradient problem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choice for hidden layers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0" cy="228600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2514600"/>
            <a:ext cx="32004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2514600"/>
            <a:ext cx="914400" cy="0"/>
          </a:xfrm>
          <a:prstGeom prst="line">
            <a:avLst/>
          </a:prstGeom>
          <a:noFill/>
          <a:ln w="38100">
            <a:solidFill>
              <a:srgbClr val="277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514600"/>
            <a:ext cx="1828800" cy="-1371600"/>
          </a:xfrm>
          <a:prstGeom prst="line">
            <a:avLst/>
          </a:prstGeom>
          <a:noFill/>
          <a:ln w="38100">
            <a:solidFill>
              <a:srgbClr val="2774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377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1097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16736"/>
                <a:gridCol w="1316736"/>
                <a:gridCol w="1316736"/>
                <a:gridCol w="1316736"/>
                <a:gridCol w="131673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ReLU(z)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Sigmoid: For Binary Classification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the output layer for binary classification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σ(z) = 1 / (1 + e⁻ᶻ)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Squashes any input to range (0, 1)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interpreted as probability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σ(z) &gt; 0.5 → predict class 1 (malignant)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σ(z) &lt; 0.5 → predict class 0 (benign)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0" cy="228600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2514600"/>
            <a:ext cx="32004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2423160"/>
            <a:ext cx="457200" cy="0"/>
          </a:xfrm>
          <a:prstGeom prst="line">
            <a:avLst/>
          </a:prstGeom>
          <a:noFill/>
          <a:ln w="38100">
            <a:solidFill>
              <a:srgbClr val="277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2423160"/>
            <a:ext cx="457200" cy="-320040"/>
          </a:xfrm>
          <a:prstGeom prst="line">
            <a:avLst/>
          </a:prstGeom>
          <a:noFill/>
          <a:ln w="38100">
            <a:solidFill>
              <a:srgbClr val="277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2103120"/>
            <a:ext cx="274320" cy="-777240"/>
          </a:xfrm>
          <a:prstGeom prst="line">
            <a:avLst/>
          </a:prstGeom>
          <a:noFill/>
          <a:ln w="38100">
            <a:solidFill>
              <a:srgbClr val="277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25880"/>
            <a:ext cx="457200" cy="137160"/>
          </a:xfrm>
          <a:prstGeom prst="line">
            <a:avLst/>
          </a:prstGeom>
          <a:noFill/>
          <a:ln w="38100">
            <a:solidFill>
              <a:srgbClr val="2774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463040"/>
            <a:ext cx="914400" cy="0"/>
          </a:xfrm>
          <a:prstGeom prst="line">
            <a:avLst/>
          </a:prstGeom>
          <a:noFill/>
          <a:ln w="38100">
            <a:solidFill>
              <a:srgbClr val="2774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280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1920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16736"/>
                <a:gridCol w="1316736"/>
                <a:gridCol w="1316736"/>
                <a:gridCol w="1316736"/>
                <a:gridCol w="131673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σ(z)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multi-class problems (&gt;2 classes), use softmax instead of sigmoid.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Forward Pass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flows through the network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layer, from input to output: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weighted sum:  z = W · x + b  (matrix multiplication)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activation function:  a = activation(z)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layers: typically ReLU</a:t>
            </a:r>
            <a:endParaRPr lang="en-US" sz="15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layer: sigmoid (binary) or softmax (multi-class)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output to next layer, repeat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4114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 is just matrix math — very fast, especially on GPUs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FD100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Training Neural Networks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Training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convergence: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645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examples through network, get predictions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20240" cy="1645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Loss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148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predictions to true labels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920240" cy="1645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Pass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gradient of loss w.r.t. each weight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6560" y="1371600"/>
            <a:ext cx="1920240" cy="1645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Weights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148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weights to reduce loss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4747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epoch = seeing all training examples once. Typically train for 10–100 epochs.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Weight Initialization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the initial weights come from?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are initialized randomly — typically small values near zero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start at zero: all neurons would compute the same thing (symmetry problem)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init breaks symmetry so different neurons learn different features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Works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With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Normal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random values from N(0, 0.01)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Xavier/Glorot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by 1/√(n_in) — keeps variance stable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Sigmoid/Tanh layers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 Initialization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by √(2/n_in) — accounts for ReLU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ReLU layers (default)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4114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frameworks (PyTorch, TensorFlow) use good defaults — you rarely need to change this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Loss Functions: Measuring Error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Cross-Entropy Loss (for our cancer classification)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how different predicted probabilities are from true labels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Penalizes confident wrong predictions heavily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 — 0 would mean perfect predictions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True label = 1 (malignant)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3716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= 0.95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(correct)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loss — good!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= 0.60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(correct)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— room to improve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= 0.20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(wrong!)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loss — confident and wrong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4114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of training: adjust weights to minimize total loss across all training examples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Backpropagation: The Key Idea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each weight affect the loss?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chain rule of calculus to work backward from the output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output, propagate gradients back through each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weight, compute:   ∂Loss/∂w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much does changing this weight affect the loss?"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weight contributed to a wrong prediction → decrease it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weight contributed to a correct prediction → increase it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magnitude tells us how much that weight matters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frameworks (TensorFlow, PyTorch) compute gradients automatically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Backpropagation: The Chain Rule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chain rule makes backpropagation possible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example: one weight w in a 2-layer network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828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→ z = wx + b → a = ReLU(z) → L = Loss(a, 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286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∂L/∂w   (how does changing w affect the loss?)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rule: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743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∂L/∂w  =  ∂L/∂a  ×  ∂a/∂z  ×  ∂z/∂w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651760" cy="11887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∂L/∂a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 the loss?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loss function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32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337560" y="3246120"/>
            <a:ext cx="2651760" cy="11887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∂a/∂z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2900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pre-activation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 the activation?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ReLU derivative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17920" y="3246120"/>
            <a:ext cx="2651760" cy="11887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∂z/∂w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weight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 the pre-activation?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x (the input)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these together → gradient flows backward through the network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Backpropagation: Numerical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through the chain rule with real numbers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single neuron, true label y = 1 (malignant)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Forward: weighted sum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 = 0.8 × 1.2 + (-0.5) = 0.46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 = 0.46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Forward: sigmoid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ŷ = σ(0.46) = 0.613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ŷ = 0.613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(binary CE)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-[1·log(0.613)] = 0.489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 = 0.489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∂L/∂ŷ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-1/0.613 = -1.632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-1.632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∂ŷ/∂z (sigmoid derivative)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0.613 × (1 - 0.613) = 0.237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∂z/∂w (= input 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1.2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∂L/∂w (chain rule product)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-1.632 × 0.237 × 1.2 = -0.464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42519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is negative → increasing this weight would decrease the loss → weight should go up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Gradient Descent: Updating Weights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w_new = w_old − η × ∂Loss/∂w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 (eta) = learning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how big a step we take in the direction of the gradient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651760" cy="10972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14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High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Overshoots minimum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Unstable, loss may explode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468880"/>
            <a:ext cx="2651760" cy="10972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514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Right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880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decrease in loss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Converges to good solution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468880"/>
            <a:ext cx="2651760" cy="10972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514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880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slow convergence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get stuck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9319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starting values: 0.001 or 0.01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Gradient Descent: Numerical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Continuing from our backpropagation 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the weight with learning rate η = 0.01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Explanation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 weight (w_old)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value before update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(∂L/∂w)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Computed via backpropagation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rate (η)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size — a hyperparameter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Update: η × gradient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-0.00464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 and direction of change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weight (w_new)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0.80464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0.800 − 0.01 × (-0.464)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increased slightly (0.800 → 0.805) because gradient was negative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makes sense: a larger weight on "radius" should improve malignancy prediction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for all 513 weights in our network — that's one gradient descent step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Learning Rate: Why It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hyperparameter in neural network training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Landscape (conceptual)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1828800"/>
            <a:ext cx="457200" cy="73152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2560320"/>
            <a:ext cx="457200" cy="45720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3017520"/>
            <a:ext cx="457200" cy="27432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3291840"/>
            <a:ext cx="457200" cy="13716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3429000"/>
            <a:ext cx="457200" cy="4572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3474720"/>
            <a:ext cx="457200" cy="-4572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3429000"/>
            <a:ext cx="457200" cy="-13716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3291840"/>
            <a:ext cx="457200" cy="-27432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3017520"/>
            <a:ext cx="457200" cy="-45720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560320"/>
            <a:ext cx="457200" cy="-73152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337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3611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24688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2103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large: overshoots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926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30632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3108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small: barely moves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3886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value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3891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loss isn't decreasing, try reducing the learning rate. If it's too slow, try increasing it.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Mini-Batch Gradient Descent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variants of gradient descent: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914400"/>
                <a:gridCol w="118872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Size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GD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stable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datasets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Stochastic GD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example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noisy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escape local minima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Mini-Batch GD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32–128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Mini-batch gives the best of both worlds: efficient GPU parallelism + some noise to escape local minima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each epoch, data is shuffled and split into mini-batches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39319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optimizer: adapts learning rate per parameter. Usually the default choice.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Putting It All Together: One Training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example with our breast cancer dataset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566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Our Example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Sample batch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Pick 32 random tumors from training 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tumors with 30 features each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Forward 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 ŷ for each tumor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30→16→1 network outputs 32 probabilities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Compute loss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binary cross-entropy over batch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e.g., avg loss = 0.42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Backprop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 ∂L/∂w for all 513 parameters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 rule through all layers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Update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w_new = w_old − η × gradient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 weights each nudged slightly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Repeat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next batch, then next epoch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 batches per epoch (569/32)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4206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enough epochs, the loss decreases and the network makes better predictions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FD100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Overfitting &amp; Regularization</a:t>
            </a:r>
            <a:endParaRPr 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Overfitting in Neural Networks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memorizes training data instead of learning generalizable patterns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of Overfitting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loss keeps decreasing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loss starts increasing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between train and validation performance grows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0" cy="201168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3474720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828800"/>
            <a:ext cx="1371600" cy="91440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743200"/>
            <a:ext cx="1371600" cy="457200"/>
          </a:xfrm>
          <a:prstGeom prst="line">
            <a:avLst/>
          </a:prstGeom>
          <a:noFill/>
          <a:ln w="31750">
            <a:solidFill>
              <a:srgbClr val="2774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1920240"/>
            <a:ext cx="914400" cy="64008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560320"/>
            <a:ext cx="457200" cy="9144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651760"/>
            <a:ext cx="1371600" cy="-64008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9319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only 569 samples in our cancer dataset, overfitting risk is high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Solutions: early stopping, dropout, reducing network size, adding more data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Dropout: Preventing Co-adaptation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Randomly "turn off" neurons during training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training: randomly set p% of neurons to 0 (typically 20–50%)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neurons dropped each mini-batch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test time: use all neurons (scale outputs appropriately)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neurons from relying too much on each other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redundancy — multiple neurons learn similar features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training an ensemble of networks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3291840"/>
            <a:ext cx="320040" cy="320040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3291840"/>
            <a:ext cx="320040" cy="320040"/>
          </a:xfrm>
          <a:prstGeom prst="ellipse">
            <a:avLst/>
          </a:prstGeom>
          <a:solidFill>
            <a:srgbClr val="E8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3291840"/>
            <a:ext cx="320040" cy="320040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3657600"/>
            <a:ext cx="320040" cy="320040"/>
          </a:xfrm>
          <a:prstGeom prst="ellipse">
            <a:avLst/>
          </a:prstGeom>
          <a:solidFill>
            <a:srgbClr val="E8E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3657600"/>
            <a:ext cx="320040" cy="320040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3657600"/>
            <a:ext cx="320040" cy="320040"/>
          </a:xfrm>
          <a:prstGeom prst="ellipse">
            <a:avLst/>
          </a:prstGeom>
          <a:solidFill>
            <a:srgbClr val="E8E8E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4023360"/>
            <a:ext cx="320040" cy="320040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4023360"/>
            <a:ext cx="320040" cy="320040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023360"/>
            <a:ext cx="320040" cy="320040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3429000"/>
            <a:ext cx="182880" cy="182880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383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active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794760"/>
            <a:ext cx="182880" cy="182880"/>
          </a:xfrm>
          <a:prstGeom prst="ellipse">
            <a:avLst/>
          </a:prstGeom>
          <a:solidFill>
            <a:srgbClr val="E8E8E8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dropped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Early Stopping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training when validation performance stops improving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Intuition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 training: model learns true patterns → both train and val improve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in training: model starts memorizing → train improves, val worsens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validation loss each epoch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improvement for N epochs (patience), stop training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weights from the best epoch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114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effective, and commonly used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Regularization: All Your Options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to prevent overfitting, from simplest to most involved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Works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to 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stopping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 training when validation loss rises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— no downside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Randomly disable neurons during training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choice for NNs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Smaller network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Fewer layers/neurons = fewer parameters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model is clearly too large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regularization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Penalize large weights (add λ‖w‖² to loss)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control on weight magnitude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augmentation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 variations of training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dataset is small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 additional training examples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solution when possible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4206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start with early stopping + dropout, then try others if needed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Neural Network Hyperparameters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164592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Controls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Trade-off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size for updates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0.001, 0.01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high = unstable; too low = slow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layers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 for tabular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Deeper = more capacity, harder to train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units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Width of each layer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16, 32, 64, 128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= more capacity, more overfitting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size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 per update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32, 64, 128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Larger = stable but slower; smaller = noisy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passes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early stopping to find the right number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Dropout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Fraction disabled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0.2–0.5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= more regularization, may underfit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important to tune: learning rate and network size (layers/units). Start simple!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NNs vs XGBoost on Tabular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should you use neural networks vs. tree-based methods?</a:t>
            </a:r>
            <a:endParaRPr lang="en-US" sz="1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Networks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 / Tree-Based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Tabular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Good, but often not best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state-of-the-art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Images / text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Dominant (CNNs, Transformers)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suitable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datasets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Prone to overfitting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Handles well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Preprocessing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standardization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preprocessing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 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importance available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Slower (GPU helps)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on tabular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40233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tabular data, XGBoost is still often the winner. NNs shine on images, text, and sequences.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What's Next: Specialized Architectures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connected networks are the foundation — specialized architectures exploit data 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Convolutional Neural Networks (CNNs)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spatial structure in images via local connectivity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Transformers &amp; Attention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relationships between elements in sequences — foundation for GPT, BERT, Claude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Generative AI &amp; Agents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APIs, RAG, fine-tuning, and autonomous AI systems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neuron computes: weighted sum + bias → activation function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layers learn increasingly abstract representations of the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activations (ReLU) let networks learn complex patterns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loop: forward pass → compute loss → backprop → update weights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 uses the chain rule to compute gradients for every weight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controls step size; too high or too low causes problems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(dropout, early stopping) prevents overfitting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NNs is essential — they're the foundation for all deep learning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FD100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Colab Demo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FD100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Assignment 5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– Neural Networks</dc:title>
  <dc:subject>PptxGenJS Presentation</dc:subject>
  <dc:creator>Auyon Siddiq</dc:creator>
  <cp:lastModifiedBy>Auyon Siddiq</cp:lastModifiedBy>
  <cp:revision>1</cp:revision>
  <dcterms:created xsi:type="dcterms:W3CDTF">2026-02-05T17:16:11Z</dcterms:created>
  <dcterms:modified xsi:type="dcterms:W3CDTF">2026-02-05T17:16:11Z</dcterms:modified>
</cp:coreProperties>
</file>