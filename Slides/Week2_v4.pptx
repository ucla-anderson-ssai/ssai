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4" d="100"/>
          <a:sy n="164" d="100"/>
        </p:scale>
        <p:origin x="5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826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Week 2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Tree-Based Predictions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Prediction in Business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Accurate Predictions Matter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Many businesses depend on automated predictions for large datasets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 errors have direct costs: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 large datasets, predictions must be automated and accurate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Tree-Based Models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Linear to Non-Linear Predictions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Pure Prediction Problems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Some business problems prioritize accuracy over interpretability: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prediction matters most: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When interpretability matters most: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Carvana pricing is a pure prediction problem: accuracy drives profit directly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Linear Regression vs. Tree-Based Models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7221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Aspect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Tree-Based Models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Relationship 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Assumes linear relationships between features and target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non-linear patterns and complex interactions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interactions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be manually created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Automatically discovered through tree splits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Interpretability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High: coefficients directly show 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Lower: complex ensemble behavior harder to explain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Outlier handling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Sensitive to outliers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Reliable: tree splits based on ordering, not values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for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Inference, explanation, simple relationships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Prediction accuracy, complex tabular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models dominate Kaggle competitions and industry applications for tabular data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Bias-Variance Trade-off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840480" cy="1828800"/>
          </a:xfrm>
          <a:prstGeom prst="rect">
            <a:avLst/>
          </a:prstGeom>
          <a:solidFill>
            <a:srgbClr val="E3F2FD"/>
          </a:solidFill>
          <a:ln w="12700">
            <a:solidFill>
              <a:srgbClr val="2774A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Bias (Underfitting)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is too simple to capture patterns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Poor performance on training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Poor performance on test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Predictions cluster around the mean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8288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D1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029200" y="1097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Variance (Overfitting)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memorizes noise in training data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Excellent performance on training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Poor performance on test data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Predictions vary wildly with small changes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goal: Find the sweet spot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depth controls this trade-off: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Shallow trees = high bias, low variance (underfit)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trees = low bias, high variance (overfit)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Ensemble methods reduce variance while maintaining low bias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Business Problem: Making a Prediction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decision-maker must provide an instant prediction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vehicle has specific characteristics that affect value: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How do we combine all these factors into a single price prediction?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The Dataset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Our dataset contains 15,847 actual used vehicle transactions from the market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Features available for each vehicle: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Target variable: Actual sale price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Challenge: Prices range from $15,000 to $95,000+ with complex interactions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2019 with 60K miles may be worth more than a 2020 with 90K miles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Decision Trees: The Building Block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tree makes predictions through a series of yes/no questions: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474720" y="1371600"/>
            <a:ext cx="2194560" cy="4572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474720" y="14173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 &lt; 50K?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0" y="182880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2194560" cy="4572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7160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&gt; 2019?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0" cy="36576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760720" y="1920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77840" y="2194560"/>
            <a:ext cx="2194560" cy="4572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577840" y="2240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18872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2926080"/>
            <a:ext cx="118872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219456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926080"/>
            <a:ext cx="118872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02920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0" y="2926080"/>
            <a:ext cx="118872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583680" y="29718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properties of decision trees: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Splits are chosen to minimize prediction error in each resulting group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Predictions are averages of training examples in each leaf node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Naturally captures non-linear relationships and feature interactions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Ensemble Learning: Wisdom of the Crowd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single decision tree is prone to overfitting and unstable predictions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Ensemble methods combine multiple trees to get better results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key insight: Averaging predictions from many models reduces variance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Two main ensemble strategies: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Both methods consistently outperform single decision trees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Bagging Approach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builds many trees on random subsets and averages their predictions: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1280160" cy="3657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...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2801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1371600"/>
            <a:ext cx="1280160" cy="3657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28600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...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86000" y="2011680"/>
            <a:ext cx="12801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28600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$58K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31920" y="1371600"/>
            <a:ext cx="1280160" cy="3657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93192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...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2011680"/>
            <a:ext cx="12801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93192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$62K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1280160" cy="3657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57784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...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577840" y="2011680"/>
            <a:ext cx="12801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57784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371600"/>
            <a:ext cx="1280160" cy="36576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7223760" y="14173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80960" y="17373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...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223760" y="2011680"/>
            <a:ext cx="1280160" cy="32004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223760" y="20299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24688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0" y="2834640"/>
            <a:ext cx="1828800" cy="457200"/>
          </a:xfrm>
          <a:prstGeom prst="rect">
            <a:avLst/>
          </a:prstGeom>
          <a:solidFill>
            <a:srgbClr val="FFD10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365760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$60.2K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tree trained on a bootstrap sample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each split, only a random subset of features is considered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Randomness ensures trees are different and errors don't correlate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Typical ensemble: 100-1000 trees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Random Forest: Trade-offs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Handles non-linear relationships automatically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Reliable to outliers and noisy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minimal feature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Provides feature importance rankings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Parallelizable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Works well out-of-the-box with defaults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Less interpretable than single trees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Can be slow for very large datasets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Memory-intensive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May overfit with very deep trees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651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Doesn't extrapolate beyond training range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9718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Predictions bounded by training values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Boosting: Sequential Error Correction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Boosting builds trees sequentially, with each tree focusing on previous errors: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differences from Random Forest (Bagging):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boosting philosophy: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How Boosting Works: Step by Step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51560" y="1051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Initialize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0" y="1005840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a simple prediction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457200" cy="457200"/>
          </a:xfrm>
          <a:prstGeom prst="ellipse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 Residuals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5727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vehicle, compute error: Actual Price - Current Prediction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2185416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185416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Tree to Residuals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139696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a small tree to predict the residuals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06624"/>
            <a:ext cx="457200" cy="457200"/>
          </a:xfrm>
          <a:prstGeom prst="ellipse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57200" y="27523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2752344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Predictions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706624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tree's predictions to current model: New = Old +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73552"/>
            <a:ext cx="457200" cy="457200"/>
          </a:xfrm>
          <a:prstGeom prst="ellipse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457200" y="331927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33192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273552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back to step 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rate controls how much each tree contributes.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rates require more trees but often achieve better accuracy.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XGBoost: Extreme Gradient Boosting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XGBoost is an improved implementation of gradient boosting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innovations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XGBoost won 17 of 29 Kaggle challenges in 2015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remains the go-to algorithm for tabular prediction problems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Alternatives like LightGBM and CatBoost offer similar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XGBoost in Industry Applications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17221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Industry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XGBoost Works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Credit scoring, fraud detection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Handles mixed feature types, captures non-linear risk patterns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E-commerce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recommendations, dynamic pricing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Scales to millions of users, handles sparse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Disease prediction, readmission risk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 with missing values common in clinical data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Insurance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prediction, customer churn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Captures complex interactions between policy 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Vehicle pricing (Carvana!), demand forecasting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Accurate predictions across diverse vehicle types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theme: XGBoost excels with structured/tabular data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Training vs. Testing: Model Evaluation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model performance on the prediction task: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772400" cy="13716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 MAE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MAE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 (Overfit?)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$4,850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$4,920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1.4% - Good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Decision Tree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$1,200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$3,800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216% - Overfit.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$1,450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$2,650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83% - Moderate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 (tuned)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$1,850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$2,180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18% - Excellent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achieves the best test performance while maintaining a reasonable train-test gap,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indicating good generalization to new vehicles.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$2,180 MAE means predictions are typically within $2,180 of actual sale price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Feature Importance: What Drives Predictions?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reveals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1371600"/>
            <a:ext cx="384048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126480" y="13258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94560" y="1709928"/>
            <a:ext cx="301752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303520" y="166420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0253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Model/Trim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048256"/>
            <a:ext cx="246888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754880" y="200253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34086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 History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194560" y="2386584"/>
            <a:ext cx="164592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931920" y="2340864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67919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Size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194560" y="2724912"/>
            <a:ext cx="109728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3383280" y="2679192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Drivetrain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3063240"/>
            <a:ext cx="82296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310896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5584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194560" y="3401568"/>
            <a:ext cx="54864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2834640" y="3355848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6941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194560" y="3739896"/>
            <a:ext cx="274320" cy="228600"/>
          </a:xfrm>
          <a:prstGeom prst="rect">
            <a:avLst/>
          </a:prstGeom>
          <a:solidFill>
            <a:srgbClr val="2774A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560320" y="3694176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for business strategy: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0" y="1645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Year + Mileage account for 50% of pricing signal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1993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Accident history matters more than cosmetic features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3408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has minimal impact on resale value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26883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Regional differences exist but are small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5587"/>
                </a:solidFill>
                <a:latin typeface="Whitney Bold" pitchFamily="34" charset="0"/>
                <a:ea typeface="Whitney Bold" pitchFamily="34" charset="-122"/>
                <a:cs typeface="Whitney Bold" pitchFamily="34" charset="-120"/>
              </a:rPr>
              <a:t>Hyperparameter Tuning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Hyperparameters are settings we choose before training: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Key XGBoost hyperparameters to tune: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Tuning strategies: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DA0FF74-B596-9791-728D-0FF214E41B10}"/>
              </a:ext>
            </a:extLst>
          </p:cNvPr>
          <p:cNvSpPr txBox="1"/>
          <p:nvPr/>
        </p:nvSpPr>
        <p:spPr>
          <a:xfrm>
            <a:off x="2286000" y="238805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800" b="1" kern="0" dirty="0">
                <a:effectLst/>
                <a:latin typeface="Arial" panose="020B0604020202020204" pitchFamily="34" charset="0"/>
              </a:rPr>
              <a:t>Zillow's </a:t>
            </a:r>
            <a:r>
              <a:rPr lang="en-US" sz="1800" b="1" kern="0" dirty="0" err="1">
                <a:effectLst/>
                <a:latin typeface="Arial" panose="020B0604020202020204" pitchFamily="34" charset="0"/>
              </a:rPr>
              <a:t>iBuying</a:t>
            </a:r>
            <a:r>
              <a:rPr lang="en-US" sz="1800" b="1" kern="0" dirty="0">
                <a:effectLst/>
                <a:latin typeface="Arial" panose="020B0604020202020204" pitchFamily="34" charset="0"/>
              </a:rPr>
              <a:t> Failure</a:t>
            </a:r>
          </a:p>
        </p:txBody>
      </p:sp>
    </p:spTree>
    <p:extLst>
      <p:ext uri="{BB962C8B-B14F-4D97-AF65-F5344CB8AC3E}">
        <p14:creationId xmlns:p14="http://schemas.microsoft.com/office/powerpoint/2010/main" val="101993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1162</Words>
  <Application>Microsoft Macintosh PowerPoint</Application>
  <PresentationFormat>On-screen Show (16:9)</PresentationFormat>
  <Paragraphs>250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Whitney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2: Tree-Based Predictions</dc:title>
  <dc:subject>MGMT298D: Science and Strategy of AI</dc:subject>
  <dc:creator>UCLA Anderson</dc:creator>
  <cp:lastModifiedBy>Siddiq, Auyon</cp:lastModifiedBy>
  <cp:revision>3</cp:revision>
  <dcterms:created xsi:type="dcterms:W3CDTF">2026-01-16T03:08:12Z</dcterms:created>
  <dcterms:modified xsi:type="dcterms:W3CDTF">2026-01-24T16:11:20Z</dcterms:modified>
</cp:coreProperties>
</file>