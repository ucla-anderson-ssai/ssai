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Week 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Generative AI APIs and AI Agents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Capstone: From Theory to Application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Journey Through This Course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60020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14173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concepts, data, ethics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2024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57400" y="1371600"/>
            <a:ext cx="160020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103120" y="14173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1645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920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Regression, classification, trees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1188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49040" y="1371600"/>
            <a:ext cx="160020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794760" y="14173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94760" y="1645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94760" y="1920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networks, CNNs, vision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0352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40680" y="1371600"/>
            <a:ext cx="160020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86400" y="14173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1645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Transformers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1920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Embeddings, attention, LLMs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9516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32320" y="1371600"/>
            <a:ext cx="1600200" cy="1280160"/>
          </a:xfrm>
          <a:prstGeom prst="rect">
            <a:avLst/>
          </a:prstGeom>
          <a:solidFill>
            <a:srgbClr val="FFD100"/>
          </a:solidFill>
          <a:ln w="12700">
            <a:solidFill>
              <a:srgbClr val="00558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178040" y="14173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78040" y="1645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78040" y="19202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APIs, RAG, Agents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822960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Putting It All Together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32918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to access and use LLMs through APIs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to customize LLMs for your specific business needs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to build AI agents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Strategic considerations for deploying generative AI in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Part 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APIs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API Economy for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Research Labs to Business Applications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0" cy="146304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Way (Pre-2022)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 your own models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ML team &amp; infrastructure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Months of development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Millions in compute costs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Limited to simpler models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5196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846320" y="1325880"/>
            <a:ext cx="3840480" cy="14630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Way (Now)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Access frontier models via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ML expertise required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Minutes to integrate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 per use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current capabilities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API Providers: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29260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32644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32644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GPT-4, GPT-4o, o1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264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leader, broad ecosystem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38728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3557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35570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3.5, Claude Opus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557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reasoning, long context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31336"/>
            <a:ext cx="8229600" cy="29260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640" y="38496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8496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Pro, Ultra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8496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Multimodal, Google integration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23944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41422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20240" y="41422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(open weights)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41422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option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445312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Accessibility: Any company can now access capabilities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How LLMs Generate Text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Token-by-Token Prediction Under the Hood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Prompt: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03120" y="1280160"/>
            <a:ext cx="548640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194560" y="1325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 a haiku about machine learning"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Process: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 a haiku about machine learning"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6072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084832"/>
            <a:ext cx="731520" cy="29260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080760" y="21031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2103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P=0.23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423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learning" + "Data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404872"/>
            <a:ext cx="731520" cy="29260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80760" y="2423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2423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P=0.31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2743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"Data" + "flows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2724912"/>
            <a:ext cx="731520" cy="29260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080760" y="27432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27432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P=0.18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3063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3044952"/>
            <a:ext cx="731520" cy="29260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080760" y="3063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3063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3520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Technical Details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Tokenization: Text is split into tokens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generation step runs the full model forward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Latency scales linearly with output length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 tokens are processed in parallel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Economics of LLMs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API Pricing and Cost at Scale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Pricing: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18872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$10-30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$30-60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GPT-4, Claude Opus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Mid-tier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Sonnet, GPT-4o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Small/Fast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$0.10-0.50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$0.25-1.00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Haiku, GPT-4o mini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743200"/>
            <a:ext cx="8229600" cy="100584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0080" y="2834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Cost Example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 chatbot handling 10,000 conversations/day: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Average conversation: 2,000 tokens (input + output)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Using mid-tier model: ~$100-200/day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Using small model: ~$10-20/day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 large datasets: Can range from $3K to $150K+/month depending on model choice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0080" y="38862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Insight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 is a business decision: Balance capability vs. cost. Use expensive models for complex tasks,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models for simple ones. Many applications use model routing to improve.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Model Selection Trade-offs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Frontier Models: Maximum capability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Mid-Tier Models: Sweet spot for many applications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Small/Fast Models: Speed and cost optimization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Source (LLaMA, Mistral): Control and customization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Latency Considerations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Matters for User Experience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Time Goes in an API Call: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916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Round Trip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0" y="1691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50-200ms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16916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to API servers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8229600" cy="34747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0756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Processing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20756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10-500ms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20756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Tokenizing and encoding prompt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8229600" cy="347472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24597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Generation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459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50-5000ms+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245973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Token-by-token generation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98064"/>
            <a:ext cx="8229600" cy="3474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28437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Delivery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28437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50-200ms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28437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or batch delivery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Optimization Strategies: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566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Streaming responses: Show output as it generates (feels faster)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8221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Smaller models: Faster inference, often acceptable quality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782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Shorter prompts: Less input processing 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3342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Request max_tokens: Limit output length when appropriate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Temperature: Controlling Randomness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Important Generation Parameter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38988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Scale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377440" cy="18288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017520" y="1645920"/>
            <a:ext cx="2651760" cy="1828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669280" y="1645920"/>
            <a:ext cx="2651760" cy="18288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828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0" y="1828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1828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1.0+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2651760" cy="155448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(0.0 - 0.3)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Factual Q&amp;A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extraction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generation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46120" y="2103120"/>
            <a:ext cx="265176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3756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(0.4 - 0.7)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46888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variety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coherent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Conversation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Explanations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General tasks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2103120"/>
            <a:ext cx="2651760" cy="155448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12648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(0.8 - 1.2+)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46888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outputs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Brainstorming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Creative writing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Idea generation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Temperature scales the logits before sampling. Lower temperature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high-probability tokens even more likely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Top-K and Top-P Sampling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Top-K Sampling: Only consider the K most likely tokens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K=1: Greedy decoding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Top-P (Nucleus) Sampling: Consider tokens until cumulative probability reaches 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Practical Guidance: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Prompt Engineering Techniques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Maximizing Output Quality Through Careful Prompting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7315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325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Instructions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 about format, length, style, and constraints. Vague prompts get vague results.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4114800" cy="7315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325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Role/Persona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5727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are an expert financial analyst..."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4114800" cy="73152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103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Examples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500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2-3 examples of desired input-output pairs. Shows rather than tells.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2057400"/>
            <a:ext cx="4114800" cy="7315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00600" y="2103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Thought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3500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"Think step by step"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114800" cy="7315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2880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Structure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1272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JSON, markdown, numbered lists. Structured output is more reliable.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114800" cy="73152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800600" y="2880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1272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not include..." "Must be under 100 words" - Set explicit boundaries.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 Structure: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[Role] You are a senior product manager.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[Task] Analyze this feature request and provide your recommendation.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[Format] Structure your response as: Summary (2 sentences), Pros (bullets), Cons (bullets), Recommendation.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Structured Output Generation (JSON)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Challenge: LLMs generate free-form text, but applications need structured data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Solution: Constrained generation / JSON mode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Practical Pattern: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1. Define your expected JSON schema in the prompt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2. Enable JSON mode in the API call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3. Parse the response directly into your application objects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Example Use Cases: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852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Warning: JSON mode ensures valid JSON, but doesn't guarantee correct schema - always validate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Part 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Customizing LLMs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Customization Spectrum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for Adapting LLMs to Your Needs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Investment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Investment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13716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74320" y="1874520"/>
            <a:ext cx="2103120" cy="228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1920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 better prompts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Effort: Hours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$0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None needed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Quick wins,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prototyping, simple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14600" y="1874520"/>
            <a:ext cx="2103120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0604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2331720"/>
            <a:ext cx="1920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Effort: Days-Weeks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Low-Medium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Your documents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Grounding 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knowledge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1874520"/>
            <a:ext cx="2103120" cy="22860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46320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1920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your data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Effort: Weeks-Months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Medium-High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100s-1000s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Specific style,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format, or domain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95160" y="1874520"/>
            <a:ext cx="1920240" cy="228600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08660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2331720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from scratch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Effort: Months-Years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$10M-$100M+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Trillions of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Almost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(OpenAI,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Anthropic, Google)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4315968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prompt engineering, add RAG if you need specific knowledge, fine-tune only if necessary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RAG: Retrieval-Augmented Generation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LLM Responses in Your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9144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371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don't know your company's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policies, products, or documents.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hallucinate when asked about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not in their training data.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840480" cy="914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0" y="1371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RAG Solution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relevant documents first,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include them in the prompt.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 response grounded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actual data.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RAG Works: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1554480" cy="10972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004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971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documents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vectors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8308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029968" y="2651760"/>
            <a:ext cx="1554480" cy="10972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075688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50008" y="269748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75688" y="2971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user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to vector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38728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85616" y="2651760"/>
            <a:ext cx="1554480" cy="10972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831336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05656" y="269748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31336" y="2971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similar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94376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41264" y="2651760"/>
            <a:ext cx="1554480" cy="10972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586984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61304" y="269748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86984" y="2971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docs to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context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50024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296912" y="2651760"/>
            <a:ext cx="1554480" cy="10972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342632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16952" y="269748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42632" y="29718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answers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context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Reduces hallucinations • Uses current information • No model training required • Cites sources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2062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 Customer support bots, internal knowledge search, document Q&amp;A, compliance checking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RAG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Indexing Pipeline: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1. Document loading: PDFs, web pages, databases, APIs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2. Chunking: Split into manageable pieces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3. Embedding: Convert chunks to vectors using embedding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4. Vector storage: Store in vector database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Query Pipeline: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1. Embed the user's query using same embedding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2. Similarity search: Find top-k most similar chunks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3. Construct prompt: "Based on the following context: [chunks]... Answer: [query]"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4. Generate: LLM produces response grounded in retrieved context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 Decisions: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RAG vs Fine-Tuning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Customization Approach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Adds external knowledge at query 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Modifies model weights permanently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Factual grounding, current info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Style, format, specialized behavior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needed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Documents (any amount)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100s-1000s of examples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Easy - just update documents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 - requires retraining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(retrieval step)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(knowledge baked in)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DB + longer prompts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compute + hosting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429000"/>
            <a:ext cx="8229600" cy="10515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40080" y="3520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Guide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37490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Need current or proprietary facts? → RAG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Need specific writing style or format? → Fine-tuning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changes frequently? → RAG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volume, latency-sensitive? → Fine-tuning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Unsure? Start with RAG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Production Best Practices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Evaluation and Testing: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 Management: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Reliability: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6583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6949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Part 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What Is an AI Agent?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Chatbots to Autonomous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Chatbot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Responds to single prompts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memory between turns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Cannot take actions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drives the interaction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Text only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5196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846320" y="1325880"/>
            <a:ext cx="3840480" cy="1645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Pursues goals autonomously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Maintains state and memory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Uses tools to take actions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drives toward objective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Actions + 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An AI agent is an LLM-powered system that can perceive its environment,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decisions, and take actions to achieve specified goals.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Agent Examples: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assistants that write, run, and debug code • Research agents that search, synthesize, and report • Customer service agents that access databases and process transactions • Data analysis agents that query, visualize, and interpret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Agent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Plan → Act → Observe → Repeat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2286000" cy="109728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63040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PLAN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1783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analyzes goal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decides what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to take next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0" y="1371600"/>
            <a:ext cx="2286000" cy="10972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06240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17830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chosen tool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action in the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206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14800" y="2743200"/>
            <a:ext cx="2286000" cy="109728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20624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OBSERVE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31546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results 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from the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taken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2743200"/>
            <a:ext cx="2286000" cy="109728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46304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EVALUATE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31546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goal achieved?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no, loop back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planning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7744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0" y="1371600"/>
            <a:ext cx="2286000" cy="24688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75120" y="1463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17373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is called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times 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iteration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the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context 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the next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expensive.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loop = API call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"Book me a flight to NYC next Tuesday" → Search flights → Compare options → Select best → Fill form → Confirm booking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Agent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Are Tools? Functions the agent can call to interact with the world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Common Tool Categories: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Tools Work: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1. Define tool with name, description, and parameters (JSON schema)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2. LLM decides when to call tools based on the task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3. System executes the tool and returns results to LLM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4. LLM incorporates results into its reasoning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 Design Principles: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852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6583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Building a Simple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Research Agent Example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1887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00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research assistant.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have access to web_search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summarize tools. Given 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question, search for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information, then synthesize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comprehensive answer."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11887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54880" y="1600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Available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web_search(query)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Returns relevant web results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summarize(text, style)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Condenses text to key points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Execution Trace: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2103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307238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691640" y="3072384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are the latest developments in quantum computing?"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8229600" cy="210312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2920" y="328269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thinks: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91640" y="3282696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need to search for recent quantum computing news"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" y="3483864"/>
            <a:ext cx="8229600" cy="210312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2920" y="349300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call: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691640" y="3493008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57200" y="3694176"/>
            <a:ext cx="8229600" cy="21031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2920" y="3703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returns: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691640" y="370332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[Article 1: IBM's new chip..., Article 2: Google's...]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" y="3904488"/>
            <a:ext cx="8229600" cy="210312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2920" y="391363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thinks: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691640" y="3913632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"Let me search for more specific applications"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210312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02920" y="412394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call: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691640" y="4123944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" y="4325112"/>
            <a:ext cx="8229600" cy="21031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2920" y="433425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Final: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691640" y="4334256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synthesizes comprehensive answer from gathered info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Agent Architectures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for Building More Sophisticated Agents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4320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+ Act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Interleaves reasoning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action steps.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→ Action → Obs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→ Action → Obs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Complex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needing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reasoning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0" y="1325880"/>
            <a:ext cx="274320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9184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Plan-and-Execute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691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approach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First: Create full plan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Execute steps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Make plan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step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Execute step 2...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Predictable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workflows, parallel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possible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743200" cy="1828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691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192024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agents with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roles collaborate.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→ Writer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8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Complex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projects, different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needed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3832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an 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simple (basic loop) and add complexity only when needed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ReAct: Best for exploratory tasks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Plan-and-Execute: Best when steps are clear upfront and can be parallelized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Multi-Agent: Best for complex projects requiring diverse expertise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architectures can be combined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Challenges and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Reliability: Agents can go off track, loop infinitely, or make compounding errors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Cost: Every reasoning step and tool call costs money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Security: Agents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Evaluation: Hard to measure if an agent is "working"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Latency: Sequential reasoning = slow execution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6400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Best Practices for Agents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Simple: Begin with basic tool use before building complex agent loops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Human-in-the-Loop: Keep humans involved for critical decisions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Guardrails: Implement safety constraints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Cost limits and monitoring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Restricted tool permissions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Observability: Log everything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Testing: Build evaluation suites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6400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6766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Course Recap: Your AI Journey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Concepts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Foundations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AI, ML types, business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&amp; Ethics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quality, bias, responsible 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Supervised Learning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Regression, classification, evaluation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Trees &amp; Boosting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trees, Random Forest, XGBoost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Neural Networks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learning, backprop, architectures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Computer Vision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CNNs, image classification, transfer learning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NLP &amp; Transformers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Embeddings, attention, LLMs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GenAI &amp; Agents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APIs, RAG, customization, agents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10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have a comprehensive foundation in AI/ML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AI. The key is applying these concepts strategically to create business value.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APIs made accessible access to frontier AI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 is a strategic business decision: balance capability, cost, and latency based on your specific use case requirements.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is the most practical way to customize LLMs for your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extend LLMs from chatbots to autonomous systems that can take actions, but require careful design for reliability, cost control, and safety.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simple, add complexity only when needed: prompt engineering before RAG, RAG before fine-tuning, basic tools before full agent loops.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8: Generative AI APIs and AI Agents</dc:title>
  <dc:subject>MGMT298D: Science and Strategy of AI</dc:subject>
  <dc:creator>UCLA Anderson</dc:creator>
  <cp:lastModifiedBy>UCLA Anderson</cp:lastModifiedBy>
  <cp:revision>1</cp:revision>
  <dcterms:created xsi:type="dcterms:W3CDTF">2026-01-16T03:16:21Z</dcterms:created>
  <dcterms:modified xsi:type="dcterms:W3CDTF">2026-01-16T03:16:21Z</dcterms:modified>
</cp:coreProperties>
</file>