
<file path=[Content_Types].xml><?xml version="1.0" encoding="utf-8"?>
<Types xmlns="http://schemas.openxmlformats.org/package/2006/content-types">
  <Default Extension="emf" ContentType="image/x-em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74" r:id="rId3"/>
    <p:sldId id="339" r:id="rId4"/>
    <p:sldId id="261" r:id="rId5"/>
    <p:sldId id="340" r:id="rId6"/>
    <p:sldId id="336" r:id="rId7"/>
    <p:sldId id="341" r:id="rId8"/>
    <p:sldId id="342" r:id="rId9"/>
    <p:sldId id="337" r:id="rId10"/>
    <p:sldId id="334" r:id="rId11"/>
    <p:sldId id="258" r:id="rId12"/>
    <p:sldId id="335" r:id="rId13"/>
    <p:sldId id="343" r:id="rId14"/>
    <p:sldId id="259" r:id="rId15"/>
    <p:sldId id="260" r:id="rId16"/>
    <p:sldId id="318" r:id="rId17"/>
    <p:sldId id="355" r:id="rId18"/>
    <p:sldId id="308" r:id="rId19"/>
    <p:sldId id="265" r:id="rId20"/>
    <p:sldId id="313" r:id="rId21"/>
    <p:sldId id="350" r:id="rId22"/>
    <p:sldId id="311" r:id="rId23"/>
    <p:sldId id="315" r:id="rId24"/>
    <p:sldId id="352" r:id="rId25"/>
    <p:sldId id="361" r:id="rId26"/>
    <p:sldId id="351" r:id="rId27"/>
    <p:sldId id="363" r:id="rId28"/>
    <p:sldId id="271" r:id="rId29"/>
    <p:sldId id="275" r:id="rId30"/>
    <p:sldId id="333" r:id="rId31"/>
    <p:sldId id="319" r:id="rId32"/>
    <p:sldId id="353" r:id="rId33"/>
    <p:sldId id="310" r:id="rId34"/>
    <p:sldId id="359" r:id="rId35"/>
    <p:sldId id="320" r:id="rId36"/>
    <p:sldId id="321" r:id="rId37"/>
    <p:sldId id="322" r:id="rId38"/>
    <p:sldId id="323" r:id="rId39"/>
    <p:sldId id="344" r:id="rId40"/>
    <p:sldId id="327" r:id="rId41"/>
    <p:sldId id="285" r:id="rId42"/>
    <p:sldId id="286" r:id="rId43"/>
    <p:sldId id="329" r:id="rId44"/>
    <p:sldId id="330" r:id="rId45"/>
    <p:sldId id="331" r:id="rId46"/>
    <p:sldId id="300" r:id="rId47"/>
    <p:sldId id="332" r:id="rId48"/>
    <p:sldId id="293" r:id="rId49"/>
    <p:sldId id="360" r:id="rId50"/>
    <p:sldId id="296" r:id="rId51"/>
    <p:sldId id="348" r:id="rId52"/>
    <p:sldId id="345" r:id="rId53"/>
    <p:sldId id="358" r:id="rId54"/>
    <p:sldId id="357" r:id="rId55"/>
    <p:sldId id="349" r:id="rId56"/>
    <p:sldId id="347" r:id="rId57"/>
    <p:sldId id="305" r:id="rId58"/>
    <p:sldId id="306" r:id="rId59"/>
    <p:sldId id="325" r:id="rId60"/>
    <p:sldId id="326" r:id="rId61"/>
    <p:sldId id="362" r:id="rId6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/>
    <p:restoredTop sz="85141"/>
  </p:normalViewPr>
  <p:slideViewPr>
    <p:cSldViewPr snapToGrid="0" snapToObjects="1">
      <p:cViewPr varScale="1">
        <p:scale>
          <a:sx n="125" d="100"/>
          <a:sy n="125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55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515B-E200-CCB5-9E70-0DF821E4F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DA8B0-351E-3AE1-8E78-802C43789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EA470-9532-CBC0-52C0-061F86BA4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64B28-69E6-5B74-3A73-B869B1A8F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08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04194-570D-EFB3-E2A4-BB80371E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48D32-EF71-4AD0-C975-4B57982A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52E75-D314-4FDA-3E9B-69C9C6078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D7B8A-E884-70F9-7458-AF49D2C8B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2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23476-69DF-0840-3429-6EF6E6271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B1294-CE86-F5C1-8477-1369A92A3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29E30-9AE4-8396-7F32-D38E7DD8A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BB163-A333-7251-DC0E-6DA548015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55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D082-96A2-C401-668D-C2E9535AF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48CAE-6341-1C07-9F0D-919C4309F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AA2EE-A980-E355-FF19-79428F965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42E72-F340-B430-330E-0BEA66919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86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1E372-54B5-954A-CD42-593CBC2E8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81B40-1E9D-73CF-086B-DCA28AD74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E0E84-EDD7-4B5C-0984-745D06635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1DD58-112E-CE3E-7AB4-769F2744D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54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19DA-126B-ECB8-424D-85BB5652A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39EDF-AD21-6363-B849-8A809DA0A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91AFD-8C65-86B7-626C-D05FEE0DA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DF8F0-1C68-E403-04BB-D6B2CB15D2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54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EB8D6-082B-1738-77B7-BDFFFDD5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4F0D2-F729-CBC0-4D65-DE4B34274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C4CA9-B223-FA42-AAFF-FF11C6D51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710FC-EE90-0BBB-8094-04056ECA86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17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02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EF41-00D2-30F3-D5BA-536BC324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3B919-2580-3900-15F8-046465FCD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CBDB1-0A54-B487-E4A4-8FD06CE75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example loss function of what we desire on the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D0202-9671-12BD-95D4-BAF129CD6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751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B2A85-96F4-6E48-8685-7A588195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DAF10-78A3-C6B3-CCA2-BA649D7B2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B05D3-A0D7-BB81-5301-AD61C1AE3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example loss function of what we desire on the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23302-6754-72A6-22DB-55E66F8AE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630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7C7CB-A6CA-B130-4876-6FA9427A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3CE81-B574-012C-06C6-7DF0251A5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5BF09-B6C9-043B-4720-4171C71CC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it out for positive and negative cases to “derive”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EC1E-B222-0406-2929-44AA975F6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17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D762B-136F-D037-71B3-73EDCD1CC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70463-7E75-D13F-7D8C-2E01FB69A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F0FCB-DCAC-0BDA-00BD-F0BB287FB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Cauchy in 1847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8A01A-BEE5-1B20-6133-FEDB90E50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90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DA2B-F64F-99D8-7BA3-1F06C2DF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5DF88-456D-184E-B135-8B6E9660D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522F8-52F5-AF8E-73A6-7DD130FC8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Cauchy in 1847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83055-0F41-A654-578A-40942A89F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919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0818A-76A3-7907-6EA6-13A102C5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E5792-BDDF-75EA-D1FA-9464F4A04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AB0CF-EB85-1899-1F5B-B6374DCA5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Cauchy in 1847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A5E29-A87E-C345-63DA-3D12BE2CCD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67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F044-73BA-F94F-09AE-F668846B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73E38-B24C-412C-046F-DC4E86B2C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50687-50C4-C0AC-A9A6-B46B0FE05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Cauchy in 1847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86688-D89E-5AB4-91BC-F160D5936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05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70B61-C255-D03D-3495-84F88C93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5BAF3-9ED0-9163-60E6-4CC26B595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68574-3732-2573-E290-F84517B53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Cauchy in 1847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048D8-20F0-41E7-C27D-7F612C9D4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807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Cauchy in 1847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6E120-2752-5843-87B9-662A4484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5551F-2DE6-D3F8-AACE-1E00D292F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87E24-5596-0197-7ACD-CBC1579AF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6812C-7356-FE11-F4F2-2DCC9F8EA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329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4170-36D6-DC56-5881-5574C6FD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3BC9-CCEE-5F44-D0DA-2ED5868AD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C29A8-9393-264B-FD07-3744DE2A2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C7237-50C3-3D9D-F605-C74F98AAB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279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571A-B22D-DA6E-7824-531E7AE4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88B4B-CB1B-CD9C-D01F-D0AF00B67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54C09-F2E6-2823-87CC-601BAD6EA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A354D-BE95-5DFC-A0DD-0DDC1380D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81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D40B-BAB5-7626-4129-7E5131F8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30E90-2BF0-0FD1-0334-8CD1B5792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7CE3B-5D76-72E5-0C7A-46CDFC20A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A1180-8ED9-BFCC-5C72-3D5CF697C9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6934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5A29-D60D-D2AC-C724-0055BD0B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FC881-ABB4-41A3-1CEB-D1D51B2AE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C2A31-B25B-DDDF-4CCD-36B468BFF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the output node “see” as input? Just some abstract representation – the raw data has been transformed. As far as the output node is considered, they’re just doing logistic regression!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6A193-9AAD-410A-4E04-479AF5ED3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299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8B478-DFC3-7D85-1FA6-0AE06F3B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0D0F5-CC82-EE97-C0FA-417901AC6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0711B-2739-24BB-C8ED-C043CFAF1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2*8 + 8 + 8*1 + 1 = 33</a:t>
            </a:r>
          </a:p>
          <a:p>
            <a:endParaRPr lang="en-US" dirty="0"/>
          </a:p>
          <a:p>
            <a:r>
              <a:rPr lang="en-US" dirty="0"/>
              <a:t>2*8+8 + 8*8+8+8*1+1 = 105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F4F8B-7DF3-72D0-FA3E-D98B14EC24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866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287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736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71CD-ED4E-725F-9114-72DB703C0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4A164-8431-8C0F-DD7C-CF4B281BD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A0AB2-BBCE-1078-48DC-C8DEF4C57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6083F-0DE3-E8A4-3234-08E962F881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148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429AA-3639-A6E2-F889-09A868A1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8E985-8851-E5FF-C597-9E1C37536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78FE2-2EFD-5C14-050B-42FAAE2FA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58FBE-49BB-2C58-52ED-CACF46686D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664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122C7-25F7-4842-901B-5CD878D91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1B7C2-2B49-CB3C-69C4-648449259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06381-E1B5-5E3D-452B-F0CBAF000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FA878-F8E2-DAD6-F04C-BDD9CE716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689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46E48-AE00-CCAC-0406-16DE706F5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25F7C-98CA-2F6D-5A8D-55A6C1A8C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DBD63-5C15-EEDF-829F-BA6C568D0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51179-99B8-CB6F-3AE2-FD3390027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894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F78AD-B1A3-C2B8-25DE-6F75724F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06747-813A-250B-B2FE-84B70D44C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82489-AFF8-1D3A-3354-09EBDF43D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2E9A2-A8C5-77FA-411C-500253ED0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100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0702D-3837-3C22-1646-17C074E1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FDA0D-FCA0-D77B-C569-BD1C6C912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F1E4E-2792-0445-3987-E9286C66D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B8A3F-ABF8-5A9F-1F39-98C0C4933C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245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EB162-D064-BA91-4EE6-C5CAC4DF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C9A28-8758-737C-4A23-543E12B99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D9E70-21F3-A198-136A-429434F71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DE566-F6C9-63B5-9993-00C981A5C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737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8C66E-E6FC-EA7E-D85B-ABC701066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4BFC6-30F9-BAE5-3FB7-989527946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897BA-D5BD-0AC1-F5B9-BED0D1D32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92AA8-17F0-A11D-507C-7EC87D8FEC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38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A8A0B-6EF4-57A0-434A-8FAD167D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11532-CA25-228C-FE46-92ED45B00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A6947-08E3-0119-112A-B8CF41148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8B7ED-939C-78FA-91C8-B67C72697E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64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0E389-C469-BF48-7B73-E5AE982E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A30A3-EFCC-F6D5-68B8-19DA21C83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839F3-56D7-79BD-19AB-C94AEF65E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B3823-D59F-1BA0-6668-948899B5D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710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58993-2456-6CE5-7036-12E6E7C3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D18A8-201D-A184-8A33-690A9A8E7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47ADA-C484-79BF-AC59-40313FBE8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Llama 3 8B used 16,000 H100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30k a pop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500 million total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999B2-9C1D-3E8F-A169-9E00154443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520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11CB4-753A-0A92-B1EC-97B01B72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AE6E1-500A-C567-1DCC-3899A30E9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30A1C-D33B-92AB-2652-2290A2AF0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9B16-6EDB-70C9-4950-4B649E8DE7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192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F8255-B539-8FEE-13DD-63E64065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A017F-E263-7A75-B5B9-339BBBD46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7320B-2824-BFBE-CBDC-CA929980C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6479A-2B7F-CA2C-A7B9-31FE1CD6FE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523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jpe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21.emf"/><Relationship Id="rId7" Type="http://schemas.openxmlformats.org/officeDocument/2006/relationships/image" Target="../media/image2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Relationship Id="rId9" Type="http://schemas.openxmlformats.org/officeDocument/2006/relationships/image" Target="../media/image2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ucla-anderson-ssai.github.io/SSAI/Simulation%20Demos/Week%204%20-%20Gradient%20Descent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image" Target="../media/image30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emf"/><Relationship Id="rId4" Type="http://schemas.openxmlformats.org/officeDocument/2006/relationships/image" Target="../media/image43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ground.tensorflow.org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ucla-anderson-SSAI/SSAI/blob/main/Notebooks/Week4.ipynb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les and lines connected together&#10;&#10;AI-generated content may be incorrect.">
            <a:extLst>
              <a:ext uri="{FF2B5EF4-FFF2-40B4-BE49-F238E27FC236}">
                <a16:creationId xmlns:a16="http://schemas.microsoft.com/office/drawing/2014/main" id="{793255FE-D7E4-88D9-1579-43114C95D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938" y="277673"/>
            <a:ext cx="5044122" cy="45881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2CD13B06-BF3F-23AE-D008-EAFA2A892CB2}"/>
              </a:ext>
            </a:extLst>
          </p:cNvPr>
          <p:cNvSpPr/>
          <p:nvPr/>
        </p:nvSpPr>
        <p:spPr>
          <a:xfrm>
            <a:off x="0" y="1645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4</a:t>
            </a:r>
            <a:endParaRPr lang="en-US" sz="2000" dirty="0">
              <a:solidFill>
                <a:srgbClr val="FFD100"/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3F29E03-A072-EC09-379B-F1A085D35E4D}"/>
              </a:ext>
            </a:extLst>
          </p:cNvPr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cs typeface="Whitney Bold" pitchFamily="34" charset="-120"/>
              </a:rPr>
              <a:t>Neural Networks</a:t>
            </a:r>
            <a:endParaRPr lang="en-US" sz="36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FBC64DB-0C94-4F7B-FB3B-43480DABCA20}"/>
              </a:ext>
            </a:extLst>
          </p:cNvPr>
          <p:cNvSpPr/>
          <p:nvPr/>
        </p:nvSpPr>
        <p:spPr>
          <a:xfrm>
            <a:off x="457199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MGMT298D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Science and Strategy of AI</a:t>
            </a:r>
            <a:b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C30FE5A-1017-01E4-5533-13E242ADB337}"/>
              </a:ext>
            </a:extLst>
          </p:cNvPr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b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UCLA Anderson School of Management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clickEffect">
                                  <p:stCondLst>
                                    <p:cond delay="2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60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0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Recap</a:t>
            </a:r>
            <a:endParaRPr lang="en-US" sz="2800" dirty="0"/>
          </a:p>
        </p:txBody>
      </p:sp>
      <p:sp>
        <p:nvSpPr>
          <p:cNvPr id="4" name="Divider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ile1"/>
          <p:cNvSpPr/>
          <p:nvPr/>
        </p:nvSpPr>
        <p:spPr>
          <a:xfrm>
            <a:off x="457200" y="1135380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003B5C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8FBFDF"/>
                </a:solidFill>
                <a:latin typeface="Whitney Bold" pitchFamily="34" charset="0"/>
              </a:rPr>
              <a:t>WEEKS 1–3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Machine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Learning</a:t>
            </a:r>
          </a:p>
          <a:p>
            <a:pPr algn="l">
              <a:spcBef>
                <a:spcPts val="1200"/>
              </a:spcBef>
            </a:pPr>
            <a:r>
              <a:rPr lang="en-US" sz="16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600" i="1" dirty="0">
                <a:solidFill>
                  <a:srgbClr val="A0C4E0"/>
                </a:solidFill>
                <a:latin typeface="Whitney Bold" pitchFamily="34" charset="0"/>
              </a:rPr>
              <a:t> Understand how to deploy ML models to make predictions or decisions based on rich data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Green checkmark">
                <a:extLst>
                  <a:ext uri="{FF2B5EF4-FFF2-40B4-BE49-F238E27FC236}">
                    <a16:creationId xmlns:a16="http://schemas.microsoft.com/office/drawing/2014/main" id="{DF3799B7-9B41-8ED5-07EB-7FC9465EA3D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16369743"/>
                  </p:ext>
                </p:extLst>
              </p:nvPr>
            </p:nvGraphicFramePr>
            <p:xfrm>
              <a:off x="1850813" y="3582664"/>
              <a:ext cx="1406533" cy="132944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406533" cy="1329447"/>
                    </a:xfrm>
                    <a:prstGeom prst="rect">
                      <a:avLst/>
                    </a:prstGeom>
                  </am3d:spPr>
                  <am3d:camera>
                    <am3d:pos x="0" y="0" z="656366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6523" d="1000000"/>
                    <am3d:preTrans dx="0" dy="-14800077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8210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Green checkmark">
                <a:extLst>
                  <a:ext uri="{FF2B5EF4-FFF2-40B4-BE49-F238E27FC236}">
                    <a16:creationId xmlns:a16="http://schemas.microsoft.com/office/drawing/2014/main" id="{DF3799B7-9B41-8ED5-07EB-7FC9465EA3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0813" y="3582664"/>
                <a:ext cx="1406533" cy="1329447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A2DC263-C75F-D46F-1F6D-469F14FE5500}"/>
              </a:ext>
            </a:extLst>
          </p:cNvPr>
          <p:cNvSpPr txBox="1"/>
          <p:nvPr/>
        </p:nvSpPr>
        <p:spPr>
          <a:xfrm>
            <a:off x="3419856" y="1135380"/>
            <a:ext cx="5358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Prediction using tabular data (linear regression + tree-models /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C568D-3655-734B-156B-0342AD43BFEC}"/>
              </a:ext>
            </a:extLst>
          </p:cNvPr>
          <p:cNvSpPr txBox="1"/>
          <p:nvPr/>
        </p:nvSpPr>
        <p:spPr>
          <a:xfrm>
            <a:off x="3419856" y="2346127"/>
            <a:ext cx="5358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Reinforcement learning for dynamic decision-making (bandits, Q-learning)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C85D-68AA-696F-63BC-99C09423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F228150D-B12E-3C1A-6F18-4C0C8B90DCA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4B4EEFC-02DD-B814-FFA6-DB2A02F0BF3E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Preview</a:t>
            </a:r>
            <a:endParaRPr lang="en-US" sz="2800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E9CC4562-976C-4AD4-7AD5-BD1916DCC3A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le2">
            <a:extLst>
              <a:ext uri="{FF2B5EF4-FFF2-40B4-BE49-F238E27FC236}">
                <a16:creationId xmlns:a16="http://schemas.microsoft.com/office/drawing/2014/main" id="{1695F5D9-5939-EC1B-D491-123C3EBFFDE9}"/>
              </a:ext>
            </a:extLst>
          </p:cNvPr>
          <p:cNvSpPr/>
          <p:nvPr/>
        </p:nvSpPr>
        <p:spPr>
          <a:xfrm>
            <a:off x="457200" y="1186180"/>
            <a:ext cx="2560320" cy="3657600"/>
          </a:xfrm>
          <a:prstGeom prst="roundRect">
            <a:avLst>
              <a:gd name="adj" fmla="val 3000"/>
            </a:avLst>
          </a:prstGeom>
          <a:solidFill>
            <a:srgbClr val="005587"/>
          </a:solidFill>
          <a:ln w="0">
            <a:noFill/>
          </a:ln>
        </p:spPr>
        <p:txBody>
          <a:bodyPr wrap="square" lIns="182880" tIns="274320" rIns="182880" bIns="182880" anchor="t"/>
          <a:lstStyle/>
          <a:p>
            <a:pPr algn="l"/>
            <a:r>
              <a:rPr lang="en-US" sz="1200" dirty="0">
                <a:solidFill>
                  <a:srgbClr val="8FBFDF"/>
                </a:solidFill>
                <a:latin typeface="Whitney Bold" pitchFamily="34" charset="0"/>
              </a:rPr>
              <a:t>WEEKS 4–7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Deep</a:t>
            </a:r>
          </a:p>
          <a:p>
            <a:pPr algn="l"/>
            <a:r>
              <a:rPr lang="en-US" sz="2800" b="1" dirty="0">
                <a:solidFill>
                  <a:srgbClr val="FFFFFF"/>
                </a:solidFill>
                <a:latin typeface="Whitney Bold" pitchFamily="34" charset="0"/>
              </a:rPr>
              <a:t>Learning</a:t>
            </a:r>
          </a:p>
          <a:p>
            <a:pPr algn="l">
              <a:spcBef>
                <a:spcPts val="1200"/>
              </a:spcBef>
            </a:pPr>
            <a:r>
              <a:rPr lang="en-US" sz="16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Whitney Bold" pitchFamily="34" charset="0"/>
              </a:rPr>
              <a:t>Goal:</a:t>
            </a:r>
            <a:r>
              <a:rPr lang="en-US" sz="1600" i="1" dirty="0">
                <a:solidFill>
                  <a:srgbClr val="A0C4E0"/>
                </a:solidFill>
                <a:latin typeface="Whitney Bold" pitchFamily="34" charset="0"/>
              </a:rPr>
              <a:t> Build intuition on how complex AI models are created and how they extract “meaning” from numeric, text, and image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75C44B-B59A-7C29-E20B-9708610377F2}"/>
              </a:ext>
            </a:extLst>
          </p:cNvPr>
          <p:cNvSpPr/>
          <p:nvPr/>
        </p:nvSpPr>
        <p:spPr>
          <a:xfrm>
            <a:off x="457200" y="1186180"/>
            <a:ext cx="2560320" cy="36576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5024-B888-85C5-A433-63AE1F9B7D51}"/>
              </a:ext>
            </a:extLst>
          </p:cNvPr>
          <p:cNvSpPr txBox="1"/>
          <p:nvPr/>
        </p:nvSpPr>
        <p:spPr>
          <a:xfrm>
            <a:off x="3666068" y="1663214"/>
            <a:ext cx="45838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deep learning 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neural networks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foundation of all modern AI</a:t>
            </a:r>
          </a:p>
        </p:txBody>
      </p:sp>
    </p:spTree>
    <p:extLst>
      <p:ext uri="{BB962C8B-B14F-4D97-AF65-F5344CB8AC3E}">
        <p14:creationId xmlns:p14="http://schemas.microsoft.com/office/powerpoint/2010/main" val="243995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Brief History of Neural Networks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F6073-8C4F-A3ED-B4D6-3049CF82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13B6DA-AAC2-DF0F-B269-4B6528418BA0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81EC81-5A65-1EFD-1465-7381C174763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Rosenblatt’s Perceptron (1958)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45C3F1-394F-72D6-7EAB-91CE7008EDF2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28" name="Picture 4" descr="Vintage AI hype: NYTimes on the perceptron (1958)">
            <a:extLst>
              <a:ext uri="{FF2B5EF4-FFF2-40B4-BE49-F238E27FC236}">
                <a16:creationId xmlns:a16="http://schemas.microsoft.com/office/drawing/2014/main" id="{C97104F4-A27F-9E89-CBB6-D3D283EDB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7" r="14209"/>
          <a:stretch>
            <a:fillRect/>
          </a:stretch>
        </p:blipFill>
        <p:spPr bwMode="auto">
          <a:xfrm>
            <a:off x="213675" y="1203358"/>
            <a:ext cx="3049395" cy="360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fessor's perceptron paved the way for AI – 60 years too soon | Cornell  Chronicle">
            <a:extLst>
              <a:ext uri="{FF2B5EF4-FFF2-40B4-BE49-F238E27FC236}">
                <a16:creationId xmlns:a16="http://schemas.microsoft.com/office/drawing/2014/main" id="{89EBB5AB-C3CB-5B8A-D666-6964F5D7E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047" y="1619289"/>
            <a:ext cx="2763603" cy="15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erceptron diagram">
            <a:extLst>
              <a:ext uri="{FF2B5EF4-FFF2-40B4-BE49-F238E27FC236}">
                <a16:creationId xmlns:a16="http://schemas.microsoft.com/office/drawing/2014/main" id="{2F110AD8-7A69-2C3D-4AE3-AA0B4FA33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047" y="3244501"/>
            <a:ext cx="2715017" cy="161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FDF9F8-560B-1A32-4FF8-997E9149B45C}"/>
              </a:ext>
            </a:extLst>
          </p:cNvPr>
          <p:cNvSpPr txBox="1"/>
          <p:nvPr/>
        </p:nvSpPr>
        <p:spPr>
          <a:xfrm>
            <a:off x="3263070" y="1037141"/>
            <a:ext cx="304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Frank Rosenblatt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“connectionist”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school of thought on AI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8D7B26-5A52-5784-0DCD-085B83731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464" y="1037141"/>
            <a:ext cx="2617861" cy="328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0B03B3-E712-5C1F-8C01-D20A51341594}"/>
              </a:ext>
            </a:extLst>
          </p:cNvPr>
          <p:cNvSpPr txBox="1"/>
          <p:nvPr/>
        </p:nvSpPr>
        <p:spPr>
          <a:xfrm>
            <a:off x="6907162" y="4423623"/>
            <a:ext cx="1637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Marvin Minsky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“symbolic”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477363-C8A4-5FBC-FB57-A6937531E068}"/>
              </a:ext>
            </a:extLst>
          </p:cNvPr>
          <p:cNvSpPr txBox="1"/>
          <p:nvPr/>
        </p:nvSpPr>
        <p:spPr>
          <a:xfrm>
            <a:off x="863151" y="4861354"/>
            <a:ext cx="2617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New York Times, 1958</a:t>
            </a:r>
          </a:p>
        </p:txBody>
      </p:sp>
    </p:spTree>
    <p:extLst>
      <p:ext uri="{BB962C8B-B14F-4D97-AF65-F5344CB8AC3E}">
        <p14:creationId xmlns:p14="http://schemas.microsoft.com/office/powerpoint/2010/main" val="12973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1667-5971-FA96-BD4C-A97F8AA5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3036FC-ECF8-A65C-BFB7-85A2EC485A4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8DAF00-5701-14C9-CD26-659A91BBAE4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First AI Winter (1970s)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1FA59C-71AB-806E-0A11-7B6E48B58D8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6323399" cy="33928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400" dirty="0"/>
              <a:t>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dirty="0">
                <a:solidFill>
                  <a:srgbClr val="005587"/>
                </a:solidFill>
                <a:latin typeface="Arial"/>
              </a:rPr>
              <a:t>1969</a:t>
            </a:r>
            <a:r>
              <a:rPr lang="en-US" sz="1400" b="1" dirty="0">
                <a:solidFill>
                  <a:srgbClr val="005587"/>
                </a:solidFill>
                <a:latin typeface="Arial"/>
              </a:rPr>
              <a:t>:</a:t>
            </a:r>
            <a:r>
              <a:rPr sz="1400" b="1" dirty="0">
                <a:solidFill>
                  <a:srgbClr val="005587"/>
                </a:solidFill>
                <a:latin typeface="Arial"/>
              </a:rPr>
              <a:t> </a:t>
            </a:r>
            <a:r>
              <a:rPr lang="en-US" sz="1400" dirty="0">
                <a:latin typeface="Arial"/>
              </a:rPr>
              <a:t>Marvin Minsky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writes a book (“</a:t>
            </a:r>
            <a:r>
              <a:rPr lang="en-US" sz="1400" b="0" dirty="0" err="1">
                <a:solidFill>
                  <a:srgbClr val="000000"/>
                </a:solidFill>
                <a:latin typeface="Arial"/>
              </a:rPr>
              <a:t>Perceptrons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”) that theoretically shows Rosenblatt’s single layer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perceptron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 fails at certain basic classification tasks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. Technically correct, but casts a shadow over all neural net research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400" dirty="0"/>
              <a:t> 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b="1" dirty="0">
                <a:solidFill>
                  <a:srgbClr val="005587"/>
                </a:solidFill>
                <a:latin typeface="Arial"/>
              </a:rPr>
              <a:t>1969: </a:t>
            </a:r>
            <a:r>
              <a:rPr lang="en-US" sz="1400" dirty="0">
                <a:latin typeface="Arial"/>
              </a:rPr>
              <a:t>Concurrently, Congress removes DARPA’s ability to fund basic scientific research, including AI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sz="1400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endParaRPr sz="1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A3F6EF-6A63-D1E4-A7DE-3080DF6B7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099" y="999100"/>
            <a:ext cx="1309813" cy="197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9176E3-F82C-D280-8077-85DFEA2CB4DE}"/>
              </a:ext>
            </a:extLst>
          </p:cNvPr>
          <p:cNvSpPr txBox="1"/>
          <p:nvPr/>
        </p:nvSpPr>
        <p:spPr>
          <a:xfrm>
            <a:off x="346364" y="4247388"/>
            <a:ext cx="8431876" cy="36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endParaRPr lang="en-US" sz="1600" dirty="0"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B1B57-AE15-623B-0A0C-793B2455CCEB}"/>
              </a:ext>
            </a:extLst>
          </p:cNvPr>
          <p:cNvSpPr txBox="1"/>
          <p:nvPr/>
        </p:nvSpPr>
        <p:spPr>
          <a:xfrm>
            <a:off x="356062" y="3077285"/>
            <a:ext cx="8441574" cy="1878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5587"/>
                </a:solidFill>
                <a:latin typeface="Arial"/>
              </a:rPr>
              <a:t>1971: </a:t>
            </a:r>
            <a:r>
              <a:rPr lang="en-US" sz="1400" dirty="0">
                <a:latin typeface="Arial"/>
              </a:rPr>
              <a:t>Rosenblatt dies at age 43, connectionism loses most vocal advocate </a:t>
            </a:r>
          </a:p>
          <a:p>
            <a:pPr>
              <a:lnSpc>
                <a:spcPct val="120000"/>
              </a:lnSpc>
            </a:pP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5587"/>
                </a:solidFill>
                <a:latin typeface="Arial"/>
              </a:rPr>
              <a:t>1971-1980s: </a:t>
            </a:r>
            <a:r>
              <a:rPr lang="en-US" sz="1400" dirty="0">
                <a:latin typeface="Arial"/>
              </a:rPr>
              <a:t>Neural network research goes out of fashion. Focus shifts to symbolic AI instead (“If-then”) </a:t>
            </a:r>
            <a:r>
              <a:rPr lang="en-US" sz="1400" dirty="0">
                <a:latin typeface="Arial"/>
                <a:sym typeface="Wingdings" pitchFamily="2" charset="2"/>
              </a:rPr>
              <a:t> </a:t>
            </a:r>
            <a:r>
              <a:rPr lang="en-US" sz="1400" dirty="0">
                <a:latin typeface="Arial"/>
              </a:rPr>
              <a:t>Minsky’s preferred school of thought</a:t>
            </a:r>
          </a:p>
          <a:p>
            <a:pPr>
              <a:lnSpc>
                <a:spcPct val="120000"/>
              </a:lnSpc>
            </a:pP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Arial"/>
              </a:rPr>
              <a:t>Neural networks remain academically interesting, but lacked an algorithm to train them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sz="14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89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71FB1-076D-BB1F-9299-59B264C2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D489EB-B3E7-1D4E-3F94-72D058844EC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357E4E-5BEC-AEC0-07A3-0CED0DE3BC74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Backpropagation (1986)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809AE6-D4E9-92AF-4043-A58CEC1C5955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ABE2A-31A7-38AF-60EF-111576AD42B3}"/>
              </a:ext>
            </a:extLst>
          </p:cNvPr>
          <p:cNvSpPr txBox="1"/>
          <p:nvPr/>
        </p:nvSpPr>
        <p:spPr>
          <a:xfrm>
            <a:off x="459255" y="826150"/>
            <a:ext cx="6702057" cy="29783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400" dirty="0"/>
              <a:t>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400" b="1" dirty="0">
                <a:solidFill>
                  <a:srgbClr val="005587"/>
                </a:solidFill>
                <a:latin typeface="Arial"/>
              </a:rPr>
              <a:t>1980s: </a:t>
            </a:r>
            <a:r>
              <a:rPr lang="en-US" sz="1400" dirty="0">
                <a:latin typeface="Arial"/>
              </a:rPr>
              <a:t>AI funding boom based on symbolic methods and specialized symbolic AI hardware</a:t>
            </a:r>
            <a:endParaRPr lang="en-US" sz="1400" b="1" dirty="0">
              <a:solidFill>
                <a:srgbClr val="005587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dirty="0">
                <a:solidFill>
                  <a:srgbClr val="005587"/>
                </a:solidFill>
                <a:latin typeface="Arial"/>
              </a:rPr>
              <a:t>19</a:t>
            </a:r>
            <a:r>
              <a:rPr lang="en-US" sz="1400" b="1" dirty="0">
                <a:solidFill>
                  <a:srgbClr val="005587"/>
                </a:solidFill>
                <a:latin typeface="Arial"/>
              </a:rPr>
              <a:t>86</a:t>
            </a:r>
            <a:r>
              <a:rPr lang="en-US" sz="1400" b="1" dirty="0">
                <a:latin typeface="Arial"/>
              </a:rPr>
              <a:t>: </a:t>
            </a:r>
            <a:r>
              <a:rPr lang="en-US" sz="1400" dirty="0">
                <a:solidFill>
                  <a:schemeClr val="accent2"/>
                </a:solidFill>
                <a:latin typeface="Arial"/>
              </a:rPr>
              <a:t>Breakthrough</a:t>
            </a:r>
            <a:r>
              <a:rPr lang="en-US" sz="1400" dirty="0">
                <a:latin typeface="Arial"/>
              </a:rPr>
              <a:t>: Geoffrey Hinton and co-authors propose an algorithm for training multi-layer neural networks called “backpropagation”, still used now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sz="1400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endParaRPr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CF784-7D8C-FDD7-524E-6DBCF52CBC6C}"/>
              </a:ext>
            </a:extLst>
          </p:cNvPr>
          <p:cNvSpPr txBox="1"/>
          <p:nvPr/>
        </p:nvSpPr>
        <p:spPr>
          <a:xfrm>
            <a:off x="346364" y="4247388"/>
            <a:ext cx="8431876" cy="36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endParaRPr lang="en-US" sz="1600" dirty="0"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70C109-C90D-C6EC-528D-0F56B2520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74" y="2675601"/>
            <a:ext cx="1289354" cy="16417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6FBAF2-0738-F800-4D91-83CA8914C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758" y="2675601"/>
            <a:ext cx="1289354" cy="16417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8C7B0D-D540-A579-5FE4-BF8420048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442" y="2675601"/>
            <a:ext cx="1289354" cy="16417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F7148E-A901-4037-4476-1F6C10C9D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126" y="2675601"/>
            <a:ext cx="1289354" cy="1641749"/>
          </a:xfrm>
          <a:prstGeom prst="rect">
            <a:avLst/>
          </a:prstGeom>
        </p:spPr>
      </p:pic>
      <p:pic>
        <p:nvPicPr>
          <p:cNvPr id="3078" name="Picture 6" descr="Godfather of AI who Opposes Autonomous Weapons Wins Nobel Prize in Physics  - Mines Action Canada">
            <a:extLst>
              <a:ext uri="{FF2B5EF4-FFF2-40B4-BE49-F238E27FC236}">
                <a16:creationId xmlns:a16="http://schemas.microsoft.com/office/drawing/2014/main" id="{1443DFE7-4446-C552-010A-C60A911D5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3" y="975227"/>
            <a:ext cx="1596523" cy="159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Backpropagation">
            <a:extLst>
              <a:ext uri="{FF2B5EF4-FFF2-40B4-BE49-F238E27FC236}">
                <a16:creationId xmlns:a16="http://schemas.microsoft.com/office/drawing/2014/main" id="{E25AE2B0-A964-78D9-73BE-64D611C8C3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1" r="18910"/>
          <a:stretch>
            <a:fillRect/>
          </a:stretch>
        </p:blipFill>
        <p:spPr bwMode="auto">
          <a:xfrm>
            <a:off x="6841514" y="2994047"/>
            <a:ext cx="2154453" cy="191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ight Brace 19">
            <a:extLst>
              <a:ext uri="{FF2B5EF4-FFF2-40B4-BE49-F238E27FC236}">
                <a16:creationId xmlns:a16="http://schemas.microsoft.com/office/drawing/2014/main" id="{75CF6355-EC62-DB43-5EA6-2B4FDA686700}"/>
              </a:ext>
            </a:extLst>
          </p:cNvPr>
          <p:cNvSpPr/>
          <p:nvPr/>
        </p:nvSpPr>
        <p:spPr>
          <a:xfrm rot="16200000">
            <a:off x="3449044" y="-434863"/>
            <a:ext cx="145224" cy="61749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C9EB8D-F73F-A8C5-3DF4-4E1591CE2906}"/>
              </a:ext>
            </a:extLst>
          </p:cNvPr>
          <p:cNvSpPr txBox="1"/>
          <p:nvPr/>
        </p:nvSpPr>
        <p:spPr>
          <a:xfrm>
            <a:off x="2971229" y="2398692"/>
            <a:ext cx="12262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the whole paper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049114-CCE5-8BF3-CEEA-6E9F752330C5}"/>
              </a:ext>
            </a:extLst>
          </p:cNvPr>
          <p:cNvSpPr txBox="1"/>
          <p:nvPr/>
        </p:nvSpPr>
        <p:spPr>
          <a:xfrm>
            <a:off x="395460" y="4465572"/>
            <a:ext cx="61770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/>
              </a:rPr>
              <a:t>Backprop made training NNs possible, but compute / data were still lacking, backprop unstable for larger networks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2665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34F9F-80A4-0198-92D7-065DF804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0CD2C3-0A51-1758-8C24-D446EAC49CF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39BAB3-A454-2460-F428-E4FB1D003242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Second AI Winter (1987 – 2000s)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4AE36C-2317-685C-5AB8-A47913971AAF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13347-5263-6BD2-94BB-11E98DA6BEA5}"/>
              </a:ext>
            </a:extLst>
          </p:cNvPr>
          <p:cNvSpPr txBox="1"/>
          <p:nvPr/>
        </p:nvSpPr>
        <p:spPr>
          <a:xfrm>
            <a:off x="484632" y="811141"/>
            <a:ext cx="8266176" cy="39591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400" dirty="0"/>
              <a:t>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400" b="1" dirty="0">
                <a:solidFill>
                  <a:srgbClr val="005587"/>
                </a:solidFill>
                <a:latin typeface="Arial"/>
              </a:rPr>
              <a:t>1987: </a:t>
            </a:r>
            <a:r>
              <a:rPr lang="en-US" sz="1400" dirty="0">
                <a:latin typeface="Arial"/>
              </a:rPr>
              <a:t>Personal computers emerge (Apple/IBM), funding for symbolic AI and associated specialized hardware crashes</a:t>
            </a:r>
            <a:br>
              <a:rPr lang="en-US" sz="1400" dirty="0">
                <a:latin typeface="Arial"/>
              </a:rPr>
            </a:br>
            <a:endParaRPr lang="en-US" sz="1400" b="1" dirty="0">
              <a:solidFill>
                <a:srgbClr val="005587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400" b="1" dirty="0">
                <a:solidFill>
                  <a:srgbClr val="005587"/>
                </a:solidFill>
                <a:latin typeface="Arial"/>
              </a:rPr>
              <a:t>1990s: </a:t>
            </a:r>
            <a:r>
              <a:rPr lang="en-US" sz="1400" dirty="0">
                <a:latin typeface="Arial"/>
              </a:rPr>
              <a:t>AI hype dies down, internet takes off (generating the data eventually used by LLMs)</a:t>
            </a:r>
            <a:br>
              <a:rPr lang="en-US" sz="1400" dirty="0">
                <a:latin typeface="Arial"/>
              </a:rPr>
            </a:b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400" b="1" dirty="0">
                <a:solidFill>
                  <a:srgbClr val="005587"/>
                </a:solidFill>
                <a:latin typeface="Arial"/>
              </a:rPr>
              <a:t>2000s: </a:t>
            </a:r>
            <a:r>
              <a:rPr lang="en-US" sz="1400" dirty="0">
                <a:latin typeface="Arial"/>
              </a:rPr>
              <a:t>Focus shifts to classical machine learning (random forests and support vector machines). Neural networks and “artificial intelligence” is toxic for research funding.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400" dirty="0">
                <a:latin typeface="Arial"/>
              </a:rPr>
              <a:t>The Big 3 -- Hinton, Bengio and </a:t>
            </a:r>
            <a:r>
              <a:rPr lang="en-US" sz="1400" dirty="0" err="1">
                <a:latin typeface="Arial"/>
              </a:rPr>
              <a:t>LeCunn</a:t>
            </a:r>
            <a:r>
              <a:rPr lang="en-US" sz="1400" dirty="0">
                <a:latin typeface="Arial"/>
              </a:rPr>
              <a:t> -- quietly push NNs for 20 years despite unpopularity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lang="en-US" sz="1400" dirty="0"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sz="1400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endParaRPr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4A2C5-2522-5271-4BC8-FA921F69A724}"/>
              </a:ext>
            </a:extLst>
          </p:cNvPr>
          <p:cNvSpPr txBox="1"/>
          <p:nvPr/>
        </p:nvSpPr>
        <p:spPr>
          <a:xfrm>
            <a:off x="346364" y="4247388"/>
            <a:ext cx="8431876" cy="36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endParaRPr lang="en-US" sz="1600" dirty="0">
              <a:latin typeface="Arial"/>
            </a:endParaRPr>
          </a:p>
        </p:txBody>
      </p:sp>
      <p:pic>
        <p:nvPicPr>
          <p:cNvPr id="5122" name="Picture 2" descr="2018 Turing Award">
            <a:extLst>
              <a:ext uri="{FF2B5EF4-FFF2-40B4-BE49-F238E27FC236}">
                <a16:creationId xmlns:a16="http://schemas.microsoft.com/office/drawing/2014/main" id="{971E4E06-EA92-956D-73D8-5BA9D8905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349" y="3551602"/>
            <a:ext cx="2472617" cy="1391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57D88D-382E-6FAB-12B2-1AD79729EAC4}"/>
              </a:ext>
            </a:extLst>
          </p:cNvPr>
          <p:cNvSpPr txBox="1"/>
          <p:nvPr/>
        </p:nvSpPr>
        <p:spPr>
          <a:xfrm>
            <a:off x="863527" y="3973570"/>
            <a:ext cx="5535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Hinton: </a:t>
            </a:r>
            <a:r>
              <a:rPr lang="en-US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“They basically refused to allow people to publish neural network stuff in their journals.”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4" name="Picture 4" descr="Flag of Canada - Wikipedia">
            <a:extLst>
              <a:ext uri="{FF2B5EF4-FFF2-40B4-BE49-F238E27FC236}">
                <a16:creationId xmlns:a16="http://schemas.microsoft.com/office/drawing/2014/main" id="{6F92F0B4-8C98-7C42-ECF1-318159D0B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163" y="4954988"/>
            <a:ext cx="280262" cy="1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Flag of Canada - Wikipedia">
            <a:extLst>
              <a:ext uri="{FF2B5EF4-FFF2-40B4-BE49-F238E27FC236}">
                <a16:creationId xmlns:a16="http://schemas.microsoft.com/office/drawing/2014/main" id="{08CC7FB7-C7FC-8E17-355A-8E430FC9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821" y="4955382"/>
            <a:ext cx="280262" cy="1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30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1667-5971-FA96-BD4C-A97F8AA5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3036FC-ECF8-A65C-BFB7-85A2EC485A4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8DAF00-5701-14C9-CD26-659A91BBAE4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Deep Learning Revolution (2012-present)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1FA59C-71AB-806E-0A11-7B6E48B58D8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6061" y="1051560"/>
            <a:ext cx="6558831" cy="40241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2006: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Fei-Fei Li (Stanford) assembles 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ImageNet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now a repository of 14 million labeled images for neural network training. Creates a common research benchmark for evaluating deep learning models and algorithms, brings the idea of massive data to NNs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2012: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Alex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Krizhevsky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and Ilya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Sutskever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--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two of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Hinton’s PhD students at U of Toronto -- build </a:t>
            </a:r>
            <a:r>
              <a:rPr lang="en-US" sz="13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which shatters the errors record on ImageNet (26% to 16%).</a:t>
            </a:r>
            <a:r>
              <a:rPr lang="en-US" sz="13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Neural nets dominate vision, speech, and language. Everyone is now </a:t>
            </a:r>
            <a:r>
              <a:rPr lang="en-US" sz="13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obsessed</a:t>
            </a:r>
            <a:r>
              <a:rPr lang="en-US" sz="13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neural networks.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“Attention Is All You Need” paper by Google proposes transformers, a specific NN architecture, which gives birth to LLMs.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</a:t>
            </a:r>
            <a:r>
              <a:rPr lang="en-US" sz="1300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Turing Award. </a:t>
            </a:r>
            <a:r>
              <a:rPr sz="1300" b="0" dirty="0">
                <a:latin typeface="Arial" panose="020B0604020202020204" pitchFamily="34" charset="0"/>
                <a:cs typeface="Arial" panose="020B0604020202020204" pitchFamily="34" charset="0"/>
              </a:rPr>
              <a:t>Hinton, LeCun, Bengio share computing’s highest honor for work the field ignored for </a:t>
            </a:r>
            <a:r>
              <a:rPr lang="en-US" sz="1300" b="0" dirty="0">
                <a:latin typeface="Arial" panose="020B0604020202020204" pitchFamily="34" charset="0"/>
                <a:cs typeface="Arial" panose="020B0604020202020204" pitchFamily="34" charset="0"/>
              </a:rPr>
              <a:t>decades</a:t>
            </a:r>
            <a:r>
              <a:rPr sz="1300" b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OpenAI releases ChatGPT.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146" name="Picture 2" descr="ImageNet: A Pioneering Vision for Computers - History of Data Science">
            <a:extLst>
              <a:ext uri="{FF2B5EF4-FFF2-40B4-BE49-F238E27FC236}">
                <a16:creationId xmlns:a16="http://schemas.microsoft.com/office/drawing/2014/main" id="{B5D444B6-FDC1-993E-C304-407A7527A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578" y="1051560"/>
            <a:ext cx="1569662" cy="156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ll you need to know about 'Attention' and 'Transformers' — In-depth  Understanding — Part 2 | by Learn AI | Medium">
            <a:extLst>
              <a:ext uri="{FF2B5EF4-FFF2-40B4-BE49-F238E27FC236}">
                <a16:creationId xmlns:a16="http://schemas.microsoft.com/office/drawing/2014/main" id="{023FCCD5-43A7-041F-A5A9-2CC80E6DC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578" y="2722259"/>
            <a:ext cx="1538245" cy="208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9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04216-1FFA-4D0C-F4F4-25F5E44B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323F93-83E5-8E26-8D74-EAEE5E02759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A glimpse of the next generation of AlphaFold — Google DeepMind">
            <a:extLst>
              <a:ext uri="{FF2B5EF4-FFF2-40B4-BE49-F238E27FC236}">
                <a16:creationId xmlns:a16="http://schemas.microsoft.com/office/drawing/2014/main" id="{37E53110-04F2-F0CD-6132-2CEF60C66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24" y="2001396"/>
            <a:ext cx="4352912" cy="244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close up of a text  AI-generated content may be incorrect.">
            <a:extLst>
              <a:ext uri="{FF2B5EF4-FFF2-40B4-BE49-F238E27FC236}">
                <a16:creationId xmlns:a16="http://schemas.microsoft.com/office/drawing/2014/main" id="{10C36D27-DC2E-91C8-BD61-2339C6D43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4" y="525085"/>
            <a:ext cx="4069952" cy="1095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ACA2DB-9187-5C25-E891-938B198A166C}"/>
              </a:ext>
            </a:extLst>
          </p:cNvPr>
          <p:cNvSpPr txBox="1"/>
          <p:nvPr/>
        </p:nvSpPr>
        <p:spPr>
          <a:xfrm>
            <a:off x="4693776" y="1491535"/>
            <a:ext cx="4206240" cy="30204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P</a:t>
            </a:r>
            <a:r>
              <a:rPr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roblem</a:t>
            </a:r>
            <a:r>
              <a:rPr lang="en-US"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 a protein’s 3D structure from its amino acid sequence</a:t>
            </a:r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long-standing challenge in biology.</a:t>
            </a:r>
            <a:endParaRPr sz="12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AlphaFold 2 (2020)</a:t>
            </a:r>
            <a:r>
              <a:rPr lang="en-US"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DeepMind’s neural network cracks the problem, predicting structures with near-experimental accuracy.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US"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Accelerating drug discovery, enzyme design, disease research. </a:t>
            </a:r>
            <a:endParaRPr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Recognition. </a:t>
            </a:r>
            <a:r>
              <a:rPr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Hassabis and Jumper share the 2024 Nobel Prize in Chemistry</a:t>
            </a:r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first Nobel awarded for a deep learning system.</a:t>
            </a:r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Same year as Hinton and Hopfield Nobel Prize in Physics for deep learning.</a:t>
            </a:r>
            <a:endParaRPr sz="12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748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Today’s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321040" cy="4052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  <a:latin typeface="Arial"/>
              </a:rPr>
              <a:t>We will cover the fundamentals of neural networks and how to train them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</a:rPr>
              <a:t>Everything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today’s class is about how modern AI is built (e.g., ChatGPT, Claude)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dirty="0">
                <a:solidFill>
                  <a:srgbClr val="000000"/>
                </a:solidFill>
                <a:latin typeface="Arial"/>
              </a:rPr>
              <a:t>Most advanced math in deep learning: addition, multiplication, exponents, and slope of a curve (“derivative”)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dirty="0">
                <a:solidFill>
                  <a:srgbClr val="000000"/>
                </a:solidFill>
                <a:latin typeface="Arial"/>
              </a:rPr>
              <a:t>Understanding how neural networks 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work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will help shed light on questions like: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sz="1600" dirty="0">
                <a:solidFill>
                  <a:srgbClr val="000000"/>
                </a:solidFill>
                <a:latin typeface="Arial"/>
              </a:rPr>
              <a:t>	- Why does training frontier AI models cost hundreds of millions of dollars?</a:t>
            </a:r>
            <a:br>
              <a:rPr lang="en-US" sz="1600" dirty="0">
                <a:solidFill>
                  <a:srgbClr val="000000"/>
                </a:solidFill>
                <a:latin typeface="Arial"/>
              </a:rPr>
            </a:br>
            <a:r>
              <a:rPr lang="en-US" sz="1600" dirty="0">
                <a:solidFill>
                  <a:srgbClr val="000000"/>
                </a:solidFill>
                <a:latin typeface="Arial"/>
              </a:rPr>
              <a:t>	- Why is Amazon building enormous data centers?</a:t>
            </a:r>
            <a:br>
              <a:rPr lang="en-US" sz="1600" dirty="0">
                <a:solidFill>
                  <a:srgbClr val="000000"/>
                </a:solidFill>
                <a:latin typeface="Arial"/>
              </a:rPr>
            </a:br>
            <a:r>
              <a:rPr lang="en-US" sz="1600" dirty="0">
                <a:solidFill>
                  <a:srgbClr val="000000"/>
                </a:solidFill>
                <a:latin typeface="Arial"/>
              </a:rPr>
              <a:t>	- Why is NVIDIA worth 4.8T?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dirty="0">
                <a:solidFill>
                  <a:srgbClr val="000000"/>
                </a:solidFill>
                <a:latin typeface="Arial"/>
              </a:rPr>
              <a:t>	</a:t>
            </a:r>
            <a:endParaRPr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1667-5971-FA96-BD4C-A97F8AA5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3036FC-ECF8-A65C-BFB7-85A2EC485A4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8DAF00-5701-14C9-CD26-659A91BBAE4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Neural Networks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1FA59C-71AB-806E-0A11-7B6E48B58D8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321040" cy="3314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Regression and trees 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well on tabular data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hand-picked features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(e.g., month, color, product category)</a:t>
            </a:r>
            <a:endParaRPr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mages,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audio, 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 as obvious how to represent numerically</a:t>
            </a:r>
            <a:endParaRPr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approach: 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hand-engineered features (word counts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sentence length, etc.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doesn’t this work well?</a:t>
            </a:r>
            <a:endParaRPr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networks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the model </a:t>
            </a:r>
            <a:r>
              <a:rPr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its own features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(“representations”)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data</a:t>
            </a:r>
            <a:endPara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93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B156D-0021-328C-3B11-61BAF982B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24218E-EBE2-C562-FFE9-C860E60D10CA}"/>
              </a:ext>
            </a:extLst>
          </p:cNvPr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Deep Learning Fundamentals: 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Artificial Neuron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77182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 Simple Example: Customer Churn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predict which users will cancel their music streaming subscription?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4949AD-EBFE-D69D-067D-6A7E868F41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8374" r="5543" b="14879"/>
          <a:stretch>
            <a:fillRect/>
          </a:stretch>
        </p:blipFill>
        <p:spPr>
          <a:xfrm>
            <a:off x="1802385" y="2170428"/>
            <a:ext cx="4767668" cy="15328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5FFA9C50-066E-C009-7B57-D2171FB30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552262"/>
              </p:ext>
            </p:extLst>
          </p:nvPr>
        </p:nvGraphicFramePr>
        <p:xfrm>
          <a:off x="1228672" y="1877167"/>
          <a:ext cx="640080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Month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Active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 (Keep?)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B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C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0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E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0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D975F-20DD-BCB4-B14F-E0F04EA4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A4F807-5588-9D0D-5C9C-3AC2F5818795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3939D1-5ACC-4365-0D8E-8506D444CBC1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Artificial Neuron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4E933A-173B-8CDD-F407-F7741B6B0EA0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7B8A1A-CDB4-4D52-23D4-AE078E73E0AC}"/>
              </a:ext>
            </a:extLst>
          </p:cNvPr>
          <p:cNvSpPr/>
          <p:nvPr/>
        </p:nvSpPr>
        <p:spPr>
          <a:xfrm>
            <a:off x="2512186" y="3362044"/>
            <a:ext cx="1057013" cy="10150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E1D20B-89EC-40E3-7882-EBC6A5FAB086}"/>
              </a:ext>
            </a:extLst>
          </p:cNvPr>
          <p:cNvCxnSpPr>
            <a:cxnSpLocks/>
          </p:cNvCxnSpPr>
          <p:nvPr/>
        </p:nvCxnSpPr>
        <p:spPr>
          <a:xfrm>
            <a:off x="1752472" y="3293021"/>
            <a:ext cx="708883" cy="411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3086F3-7C21-9A9D-3BEC-1A379D2AD35C}"/>
              </a:ext>
            </a:extLst>
          </p:cNvPr>
          <p:cNvCxnSpPr>
            <a:cxnSpLocks/>
          </p:cNvCxnSpPr>
          <p:nvPr/>
        </p:nvCxnSpPr>
        <p:spPr>
          <a:xfrm>
            <a:off x="3707477" y="3838377"/>
            <a:ext cx="8049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7F2547-837D-92E5-A84B-0E275FF1FC67}"/>
              </a:ext>
            </a:extLst>
          </p:cNvPr>
          <p:cNvCxnSpPr>
            <a:cxnSpLocks/>
          </p:cNvCxnSpPr>
          <p:nvPr/>
        </p:nvCxnSpPr>
        <p:spPr>
          <a:xfrm flipV="1">
            <a:off x="1746542" y="3929145"/>
            <a:ext cx="719393" cy="39182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DEBDF96-9FE9-7A82-3128-3D4644F25CE7}"/>
              </a:ext>
            </a:extLst>
          </p:cNvPr>
          <p:cNvCxnSpPr>
            <a:cxnSpLocks/>
          </p:cNvCxnSpPr>
          <p:nvPr/>
        </p:nvCxnSpPr>
        <p:spPr>
          <a:xfrm>
            <a:off x="3053464" y="2885239"/>
            <a:ext cx="0" cy="40182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292C9B2-0F2E-8D34-98ED-E5F1C8F68502}"/>
              </a:ext>
            </a:extLst>
          </p:cNvPr>
          <p:cNvSpPr txBox="1"/>
          <p:nvPr/>
        </p:nvSpPr>
        <p:spPr>
          <a:xfrm>
            <a:off x="739976" y="2431129"/>
            <a:ext cx="1321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Hours per month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0056B1-8A4B-1FB8-AA1D-16436782F1EF}"/>
              </a:ext>
            </a:extLst>
          </p:cNvPr>
          <p:cNvSpPr txBox="1"/>
          <p:nvPr/>
        </p:nvSpPr>
        <p:spPr>
          <a:xfrm>
            <a:off x="837399" y="3712105"/>
            <a:ext cx="1321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Active days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9B2CFB-E474-2AC3-E40A-E46D2D676686}"/>
              </a:ext>
            </a:extLst>
          </p:cNvPr>
          <p:cNvSpPr/>
          <p:nvPr/>
        </p:nvSpPr>
        <p:spPr>
          <a:xfrm>
            <a:off x="1069860" y="2715593"/>
            <a:ext cx="749900" cy="72014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FB4B959-C10C-F979-2BC1-06446303F448}"/>
              </a:ext>
            </a:extLst>
          </p:cNvPr>
          <p:cNvSpPr/>
          <p:nvPr/>
        </p:nvSpPr>
        <p:spPr>
          <a:xfrm>
            <a:off x="985223" y="4013944"/>
            <a:ext cx="749900" cy="72014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143DF6-FCE0-FED6-EC40-1A1B41E67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154" y="3418383"/>
            <a:ext cx="3785806" cy="6747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B3B990-8E4F-9BF6-B7AA-244973C6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045" y="2598930"/>
            <a:ext cx="97378" cy="180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AF3E78-0311-0F59-D0B2-C5219B9D4E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911" y="3268180"/>
            <a:ext cx="265860" cy="1580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9E8128-3E59-5BEE-53EA-6F21AB58FB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8099" y="4302045"/>
            <a:ext cx="255595" cy="1479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08ABF6-AAD1-69E4-6FC5-1E3AB1CF1B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6452" y="3662974"/>
            <a:ext cx="710189" cy="3878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AAEDCD-7DF0-CB79-F14E-C7736498B6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24" y="1522252"/>
            <a:ext cx="4634230" cy="3004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EE9876-B8CF-74B5-F24A-EA1DE4C5AC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3488" y="1366501"/>
            <a:ext cx="2623312" cy="63123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DF01C8B-9E91-9AF7-035E-1161D6D74F81}"/>
              </a:ext>
            </a:extLst>
          </p:cNvPr>
          <p:cNvSpPr txBox="1"/>
          <p:nvPr/>
        </p:nvSpPr>
        <p:spPr>
          <a:xfrm>
            <a:off x="457200" y="950643"/>
            <a:ext cx="643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model the probability of user keeping subscription as: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3BC6F7-F261-95F5-7BDE-53C586C20FAB}"/>
              </a:ext>
            </a:extLst>
          </p:cNvPr>
          <p:cNvSpPr txBox="1"/>
          <p:nvPr/>
        </p:nvSpPr>
        <p:spPr>
          <a:xfrm>
            <a:off x="489123" y="1966485"/>
            <a:ext cx="643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visually:</a:t>
            </a:r>
          </a:p>
        </p:txBody>
      </p:sp>
    </p:spTree>
    <p:extLst>
      <p:ext uri="{BB962C8B-B14F-4D97-AF65-F5344CB8AC3E}">
        <p14:creationId xmlns:p14="http://schemas.microsoft.com/office/powerpoint/2010/main" val="64246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" grpId="0"/>
      <p:bldP spid="31" grpId="0"/>
      <p:bldP spid="33" grpId="0" animBg="1"/>
      <p:bldP spid="34" grpId="0" animBg="1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2F843-AE8B-CC24-CF0E-8E3FA740E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734A1-EA98-52C8-0DF9-38A1B4CADB38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1FD095-A520-9EEE-A886-FC150FAAD823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Artificial Neuron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89A0EA-9AE9-8075-8871-62669B0A3E13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15DE9D-4BC8-7ECA-8901-004F75704231}"/>
              </a:ext>
            </a:extLst>
          </p:cNvPr>
          <p:cNvSpPr/>
          <p:nvPr/>
        </p:nvSpPr>
        <p:spPr>
          <a:xfrm>
            <a:off x="2359515" y="2260566"/>
            <a:ext cx="1057013" cy="10150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45CD7D-CEF0-461A-5F1D-BC60C825F540}"/>
              </a:ext>
            </a:extLst>
          </p:cNvPr>
          <p:cNvCxnSpPr>
            <a:cxnSpLocks/>
          </p:cNvCxnSpPr>
          <p:nvPr/>
        </p:nvCxnSpPr>
        <p:spPr>
          <a:xfrm>
            <a:off x="1599801" y="2191543"/>
            <a:ext cx="708883" cy="411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BD937C-ED0A-C601-38CD-FBAE3779DE43}"/>
              </a:ext>
            </a:extLst>
          </p:cNvPr>
          <p:cNvCxnSpPr>
            <a:cxnSpLocks/>
          </p:cNvCxnSpPr>
          <p:nvPr/>
        </p:nvCxnSpPr>
        <p:spPr>
          <a:xfrm>
            <a:off x="3554806" y="2736899"/>
            <a:ext cx="8049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0A5AF5-7E20-499C-DDCA-17CFC327FB9B}"/>
              </a:ext>
            </a:extLst>
          </p:cNvPr>
          <p:cNvCxnSpPr>
            <a:cxnSpLocks/>
          </p:cNvCxnSpPr>
          <p:nvPr/>
        </p:nvCxnSpPr>
        <p:spPr>
          <a:xfrm flipV="1">
            <a:off x="1593871" y="2827667"/>
            <a:ext cx="719393" cy="39182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3745FB-8F39-D682-3439-1F686D454D79}"/>
              </a:ext>
            </a:extLst>
          </p:cNvPr>
          <p:cNvCxnSpPr>
            <a:cxnSpLocks/>
          </p:cNvCxnSpPr>
          <p:nvPr/>
        </p:nvCxnSpPr>
        <p:spPr>
          <a:xfrm>
            <a:off x="2900793" y="1783761"/>
            <a:ext cx="0" cy="40182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A16B0EE-0B6A-A382-36BA-FE4DFBF0F0B1}"/>
              </a:ext>
            </a:extLst>
          </p:cNvPr>
          <p:cNvSpPr txBox="1"/>
          <p:nvPr/>
        </p:nvSpPr>
        <p:spPr>
          <a:xfrm>
            <a:off x="587305" y="1329651"/>
            <a:ext cx="1321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Hours per month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10F0F6-2217-090B-49E1-5FEBEC86A64C}"/>
              </a:ext>
            </a:extLst>
          </p:cNvPr>
          <p:cNvSpPr txBox="1"/>
          <p:nvPr/>
        </p:nvSpPr>
        <p:spPr>
          <a:xfrm>
            <a:off x="684728" y="2610627"/>
            <a:ext cx="1321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Active days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F38237A-D4EF-E735-C9F2-94A6DBA008D1}"/>
              </a:ext>
            </a:extLst>
          </p:cNvPr>
          <p:cNvSpPr/>
          <p:nvPr/>
        </p:nvSpPr>
        <p:spPr>
          <a:xfrm>
            <a:off x="917189" y="1614115"/>
            <a:ext cx="749900" cy="72014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BAB3062-9A8F-9EC2-C4B3-3295286C47D4}"/>
              </a:ext>
            </a:extLst>
          </p:cNvPr>
          <p:cNvSpPr/>
          <p:nvPr/>
        </p:nvSpPr>
        <p:spPr>
          <a:xfrm>
            <a:off x="832552" y="2912466"/>
            <a:ext cx="749900" cy="72014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A189EC-4AC8-B031-30D3-8E3E8255C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781" y="2561496"/>
            <a:ext cx="710189" cy="387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7EB481-41AE-2985-8F00-A67CA88A83BF}"/>
              </a:ext>
            </a:extLst>
          </p:cNvPr>
          <p:cNvSpPr txBox="1"/>
          <p:nvPr/>
        </p:nvSpPr>
        <p:spPr>
          <a:xfrm>
            <a:off x="2708763" y="1501231"/>
            <a:ext cx="400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50F698-5112-D65A-6FE8-1E18C4604202}"/>
              </a:ext>
            </a:extLst>
          </p:cNvPr>
          <p:cNvSpPr txBox="1"/>
          <p:nvPr/>
        </p:nvSpPr>
        <p:spPr>
          <a:xfrm>
            <a:off x="1889707" y="2067418"/>
            <a:ext cx="418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BF42F-548A-B70D-3A69-1E638E017CB0}"/>
              </a:ext>
            </a:extLst>
          </p:cNvPr>
          <p:cNvSpPr txBox="1"/>
          <p:nvPr/>
        </p:nvSpPr>
        <p:spPr>
          <a:xfrm>
            <a:off x="1873816" y="3121816"/>
            <a:ext cx="434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C53289-6687-2CA8-F168-35CE23453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096" y="2344417"/>
            <a:ext cx="3840051" cy="6413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86296E6-E86F-4059-A946-60E4BEE7A775}"/>
              </a:ext>
            </a:extLst>
          </p:cNvPr>
          <p:cNvSpPr txBox="1"/>
          <p:nvPr/>
        </p:nvSpPr>
        <p:spPr>
          <a:xfrm>
            <a:off x="457200" y="3921665"/>
            <a:ext cx="643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is equivalent to: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51B1D59-EF7B-2A69-0ADD-087974B9D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653" y="4205846"/>
            <a:ext cx="6246886" cy="7266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663A85D-3A33-9C95-F3A5-5184D689BE15}"/>
              </a:ext>
            </a:extLst>
          </p:cNvPr>
          <p:cNvSpPr txBox="1"/>
          <p:nvPr/>
        </p:nvSpPr>
        <p:spPr>
          <a:xfrm>
            <a:off x="457200" y="909243"/>
            <a:ext cx="643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example:</a:t>
            </a:r>
          </a:p>
        </p:txBody>
      </p:sp>
    </p:spTree>
    <p:extLst>
      <p:ext uri="{BB962C8B-B14F-4D97-AF65-F5344CB8AC3E}">
        <p14:creationId xmlns:p14="http://schemas.microsoft.com/office/powerpoint/2010/main" val="2776766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Neuron Output: Sigmoidal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E185E8-1628-3EA2-3CFF-F8311F3B33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24" r="2788"/>
          <a:stretch>
            <a:fillRect/>
          </a:stretch>
        </p:blipFill>
        <p:spPr>
          <a:xfrm>
            <a:off x="4761823" y="1140317"/>
            <a:ext cx="3825409" cy="2196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DB861E-D1CA-9F76-EAAB-573233BBE584}"/>
              </a:ext>
            </a:extLst>
          </p:cNvPr>
          <p:cNvSpPr txBox="1"/>
          <p:nvPr/>
        </p:nvSpPr>
        <p:spPr>
          <a:xfrm>
            <a:off x="457200" y="1026521"/>
            <a:ext cx="445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an example of 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activation function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F28931B-6235-6070-0DCC-8E360D84BE5A}"/>
              </a:ext>
            </a:extLst>
          </p:cNvPr>
          <p:cNvGrpSpPr/>
          <p:nvPr/>
        </p:nvGrpSpPr>
        <p:grpSpPr>
          <a:xfrm>
            <a:off x="2941240" y="3426636"/>
            <a:ext cx="2068355" cy="1317426"/>
            <a:chOff x="1988638" y="3634069"/>
            <a:chExt cx="2068355" cy="131742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E535B8C-C799-E77C-6858-7EA45F6EDD1F}"/>
                </a:ext>
              </a:extLst>
            </p:cNvPr>
            <p:cNvGrpSpPr/>
            <p:nvPr/>
          </p:nvGrpSpPr>
          <p:grpSpPr>
            <a:xfrm>
              <a:off x="1988638" y="3634069"/>
              <a:ext cx="2068355" cy="1317426"/>
              <a:chOff x="111829" y="2469046"/>
              <a:chExt cx="3765344" cy="248245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C63A183-6293-3D8E-A31B-07B34655B5ED}"/>
                  </a:ext>
                </a:extLst>
              </p:cNvPr>
              <p:cNvSpPr/>
              <p:nvPr/>
            </p:nvSpPr>
            <p:spPr>
              <a:xfrm>
                <a:off x="2243489" y="3559282"/>
                <a:ext cx="1057013" cy="101506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4D34252-3B02-0C18-ABB6-543CA855D6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2155" y="3510432"/>
                <a:ext cx="708883" cy="41161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CF590F8-B3EB-AC9F-7B41-3CB6DB1B00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6225" y="4146556"/>
                <a:ext cx="719393" cy="3918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0FD211-6944-B97F-5419-B66884D058D7}"/>
                  </a:ext>
                </a:extLst>
              </p:cNvPr>
              <p:cNvSpPr txBox="1"/>
              <p:nvPr/>
            </p:nvSpPr>
            <p:spPr>
              <a:xfrm>
                <a:off x="111829" y="2469046"/>
                <a:ext cx="2088715" cy="463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Hours per month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C56322-30F0-020E-BA7B-E20E69766A52}"/>
                  </a:ext>
                </a:extLst>
              </p:cNvPr>
              <p:cNvSpPr txBox="1"/>
              <p:nvPr/>
            </p:nvSpPr>
            <p:spPr>
              <a:xfrm>
                <a:off x="304681" y="3802324"/>
                <a:ext cx="1825949" cy="463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Active days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0AD42BF-7348-5567-EBE9-C586C41C51D6}"/>
                  </a:ext>
                </a:extLst>
              </p:cNvPr>
              <p:cNvSpPr/>
              <p:nvPr/>
            </p:nvSpPr>
            <p:spPr>
              <a:xfrm>
                <a:off x="839543" y="2933004"/>
                <a:ext cx="749900" cy="72014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CFC310-9330-4543-9BF2-01D617BEE717}"/>
                  </a:ext>
                </a:extLst>
              </p:cNvPr>
              <p:cNvSpPr/>
              <p:nvPr/>
            </p:nvSpPr>
            <p:spPr>
              <a:xfrm>
                <a:off x="754906" y="4231355"/>
                <a:ext cx="749900" cy="72014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C0B5299-7900-E690-F608-1E2A14C2DF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6364" y="4066816"/>
                <a:ext cx="48080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Curved Connector 44">
              <a:extLst>
                <a:ext uri="{FF2B5EF4-FFF2-40B4-BE49-F238E27FC236}">
                  <a16:creationId xmlns:a16="http://schemas.microsoft.com/office/drawing/2014/main" id="{4A3F484A-75C5-65DA-81B9-2449EC77DF1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293417" y="4384726"/>
              <a:ext cx="312973" cy="197487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2D6C303-ECB2-FA2B-A25C-194D44A2EECC}"/>
              </a:ext>
            </a:extLst>
          </p:cNvPr>
          <p:cNvSpPr txBox="1"/>
          <p:nvPr/>
        </p:nvSpPr>
        <p:spPr>
          <a:xfrm>
            <a:off x="407761" y="3924794"/>
            <a:ext cx="253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simpler visualization: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B1E42-1CFF-3676-ADE8-77816B207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018" y="1588505"/>
            <a:ext cx="2095203" cy="680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678762-A9F0-934E-2508-B01D3F451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320" y="3077021"/>
            <a:ext cx="164019" cy="1640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0217E2-7592-38EA-B543-26BDA5D7D6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2350" y="866648"/>
            <a:ext cx="406400" cy="23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2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Loss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to pick a loss function to measure how 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model’s predictions are</a:t>
            </a:r>
            <a:endParaRPr lang="en-US" sz="1300" dirty="0"/>
          </a:p>
        </p:txBody>
      </p:sp>
      <p:graphicFrame>
        <p:nvGraphicFramePr>
          <p:cNvPr id="43" name="Table 0">
            <a:extLst>
              <a:ext uri="{FF2B5EF4-FFF2-40B4-BE49-F238E27FC236}">
                <a16:creationId xmlns:a16="http://schemas.microsoft.com/office/drawing/2014/main" id="{3B03EAAF-2FD4-BBFD-9417-9C8972007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18274"/>
              </p:ext>
            </p:extLst>
          </p:nvPr>
        </p:nvGraphicFramePr>
        <p:xfrm>
          <a:off x="457200" y="1611630"/>
          <a:ext cx="6908335" cy="1920240"/>
        </p:xfrm>
        <a:graphic>
          <a:graphicData uri="http://schemas.openxmlformats.org/drawingml/2006/table">
            <a:tbl>
              <a:tblPr/>
              <a:tblGrid>
                <a:gridCol w="727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188">
                  <a:extLst>
                    <a:ext uri="{9D8B030D-6E8A-4147-A177-3AD203B41FA5}">
                      <a16:colId xmlns:a16="http://schemas.microsoft.com/office/drawing/2014/main" val="2139802845"/>
                    </a:ext>
                  </a:extLst>
                </a:gridCol>
                <a:gridCol w="1333188">
                  <a:extLst>
                    <a:ext uri="{9D8B030D-6E8A-4147-A177-3AD203B41FA5}">
                      <a16:colId xmlns:a16="http://schemas.microsoft.com/office/drawing/2014/main" val="251676071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Month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Active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Keep? (Y)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P(Keep)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“Desired” Loss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Low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B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C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Low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0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E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0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4" name="Picture 43">
            <a:extLst>
              <a:ext uri="{FF2B5EF4-FFF2-40B4-BE49-F238E27FC236}">
                <a16:creationId xmlns:a16="http://schemas.microsoft.com/office/drawing/2014/main" id="{42667CC5-587F-DAC3-F25F-F37553152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475" y="3916530"/>
            <a:ext cx="4504038" cy="5238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C96B3-F132-4D68-7D3B-03090BB2A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140B64-F2CE-AECD-07A6-7A7D10A2892E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F7A866-7DC4-7C68-DF0D-7157CC1818A4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Loss Function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8548C3C-087E-930D-5492-F3358BF9F4C3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CD0734-0EFF-FB1D-740D-38A5BBECBEB2}"/>
              </a:ext>
            </a:extLst>
          </p:cNvPr>
          <p:cNvSpPr txBox="1"/>
          <p:nvPr/>
        </p:nvSpPr>
        <p:spPr>
          <a:xfrm>
            <a:off x="379723" y="965028"/>
            <a:ext cx="6040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do we want the loss function to look like?</a:t>
            </a:r>
          </a:p>
        </p:txBody>
      </p:sp>
      <p:pic>
        <p:nvPicPr>
          <p:cNvPr id="6" name="Picture 5" descr="A blue line with a point  AI-generated content may be incorrect.">
            <a:extLst>
              <a:ext uri="{FF2B5EF4-FFF2-40B4-BE49-F238E27FC236}">
                <a16:creationId xmlns:a16="http://schemas.microsoft.com/office/drawing/2014/main" id="{5DCF6C6F-D3F6-A2C9-2AFF-EB69EB569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66" y="2349329"/>
            <a:ext cx="3464117" cy="2067841"/>
          </a:xfrm>
          <a:prstGeom prst="rect">
            <a:avLst/>
          </a:prstGeom>
        </p:spPr>
      </p:pic>
      <p:pic>
        <p:nvPicPr>
          <p:cNvPr id="8" name="Picture 7" descr="A blue line graph with white text  AI-generated content may be incorrect.">
            <a:extLst>
              <a:ext uri="{FF2B5EF4-FFF2-40B4-BE49-F238E27FC236}">
                <a16:creationId xmlns:a16="http://schemas.microsoft.com/office/drawing/2014/main" id="{9960B20D-823D-D72B-F9C8-9525AA8DB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683" y="2349328"/>
            <a:ext cx="3464117" cy="20678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91E203-354A-9A32-5E0B-763EB9944CC2}"/>
              </a:ext>
            </a:extLst>
          </p:cNvPr>
          <p:cNvSpPr txBox="1"/>
          <p:nvPr/>
        </p:nvSpPr>
        <p:spPr>
          <a:xfrm>
            <a:off x="1656589" y="1792209"/>
            <a:ext cx="160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y = 0: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B2E88A-31C4-C34B-6DBB-51B72102C4CC}"/>
              </a:ext>
            </a:extLst>
          </p:cNvPr>
          <p:cNvSpPr txBox="1"/>
          <p:nvPr/>
        </p:nvSpPr>
        <p:spPr>
          <a:xfrm>
            <a:off x="6115338" y="1792208"/>
            <a:ext cx="160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y = 1: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A2987E-D5D2-E37A-54DB-52CE5B895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805" y="4578964"/>
            <a:ext cx="941241" cy="290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DDBD64-EE0C-AA0A-A024-3AE94F47B2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338" y="4543438"/>
            <a:ext cx="1427549" cy="2902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42E8E0-6AE3-4B41-8E1B-C2EB046882F6}"/>
              </a:ext>
            </a:extLst>
          </p:cNvPr>
          <p:cNvSpPr/>
          <p:nvPr/>
        </p:nvSpPr>
        <p:spPr>
          <a:xfrm>
            <a:off x="1178560" y="2369648"/>
            <a:ext cx="2773680" cy="16841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B083DC-9010-3145-44BF-7E539DC95B58}"/>
              </a:ext>
            </a:extLst>
          </p:cNvPr>
          <p:cNvSpPr/>
          <p:nvPr/>
        </p:nvSpPr>
        <p:spPr>
          <a:xfrm>
            <a:off x="5648960" y="2369648"/>
            <a:ext cx="2773680" cy="16841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5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89394-5EE7-A062-CC1F-D3E19620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3B7DAE-A879-625F-D1A4-51E09BD2FB91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B45EC7-C0C4-9DCB-D9BB-20859EDD790F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Loss Function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3A85846-0BB7-9E05-86C2-02D0EAC24022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DE2D2A-5572-7FDC-030B-E18B65907945}"/>
              </a:ext>
            </a:extLst>
          </p:cNvPr>
          <p:cNvSpPr txBox="1"/>
          <p:nvPr/>
        </p:nvSpPr>
        <p:spPr>
          <a:xfrm>
            <a:off x="379723" y="965028"/>
            <a:ext cx="6040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do we want the loss function to look like?</a:t>
            </a:r>
          </a:p>
        </p:txBody>
      </p:sp>
      <p:pic>
        <p:nvPicPr>
          <p:cNvPr id="6" name="Picture 5" descr="A blue line with a point  AI-generated content may be incorrect.">
            <a:extLst>
              <a:ext uri="{FF2B5EF4-FFF2-40B4-BE49-F238E27FC236}">
                <a16:creationId xmlns:a16="http://schemas.microsoft.com/office/drawing/2014/main" id="{80622F68-B08D-17D4-69E9-5B3C24760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66" y="2349329"/>
            <a:ext cx="3464117" cy="2067841"/>
          </a:xfrm>
          <a:prstGeom prst="rect">
            <a:avLst/>
          </a:prstGeom>
        </p:spPr>
      </p:pic>
      <p:pic>
        <p:nvPicPr>
          <p:cNvPr id="8" name="Picture 7" descr="A blue line graph with white text  AI-generated content may be incorrect.">
            <a:extLst>
              <a:ext uri="{FF2B5EF4-FFF2-40B4-BE49-F238E27FC236}">
                <a16:creationId xmlns:a16="http://schemas.microsoft.com/office/drawing/2014/main" id="{43C1F82C-A6E5-AC45-F681-EE4244A62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683" y="2349328"/>
            <a:ext cx="3464117" cy="20678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00CEB7-2B00-2288-C5F2-855C6FBB0AAC}"/>
              </a:ext>
            </a:extLst>
          </p:cNvPr>
          <p:cNvSpPr txBox="1"/>
          <p:nvPr/>
        </p:nvSpPr>
        <p:spPr>
          <a:xfrm>
            <a:off x="1656589" y="1792209"/>
            <a:ext cx="160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y = 0: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11C4F-DC31-4E90-7D58-4A76E0B6B89D}"/>
              </a:ext>
            </a:extLst>
          </p:cNvPr>
          <p:cNvSpPr txBox="1"/>
          <p:nvPr/>
        </p:nvSpPr>
        <p:spPr>
          <a:xfrm>
            <a:off x="6115338" y="1792208"/>
            <a:ext cx="160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y = 1: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51A5DC-D764-8B72-B68D-89C92A2D9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805" y="4578964"/>
            <a:ext cx="941241" cy="290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810DEB-55D9-5618-C8D3-B771B067D2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338" y="4543438"/>
            <a:ext cx="1427549" cy="29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14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E424-C0BB-B8D4-E5EF-F758CB8F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E07B7B-E46F-0D68-7913-83BFCFA34753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5ECB23-1D7E-7FC0-47C1-8933849622EE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Loss Function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70A9381-AB14-AC57-0A86-B28B7D65B3AA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E62FAACF-45DF-550E-324E-32008042C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123178"/>
              </p:ext>
            </p:extLst>
          </p:nvPr>
        </p:nvGraphicFramePr>
        <p:xfrm>
          <a:off x="771787" y="2201976"/>
          <a:ext cx="6924247" cy="2011680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7524">
                  <a:extLst>
                    <a:ext uri="{9D8B030D-6E8A-4147-A177-3AD203B41FA5}">
                      <a16:colId xmlns:a16="http://schemas.microsoft.com/office/drawing/2014/main" val="2139802845"/>
                    </a:ext>
                  </a:extLst>
                </a:gridCol>
                <a:gridCol w="1117524">
                  <a:extLst>
                    <a:ext uri="{9D8B030D-6E8A-4147-A177-3AD203B41FA5}">
                      <a16:colId xmlns:a16="http://schemas.microsoft.com/office/drawing/2014/main" val="2516760712"/>
                    </a:ext>
                  </a:extLst>
                </a:gridCol>
                <a:gridCol w="1117524">
                  <a:extLst>
                    <a:ext uri="{9D8B030D-6E8A-4147-A177-3AD203B41FA5}">
                      <a16:colId xmlns:a16="http://schemas.microsoft.com/office/drawing/2014/main" val="78489343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Month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Active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Keep?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P(Keep)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Desired Loss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BCE Loss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User A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Low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User B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0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User C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1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Low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User D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User E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B253B69-730B-9F2E-4D70-DDF7426DCEDD}"/>
              </a:ext>
            </a:extLst>
          </p:cNvPr>
          <p:cNvSpPr txBox="1"/>
          <p:nvPr/>
        </p:nvSpPr>
        <p:spPr>
          <a:xfrm>
            <a:off x="379723" y="965028"/>
            <a:ext cx="445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Binary cross entropy (per data point)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7F8F0-F912-6723-E60D-0DC0B5622BBE}"/>
              </a:ext>
            </a:extLst>
          </p:cNvPr>
          <p:cNvSpPr txBox="1"/>
          <p:nvPr/>
        </p:nvSpPr>
        <p:spPr>
          <a:xfrm>
            <a:off x="1325366" y="4531301"/>
            <a:ext cx="6869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BCE loss measures the “wrongness” of our model for each data point.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90EF6-E33C-0EE6-A6F4-568C7FE4C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540436"/>
            <a:ext cx="4424506" cy="36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1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9024E-68B3-08DA-F963-C2206626A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68B54F-9D31-786F-2755-CEA6908D3A59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901410-98C1-7026-6ABE-6ED3057A042B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Picking the Best Weights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7243364-C792-973C-3335-999F6090FB13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2527A8-6ED0-D4BA-F8B2-C6CC2AC8BA81}"/>
              </a:ext>
            </a:extLst>
          </p:cNvPr>
          <p:cNvSpPr/>
          <p:nvPr/>
        </p:nvSpPr>
        <p:spPr>
          <a:xfrm>
            <a:off x="457200" y="800084"/>
            <a:ext cx="8229600" cy="108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We want to pick the weights that make the loss function as small as possible 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  <a:sym typeface="Wingdings" pitchFamily="2" charset="2"/>
              </a:rPr>
              <a:t> 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 is an optimization problem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6089F8-E957-014B-9383-67317184F6C5}"/>
              </a:ext>
            </a:extLst>
          </p:cNvPr>
          <p:cNvCxnSpPr/>
          <p:nvPr/>
        </p:nvCxnSpPr>
        <p:spPr>
          <a:xfrm>
            <a:off x="2348564" y="1736913"/>
            <a:ext cx="0" cy="29453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BDC8E4-88C3-2B19-FBB0-740E75D9EA67}"/>
              </a:ext>
            </a:extLst>
          </p:cNvPr>
          <p:cNvCxnSpPr>
            <a:cxnSpLocks/>
          </p:cNvCxnSpPr>
          <p:nvPr/>
        </p:nvCxnSpPr>
        <p:spPr>
          <a:xfrm flipH="1">
            <a:off x="2348564" y="4682243"/>
            <a:ext cx="397523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5F1978-47DB-9A0F-6313-B3C0A79B88CA}"/>
              </a:ext>
            </a:extLst>
          </p:cNvPr>
          <p:cNvSpPr txBox="1"/>
          <p:nvPr/>
        </p:nvSpPr>
        <p:spPr>
          <a:xfrm>
            <a:off x="1597795" y="2800990"/>
            <a:ext cx="61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53B8B7-BE78-72F0-10E3-3C5C95AD628D}"/>
              </a:ext>
            </a:extLst>
          </p:cNvPr>
          <p:cNvSpPr txBox="1"/>
          <p:nvPr/>
        </p:nvSpPr>
        <p:spPr>
          <a:xfrm>
            <a:off x="3927108" y="4730408"/>
            <a:ext cx="1049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Weight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57FF32-196C-09AF-D941-EDA6EB6EA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559" y="2073759"/>
            <a:ext cx="3378252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696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BEB00-EF7D-257B-06F2-50866C28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D794D30C-7DCC-F456-AAEB-11922FFF5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227" y="2148388"/>
            <a:ext cx="3417934" cy="256032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DCCA3AE-D0E3-D488-97EC-22816B1572A2}"/>
              </a:ext>
            </a:extLst>
          </p:cNvPr>
          <p:cNvSpPr txBox="1"/>
          <p:nvPr/>
        </p:nvSpPr>
        <p:spPr>
          <a:xfrm>
            <a:off x="5259039" y="2120497"/>
            <a:ext cx="325162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   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large and negative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  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small and negative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    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small and positive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    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large and positive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70C8274-6559-7718-D1FC-6DB6850EE75D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4EF8B0-1E0A-0375-B186-A66CA55958F2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Gradient Descent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164E04-CE10-F941-34A5-1EBD5598AFC3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082854-A855-F9C2-2EDA-E56C7AC7FF2E}"/>
              </a:ext>
            </a:extLst>
          </p:cNvPr>
          <p:cNvSpPr/>
          <p:nvPr/>
        </p:nvSpPr>
        <p:spPr>
          <a:xfrm>
            <a:off x="457200" y="9601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500" b="1" dirty="0">
              <a:solidFill>
                <a:srgbClr val="00558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500" b="1" dirty="0">
              <a:solidFill>
                <a:srgbClr val="00558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00D71A-CEA7-803C-C851-FB16206A6DE4}"/>
              </a:ext>
            </a:extLst>
          </p:cNvPr>
          <p:cNvCxnSpPr/>
          <p:nvPr/>
        </p:nvCxnSpPr>
        <p:spPr>
          <a:xfrm>
            <a:off x="805633" y="1842228"/>
            <a:ext cx="0" cy="29453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60ABA8-224E-7619-805C-9543BD981F8C}"/>
              </a:ext>
            </a:extLst>
          </p:cNvPr>
          <p:cNvCxnSpPr>
            <a:cxnSpLocks/>
          </p:cNvCxnSpPr>
          <p:nvPr/>
        </p:nvCxnSpPr>
        <p:spPr>
          <a:xfrm flipH="1">
            <a:off x="805633" y="4787558"/>
            <a:ext cx="397523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A8EFEFE-E4B1-269B-F6B4-E4F4EEBC8355}"/>
              </a:ext>
            </a:extLst>
          </p:cNvPr>
          <p:cNvSpPr txBox="1"/>
          <p:nvPr/>
        </p:nvSpPr>
        <p:spPr>
          <a:xfrm>
            <a:off x="158255" y="2953279"/>
            <a:ext cx="61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0179F-145E-D3BB-14CC-DDDDFAD02A07}"/>
              </a:ext>
            </a:extLst>
          </p:cNvPr>
          <p:cNvSpPr txBox="1"/>
          <p:nvPr/>
        </p:nvSpPr>
        <p:spPr>
          <a:xfrm>
            <a:off x="2384177" y="4835723"/>
            <a:ext cx="10491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Weight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FE559B5-6408-005C-DEE2-D1B1055B23DB}"/>
              </a:ext>
            </a:extLst>
          </p:cNvPr>
          <p:cNvSpPr/>
          <p:nvPr/>
        </p:nvSpPr>
        <p:spPr>
          <a:xfrm>
            <a:off x="457200" y="800084"/>
            <a:ext cx="8229600" cy="108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600" b="1" dirty="0">
                <a:solidFill>
                  <a:srgbClr val="005587"/>
                </a:solidFill>
                <a:latin typeface="Arial"/>
                <a:cs typeface="Arial" panose="020B0604020202020204" pitchFamily="34" charset="0"/>
              </a:rPr>
              <a:t>gradient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tells us the sensitivity of the loss to each weight parameter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in the network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Sign: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Does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increase or decrease if we increase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	Magnitude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How “quickly” does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Loss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change as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changes?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4FF9CF-51AB-DD9F-225C-BB39C33B41AA}"/>
              </a:ext>
            </a:extLst>
          </p:cNvPr>
          <p:cNvCxnSpPr>
            <a:cxnSpLocks/>
          </p:cNvCxnSpPr>
          <p:nvPr/>
        </p:nvCxnSpPr>
        <p:spPr>
          <a:xfrm>
            <a:off x="4277360" y="2255520"/>
            <a:ext cx="0" cy="2532038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75D6DD-FB17-1A06-C1F5-6A6B372145CA}"/>
              </a:ext>
            </a:extLst>
          </p:cNvPr>
          <p:cNvCxnSpPr>
            <a:cxnSpLocks/>
          </p:cNvCxnSpPr>
          <p:nvPr/>
        </p:nvCxnSpPr>
        <p:spPr>
          <a:xfrm>
            <a:off x="1412240" y="2255520"/>
            <a:ext cx="0" cy="2532038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D2EAA5-492A-7763-C9D3-B1F2155CC3DB}"/>
              </a:ext>
            </a:extLst>
          </p:cNvPr>
          <p:cNvCxnSpPr>
            <a:cxnSpLocks/>
          </p:cNvCxnSpPr>
          <p:nvPr/>
        </p:nvCxnSpPr>
        <p:spPr>
          <a:xfrm>
            <a:off x="2495937" y="4206240"/>
            <a:ext cx="0" cy="581318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A11082-3B2F-3340-8E6A-6786DEB724A2}"/>
              </a:ext>
            </a:extLst>
          </p:cNvPr>
          <p:cNvCxnSpPr>
            <a:cxnSpLocks/>
          </p:cNvCxnSpPr>
          <p:nvPr/>
        </p:nvCxnSpPr>
        <p:spPr>
          <a:xfrm>
            <a:off x="3258047" y="4159876"/>
            <a:ext cx="0" cy="631975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DECB5BB9-D6D7-BB20-DFE8-A4A134FAD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944" y="2139968"/>
            <a:ext cx="367535" cy="31099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8692FDD-49F3-2ED8-AC20-29C34A57BF77}"/>
              </a:ext>
            </a:extLst>
          </p:cNvPr>
          <p:cNvSpPr txBox="1"/>
          <p:nvPr/>
        </p:nvSpPr>
        <p:spPr>
          <a:xfrm>
            <a:off x="1248343" y="4787558"/>
            <a:ext cx="335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8E5202-A849-C108-81DD-CCF326C0E8E7}"/>
              </a:ext>
            </a:extLst>
          </p:cNvPr>
          <p:cNvSpPr txBox="1"/>
          <p:nvPr/>
        </p:nvSpPr>
        <p:spPr>
          <a:xfrm>
            <a:off x="2338216" y="4794488"/>
            <a:ext cx="335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43CD0B-85FD-A023-5ABA-08F75EF6D209}"/>
              </a:ext>
            </a:extLst>
          </p:cNvPr>
          <p:cNvSpPr txBox="1"/>
          <p:nvPr/>
        </p:nvSpPr>
        <p:spPr>
          <a:xfrm>
            <a:off x="3137928" y="4794488"/>
            <a:ext cx="335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53FA43-E3EC-D36F-C91E-4BBB7BC04A57}"/>
              </a:ext>
            </a:extLst>
          </p:cNvPr>
          <p:cNvSpPr txBox="1"/>
          <p:nvPr/>
        </p:nvSpPr>
        <p:spPr>
          <a:xfrm>
            <a:off x="4109720" y="4794488"/>
            <a:ext cx="335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A453AF3-F392-3151-70F8-48ED83E0D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944" y="2749989"/>
            <a:ext cx="367535" cy="31099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435F787-531F-BADF-F7D9-A2B1424E1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739" y="3405766"/>
            <a:ext cx="367535" cy="31099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82EE1C2-6D0A-CF66-0295-02019FE54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740" y="4080234"/>
            <a:ext cx="367535" cy="310991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E9172D2-44CF-108E-5B2F-1E7D693B2A49}"/>
              </a:ext>
            </a:extLst>
          </p:cNvPr>
          <p:cNvCxnSpPr>
            <a:cxnSpLocks/>
          </p:cNvCxnSpPr>
          <p:nvPr/>
        </p:nvCxnSpPr>
        <p:spPr>
          <a:xfrm>
            <a:off x="1345763" y="2044358"/>
            <a:ext cx="168496" cy="527392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EF51ED3-7C6F-9200-3279-0BE3A12C73A3}"/>
              </a:ext>
            </a:extLst>
          </p:cNvPr>
          <p:cNvCxnSpPr>
            <a:cxnSpLocks/>
          </p:cNvCxnSpPr>
          <p:nvPr/>
        </p:nvCxnSpPr>
        <p:spPr>
          <a:xfrm flipH="1">
            <a:off x="4197047" y="2044358"/>
            <a:ext cx="160625" cy="502212"/>
          </a:xfrm>
          <a:prstGeom prst="line">
            <a:avLst/>
          </a:prstGeom>
          <a:ln w="2540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0AAA362-EFA7-3B88-0789-4A54DAE182E8}"/>
              </a:ext>
            </a:extLst>
          </p:cNvPr>
          <p:cNvCxnSpPr>
            <a:cxnSpLocks/>
          </p:cNvCxnSpPr>
          <p:nvPr/>
        </p:nvCxnSpPr>
        <p:spPr>
          <a:xfrm>
            <a:off x="2338216" y="4117413"/>
            <a:ext cx="326326" cy="18563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851925C-9245-55DF-1BD3-251C0669AC43}"/>
              </a:ext>
            </a:extLst>
          </p:cNvPr>
          <p:cNvCxnSpPr>
            <a:cxnSpLocks/>
          </p:cNvCxnSpPr>
          <p:nvPr/>
        </p:nvCxnSpPr>
        <p:spPr>
          <a:xfrm flipV="1">
            <a:off x="3124530" y="4018135"/>
            <a:ext cx="293127" cy="265428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D0E7FF1-1BDE-64C9-9F05-BE2B21A86419}"/>
              </a:ext>
            </a:extLst>
          </p:cNvPr>
          <p:cNvCxnSpPr>
            <a:cxnSpLocks/>
          </p:cNvCxnSpPr>
          <p:nvPr/>
        </p:nvCxnSpPr>
        <p:spPr>
          <a:xfrm>
            <a:off x="8052964" y="2003326"/>
            <a:ext cx="168496" cy="527392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F9CE78D-7DC0-00B9-871A-1063B7843777}"/>
              </a:ext>
            </a:extLst>
          </p:cNvPr>
          <p:cNvCxnSpPr>
            <a:cxnSpLocks/>
          </p:cNvCxnSpPr>
          <p:nvPr/>
        </p:nvCxnSpPr>
        <p:spPr>
          <a:xfrm>
            <a:off x="8069202" y="2812667"/>
            <a:ext cx="326326" cy="18563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C58EFCE-5A5D-D78A-72DB-3ABC0E6D48ED}"/>
              </a:ext>
            </a:extLst>
          </p:cNvPr>
          <p:cNvCxnSpPr>
            <a:cxnSpLocks/>
          </p:cNvCxnSpPr>
          <p:nvPr/>
        </p:nvCxnSpPr>
        <p:spPr>
          <a:xfrm flipV="1">
            <a:off x="8074896" y="3387726"/>
            <a:ext cx="293127" cy="265428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01569AD-5515-92ED-10BB-764C8DCC1C04}"/>
              </a:ext>
            </a:extLst>
          </p:cNvPr>
          <p:cNvCxnSpPr>
            <a:cxnSpLocks/>
          </p:cNvCxnSpPr>
          <p:nvPr/>
        </p:nvCxnSpPr>
        <p:spPr>
          <a:xfrm flipH="1">
            <a:off x="8086813" y="3947900"/>
            <a:ext cx="160625" cy="502212"/>
          </a:xfrm>
          <a:prstGeom prst="line">
            <a:avLst/>
          </a:prstGeom>
          <a:ln w="254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18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7778-891C-6FB8-6CD1-B7A949D8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5C9A6B-A34E-E0D4-7217-9F1FD520A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296" y="2161815"/>
            <a:ext cx="3303649" cy="251258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BCB5EBF-D5E9-B7AB-CDF8-E799FE9B71FD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731D9C-55FF-11CD-1633-224EB69EB628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Gradient Descent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931155-7DDD-3192-96F5-3B6FFC11ECCC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B0ED47-A3E9-EA86-49DD-45EE59159741}"/>
              </a:ext>
            </a:extLst>
          </p:cNvPr>
          <p:cNvSpPr/>
          <p:nvPr/>
        </p:nvSpPr>
        <p:spPr>
          <a:xfrm>
            <a:off x="457200" y="9601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500" b="1" dirty="0">
              <a:solidFill>
                <a:srgbClr val="00558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500" b="1" dirty="0">
              <a:solidFill>
                <a:srgbClr val="00558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CA5229-EEB1-152C-9AEA-7CC4C2045ECC}"/>
              </a:ext>
            </a:extLst>
          </p:cNvPr>
          <p:cNvCxnSpPr/>
          <p:nvPr/>
        </p:nvCxnSpPr>
        <p:spPr>
          <a:xfrm>
            <a:off x="805633" y="1842228"/>
            <a:ext cx="0" cy="29453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F1C666-2AF9-50CC-077A-075CB75F44ED}"/>
              </a:ext>
            </a:extLst>
          </p:cNvPr>
          <p:cNvCxnSpPr>
            <a:cxnSpLocks/>
          </p:cNvCxnSpPr>
          <p:nvPr/>
        </p:nvCxnSpPr>
        <p:spPr>
          <a:xfrm flipH="1">
            <a:off x="805633" y="4787558"/>
            <a:ext cx="397523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0898D09-5942-B477-B738-E1E0E0F6EA60}"/>
              </a:ext>
            </a:extLst>
          </p:cNvPr>
          <p:cNvSpPr txBox="1"/>
          <p:nvPr/>
        </p:nvSpPr>
        <p:spPr>
          <a:xfrm>
            <a:off x="54864" y="2906305"/>
            <a:ext cx="61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82AF42-6E29-C2AB-D20A-38A0527EA1E3}"/>
              </a:ext>
            </a:extLst>
          </p:cNvPr>
          <p:cNvSpPr txBox="1"/>
          <p:nvPr/>
        </p:nvSpPr>
        <p:spPr>
          <a:xfrm>
            <a:off x="2384177" y="4835723"/>
            <a:ext cx="1049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Weight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F25379-EC7B-86DC-FF8C-46C992943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033" y="2104872"/>
            <a:ext cx="3515414" cy="694069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AE54708-60D9-28C7-FDD8-3C59FD6D2504}"/>
              </a:ext>
            </a:extLst>
          </p:cNvPr>
          <p:cNvSpPr/>
          <p:nvPr/>
        </p:nvSpPr>
        <p:spPr>
          <a:xfrm>
            <a:off x="457200" y="707683"/>
            <a:ext cx="8229600" cy="108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Gradient descent is an updating rule for weights to “nudge” them in the direction that decreases the loss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89C8C-B343-18B6-9C7E-C3A91C5E6A0B}"/>
              </a:ext>
            </a:extLst>
          </p:cNvPr>
          <p:cNvSpPr txBox="1"/>
          <p:nvPr/>
        </p:nvSpPr>
        <p:spPr>
          <a:xfrm>
            <a:off x="4936981" y="3191956"/>
            <a:ext cx="40580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Repeat many times for all weights in the network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Updating all weights for all data is one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epoch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 training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neural networks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78FCD74-DFF4-8149-8360-CB9A21C9F5FC}"/>
              </a:ext>
            </a:extLst>
          </p:cNvPr>
          <p:cNvSpPr/>
          <p:nvPr/>
        </p:nvSpPr>
        <p:spPr>
          <a:xfrm rot="5400000">
            <a:off x="6680682" y="1171827"/>
            <a:ext cx="222009" cy="3599308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252B1-C743-4782-75AE-0780ACEF7A7A}"/>
              </a:ext>
            </a:extLst>
          </p:cNvPr>
          <p:cNvSpPr txBox="1"/>
          <p:nvPr/>
        </p:nvSpPr>
        <p:spPr>
          <a:xfrm>
            <a:off x="5313679" y="1578126"/>
            <a:ext cx="1300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Arial"/>
                <a:cs typeface="Arial" panose="020B0604020202020204" pitchFamily="34" charset="0"/>
              </a:rPr>
              <a:t>learning rate</a:t>
            </a: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84FD4F-54FE-6F71-17DB-8362D29AB3DE}"/>
              </a:ext>
            </a:extLst>
          </p:cNvPr>
          <p:cNvCxnSpPr>
            <a:cxnSpLocks/>
          </p:cNvCxnSpPr>
          <p:nvPr/>
        </p:nvCxnSpPr>
        <p:spPr>
          <a:xfrm>
            <a:off x="6502401" y="1885903"/>
            <a:ext cx="558799" cy="430577"/>
          </a:xfrm>
          <a:prstGeom prst="straightConnector1">
            <a:avLst/>
          </a:prstGeom>
          <a:ln w="6350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25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55BE0-072F-F5A2-3BC9-CC180B2E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83DB878-9ECF-CCEA-EFCF-8E81F6A17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296" y="2161815"/>
            <a:ext cx="3303649" cy="251258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8F4160AA-9E04-2640-2FD9-E6F945288E99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C1BBE7-4C55-5DE3-96FE-A8C4295B1F21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Gradient Descent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DD6965-9ABA-DD80-D04A-FF33F2FE18E1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69C5F7-698E-70FE-FE8E-441EE2947B3D}"/>
              </a:ext>
            </a:extLst>
          </p:cNvPr>
          <p:cNvSpPr/>
          <p:nvPr/>
        </p:nvSpPr>
        <p:spPr>
          <a:xfrm>
            <a:off x="457200" y="9601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500" b="1" dirty="0">
              <a:solidFill>
                <a:srgbClr val="00558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500" b="1" dirty="0">
              <a:solidFill>
                <a:srgbClr val="00558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D635B9-A0A0-5DA1-CB18-980981B5ADDE}"/>
              </a:ext>
            </a:extLst>
          </p:cNvPr>
          <p:cNvCxnSpPr/>
          <p:nvPr/>
        </p:nvCxnSpPr>
        <p:spPr>
          <a:xfrm>
            <a:off x="805633" y="1842228"/>
            <a:ext cx="0" cy="29453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D01AF-7A06-B60C-564F-F452A54656E0}"/>
              </a:ext>
            </a:extLst>
          </p:cNvPr>
          <p:cNvCxnSpPr>
            <a:cxnSpLocks/>
          </p:cNvCxnSpPr>
          <p:nvPr/>
        </p:nvCxnSpPr>
        <p:spPr>
          <a:xfrm flipH="1">
            <a:off x="805633" y="4787558"/>
            <a:ext cx="397523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C895E63-4FD2-EE2D-F69B-E70866150914}"/>
              </a:ext>
            </a:extLst>
          </p:cNvPr>
          <p:cNvSpPr txBox="1"/>
          <p:nvPr/>
        </p:nvSpPr>
        <p:spPr>
          <a:xfrm>
            <a:off x="54864" y="2906305"/>
            <a:ext cx="61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3835FF-7C5A-7138-6726-CF07D7270069}"/>
              </a:ext>
            </a:extLst>
          </p:cNvPr>
          <p:cNvSpPr txBox="1"/>
          <p:nvPr/>
        </p:nvSpPr>
        <p:spPr>
          <a:xfrm>
            <a:off x="2384177" y="4835723"/>
            <a:ext cx="1049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Weight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A6DD2F-EFD6-6238-05D2-3D46EEA59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033" y="2104872"/>
            <a:ext cx="3515414" cy="6940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4F86546-9D42-80F0-4C59-71763ED1412B}"/>
              </a:ext>
            </a:extLst>
          </p:cNvPr>
          <p:cNvSpPr txBox="1"/>
          <p:nvPr/>
        </p:nvSpPr>
        <p:spPr>
          <a:xfrm>
            <a:off x="6156202" y="1952140"/>
            <a:ext cx="72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E290CF-069C-CAF2-ADE1-09CE0BEFBBF8}"/>
              </a:ext>
            </a:extLst>
          </p:cNvPr>
          <p:cNvSpPr txBox="1"/>
          <p:nvPr/>
        </p:nvSpPr>
        <p:spPr>
          <a:xfrm>
            <a:off x="6749740" y="1952140"/>
            <a:ext cx="77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6E6925-5001-E44D-12C9-C0E9A437383C}"/>
              </a:ext>
            </a:extLst>
          </p:cNvPr>
          <p:cNvSpPr txBox="1"/>
          <p:nvPr/>
        </p:nvSpPr>
        <p:spPr>
          <a:xfrm>
            <a:off x="7913088" y="1686384"/>
            <a:ext cx="77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E5F2E9-485D-876E-FB05-67DDB8E74738}"/>
              </a:ext>
            </a:extLst>
          </p:cNvPr>
          <p:cNvSpPr txBox="1"/>
          <p:nvPr/>
        </p:nvSpPr>
        <p:spPr>
          <a:xfrm>
            <a:off x="6274313" y="1509113"/>
            <a:ext cx="1211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1877A1-3C14-65B2-97FD-0C537279B182}"/>
              </a:ext>
            </a:extLst>
          </p:cNvPr>
          <p:cNvSpPr txBox="1"/>
          <p:nvPr/>
        </p:nvSpPr>
        <p:spPr>
          <a:xfrm>
            <a:off x="4943640" y="2021349"/>
            <a:ext cx="894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0.414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3D81964-D813-879F-E168-1770B6497206}"/>
              </a:ext>
            </a:extLst>
          </p:cNvPr>
          <p:cNvSpPr/>
          <p:nvPr/>
        </p:nvSpPr>
        <p:spPr>
          <a:xfrm>
            <a:off x="457200" y="707683"/>
            <a:ext cx="8229600" cy="108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Gradient descent is an updating rule for weights to “nudge” them in the direction that decreases the loss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FECB6-FED8-7496-80B3-699C954C8EEC}"/>
              </a:ext>
            </a:extLst>
          </p:cNvPr>
          <p:cNvSpPr txBox="1"/>
          <p:nvPr/>
        </p:nvSpPr>
        <p:spPr>
          <a:xfrm>
            <a:off x="4936981" y="3191956"/>
            <a:ext cx="40580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Repeat many times for all weights in the network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Updating all weights for all data is one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epoch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 training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neural networks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E52E8C0-B673-D6E7-2D2A-AD4C076BF284}"/>
              </a:ext>
            </a:extLst>
          </p:cNvPr>
          <p:cNvSpPr/>
          <p:nvPr/>
        </p:nvSpPr>
        <p:spPr>
          <a:xfrm rot="5400000">
            <a:off x="6680682" y="1171827"/>
            <a:ext cx="222009" cy="3599308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52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8199-AE91-15A1-EC15-73945838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E1181B-00CB-E5A5-F473-F7189DF63CEF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71D07D-231F-F81C-5F4B-CDE84CA3FC67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When was gradient descent first discovered?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46C97A-CD79-5597-2D0D-91B1D161F3C7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F61072-2A89-A68C-9F18-058768FB6CF7}"/>
              </a:ext>
            </a:extLst>
          </p:cNvPr>
          <p:cNvSpPr/>
          <p:nvPr/>
        </p:nvSpPr>
        <p:spPr>
          <a:xfrm>
            <a:off x="457200" y="9601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500" b="1" dirty="0">
              <a:solidFill>
                <a:srgbClr val="00558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500" b="1" dirty="0">
              <a:solidFill>
                <a:srgbClr val="00558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61D71CA-868F-2F47-B23A-2BBAC7A10215}"/>
              </a:ext>
            </a:extLst>
          </p:cNvPr>
          <p:cNvSpPr/>
          <p:nvPr/>
        </p:nvSpPr>
        <p:spPr>
          <a:xfrm>
            <a:off x="457200" y="707683"/>
            <a:ext cx="8229600" cy="108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person in a suit&#10;&#10;AI-generated content may be incorrect.">
            <a:extLst>
              <a:ext uri="{FF2B5EF4-FFF2-40B4-BE49-F238E27FC236}">
                <a16:creationId xmlns:a16="http://schemas.microsoft.com/office/drawing/2014/main" id="{8A24393E-CB03-EB19-7E51-92FE3A7FF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652" y="1210603"/>
            <a:ext cx="6894695" cy="3321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E2129B-9140-9407-8199-938387C73241}"/>
              </a:ext>
            </a:extLst>
          </p:cNvPr>
          <p:cNvSpPr txBox="1"/>
          <p:nvPr/>
        </p:nvSpPr>
        <p:spPr>
          <a:xfrm>
            <a:off x="6156960" y="2571750"/>
            <a:ext cx="1463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1847</a:t>
            </a:r>
          </a:p>
        </p:txBody>
      </p:sp>
    </p:spTree>
    <p:extLst>
      <p:ext uri="{BB962C8B-B14F-4D97-AF65-F5344CB8AC3E}">
        <p14:creationId xmlns:p14="http://schemas.microsoft.com/office/powerpoint/2010/main" val="327526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Loss Function Visualized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 descr="A graph showing a blue curve  AI-generated content may be incorrect.">
            <a:extLst>
              <a:ext uri="{FF2B5EF4-FFF2-40B4-BE49-F238E27FC236}">
                <a16:creationId xmlns:a16="http://schemas.microsoft.com/office/drawing/2014/main" id="{39DCE2C5-B756-B692-E69C-0B50BB9A1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0" y="1704092"/>
            <a:ext cx="4330857" cy="2402646"/>
          </a:xfrm>
          <a:prstGeom prst="rect">
            <a:avLst/>
          </a:prstGeom>
        </p:spPr>
      </p:pic>
      <p:pic>
        <p:nvPicPr>
          <p:cNvPr id="8" name="Picture 7" descr="A graph showing a curve  AI-generated content may be incorrect.">
            <a:extLst>
              <a:ext uri="{FF2B5EF4-FFF2-40B4-BE49-F238E27FC236}">
                <a16:creationId xmlns:a16="http://schemas.microsoft.com/office/drawing/2014/main" id="{34673F73-C9B0-4DD4-FFCD-23F41BA25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743" y="1768100"/>
            <a:ext cx="4448497" cy="233863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3"/>
          </p:cNvPr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Gradient Descent Simulation</a:t>
            </a:r>
            <a:endParaRPr lang="en-US" sz="36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D53BE-7104-0EC7-8F0E-F3152F18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ABCE25-D210-08BE-F321-A348C4B3A604}"/>
              </a:ext>
            </a:extLst>
          </p:cNvPr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Hidden Layers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10967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Hidden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B0E7F4-78FF-CF5C-51A6-C90C3F8ADC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2" t="20119" r="7102" b="4416"/>
          <a:stretch>
            <a:fillRect/>
          </a:stretch>
        </p:blipFill>
        <p:spPr>
          <a:xfrm>
            <a:off x="4440485" y="1250696"/>
            <a:ext cx="4246315" cy="3389168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D3DC715B-93F4-80E7-31DD-148FF168A907}"/>
              </a:ext>
            </a:extLst>
          </p:cNvPr>
          <p:cNvSpPr/>
          <p:nvPr/>
        </p:nvSpPr>
        <p:spPr>
          <a:xfrm>
            <a:off x="457200" y="1021380"/>
            <a:ext cx="3789123" cy="38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single neuron has limited predictive performance – only one weight per feature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Adding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layer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gives the network much more capacity (i.e., weights) to learn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Purpose of hidden layer: learn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the data that makes the final classification easier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6176A-A290-150A-24A9-EFE97A2E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00B8137-2AF1-3BBB-1CCE-A94DE037DA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2" t="20119" r="7102" b="4416"/>
          <a:stretch>
            <a:fillRect/>
          </a:stretch>
        </p:blipFill>
        <p:spPr>
          <a:xfrm>
            <a:off x="2085034" y="1452880"/>
            <a:ext cx="4624007" cy="369062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0497B84B-DD70-7A52-5D4F-CAFB7401A90E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522105-5297-08A6-E887-EDCCD6EAF60B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Hidden Layers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6CD8BB-1EC1-1016-E976-0E780ABB6599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714EE11-7990-3DD6-E338-216C784D1AFA}"/>
              </a:ext>
            </a:extLst>
          </p:cNvPr>
          <p:cNvSpPr/>
          <p:nvPr/>
        </p:nvSpPr>
        <p:spPr>
          <a:xfrm>
            <a:off x="457200" y="1143300"/>
            <a:ext cx="3831526" cy="38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92E5EC-FC54-3B31-A08F-C220CA785D8D}"/>
              </a:ext>
            </a:extLst>
          </p:cNvPr>
          <p:cNvSpPr txBox="1"/>
          <p:nvPr/>
        </p:nvSpPr>
        <p:spPr>
          <a:xfrm>
            <a:off x="565512" y="907310"/>
            <a:ext cx="3614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Each input is multiplied by a weight and added up at each hidden node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E44D1DE-E51B-A18E-904C-20561E97EBF4}"/>
              </a:ext>
            </a:extLst>
          </p:cNvPr>
          <p:cNvSpPr/>
          <p:nvPr/>
        </p:nvSpPr>
        <p:spPr>
          <a:xfrm rot="10433884" flipH="1">
            <a:off x="2131300" y="1487154"/>
            <a:ext cx="920496" cy="569251"/>
          </a:xfrm>
          <a:custGeom>
            <a:avLst/>
            <a:gdLst>
              <a:gd name="csX0" fmla="*/ 621725 w 621725"/>
              <a:gd name="csY0" fmla="*/ 0 h 599440"/>
              <a:gd name="csX1" fmla="*/ 83245 w 621725"/>
              <a:gd name="csY1" fmla="*/ 162560 h 599440"/>
              <a:gd name="csX2" fmla="*/ 1965 w 621725"/>
              <a:gd name="csY2" fmla="*/ 599440 h 599440"/>
              <a:gd name="csX3" fmla="*/ 1965 w 621725"/>
              <a:gd name="csY3" fmla="*/ 599440 h 599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1725" h="599440">
                <a:moveTo>
                  <a:pt x="621725" y="0"/>
                </a:moveTo>
                <a:cubicBezTo>
                  <a:pt x="404131" y="31326"/>
                  <a:pt x="186538" y="62653"/>
                  <a:pt x="83245" y="162560"/>
                </a:cubicBezTo>
                <a:cubicBezTo>
                  <a:pt x="-20048" y="262467"/>
                  <a:pt x="1965" y="599440"/>
                  <a:pt x="1965" y="599440"/>
                </a:cubicBezTo>
                <a:lnTo>
                  <a:pt x="1965" y="599440"/>
                </a:lnTo>
              </a:path>
            </a:pathLst>
          </a:custGeom>
          <a:noFill/>
          <a:ln w="6350">
            <a:headEnd type="triangle" w="sm" len="sm"/>
            <a:tailEnd type="non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FD4743-5737-F3BD-88B0-A3FD004801AD}"/>
              </a:ext>
            </a:extLst>
          </p:cNvPr>
          <p:cNvSpPr txBox="1"/>
          <p:nvPr/>
        </p:nvSpPr>
        <p:spPr>
          <a:xfrm>
            <a:off x="6512837" y="1091974"/>
            <a:ext cx="22583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Each hidden node's output is multiplied by a new weight and added up at the output node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C869BCE8-8FDE-9884-4A42-84CC32E80D93}"/>
              </a:ext>
            </a:extLst>
          </p:cNvPr>
          <p:cNvSpPr/>
          <p:nvPr/>
        </p:nvSpPr>
        <p:spPr>
          <a:xfrm rot="11256719" flipH="1" flipV="1">
            <a:off x="5628065" y="1503707"/>
            <a:ext cx="828042" cy="911609"/>
          </a:xfrm>
          <a:custGeom>
            <a:avLst/>
            <a:gdLst>
              <a:gd name="csX0" fmla="*/ 621725 w 621725"/>
              <a:gd name="csY0" fmla="*/ 0 h 599440"/>
              <a:gd name="csX1" fmla="*/ 83245 w 621725"/>
              <a:gd name="csY1" fmla="*/ 162560 h 599440"/>
              <a:gd name="csX2" fmla="*/ 1965 w 621725"/>
              <a:gd name="csY2" fmla="*/ 599440 h 599440"/>
              <a:gd name="csX3" fmla="*/ 1965 w 621725"/>
              <a:gd name="csY3" fmla="*/ 599440 h 599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1725" h="599440">
                <a:moveTo>
                  <a:pt x="621725" y="0"/>
                </a:moveTo>
                <a:cubicBezTo>
                  <a:pt x="404131" y="31326"/>
                  <a:pt x="186538" y="62653"/>
                  <a:pt x="83245" y="162560"/>
                </a:cubicBezTo>
                <a:cubicBezTo>
                  <a:pt x="-20048" y="262467"/>
                  <a:pt x="1965" y="599440"/>
                  <a:pt x="1965" y="599440"/>
                </a:cubicBezTo>
                <a:lnTo>
                  <a:pt x="1965" y="599440"/>
                </a:lnTo>
              </a:path>
            </a:pathLst>
          </a:custGeom>
          <a:noFill/>
          <a:ln w="6350">
            <a:headEnd type="none" w="sm" len="sm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D8BD30-7550-D22A-E808-2BA28128AAF9}"/>
              </a:ext>
            </a:extLst>
          </p:cNvPr>
          <p:cNvSpPr txBox="1"/>
          <p:nvPr/>
        </p:nvSpPr>
        <p:spPr>
          <a:xfrm>
            <a:off x="5573363" y="4297490"/>
            <a:ext cx="3570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Also called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dense layer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— every node is connected to every node in the previous layer</a:t>
            </a:r>
          </a:p>
        </p:txBody>
      </p:sp>
    </p:spTree>
    <p:extLst>
      <p:ext uri="{BB962C8B-B14F-4D97-AF65-F5344CB8AC3E}">
        <p14:creationId xmlns:p14="http://schemas.microsoft.com/office/powerpoint/2010/main" val="130489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C362A-2949-8E20-8A2C-9A51655F8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69B552-8A86-22CC-2B53-DE3DCB3C9EE6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4CD2EF-C4A9-7AC4-96DD-DB5D1E386E77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Hidden Layer Activation Functions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C7AA9F-03AD-7EFC-A0F2-80C776EDF09D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D2F3EC-EA04-2BF6-A79B-902278252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460" y="1846525"/>
            <a:ext cx="2644119" cy="1565701"/>
          </a:xfrm>
          <a:prstGeom prst="rect">
            <a:avLst/>
          </a:prstGeom>
        </p:spPr>
      </p:pic>
      <p:pic>
        <p:nvPicPr>
          <p:cNvPr id="11" name="Picture 10" descr="A graph of a function  AI-generated content may be incorrect.">
            <a:extLst>
              <a:ext uri="{FF2B5EF4-FFF2-40B4-BE49-F238E27FC236}">
                <a16:creationId xmlns:a16="http://schemas.microsoft.com/office/drawing/2014/main" id="{EF94A903-867B-87C2-8328-280888CB3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480" y="1804124"/>
            <a:ext cx="2804326" cy="16692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401989-A85B-7849-E71B-3F57CA0506C1}"/>
              </a:ext>
            </a:extLst>
          </p:cNvPr>
          <p:cNvSpPr txBox="1"/>
          <p:nvPr/>
        </p:nvSpPr>
        <p:spPr>
          <a:xfrm>
            <a:off x="4146544" y="1129922"/>
            <a:ext cx="1445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Sigmoid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574A-268D-E19D-5A10-0C39B4411D26}"/>
              </a:ext>
            </a:extLst>
          </p:cNvPr>
          <p:cNvSpPr txBox="1"/>
          <p:nvPr/>
        </p:nvSpPr>
        <p:spPr>
          <a:xfrm>
            <a:off x="7194545" y="1134539"/>
            <a:ext cx="1445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Tanh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23DB53-7C80-90CF-92A6-BD420FC80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519" y="3651925"/>
            <a:ext cx="1524000" cy="488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FE6F2C-EA4E-D575-7C9B-36E94DAB8D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655" y="3651925"/>
            <a:ext cx="1730804" cy="51856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A4BC2E0-0BA5-2A4D-22C6-81A4568FE455}"/>
              </a:ext>
            </a:extLst>
          </p:cNvPr>
          <p:cNvGrpSpPr/>
          <p:nvPr/>
        </p:nvGrpSpPr>
        <p:grpSpPr>
          <a:xfrm>
            <a:off x="326361" y="1052835"/>
            <a:ext cx="2941090" cy="3583750"/>
            <a:chOff x="6528914" y="1316995"/>
            <a:chExt cx="2941090" cy="358375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4E9C9C8-5981-E602-9D00-A8C62696E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28914" y="2076263"/>
              <a:ext cx="2680623" cy="159541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53B682-06BF-051F-CA13-2AC5806FB7EE}"/>
                </a:ext>
              </a:extLst>
            </p:cNvPr>
            <p:cNvSpPr txBox="1"/>
            <p:nvPr/>
          </p:nvSpPr>
          <p:spPr>
            <a:xfrm>
              <a:off x="6868297" y="1316995"/>
              <a:ext cx="2341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ReLU</a:t>
              </a:r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(Re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ctified</a:t>
              </a:r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L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inear</a:t>
              </a:r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U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nit</a:t>
              </a:r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BB28D00-29A7-28CF-3EBE-DFD93E72C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11803" y="4024361"/>
              <a:ext cx="1714843" cy="23326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D8F178-0069-BE40-C689-DEC68AFE1890}"/>
                </a:ext>
              </a:extLst>
            </p:cNvPr>
            <p:cNvSpPr txBox="1"/>
            <p:nvPr/>
          </p:nvSpPr>
          <p:spPr>
            <a:xfrm>
              <a:off x="6844245" y="4562191"/>
              <a:ext cx="2625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Used for hidden layers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613716C-7258-1E8E-50D7-7B2B12A16222}"/>
              </a:ext>
            </a:extLst>
          </p:cNvPr>
          <p:cNvSpPr txBox="1"/>
          <p:nvPr/>
        </p:nvSpPr>
        <p:spPr>
          <a:xfrm>
            <a:off x="3511291" y="4298031"/>
            <a:ext cx="2965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Only used at output nodes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0CE1DB-BC99-64B7-B492-0819880D3B5E}"/>
              </a:ext>
            </a:extLst>
          </p:cNvPr>
          <p:cNvSpPr txBox="1"/>
          <p:nvPr/>
        </p:nvSpPr>
        <p:spPr>
          <a:xfrm>
            <a:off x="6434861" y="4298031"/>
            <a:ext cx="2965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More exotic less common</a:t>
            </a:r>
          </a:p>
        </p:txBody>
      </p:sp>
    </p:spTree>
    <p:extLst>
      <p:ext uri="{BB962C8B-B14F-4D97-AF65-F5344CB8AC3E}">
        <p14:creationId xmlns:p14="http://schemas.microsoft.com/office/powerpoint/2010/main" val="315340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B4A4C-13C8-3FC8-0C73-8233D8E6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FB57E2-579E-01DE-BF9C-3C30E52D0E41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46B38C-396A-022A-2337-955D3B7D82E2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Hidden Layers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41043B-D53F-2901-88EC-86516955ED6E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870DA3-90A5-8FF4-13B2-F85F2ECFE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2" t="20119" r="7102" b="4416"/>
          <a:stretch>
            <a:fillRect/>
          </a:stretch>
        </p:blipFill>
        <p:spPr>
          <a:xfrm>
            <a:off x="4343210" y="1300480"/>
            <a:ext cx="4624007" cy="369062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BFA7DEC4-752E-62A5-F14E-0214662577C1}"/>
              </a:ext>
            </a:extLst>
          </p:cNvPr>
          <p:cNvSpPr/>
          <p:nvPr/>
        </p:nvSpPr>
        <p:spPr>
          <a:xfrm>
            <a:off x="457200" y="1143300"/>
            <a:ext cx="3831526" cy="38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 to final output node: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CD06FA-0051-4A54-45F2-0828EDCC4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58412"/>
            <a:ext cx="3343004" cy="1277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85B9A8-9ED5-0EB6-8D13-41C5D563C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46482"/>
            <a:ext cx="4716150" cy="299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BA8C81-FCFB-B5FF-788A-7B771B64B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40510"/>
            <a:ext cx="3483610" cy="2387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334090-4E40-C2F7-94B2-494193A25F47}"/>
              </a:ext>
            </a:extLst>
          </p:cNvPr>
          <p:cNvSpPr txBox="1"/>
          <p:nvPr/>
        </p:nvSpPr>
        <p:spPr>
          <a:xfrm>
            <a:off x="274320" y="4487753"/>
            <a:ext cx="52994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Output neuron “sees” output of hidden layer nodes instead of raw data (hours listened, active days)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47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E004F-707D-CE88-8908-732C8318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85A292-84A3-C3F9-533D-921058677D76}"/>
              </a:ext>
            </a:extLst>
          </p:cNvPr>
          <p:cNvSpPr/>
          <p:nvPr/>
        </p:nvSpPr>
        <p:spPr>
          <a:xfrm>
            <a:off x="0" y="11485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Picture 28" descr="A diagram of a network  AI-generated content may be incorrect.">
            <a:extLst>
              <a:ext uri="{FF2B5EF4-FFF2-40B4-BE49-F238E27FC236}">
                <a16:creationId xmlns:a16="http://schemas.microsoft.com/office/drawing/2014/main" id="{0C59E1BD-8D37-90F1-2E09-6EEF87B6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066" y="1033787"/>
            <a:ext cx="4613887" cy="3075925"/>
          </a:xfrm>
          <a:prstGeom prst="rect">
            <a:avLst/>
          </a:prstGeom>
        </p:spPr>
      </p:pic>
      <p:pic>
        <p:nvPicPr>
          <p:cNvPr id="31" name="Picture 30" descr="A diagram of a network  AI-generated content may be incorrect.">
            <a:extLst>
              <a:ext uri="{FF2B5EF4-FFF2-40B4-BE49-F238E27FC236}">
                <a16:creationId xmlns:a16="http://schemas.microsoft.com/office/drawing/2014/main" id="{06AB1534-86FD-F4E5-5B7E-002687688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47" y="898672"/>
            <a:ext cx="3521542" cy="321104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0A376EE-7696-6EBC-1B53-F0A95E3B2F63}"/>
              </a:ext>
            </a:extLst>
          </p:cNvPr>
          <p:cNvSpPr txBox="1"/>
          <p:nvPr/>
        </p:nvSpPr>
        <p:spPr>
          <a:xfrm>
            <a:off x="1433523" y="719223"/>
            <a:ext cx="7080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Adding hidden layers gives the network additional capacity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 learn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B079B0-5C68-2D14-0CEA-3681E2194070}"/>
              </a:ext>
            </a:extLst>
          </p:cNvPr>
          <p:cNvSpPr txBox="1"/>
          <p:nvPr/>
        </p:nvSpPr>
        <p:spPr>
          <a:xfrm>
            <a:off x="1940818" y="4431064"/>
            <a:ext cx="5837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network’s configuration of nodes is called its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FA438768-F95C-DA97-7B47-D4DA2744BB0C}"/>
              </a:ext>
            </a:extLst>
          </p:cNvPr>
          <p:cNvCxnSpPr>
            <a:cxnSpLocks/>
          </p:cNvCxnSpPr>
          <p:nvPr/>
        </p:nvCxnSpPr>
        <p:spPr>
          <a:xfrm flipV="1">
            <a:off x="3160320" y="2464706"/>
            <a:ext cx="158613" cy="78971"/>
          </a:xfrm>
          <a:prstGeom prst="curvedConnector3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560A3905-ACA8-15CE-F15C-AF85210FFB83}"/>
              </a:ext>
            </a:extLst>
          </p:cNvPr>
          <p:cNvCxnSpPr>
            <a:cxnSpLocks/>
          </p:cNvCxnSpPr>
          <p:nvPr/>
        </p:nvCxnSpPr>
        <p:spPr>
          <a:xfrm flipV="1">
            <a:off x="8434639" y="2532263"/>
            <a:ext cx="158613" cy="78971"/>
          </a:xfrm>
          <a:prstGeom prst="curvedConnector3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7539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24AF0-3911-E336-094F-AB537C05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3A9C7B-805F-AA74-4FD9-5258A49D6CB0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Picture 24" descr="A diagram of a network  AI-generated content may be incorrect.">
            <a:extLst>
              <a:ext uri="{FF2B5EF4-FFF2-40B4-BE49-F238E27FC236}">
                <a16:creationId xmlns:a16="http://schemas.microsoft.com/office/drawing/2014/main" id="{E4775CEB-977F-8AC6-878A-A453555888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72"/>
          <a:stretch>
            <a:fillRect/>
          </a:stretch>
        </p:blipFill>
        <p:spPr>
          <a:xfrm>
            <a:off x="4273636" y="145648"/>
            <a:ext cx="4459494" cy="4343633"/>
          </a:xfrm>
          <a:prstGeom prst="rect">
            <a:avLst/>
          </a:prstGeom>
        </p:spPr>
      </p:pic>
      <p:pic>
        <p:nvPicPr>
          <p:cNvPr id="27" name="Picture 26" descr="A diagram of a network  AI-generated content may be incorrect.">
            <a:extLst>
              <a:ext uri="{FF2B5EF4-FFF2-40B4-BE49-F238E27FC236}">
                <a16:creationId xmlns:a16="http://schemas.microsoft.com/office/drawing/2014/main" id="{6D7F6C58-BD6D-92A7-2585-5C2C498E9A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172"/>
          <a:stretch>
            <a:fillRect/>
          </a:stretch>
        </p:blipFill>
        <p:spPr>
          <a:xfrm>
            <a:off x="287302" y="145648"/>
            <a:ext cx="3271444" cy="43436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8D8110-1996-57B1-6360-8CAB2C165056}"/>
              </a:ext>
            </a:extLst>
          </p:cNvPr>
          <p:cNvSpPr txBox="1"/>
          <p:nvPr/>
        </p:nvSpPr>
        <p:spPr>
          <a:xfrm>
            <a:off x="1392894" y="4650218"/>
            <a:ext cx="6358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How many weight parameters in the networks above (including biases)?</a:t>
            </a:r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1760977E-7FEC-865F-0AB8-769B6C96B2A7}"/>
              </a:ext>
            </a:extLst>
          </p:cNvPr>
          <p:cNvCxnSpPr>
            <a:cxnSpLocks/>
          </p:cNvCxnSpPr>
          <p:nvPr/>
        </p:nvCxnSpPr>
        <p:spPr>
          <a:xfrm flipV="1">
            <a:off x="3032432" y="2004308"/>
            <a:ext cx="158613" cy="78971"/>
          </a:xfrm>
          <a:prstGeom prst="curvedConnector3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AA956D98-69E6-1136-E19B-1C09A138302E}"/>
              </a:ext>
            </a:extLst>
          </p:cNvPr>
          <p:cNvCxnSpPr>
            <a:cxnSpLocks/>
          </p:cNvCxnSpPr>
          <p:nvPr/>
        </p:nvCxnSpPr>
        <p:spPr>
          <a:xfrm flipV="1">
            <a:off x="8211900" y="2004307"/>
            <a:ext cx="158613" cy="78971"/>
          </a:xfrm>
          <a:prstGeom prst="curvedConnector3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0241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Training Neural Networks: Backpropagation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We still use gradient descent, but need to deal with multiple hidden layers to calculate the gradient of the loss function correctly</a:t>
            </a:r>
            <a:b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Backpropagation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 each layer’s gradient to compute the gradient of the layer before it</a:t>
            </a:r>
          </a:p>
          <a:p>
            <a:pPr marL="0" indent="0">
              <a:lnSpc>
                <a:spcPts val="2000"/>
              </a:lnSpc>
              <a:buNone/>
            </a:pPr>
            <a:endParaRPr lang="en-US" sz="1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37D3A5-93B2-3FEE-03FE-8EE77A6F46E3}"/>
              </a:ext>
            </a:extLst>
          </p:cNvPr>
          <p:cNvGrpSpPr/>
          <p:nvPr/>
        </p:nvGrpSpPr>
        <p:grpSpPr>
          <a:xfrm>
            <a:off x="1663580" y="2102612"/>
            <a:ext cx="5316340" cy="2854544"/>
            <a:chOff x="1189381" y="1624674"/>
            <a:chExt cx="6042610" cy="32445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1BA8671-254E-E467-B55A-18F6607A6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6356" b="3195"/>
            <a:stretch>
              <a:fillRect/>
            </a:stretch>
          </p:blipFill>
          <p:spPr>
            <a:xfrm>
              <a:off x="1189381" y="1624674"/>
              <a:ext cx="6042610" cy="3244506"/>
            </a:xfrm>
            <a:prstGeom prst="rect">
              <a:avLst/>
            </a:prstGeom>
          </p:spPr>
        </p:pic>
        <p:cxnSp>
          <p:nvCxnSpPr>
            <p:cNvPr id="9" name="Curved Connector 8">
              <a:extLst>
                <a:ext uri="{FF2B5EF4-FFF2-40B4-BE49-F238E27FC236}">
                  <a16:creationId xmlns:a16="http://schemas.microsoft.com/office/drawing/2014/main" id="{EB5AABB7-9D0B-12B7-50A2-5E7DA2FAA7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2484" y="2903620"/>
              <a:ext cx="198409" cy="144637"/>
            </a:xfrm>
            <a:prstGeom prst="curvedConnector3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68186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Backpropagation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283F65B-20F0-7D31-B2A0-9E47956F02A0}"/>
              </a:ext>
            </a:extLst>
          </p:cNvPr>
          <p:cNvSpPr/>
          <p:nvPr/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20"/>
              </a:lnSpc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Repeat three steps:</a:t>
            </a:r>
            <a:b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Forward pass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: Pass each training data point through the network to compute total loss</a:t>
            </a:r>
            <a:b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Backward pass (Backprop)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: Compute gradient           for every weight in the network</a:t>
            </a:r>
            <a:b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: “Nudge” weights using gradient descent update rule to shrink loss slightly: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39096B-57E2-5640-D437-9D36F1739C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530" b="11130"/>
          <a:stretch>
            <a:fillRect/>
          </a:stretch>
        </p:blipFill>
        <p:spPr>
          <a:xfrm>
            <a:off x="685800" y="2193356"/>
            <a:ext cx="7772400" cy="21271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C17C25-06CA-D8B8-12ED-22D5C37BC458}"/>
              </a:ext>
            </a:extLst>
          </p:cNvPr>
          <p:cNvSpPr txBox="1"/>
          <p:nvPr/>
        </p:nvSpPr>
        <p:spPr>
          <a:xfrm>
            <a:off x="1676400" y="4320540"/>
            <a:ext cx="1834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Forward pass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AB4CC-803E-AFF9-6953-87434EA9707A}"/>
              </a:ext>
            </a:extLst>
          </p:cNvPr>
          <p:cNvSpPr txBox="1"/>
          <p:nvPr/>
        </p:nvSpPr>
        <p:spPr>
          <a:xfrm>
            <a:off x="5892800" y="4320540"/>
            <a:ext cx="1834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Backward pass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C0F4A5-6B13-25F3-407A-C5549D58C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50" y="1802398"/>
            <a:ext cx="1806022" cy="356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9C45F0-DD80-BB2A-1187-EF07244D6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583" y="1578542"/>
            <a:ext cx="319429" cy="250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7A9E2E-38D8-0DDB-FED2-7265C2D1409D}"/>
              </a:ext>
            </a:extLst>
          </p:cNvPr>
          <p:cNvSpPr txBox="1"/>
          <p:nvPr/>
        </p:nvSpPr>
        <p:spPr>
          <a:xfrm>
            <a:off x="1538616" y="4724064"/>
            <a:ext cx="6781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pass is many multiplication and additions – that’s it</a:t>
            </a:r>
          </a:p>
        </p:txBody>
      </p:sp>
    </p:spTree>
    <p:extLst>
      <p:ext uri="{BB962C8B-B14F-4D97-AF65-F5344CB8AC3E}">
        <p14:creationId xmlns:p14="http://schemas.microsoft.com/office/powerpoint/2010/main" val="356274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12B2-3F4D-32F8-1135-6A782F1F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605BF5-0356-6C56-2FD3-281FF39EF875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1ABC48-5DCB-DC09-7DB0-F4F11C5F1B83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Loss Surface of Neural Networks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D8A584A-CEFA-5FB7-0A24-21FE0E91EB9E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cture 2" descr="Residual Networks (ResNet) - Deep Learning - GeeksforGeeks">
            <a:extLst>
              <a:ext uri="{FF2B5EF4-FFF2-40B4-BE49-F238E27FC236}">
                <a16:creationId xmlns:a16="http://schemas.microsoft.com/office/drawing/2014/main" id="{BF89211D-ACB9-165E-4E2D-07B356508D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69" b="36800"/>
          <a:stretch>
            <a:fillRect/>
          </a:stretch>
        </p:blipFill>
        <p:spPr bwMode="auto">
          <a:xfrm rot="10800000">
            <a:off x="251659" y="3936292"/>
            <a:ext cx="8640679" cy="101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-up of a mountain&#10;&#10;AI-generated content may be incorrect.">
            <a:extLst>
              <a:ext uri="{FF2B5EF4-FFF2-40B4-BE49-F238E27FC236}">
                <a16:creationId xmlns:a16="http://schemas.microsoft.com/office/drawing/2014/main" id="{8F349422-7984-54CA-E882-6474A2F9B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757" y="1138594"/>
            <a:ext cx="3576320" cy="2718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690405-370F-4C8D-4841-306829095377}"/>
              </a:ext>
            </a:extLst>
          </p:cNvPr>
          <p:cNvSpPr txBox="1"/>
          <p:nvPr/>
        </p:nvSpPr>
        <p:spPr>
          <a:xfrm>
            <a:off x="457200" y="1138594"/>
            <a:ext cx="49055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Gradient descent = “rolling ball down a hill”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Loss surface of deep neural networks is often chaotic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no guarantee of finding optimal weights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9499F-A3B3-8835-9D1D-3637733DAFD3}"/>
              </a:ext>
            </a:extLst>
          </p:cNvPr>
          <p:cNvSpPr txBox="1"/>
          <p:nvPr/>
        </p:nvSpPr>
        <p:spPr>
          <a:xfrm>
            <a:off x="6096000" y="844779"/>
            <a:ext cx="2281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Resnet-56</a:t>
            </a:r>
          </a:p>
        </p:txBody>
      </p:sp>
    </p:spTree>
    <p:extLst>
      <p:ext uri="{BB962C8B-B14F-4D97-AF65-F5344CB8AC3E}">
        <p14:creationId xmlns:p14="http://schemas.microsoft.com/office/powerpoint/2010/main" val="1890815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B8703-EE30-929F-A230-43B1F852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3"/>
            <a:extLst>
              <a:ext uri="{FF2B5EF4-FFF2-40B4-BE49-F238E27FC236}">
                <a16:creationId xmlns:a16="http://schemas.microsoft.com/office/drawing/2014/main" id="{8ABD6471-F7A6-9D58-0AE7-AE2775F0D456}"/>
              </a:ext>
            </a:extLst>
          </p:cNvPr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Tensorflow Playground</a:t>
            </a:r>
            <a:endParaRPr lang="en-US" sz="3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1544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1C8FC83-A906-0C90-DE94-584BCC1108ED}"/>
              </a:ext>
            </a:extLst>
          </p:cNvPr>
          <p:cNvSpPr/>
          <p:nvPr/>
        </p:nvSpPr>
        <p:spPr>
          <a:xfrm rot="20158012">
            <a:off x="325465" y="1503335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BB8E8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15-min Break</a:t>
            </a:r>
            <a:endParaRPr lang="en-US" sz="8000" dirty="0">
              <a:solidFill>
                <a:srgbClr val="8BB8E8"/>
              </a:solidFill>
            </a:endParaRPr>
          </a:p>
        </p:txBody>
      </p:sp>
      <p:pic>
        <p:nvPicPr>
          <p:cNvPr id="5" name="Picture 8" descr="Sleepy Robot 3D Icons - Free Download in PNG, glTF">
            <a:extLst>
              <a:ext uri="{FF2B5EF4-FFF2-40B4-BE49-F238E27FC236}">
                <a16:creationId xmlns:a16="http://schemas.microsoft.com/office/drawing/2014/main" id="{EE34BB20-671D-D002-E849-A95D9C5D3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269" y="2646335"/>
            <a:ext cx="2315059" cy="231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Deep Neural Networks</a:t>
            </a:r>
            <a:endParaRPr lang="en-US" sz="3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A483F-24F3-FD38-0C87-7834F50A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66F782-C2AC-D428-10DD-A92D76095BE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3E6AD7-E316-02AE-F9BA-E4D19F54245A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Handwriting Recognition (MNIST)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18CEE6-D7B3-3F3B-5DAF-D7C3DDB126B9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82" name="Picture 10" descr="Going beyond 99% — MNIST Handwritten Digits Recognition | by Jay Gupta |  TDS Archive | Medium">
            <a:extLst>
              <a:ext uri="{FF2B5EF4-FFF2-40B4-BE49-F238E27FC236}">
                <a16:creationId xmlns:a16="http://schemas.microsoft.com/office/drawing/2014/main" id="{6790E73D-4CA8-219A-3D28-BA7949AD5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583" y="1050574"/>
            <a:ext cx="3987657" cy="272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Figure S2: MNIST handwritten digits dataset. | Download Scientific Diagram">
            <a:extLst>
              <a:ext uri="{FF2B5EF4-FFF2-40B4-BE49-F238E27FC236}">
                <a16:creationId xmlns:a16="http://schemas.microsoft.com/office/drawing/2014/main" id="{3091EF9A-7F6B-5A0D-56D0-1E15F5333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79" r="23928"/>
          <a:stretch>
            <a:fillRect/>
          </a:stretch>
        </p:blipFill>
        <p:spPr bwMode="auto">
          <a:xfrm>
            <a:off x="2559325" y="1050574"/>
            <a:ext cx="1067045" cy="4123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Figure S2: MNIST handwritten digits dataset. | Download Scientific Diagram">
            <a:extLst>
              <a:ext uri="{FF2B5EF4-FFF2-40B4-BE49-F238E27FC236}">
                <a16:creationId xmlns:a16="http://schemas.microsoft.com/office/drawing/2014/main" id="{499C27A8-7FFD-78A5-724D-C792402B5C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79" r="23928" b="75990"/>
          <a:stretch>
            <a:fillRect/>
          </a:stretch>
        </p:blipFill>
        <p:spPr bwMode="auto">
          <a:xfrm>
            <a:off x="358103" y="1050574"/>
            <a:ext cx="2201222" cy="204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50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DD4D3-7EC3-A929-14D1-A2814245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71DDB3-A840-8F68-2B8F-9BDCDD2A9DF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5C2B29-539F-4EBA-85CE-6319401BE0DB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Handwriting Recognition (MNIST)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CABCFD-2FC4-1A89-76DF-EFF4F1FF2126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MNIST database - Wikipedia">
            <a:extLst>
              <a:ext uri="{FF2B5EF4-FFF2-40B4-BE49-F238E27FC236}">
                <a16:creationId xmlns:a16="http://schemas.microsoft.com/office/drawing/2014/main" id="{F816B6A8-D22F-6BB0-65FC-55C90408E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231" y="1475296"/>
            <a:ext cx="5586832" cy="277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4074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7515E-A88E-6457-3453-6E2CAFDD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Example: classifying the MNIST dataset – Research Computing">
            <a:extLst>
              <a:ext uri="{FF2B5EF4-FFF2-40B4-BE49-F238E27FC236}">
                <a16:creationId xmlns:a16="http://schemas.microsoft.com/office/drawing/2014/main" id="{3F98DDC5-04B4-BE1B-260F-2B6FFF868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041" y="1007978"/>
            <a:ext cx="3075800" cy="3063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C0A9B9A1-CD5E-A7E9-6FE3-80EF9A96D9E4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A97C71-39E0-2452-2535-7B9AB720F9C8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Handwriting Recognition (MNIST)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D57865-D67F-CAF3-9DC6-420534ED001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78" name="Picture 6" descr="Example: classifying the MNIST dataset – Research Computing">
            <a:extLst>
              <a:ext uri="{FF2B5EF4-FFF2-40B4-BE49-F238E27FC236}">
                <a16:creationId xmlns:a16="http://schemas.microsoft.com/office/drawing/2014/main" id="{61DAB71C-87B0-79CE-1ACF-634C62956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31" y="994330"/>
            <a:ext cx="3261291" cy="323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Example: classifying the MNIST dataset – Research Computing">
            <a:extLst>
              <a:ext uri="{FF2B5EF4-FFF2-40B4-BE49-F238E27FC236}">
                <a16:creationId xmlns:a16="http://schemas.microsoft.com/office/drawing/2014/main" id="{DFDCE963-BD63-4B5B-BFD1-E1B4AADA6D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5" t="16164" r="45654" b="53674"/>
          <a:stretch>
            <a:fillRect/>
          </a:stretch>
        </p:blipFill>
        <p:spPr bwMode="auto">
          <a:xfrm>
            <a:off x="6309613" y="2373377"/>
            <a:ext cx="2505456" cy="2634434"/>
          </a:xfrm>
          <a:prstGeom prst="rect">
            <a:avLst/>
          </a:prstGeom>
          <a:noFill/>
          <a:ln w="5080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7471C4-1E9C-CABB-D68A-47F3403E243C}"/>
              </a:ext>
            </a:extLst>
          </p:cNvPr>
          <p:cNvSpPr/>
          <p:nvPr/>
        </p:nvSpPr>
        <p:spPr>
          <a:xfrm>
            <a:off x="4581625" y="1525515"/>
            <a:ext cx="837398" cy="886362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3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diagram of a computer network  AI-generated content may be incorrect.">
            <a:extLst>
              <a:ext uri="{FF2B5EF4-FFF2-40B4-BE49-F238E27FC236}">
                <a16:creationId xmlns:a16="http://schemas.microsoft.com/office/drawing/2014/main" id="{7AC6EFB6-E6DD-4A69-763B-87B6DF4CC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73" t="3755" r="12436" b="3842"/>
          <a:stretch>
            <a:fillRect/>
          </a:stretch>
        </p:blipFill>
        <p:spPr>
          <a:xfrm>
            <a:off x="3646870" y="923544"/>
            <a:ext cx="5076500" cy="414960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 Network for MNIST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8" descr="Example: classifying the MNIST dataset – Research Computing">
            <a:extLst>
              <a:ext uri="{FF2B5EF4-FFF2-40B4-BE49-F238E27FC236}">
                <a16:creationId xmlns:a16="http://schemas.microsoft.com/office/drawing/2014/main" id="{0C4B8F36-B1F9-9228-AFE0-50219B2C0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79" y="1871750"/>
            <a:ext cx="1845801" cy="18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4342A58-7992-2C86-63AE-A109AB02E01A}"/>
              </a:ext>
            </a:extLst>
          </p:cNvPr>
          <p:cNvSpPr txBox="1"/>
          <p:nvPr/>
        </p:nvSpPr>
        <p:spPr>
          <a:xfrm>
            <a:off x="1042182" y="1430399"/>
            <a:ext cx="1124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28 pixels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7DB67E-42F4-F2EB-D0B8-05EF5BFACA8A}"/>
              </a:ext>
            </a:extLst>
          </p:cNvPr>
          <p:cNvSpPr txBox="1"/>
          <p:nvPr/>
        </p:nvSpPr>
        <p:spPr>
          <a:xfrm rot="16200000">
            <a:off x="-202236" y="2660157"/>
            <a:ext cx="1124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28 pixels</a:t>
            </a: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2FB55CC2-F816-5C9E-EF9E-00F1656489D5}"/>
              </a:ext>
            </a:extLst>
          </p:cNvPr>
          <p:cNvSpPr/>
          <p:nvPr/>
        </p:nvSpPr>
        <p:spPr>
          <a:xfrm rot="5400000">
            <a:off x="1521090" y="902512"/>
            <a:ext cx="128609" cy="1762470"/>
          </a:xfrm>
          <a:prstGeom prst="leftBrace">
            <a:avLst>
              <a:gd name="adj1" fmla="val 8333"/>
              <a:gd name="adj2" fmla="val 5079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682D44F5-7E61-289A-6417-92C1D3411BD7}"/>
              </a:ext>
            </a:extLst>
          </p:cNvPr>
          <p:cNvSpPr/>
          <p:nvPr/>
        </p:nvSpPr>
        <p:spPr>
          <a:xfrm>
            <a:off x="524647" y="1900102"/>
            <a:ext cx="128609" cy="1762470"/>
          </a:xfrm>
          <a:prstGeom prst="leftBrace">
            <a:avLst>
              <a:gd name="adj1" fmla="val 8333"/>
              <a:gd name="adj2" fmla="val 5079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E2D2EC11-9A28-F089-E852-B6F4BF042984}"/>
              </a:ext>
            </a:extLst>
          </p:cNvPr>
          <p:cNvSpPr/>
          <p:nvPr/>
        </p:nvSpPr>
        <p:spPr>
          <a:xfrm>
            <a:off x="2705337" y="2706383"/>
            <a:ext cx="722076" cy="11381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C423A5-DFDF-885F-B0A5-DBFA144BF087}"/>
              </a:ext>
            </a:extLst>
          </p:cNvPr>
          <p:cNvSpPr txBox="1"/>
          <p:nvPr/>
        </p:nvSpPr>
        <p:spPr>
          <a:xfrm>
            <a:off x="341768" y="4109656"/>
            <a:ext cx="38763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784 → 128: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784 × 128 weights + 128 biases = 100,480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128 → 64: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128 × 64 + 64 = 8,256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64 → 10: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64 × 10 + 10 = 650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Total: 109,386 parameters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A7168-E7B0-751B-95EF-AB1DC9EF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76DB33-21F8-3C1E-58CC-9889945C6B42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560BEE-6DA2-1ABC-8147-E79590CB7E1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Softmax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 for Multi-Class Output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932B36-8FDC-DCC6-3FF6-8EFD7909370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 descr="A diagram of a computer  AI-generated content may be incorrect.">
            <a:extLst>
              <a:ext uri="{FF2B5EF4-FFF2-40B4-BE49-F238E27FC236}">
                <a16:creationId xmlns:a16="http://schemas.microsoft.com/office/drawing/2014/main" id="{811AF263-4341-21E5-B907-89706CE319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38" t="4903" r="11555" b="2804"/>
          <a:stretch>
            <a:fillRect/>
          </a:stretch>
        </p:blipFill>
        <p:spPr>
          <a:xfrm>
            <a:off x="279967" y="1113523"/>
            <a:ext cx="5267071" cy="4029977"/>
          </a:xfrm>
          <a:prstGeom prst="rect">
            <a:avLst/>
          </a:prstGeom>
        </p:spPr>
      </p:pic>
      <p:pic>
        <p:nvPicPr>
          <p:cNvPr id="12" name="Picture 11" descr="A diagram of a mathematical equation  AI-generated content may be incorrect.">
            <a:extLst>
              <a:ext uri="{FF2B5EF4-FFF2-40B4-BE49-F238E27FC236}">
                <a16:creationId xmlns:a16="http://schemas.microsoft.com/office/drawing/2014/main" id="{0945824B-54BE-85BA-9F03-A403FB4D1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233" y="1655547"/>
            <a:ext cx="3283800" cy="303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256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Stochastic Gradient Descent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321040" cy="18498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dirty="0">
                <a:solidFill>
                  <a:srgbClr val="000000"/>
                </a:solidFill>
                <a:latin typeface="Arial"/>
              </a:rPr>
              <a:t>Computing gradients on the full dataset is 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incredibly slow for </a:t>
            </a:r>
            <a:r>
              <a:rPr sz="1500" dirty="0">
                <a:solidFill>
                  <a:srgbClr val="000000"/>
                </a:solidFill>
                <a:latin typeface="Arial"/>
              </a:rPr>
              <a:t>large data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 (millions or billions) – weight updating becomes impossible</a:t>
            </a:r>
            <a:endParaRPr sz="15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600" dirty="0"/>
              <a:t>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500" b="1" dirty="0">
                <a:solidFill>
                  <a:srgbClr val="005587"/>
                </a:solidFill>
                <a:latin typeface="Arial"/>
              </a:rPr>
              <a:t>Stochastic gradient descent</a:t>
            </a:r>
            <a:r>
              <a:rPr lang="en-US" sz="1500" dirty="0">
                <a:solidFill>
                  <a:srgbClr val="005587"/>
                </a:solidFill>
                <a:latin typeface="Arial"/>
              </a:rPr>
              <a:t>: </a:t>
            </a:r>
            <a:r>
              <a:rPr lang="en-US" sz="1500" dirty="0">
                <a:latin typeface="Arial"/>
              </a:rPr>
              <a:t>divide data into </a:t>
            </a:r>
            <a:r>
              <a:rPr lang="en-US" sz="1500" b="1" dirty="0">
                <a:latin typeface="Arial"/>
              </a:rPr>
              <a:t>batches</a:t>
            </a:r>
            <a:r>
              <a:rPr lang="en-US" sz="1500" dirty="0">
                <a:latin typeface="Arial"/>
              </a:rPr>
              <a:t> (e.g., 32, 64) and do weight updates using the gradient only from the batch</a:t>
            </a:r>
            <a:br>
              <a:rPr lang="en-US" sz="1500" dirty="0">
                <a:latin typeface="Arial"/>
              </a:rPr>
            </a:br>
            <a:br>
              <a:rPr lang="en-US" sz="1500" dirty="0">
                <a:latin typeface="Arial"/>
              </a:rPr>
            </a:br>
            <a:r>
              <a:rPr lang="en-US" sz="1500" dirty="0">
                <a:latin typeface="Arial"/>
              </a:rPr>
              <a:t>Each full pass through the training data is 1 epoch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244A-415E-1D37-DB8B-D7460B06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F6C9A0-0EBE-B363-AE33-A2ECFB0EFA9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8E48EB-9C80-3DCE-58F2-DC46C90EC488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Stochastic Gradient Descent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9F56F17-7E8D-4F2E-DC1B-BE375B5E1F74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403AD0-6866-DD9D-AB5F-253836257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46" y="1018616"/>
            <a:ext cx="4502491" cy="26264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B535EC-F26F-6CB0-D1B3-E7AD92FD6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515" y="1681613"/>
            <a:ext cx="4629356" cy="244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5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Preventing Overfitting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59"/>
            <a:ext cx="8321040" cy="48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neural networks can have millions of parameters, can be prone to overfitting in small datasets</a:t>
            </a:r>
          </a:p>
        </p:txBody>
      </p:sp>
      <p:pic>
        <p:nvPicPr>
          <p:cNvPr id="3074" name="Picture 2" descr="Overfitting in Deep Learning: What Is It and How to Combat It? | Towards  Data Science">
            <a:extLst>
              <a:ext uri="{FF2B5EF4-FFF2-40B4-BE49-F238E27FC236}">
                <a16:creationId xmlns:a16="http://schemas.microsoft.com/office/drawing/2014/main" id="{DA3A3B69-0BFD-1CEE-AFB5-E0D19DA21B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1" t="17956" r="12207" b="20445"/>
          <a:stretch>
            <a:fillRect/>
          </a:stretch>
        </p:blipFill>
        <p:spPr bwMode="auto">
          <a:xfrm>
            <a:off x="4789423" y="1449105"/>
            <a:ext cx="4199323" cy="233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36908C-FC65-3E5F-DF64-6BC4C196138B}"/>
              </a:ext>
            </a:extLst>
          </p:cNvPr>
          <p:cNvSpPr txBox="1"/>
          <p:nvPr/>
        </p:nvSpPr>
        <p:spPr>
          <a:xfrm>
            <a:off x="365760" y="1758949"/>
            <a:ext cx="454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Arial"/>
              </a:rPr>
              <a:t>Early stopping: </a:t>
            </a:r>
            <a:r>
              <a:rPr lang="en-US" sz="1400" dirty="0">
                <a:latin typeface="Arial"/>
              </a:rPr>
              <a:t>Limit number of epochs</a:t>
            </a:r>
            <a:endParaRPr lang="en-US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8C7115-93AD-6CAD-4A7C-A21BC6E9891D}"/>
              </a:ext>
            </a:extLst>
          </p:cNvPr>
          <p:cNvSpPr txBox="1"/>
          <p:nvPr/>
        </p:nvSpPr>
        <p:spPr>
          <a:xfrm>
            <a:off x="365760" y="2278945"/>
            <a:ext cx="4572000" cy="58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400" b="1" dirty="0">
                <a:solidFill>
                  <a:srgbClr val="005587"/>
                </a:solidFill>
                <a:latin typeface="Arial"/>
              </a:rPr>
              <a:t>L2 regularization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: add </a:t>
            </a:r>
            <a:r>
              <a:rPr lang="el-GR" sz="1400" b="0" dirty="0">
                <a:solidFill>
                  <a:srgbClr val="000000"/>
                </a:solidFill>
                <a:latin typeface="Arial"/>
              </a:rPr>
              <a:t>λ·∑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w² to the loss to penalize large weights (same idea as Ridge)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1DB5EC-75EE-4DD3-AA21-AF3E1D743BA6}"/>
              </a:ext>
            </a:extLst>
          </p:cNvPr>
          <p:cNvSpPr txBox="1"/>
          <p:nvPr/>
        </p:nvSpPr>
        <p:spPr>
          <a:xfrm>
            <a:off x="365760" y="3067238"/>
            <a:ext cx="7676896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400" b="1" dirty="0">
                <a:solidFill>
                  <a:srgbClr val="005587"/>
                </a:solidFill>
                <a:latin typeface="Arial"/>
              </a:rPr>
              <a:t>Smaller network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: limit number of weight parameters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2FACA3-30B4-CF4C-6AA3-AD3D65F50D4A}"/>
              </a:ext>
            </a:extLst>
          </p:cNvPr>
          <p:cNvSpPr txBox="1"/>
          <p:nvPr/>
        </p:nvSpPr>
        <p:spPr>
          <a:xfrm>
            <a:off x="365760" y="3684859"/>
            <a:ext cx="7676896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400" b="1" dirty="0">
                <a:solidFill>
                  <a:srgbClr val="005587"/>
                </a:solidFill>
                <a:latin typeface="Arial"/>
              </a:rPr>
              <a:t>Get more data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: The best approach where possible</a:t>
            </a: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8F004443-B53E-216B-A702-2EEC5828D38F}"/>
              </a:ext>
            </a:extLst>
          </p:cNvPr>
          <p:cNvSpPr/>
          <p:nvPr/>
        </p:nvSpPr>
        <p:spPr>
          <a:xfrm>
            <a:off x="365760" y="4402716"/>
            <a:ext cx="8321040" cy="609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In practice, overfitting not a major concern anymore because of scale of datasets (entire internet)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AFCF0-E200-7505-392F-A1310C63A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A7F401-587B-8417-8E44-60E221A5B24D}"/>
              </a:ext>
            </a:extLst>
          </p:cNvPr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Deploying Deep Learning Models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87900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8E512-B4DD-6806-EF9B-D80C35957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0EC050-03FC-7567-A310-83A55BECF2B6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EF563A-4536-34D6-55F3-A74745DF0A8A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Computation and Hardware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27EE6C-76FE-33E6-7080-C27EAFE9B308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29EF89-AFD4-EF18-4ECD-3174AA3FABFA}"/>
              </a:ext>
            </a:extLst>
          </p:cNvPr>
          <p:cNvSpPr/>
          <p:nvPr/>
        </p:nvSpPr>
        <p:spPr>
          <a:xfrm>
            <a:off x="457200" y="1118000"/>
            <a:ext cx="8321040" cy="60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What does training a neural network look like in practice?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 large number of multiplication/additions from backpropagation – that’s all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Each epoch = 6 * number of weights * number of data points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9EEAFB-C9E4-05EA-BD97-733DC8AFD1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530" b="11130"/>
          <a:stretch>
            <a:fillRect/>
          </a:stretch>
        </p:blipFill>
        <p:spPr>
          <a:xfrm>
            <a:off x="457200" y="2833436"/>
            <a:ext cx="7772400" cy="212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265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3CDCA-B3F5-CD5C-B204-601AFDFB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A05896-CE08-3E8E-F19D-BFBA38C0D04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29DEC0-390D-64D8-4283-F4703146A609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Example: Training A “Small” LLM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5D6491-C97F-C998-C90C-50CCF98E0ED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FAF34A-EDA4-27A3-2F58-14BB1785F728}"/>
              </a:ext>
            </a:extLst>
          </p:cNvPr>
          <p:cNvSpPr/>
          <p:nvPr/>
        </p:nvSpPr>
        <p:spPr>
          <a:xfrm>
            <a:off x="457200" y="1118000"/>
            <a:ext cx="8321040" cy="60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LLama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3 8B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(released by Meta 2024):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8 billion parameters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15 trillion data points (i.e., words)</a:t>
            </a:r>
          </a:p>
          <a:p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6*(8 billion)*(15 trillion) = 7.2 x 10</a:t>
            </a:r>
            <a:r>
              <a:rPr lang="en-US" baseline="30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23 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720 sextillion) multiplication/additions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How to Install and Deploy LLaMA 3 Into Production?">
            <a:extLst>
              <a:ext uri="{FF2B5EF4-FFF2-40B4-BE49-F238E27FC236}">
                <a16:creationId xmlns:a16="http://schemas.microsoft.com/office/drawing/2014/main" id="{D297D057-5EB1-AE47-A516-D6E1C0F9D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424" y="2885521"/>
            <a:ext cx="3612896" cy="203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4809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C2A2F-3A57-1E0F-3C09-0CB36BCEC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E817EE-82B0-B290-F2A4-A62A9031EE9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71FCD95-5BB0-9B0A-1C16-47AED8137D3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8C2523-058D-8792-E1EB-C8043B36A736}"/>
              </a:ext>
            </a:extLst>
          </p:cNvPr>
          <p:cNvSpPr/>
          <p:nvPr/>
        </p:nvSpPr>
        <p:spPr>
          <a:xfrm>
            <a:off x="457200" y="1118000"/>
            <a:ext cx="8321040" cy="60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Graphical Processor Units (GPUs): Initially for video games, rendering millions of pixels per second simultaneously</a:t>
            </a:r>
            <a:b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Discovered to be the </a:t>
            </a:r>
            <a:r>
              <a:rPr lang="en-US" sz="1400" i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perfect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hardware for training massive neural networks – rendering 3D images and backprop both require enormous number of simple multiplication/addition</a:t>
            </a:r>
            <a:b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sz="14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Central Processing Units (CPUs) are much more sophisticated but limited in the number of simultaneous multiplications/additions they can do </a:t>
            </a:r>
            <a:endParaRPr lang="en-US" sz="1400" dirty="0"/>
          </a:p>
        </p:txBody>
      </p:sp>
      <p:pic>
        <p:nvPicPr>
          <p:cNvPr id="1026" name="Picture 2" descr="H100 GPU | NVIDIA">
            <a:extLst>
              <a:ext uri="{FF2B5EF4-FFF2-40B4-BE49-F238E27FC236}">
                <a16:creationId xmlns:a16="http://schemas.microsoft.com/office/drawing/2014/main" id="{81E1F169-E737-4821-B9F4-12A3E9C4D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105" y="3401932"/>
            <a:ext cx="2356910" cy="123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el® Xeon® 6 Processors for Networking and Edge">
            <a:extLst>
              <a:ext uri="{FF2B5EF4-FFF2-40B4-BE49-F238E27FC236}">
                <a16:creationId xmlns:a16="http://schemas.microsoft.com/office/drawing/2014/main" id="{C01CFA1E-7121-7831-4E95-C87B945FD2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45" t="4937" r="27711" b="4988"/>
          <a:stretch>
            <a:fillRect/>
          </a:stretch>
        </p:blipFill>
        <p:spPr bwMode="auto">
          <a:xfrm>
            <a:off x="1357628" y="3438018"/>
            <a:ext cx="909581" cy="123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98EB7E-0E17-A7E1-0343-6084A816C9A4}"/>
              </a:ext>
            </a:extLst>
          </p:cNvPr>
          <p:cNvSpPr txBox="1"/>
          <p:nvPr/>
        </p:nvSpPr>
        <p:spPr>
          <a:xfrm>
            <a:off x="793819" y="4678308"/>
            <a:ext cx="2356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CPU (Intel Xeon 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34DC9-2D8D-8637-C1FB-7DBAD63D318B}"/>
              </a:ext>
            </a:extLst>
          </p:cNvPr>
          <p:cNvSpPr txBox="1"/>
          <p:nvPr/>
        </p:nvSpPr>
        <p:spPr>
          <a:xfrm>
            <a:off x="4325247" y="4675396"/>
            <a:ext cx="2356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GPU (NVIDIA H100)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76D82361-C94A-3CDB-1CA9-2B3992A1F56A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Computation and Hardware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66601-27C1-B18B-0E71-6B15A27DC0CE}"/>
              </a:ext>
            </a:extLst>
          </p:cNvPr>
          <p:cNvSpPr txBox="1"/>
          <p:nvPr/>
        </p:nvSpPr>
        <p:spPr>
          <a:xfrm>
            <a:off x="2442318" y="3816501"/>
            <a:ext cx="14168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~100 trillion multiply-adds/sec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D1AEB-7EAC-532C-25EC-82B9F4748A2B}"/>
              </a:ext>
            </a:extLst>
          </p:cNvPr>
          <p:cNvSpPr txBox="1"/>
          <p:nvPr/>
        </p:nvSpPr>
        <p:spPr>
          <a:xfrm>
            <a:off x="6682156" y="3805177"/>
            <a:ext cx="14168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~4,000 trillion multiply-adds/sec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4A427B-0E6C-2FEA-40FB-2BFE0CC70DCF}"/>
              </a:ext>
            </a:extLst>
          </p:cNvPr>
          <p:cNvSpPr txBox="1"/>
          <p:nvPr/>
        </p:nvSpPr>
        <p:spPr>
          <a:xfrm>
            <a:off x="864459" y="3174952"/>
            <a:ext cx="20467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“100 Swiss Army knives”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65930B-2A47-0D07-849A-5D26451553FF}"/>
              </a:ext>
            </a:extLst>
          </p:cNvPr>
          <p:cNvSpPr txBox="1"/>
          <p:nvPr/>
        </p:nvSpPr>
        <p:spPr>
          <a:xfrm>
            <a:off x="4635438" y="3104235"/>
            <a:ext cx="20467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“100,000 hammers”</a:t>
            </a:r>
          </a:p>
        </p:txBody>
      </p:sp>
    </p:spTree>
    <p:extLst>
      <p:ext uri="{BB962C8B-B14F-4D97-AF65-F5344CB8AC3E}">
        <p14:creationId xmlns:p14="http://schemas.microsoft.com/office/powerpoint/2010/main" val="143896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2" grpId="0"/>
      <p:bldP spid="1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3B89E-01DC-29A6-49F0-F4C056FA8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171EB3-FCD9-9195-02A0-7FB94316EC5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69373F-8BAB-F25B-063D-8416FF013AEE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Deep Learning Packages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7B5049-5273-FEFE-4B61-15E17997468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E39D9A-F2C2-EEC0-73BB-77C8880CD439}"/>
              </a:ext>
            </a:extLst>
          </p:cNvPr>
          <p:cNvSpPr/>
          <p:nvPr/>
        </p:nvSpPr>
        <p:spPr>
          <a:xfrm>
            <a:off x="457200" y="1051559"/>
            <a:ext cx="8321040" cy="604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dominant Python packages for industry-strength deep learning models</a:t>
            </a:r>
            <a:endParaRPr lang="en-US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DF483F6-D90F-686D-897F-76EB08016980}"/>
              </a:ext>
            </a:extLst>
          </p:cNvPr>
          <p:cNvSpPr/>
          <p:nvPr/>
        </p:nvSpPr>
        <p:spPr>
          <a:xfrm>
            <a:off x="548640" y="1901698"/>
            <a:ext cx="8046720" cy="2345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 err="1">
                <a:solidFill>
                  <a:srgbClr val="005587"/>
                </a:solidFill>
                <a:latin typeface="Arial"/>
              </a:rPr>
              <a:t>PyTorch</a:t>
            </a:r>
            <a:r>
              <a:rPr lang="en-US" sz="16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: </a:t>
            </a: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Created by Meta (2016). Default for AI research and most frontier model training. Super flexible and allows fine-grained optimization and customization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005587"/>
                </a:solidFill>
                <a:latin typeface="Arial"/>
              </a:rPr>
              <a:t>TensorFlow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Created by Google (2015). Good for rapid prototyping, mobile apps. Useful </a:t>
            </a:r>
            <a:r>
              <a:rPr lang="en-US" sz="1400" dirty="0" err="1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Keras</a:t>
            </a: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interface makes coding easy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005587"/>
                </a:solidFill>
                <a:latin typeface="Arial"/>
                <a:cs typeface="Arial" panose="020B0604020202020204" pitchFamily="34" charset="0"/>
              </a:rPr>
              <a:t>JAX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Created by Google (2018). Google's newer framework for its own frontier models. Optimized for Google's TPU hardware.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0924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CE67-C81D-A450-E78F-E7496440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E3E0DE-A9BC-0F58-7471-3BB90A718B3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4C8253-E806-7527-537A-0819F29C8261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Who uses what?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274876D-C024-1EBA-9578-9933DCF8B66E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53D310B9-99BA-0582-197E-79299A591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641498"/>
              </p:ext>
            </p:extLst>
          </p:nvPr>
        </p:nvGraphicFramePr>
        <p:xfrm>
          <a:off x="548640" y="1657350"/>
          <a:ext cx="8229599" cy="1828800"/>
        </p:xfrm>
        <a:graphic>
          <a:graphicData uri="http://schemas.openxmlformats.org/drawingml/2006/table">
            <a:tbl>
              <a:tblPr/>
              <a:tblGrid>
                <a:gridCol w="72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38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33039">
                  <a:extLst>
                    <a:ext uri="{9D8B030D-6E8A-4147-A177-3AD203B41FA5}">
                      <a16:colId xmlns:a16="http://schemas.microsoft.com/office/drawing/2014/main" val="109464097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2016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Translate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TensorFlow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Cloud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Tensor Processing Unit (TPU)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GPT-2  (OpenAI)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TensorFlow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Cloud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TPUs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2020–23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GPT-3 / GPT-4  (OpenAI)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Azure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A100 / H100 GPUs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2024–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 (Anthropic)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JAX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AWS, Google Cloud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TPUs, AWS </a:t>
                      </a:r>
                      <a:r>
                        <a:rPr lang="en-US" sz="900" dirty="0" err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Trainium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NVIDIA GPUs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2024–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 &amp; 4  (Meta)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Meta's own data centers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H100 GPUs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2024–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 (Google DeepMind)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JAX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Cloud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TPUs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2022–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 Diffusion  (Stability AI)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A100 GPUs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6535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lab: An easy way to learn and use TensorFlow | by TensorFlow | TensorFlow  | Medium">
            <a:hlinkClick r:id="rId3"/>
            <a:extLst>
              <a:ext uri="{FF2B5EF4-FFF2-40B4-BE49-F238E27FC236}">
                <a16:creationId xmlns:a16="http://schemas.microsoft.com/office/drawing/2014/main" id="{03832D94-8E1A-83BA-A499-D684A049C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87" y="1929719"/>
            <a:ext cx="2905025" cy="1284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Assignment 4</a:t>
            </a:r>
            <a:endParaRPr lang="en-US" sz="3600" dirty="0">
              <a:solidFill>
                <a:srgbClr val="FFD1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BC3E3-FBBC-87C8-6BBB-BDCA487EB9BD}"/>
              </a:ext>
            </a:extLst>
          </p:cNvPr>
          <p:cNvSpPr txBox="1"/>
          <p:nvPr/>
        </p:nvSpPr>
        <p:spPr>
          <a:xfrm>
            <a:off x="3249038" y="25681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Glossary (1/3)</a:t>
            </a:r>
          </a:p>
        </p:txBody>
      </p:sp>
      <p:sp>
        <p:nvSpPr>
          <p:cNvPr id="103" name="Rectangle"/>
          <p:cNvSpPr/>
          <p:nvPr/>
        </p:nvSpPr>
        <p:spPr>
          <a:xfrm>
            <a:off x="457200" y="896112"/>
            <a:ext cx="83210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621792" y="10515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Neural Network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9271" y="105156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model made of layers of interconnected neurons that learns complex patterns by adjusting connection weights during training.</a:t>
            </a:r>
          </a:p>
        </p:txBody>
      </p:sp>
      <p:sp>
        <p:nvSpPr>
          <p:cNvPr id="107" name="Rectangle"/>
          <p:cNvSpPr/>
          <p:nvPr/>
        </p:nvSpPr>
        <p:spPr>
          <a:xfrm>
            <a:off x="457200" y="1609344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621792" y="1609344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Neuron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19271" y="1609344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The basic unit of a neural network: computes a weighted sum of inputs, adds a bias, and applies an activation function.</a:t>
            </a:r>
          </a:p>
        </p:txBody>
      </p:sp>
      <p:sp>
        <p:nvSpPr>
          <p:cNvPr id="110" name="Rectangle"/>
          <p:cNvSpPr/>
          <p:nvPr/>
        </p:nvSpPr>
        <p:spPr>
          <a:xfrm>
            <a:off x="457200" y="2048256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621792" y="2048256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Activation Function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9271" y="2048256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nonlinear function applied after the weighted sum in a neuron, enabling the network to learn complex patterns. Common examples: ReLU, sigmoid.</a:t>
            </a:r>
          </a:p>
        </p:txBody>
      </p:sp>
      <p:sp>
        <p:nvSpPr>
          <p:cNvPr id="113" name="Rectangle"/>
          <p:cNvSpPr/>
          <p:nvPr/>
        </p:nvSpPr>
        <p:spPr>
          <a:xfrm>
            <a:off x="457200" y="2606040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621792" y="260604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Sigmoid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1" y="260604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An activation function that squashes any value to a probability between 0 and 1, used for binary classification outputs.</a:t>
            </a:r>
          </a:p>
        </p:txBody>
      </p:sp>
      <p:sp>
        <p:nvSpPr>
          <p:cNvPr id="116" name="Rectangle"/>
          <p:cNvSpPr/>
          <p:nvPr/>
        </p:nvSpPr>
        <p:spPr>
          <a:xfrm>
            <a:off x="457200" y="3044952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621792" y="304495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ReLU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9271" y="3044952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Rectified Linear Unit: an activation function that outputs zero for negative inputs and passes positive inputs through unchanged. The default choice for hidden layers.</a:t>
            </a:r>
          </a:p>
        </p:txBody>
      </p:sp>
      <p:sp>
        <p:nvSpPr>
          <p:cNvPr id="119" name="Rectangle"/>
          <p:cNvSpPr/>
          <p:nvPr/>
        </p:nvSpPr>
        <p:spPr>
          <a:xfrm>
            <a:off x="457200" y="3602736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Box 119"/>
          <p:cNvSpPr txBox="1"/>
          <p:nvPr/>
        </p:nvSpPr>
        <p:spPr>
          <a:xfrm>
            <a:off x="621792" y="3602736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Binary Cross-Entropy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19271" y="3602736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loss function for binary classification that measures how far predicted probabilities are from the true 0/1 labels.</a:t>
            </a:r>
          </a:p>
        </p:txBody>
      </p:sp>
      <p:sp>
        <p:nvSpPr>
          <p:cNvPr id="122" name="Rectangle"/>
          <p:cNvSpPr/>
          <p:nvPr/>
        </p:nvSpPr>
        <p:spPr>
          <a:xfrm>
            <a:off x="457200" y="4041648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Box 122"/>
          <p:cNvSpPr txBox="1"/>
          <p:nvPr/>
        </p:nvSpPr>
        <p:spPr>
          <a:xfrm>
            <a:off x="621792" y="404164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Gradient Descent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19271" y="4041648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An optimization algorithm that iteratively adjusts weights in the direction that reduces the loss, like walking downhill to find the lowest valley.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Glossary (2/3)</a:t>
            </a:r>
          </a:p>
        </p:txBody>
      </p:sp>
      <p:sp>
        <p:nvSpPr>
          <p:cNvPr id="103" name="Rectangle"/>
          <p:cNvSpPr/>
          <p:nvPr/>
        </p:nvSpPr>
        <p:spPr>
          <a:xfrm>
            <a:off x="457200" y="896112"/>
            <a:ext cx="83210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621792" y="10515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Learning Rate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9271" y="105156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hyperparameter in gradient descent that controls the step size of each weight update; too high risks overshooting the minimum, too low makes training slow.</a:t>
            </a:r>
          </a:p>
        </p:txBody>
      </p:sp>
      <p:sp>
        <p:nvSpPr>
          <p:cNvPr id="107" name="Rectangle"/>
          <p:cNvSpPr/>
          <p:nvPr/>
        </p:nvSpPr>
        <p:spPr>
          <a:xfrm>
            <a:off x="457200" y="1609344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621792" y="1609344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Backpropagation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19271" y="1609344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The algorithm for computing how much each weight in the network contributed to the error, so gradient descent can update all weights efficiently.</a:t>
            </a:r>
          </a:p>
        </p:txBody>
      </p:sp>
      <p:sp>
        <p:nvSpPr>
          <p:cNvPr id="110" name="Rectangle"/>
          <p:cNvSpPr/>
          <p:nvPr/>
        </p:nvSpPr>
        <p:spPr>
          <a:xfrm>
            <a:off x="457200" y="2167128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621792" y="216712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Hidden Layer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9271" y="2167128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layer of neurons between the input and output layers that learns intermediate representations of the data.</a:t>
            </a:r>
          </a:p>
        </p:txBody>
      </p:sp>
      <p:sp>
        <p:nvSpPr>
          <p:cNvPr id="113" name="Rectangle"/>
          <p:cNvSpPr/>
          <p:nvPr/>
        </p:nvSpPr>
        <p:spPr>
          <a:xfrm>
            <a:off x="457200" y="2606040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621792" y="260604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Epoch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1" y="260604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One complete pass through the entire training dataset. Models typically train for 10 to 100 epochs.</a:t>
            </a:r>
          </a:p>
        </p:txBody>
      </p:sp>
      <p:sp>
        <p:nvSpPr>
          <p:cNvPr id="116" name="Rectangle"/>
          <p:cNvSpPr/>
          <p:nvPr/>
        </p:nvSpPr>
        <p:spPr>
          <a:xfrm>
            <a:off x="457200" y="3044952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621792" y="3044952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Softmax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9271" y="3044952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An activation function for multi-class output that converts raw scores into probabilities summing to 1, one per class.</a:t>
            </a:r>
          </a:p>
        </p:txBody>
      </p:sp>
      <p:sp>
        <p:nvSpPr>
          <p:cNvPr id="122" name="Rectangle"/>
          <p:cNvSpPr/>
          <p:nvPr/>
        </p:nvSpPr>
        <p:spPr>
          <a:xfrm>
            <a:off x="448811" y="3529919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Box 122"/>
          <p:cNvSpPr txBox="1"/>
          <p:nvPr/>
        </p:nvSpPr>
        <p:spPr>
          <a:xfrm>
            <a:off x="613403" y="3529919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Early Stopping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10882" y="3529919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000000"/>
                </a:solidFill>
                <a:latin typeface="Arial"/>
              </a:rPr>
              <a:t>Halting training when validation performance stops improving, to prevent overfitting.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Glossary (3/3)</a:t>
            </a:r>
          </a:p>
        </p:txBody>
      </p:sp>
      <p:sp>
        <p:nvSpPr>
          <p:cNvPr id="103" name="Rectangle"/>
          <p:cNvSpPr/>
          <p:nvPr/>
        </p:nvSpPr>
        <p:spPr>
          <a:xfrm>
            <a:off x="457200" y="896112"/>
            <a:ext cx="83210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621792" y="10515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Perceptron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9271" y="1051560"/>
            <a:ext cx="53035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000000"/>
                </a:solidFill>
                <a:latin typeface="Arial"/>
              </a:rPr>
              <a:t>Rosenblatt's 1958 single-layer neural network; a foundational model that could only handle 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simple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problems.</a:t>
            </a:r>
          </a:p>
        </p:txBody>
      </p:sp>
      <p:sp>
        <p:nvSpPr>
          <p:cNvPr id="107" name="Rectangle"/>
          <p:cNvSpPr/>
          <p:nvPr/>
        </p:nvSpPr>
        <p:spPr>
          <a:xfrm>
            <a:off x="457200" y="1609344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621792" y="1609344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Representation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19271" y="1609344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The internal features a neural network learns from raw input data, replacing hand-engineered features used in traditional models.</a:t>
            </a:r>
          </a:p>
        </p:txBody>
      </p:sp>
      <p:sp>
        <p:nvSpPr>
          <p:cNvPr id="110" name="Rectangle"/>
          <p:cNvSpPr/>
          <p:nvPr/>
        </p:nvSpPr>
        <p:spPr>
          <a:xfrm>
            <a:off x="457200" y="2167128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621792" y="216712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Architecture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9271" y="2167128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The specific configuration of layers, nodes, and connections that defines a neural network's structure and capacity.</a:t>
            </a:r>
          </a:p>
        </p:txBody>
      </p:sp>
      <p:sp>
        <p:nvSpPr>
          <p:cNvPr id="113" name="Rectangle"/>
          <p:cNvSpPr/>
          <p:nvPr/>
        </p:nvSpPr>
        <p:spPr>
          <a:xfrm>
            <a:off x="457200" y="2606040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621792" y="260604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Stochastic Gradient Descent (SGD)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1" y="260604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version of gradient descent that updates weights using small batches of data (e.g., 32 or 64 samples) at a time, making training feasible on massive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4389</TotalTime>
  <Words>2964</Words>
  <Application>Microsoft Macintosh PowerPoint</Application>
  <PresentationFormat>On-screen Show (16:9)</PresentationFormat>
  <Paragraphs>547</Paragraphs>
  <Slides>61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Aptos Narrow</vt:lpstr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MGMT298D Week 4 - Neural Networks</dc:title>
  <dc:subject>PptxGenJS Presentation</dc:subject>
  <dc:creator>Auyon Siddiq</dc:creator>
  <cp:lastModifiedBy>Siddiq, Auyon</cp:lastModifiedBy>
  <cp:revision>487</cp:revision>
  <dcterms:created xsi:type="dcterms:W3CDTF">2026-02-16T04:07:09Z</dcterms:created>
  <dcterms:modified xsi:type="dcterms:W3CDTF">2026-04-21T00:29:55Z</dcterms:modified>
</cp:coreProperties>
</file>