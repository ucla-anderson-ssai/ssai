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04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vast.ai/pricing" TargetMode="Externa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098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Whitney Bold"/>
              </a:rPr>
              <a:t>MGMT298D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Whitney Bold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098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Auyon Siddiq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24423" y="354592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 dirty="0">
                <a:solidFill>
                  <a:srgbClr val="000000"/>
                </a:solidFill>
                <a:latin typeface="Arial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>
                <a:solidFill>
                  <a:srgbClr val="000000"/>
                </a:solidFill>
                <a:latin typeface="Arial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>
                <a:solidFill>
                  <a:srgbClr val="000000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41080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641080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641080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641080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641080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0000"/>
                </a:solidFill>
                <a:latin typeface="Arial"/>
              </a:rPr>
              <a:t>p_i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 =  exp(</a:t>
            </a:r>
            <a:r>
              <a:rPr sz="1800" b="1" dirty="0" err="1">
                <a:solidFill>
                  <a:srgbClr val="000000"/>
                </a:solidFill>
                <a:latin typeface="Arial"/>
              </a:rPr>
              <a:t>z_i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/ T) / </a:t>
            </a:r>
            <a:r>
              <a:rPr sz="1800" b="1" dirty="0" err="1">
                <a:solidFill>
                  <a:srgbClr val="000000"/>
                </a:solidFill>
                <a:latin typeface="Arial"/>
              </a:rPr>
              <a:t>Σ_j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exp(</a:t>
            </a:r>
            <a:r>
              <a:rPr sz="1800" b="1" dirty="0" err="1">
                <a:solidFill>
                  <a:srgbClr val="000000"/>
                </a:solidFill>
                <a:latin typeface="Arial"/>
              </a:rPr>
              <a:t>z_j</a:t>
            </a:r>
            <a:r>
              <a:rPr sz="1800" b="1" dirty="0">
                <a:solidFill>
                  <a:srgbClr val="000000"/>
                </a:solidFill>
                <a:latin typeface="Arial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dirty="0" b="0">
                <a:solidFill>
                  <a:srgbClr val="000000"/>
                </a:solidFill>
                <a:latin typeface="Arial"/>
              </a:rPr>
              <a:t>Temperature is a knob the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 AI service provider </a:t>
            </a:r>
            <a:r>
              <a:rPr sz="1400" dirty="0" b="0">
                <a:solidFill>
                  <a:srgbClr val="000000"/>
                </a:solidFill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Arial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Arial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Arial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 b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b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0000"/>
                </a:solidFill>
                <a:latin typeface="Arial"/>
              </a:rPr>
              <a:t>tiny step sizes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dirty="0" b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 b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.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000"/>
            <a:ext cx="832104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85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Arial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Arial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Arial"/>
              </a:rPr>
              <a:t>assistant response </a:t>
            </a:r>
            <a:r>
              <a:rPr sz="1000" b="1" dirty="0">
                <a:solidFill>
                  <a:srgbClr val="000000"/>
                </a:solidFill>
                <a:latin typeface="Arial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dirty="0" b="0">
                <a:solidFill>
                  <a:srgbClr val="000000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Sign in at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netflix.com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New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behavior is entirely due to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Catastrophic forgetting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Style drift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Can’t shape preferences: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 b="0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229600" cy="296710"/>
          </a:xfrm>
          <a:prstGeom prst="rect">
            <a:avLst/>
          </a:prstGeom>
          <a:noFill/>
          <a:effectLst/>
        </p:spPr>
        <p:txBody>
          <a:bodyPr wrap="square" lIns="50000" tIns="25000" rIns="50000" bIns="25000" anchor="ctr">
            <a:norm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5000"/>
            <a:ext cx="6885218" cy="5232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000"/>
            <a:ext cx="8321040" cy="48000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07" y="214570"/>
            <a:ext cx="8321040" cy="430887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8717"/>
            <a:ext cx="832104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  <a:effectLst/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Synthetic data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Distillation</a:t>
            </a:r>
            <a:r>
              <a:rPr dirty="0" b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 b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6695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6348" tIns="-4761" rIns="-6348" bIns="-4761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solidFill>
              <a:srgbClr val="003C7D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5587"/>
                </a:solidFill>
                <a:effectLst/>
                <a:latin typeface="Whitney Bold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b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Whitney Bold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 dirty="0">
                <a:solidFill>
                  <a:srgbClr val="000000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3646803" cy="193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Reasoning: 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40000"/>
            <a:ext cx="832104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Chain-of-thought means the model generates intermediate reasoning steps before giving a final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1640000"/>
            <a:ext cx="382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5587"/>
                </a:solidFill>
                <a:latin typeface="Arial"/>
              </a:rPr>
              <a:t>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20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206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No weight update. </a:t>
            </a:r>
            <a:r>
              <a:rPr sz="1550" b="0">
                <a:solidFill>
                  <a:srgbClr val="000000"/>
                </a:solidFill>
                <a:latin typeface="Arial"/>
              </a:rPr>
              <a:t>The user asks for reasoning, e.g., “think step by step.”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" y="253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00" y="253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Uses the context window. </a:t>
            </a:r>
            <a:r>
              <a:rPr sz="1550" b="0">
                <a:solidFill>
                  <a:srgbClr val="000000"/>
                </a:solidFill>
                <a:latin typeface="Arial"/>
              </a:rPr>
              <a:t>The reasoning tokens become part of the sequence the model can attend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300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Useful at inference time. </a:t>
            </a:r>
            <a:r>
              <a:rPr sz="1550" b="0">
                <a:solidFill>
                  <a:srgbClr val="000000"/>
                </a:solidFill>
                <a:latin typeface="Arial"/>
              </a:rPr>
              <a:t>It can improve hard answers without retraining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000" y="1640000"/>
            <a:ext cx="360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5587"/>
                </a:solidFill>
                <a:latin typeface="Arial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000" y="20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0000" y="206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Weight update. </a:t>
            </a:r>
            <a:r>
              <a:rPr sz="1550" b="0">
                <a:solidFill>
                  <a:srgbClr val="000000"/>
                </a:solidFill>
                <a:latin typeface="Arial"/>
              </a:rPr>
              <a:t>The model is trained on examples that include intermediate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000" y="253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000" y="253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Learns a behavior. </a:t>
            </a:r>
            <a:r>
              <a:rPr sz="1550" b="0">
                <a:solidFill>
                  <a:srgbClr val="000000"/>
                </a:solidFill>
                <a:latin typeface="Arial"/>
              </a:rPr>
              <a:t>Hard problems should often use scratch-work before the final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0000" y="300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Arial"/>
              </a:rPr>
              <a:t>Can be post-trained. </a:t>
            </a:r>
            <a:r>
              <a:rPr sz="1550" b="0">
                <a:solidFill>
                  <a:srgbClr val="000000"/>
                </a:solidFill>
                <a:latin typeface="Arial"/>
              </a:rPr>
              <a:t>Frontier labs can reward helpful reasoning patterns during post-training.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000" y="4140000"/>
            <a:ext cx="718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000000"/>
                </a:solidFill>
                <a:latin typeface="Arial"/>
              </a:rPr>
              <a:t>Same basic idea: spend more tokens on intermediate reasoning before committing to an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Sources: Wei et al. (2022), Chain-of-Thought Prompting; Kojima et al. (2022), Zero-shot Chain-of-Thought.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Reasoning: Self Consistency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40000"/>
            <a:ext cx="832104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Instead of trusting one reasoning path, sample several paths and take the answer that appears most often.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Prompt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same 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0000" y="2170000"/>
            <a:ext cx="470000" cy="0"/>
          </a:xfrm>
          <a:prstGeom prst="line">
            <a:avLst/>
          </a:prstGeom>
          <a:ln w="1778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Sample paths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different reasoning traces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20000" y="2170000"/>
            <a:ext cx="470000" cy="0"/>
          </a:xfrm>
          <a:prstGeom prst="line">
            <a:avLst/>
          </a:prstGeom>
          <a:ln w="1778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Vote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majority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0000"/>
                </a:solidFill>
                <a:latin typeface="Arial"/>
              </a:rPr>
              <a:t>Why it helps. </a:t>
            </a:r>
            <a:r>
              <a:rPr sz="1750" b="0">
                <a:solidFill>
                  <a:srgbClr val="000000"/>
                </a:solidFill>
                <a:latin typeface="Arial"/>
              </a:rPr>
              <a:t>A single reasoning chain can go off track; agreement across multiple chains is a stronger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348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000" y="348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0000"/>
                </a:solidFill>
                <a:latin typeface="Arial"/>
              </a:rPr>
              <a:t>What it costs. </a:t>
            </a:r>
            <a:r>
              <a:rPr sz="1750" b="0">
                <a:solidFill>
                  <a:srgbClr val="000000"/>
                </a:solidFill>
                <a:latin typeface="Arial"/>
              </a:rPr>
              <a:t>If you sample 5 reasoning paths, you may spend roughly 5× more inference tokens.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39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396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0000"/>
                </a:solidFill>
                <a:latin typeface="Arial"/>
              </a:rPr>
              <a:t>Where it is useful. </a:t>
            </a:r>
            <a:r>
              <a:rPr sz="1750" b="0">
                <a:solidFill>
                  <a:srgbClr val="000000"/>
                </a:solidFill>
                <a:latin typeface="Arial"/>
              </a:rPr>
              <a:t>Math, coding, planning, and other tasks where there is a clear final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Source: Wang et al. (2022), Self-Consistency Improves Chain of Thought Reasoning.</a:t>
            </a:r>
          </a:p>
        </p:txBody>
      </p: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005587"/>
                </a:solidFill>
                <a:latin typeface="Whitney Bold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 b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/>
              </a:rPr>
              <a:t>https://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vast.ai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18514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 b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33196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7507896" cy="146566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104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>
              <a:solid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02739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000" dirty="0" b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dirty="0" b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lang="en-US" sz="700" dirty="0" b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112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dirty="0" b="0">
                <a:solidFill>
                  <a:srgbClr val="000000"/>
                </a:solidFill>
                <a:latin typeface="Arial"/>
              </a:rPr>
              <a:t>API prices for the same intelligence level have dropped </a:t>
            </a:r>
            <a:r>
              <a:rPr lang="en-US" sz="1300" dirty="0" b="0">
                <a:solidFill>
                  <a:srgbClr val="000000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0982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 b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 dirty="0">
                <a:solidFill>
                  <a:srgbClr val="000000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i="1" dirty="0">
                <a:solidFill>
                  <a:srgbClr val="000000"/>
                </a:solidFill>
                <a:latin typeface="Arial"/>
              </a:rPr>
              <a:t>test loss
</a:t>
            </a:r>
            <a:r>
              <a:rPr lang="en-US" sz="900" b="0" i="1" dirty="0">
                <a:solidFill>
                  <a:srgbClr val="000000"/>
                </a:solidFill>
                <a:latin typeface="Arial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dirty="0">
                <a:solidFill>
                  <a:srgbClr val="000000"/>
                </a:solidFill>
                <a:latin typeface="Arial"/>
              </a:rPr>
              <a:t>frontier 2025</a:t>
            </a:r>
            <a:r>
              <a:rPr lang="en-US" sz="800" dirty="0" b="0">
                <a:solidFill>
                  <a:srgbClr val="000000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3341716" cy="12793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5587"/>
                </a:solidFill>
                <a:latin typeface="Whitney Bold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7899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Raw next-token scores produced before softmax converts them into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setting that divides logits before softmax; low T sharpens, high T flattens.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Greedy /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strategies: pick the top token vs. draw from the probability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Supervised fine-tuning on prompt-response demonstrations, teaching the model what useful answers look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Catastrophic Forgetting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Separate neural network trained on human preferences to score (q, a)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7899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Reward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The score r(q, a) the reward model assigns; the optimization target during RLHF.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RLHF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Reinforcement Learning from Human Feedback. Optimize the LLM as a policy against the RM, KL-regularized to 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Mixture of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Transformer variant where a router sends each token to a small subset of expert modules.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Retrieval-Augmented Generation. Retrieve external text and add to the prompt before answering.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0791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Distillation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Training a smaller student model to imitate outputs from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