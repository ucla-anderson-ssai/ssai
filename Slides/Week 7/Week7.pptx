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375" r:id="rId3"/>
    <p:sldId id="331" r:id="rId4"/>
    <p:sldId id="358" r:id="rId5"/>
    <p:sldId id="257" r:id="rId6"/>
    <p:sldId id="267" r:id="rId7"/>
    <p:sldId id="361" r:id="rId8"/>
    <p:sldId id="348" r:id="rId9"/>
    <p:sldId id="269" r:id="rId10"/>
    <p:sldId id="368" r:id="rId11"/>
    <p:sldId id="307" r:id="rId12"/>
    <p:sldId id="272" r:id="rId13"/>
    <p:sldId id="279" r:id="rId14"/>
    <p:sldId id="369" r:id="rId15"/>
    <p:sldId id="370" r:id="rId16"/>
    <p:sldId id="371" r:id="rId17"/>
    <p:sldId id="367" r:id="rId18"/>
    <p:sldId id="392" r:id="rId19"/>
    <p:sldId id="374" r:id="rId20"/>
    <p:sldId id="373" r:id="rId21"/>
    <p:sldId id="352" r:id="rId22"/>
    <p:sldId id="330" r:id="rId23"/>
    <p:sldId id="376" r:id="rId24"/>
    <p:sldId id="387" r:id="rId25"/>
    <p:sldId id="377" r:id="rId26"/>
    <p:sldId id="378" r:id="rId27"/>
    <p:sldId id="388" r:id="rId28"/>
    <p:sldId id="353" r:id="rId29"/>
    <p:sldId id="288" r:id="rId30"/>
    <p:sldId id="390" r:id="rId31"/>
    <p:sldId id="363" r:id="rId32"/>
    <p:sldId id="391" r:id="rId33"/>
    <p:sldId id="362" r:id="rId34"/>
    <p:sldId id="333" r:id="rId35"/>
    <p:sldId id="398" r:id="rId36"/>
    <p:sldId id="386" r:id="rId37"/>
    <p:sldId id="364" r:id="rId38"/>
    <p:sldId id="346" r:id="rId39"/>
    <p:sldId id="355" r:id="rId40"/>
    <p:sldId id="354" r:id="rId41"/>
    <p:sldId id="384" r:id="rId42"/>
    <p:sldId id="339" r:id="rId43"/>
    <p:sldId id="383" r:id="rId44"/>
    <p:sldId id="385" r:id="rId45"/>
    <p:sldId id="381" r:id="rId46"/>
    <p:sldId id="393" r:id="rId47"/>
    <p:sldId id="343" r:id="rId48"/>
    <p:sldId id="366" r:id="rId49"/>
    <p:sldId id="382" r:id="rId50"/>
    <p:sldId id="389" r:id="rId51"/>
    <p:sldId id="335" r:id="rId52"/>
    <p:sldId id="336" r:id="rId53"/>
    <p:sldId id="380" r:id="rId54"/>
    <p:sldId id="337" r:id="rId55"/>
    <p:sldId id="379" r:id="rId56"/>
    <p:sldId id="394" r:id="rId57"/>
    <p:sldId id="395" r:id="rId58"/>
    <p:sldId id="396" r:id="rId59"/>
    <p:sldId id="397" r:id="rId6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889"/>
    <p:restoredTop sz="79926"/>
  </p:normalViewPr>
  <p:slideViewPr>
    <p:cSldViewPr snapToGrid="0" snapToObjects="1">
      <p:cViewPr varScale="1">
        <p:scale>
          <a:sx n="93" d="100"/>
          <a:sy n="93" d="100"/>
        </p:scale>
        <p:origin x="208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E1A08-5BB2-C54C-9317-4AF355115872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48A0E-067D-4146-84BB-4B38BF93E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3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11CF1-485E-89A7-A32D-94D5F945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C4329-A60D-62A1-DEF2-C9E71C954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801805-12DB-E105-4A31-E13B1B5D1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27AB4-4721-F0C2-B80C-84B0A9238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01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“Does somebody want to guess what the model would respond with?”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Why does this happen? How can we fix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6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Anyone have suggestions on how to teach the LLM what we want?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73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b="0" dirty="0"/>
              <a:t>Why do we need a scoring model? What benefit does it serve?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did this happen?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96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the pros and cons of classic RLHF vs </a:t>
            </a:r>
            <a:r>
              <a:rPr lang="en-US" dirty="0" err="1"/>
              <a:t>consitutitonal</a:t>
            </a:r>
            <a:r>
              <a:rPr lang="en-US" dirty="0"/>
              <a:t> AI?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Any concerns about either approach?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RLHF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Grounded in actual judgments: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humans compare real outputs, so it can capture messy preferences about helpfulness, tone, accuracy, and refusals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 to scale cleanly: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it is expensive, labor-intensive, and depends heavily on who the raters are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optimize for the wrong behavior: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models may become overly agreeable, cautious, verbose, or good at pleasing the reward model rather than being genuinely useful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Constitutional AI</a:t>
            </a:r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 values more explicit: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model is guided by written principles rather than only thousands of individual preference judgments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Scales feedback with AI: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model can critique and revise outputs using the constitution, reducing reliance on human raters</a:t>
            </a:r>
          </a:p>
          <a:p>
            <a:b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 not remove human judgment: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someone still writes the constitution, and vague or conflicting principles can be applied inconsistently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88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you trust AI to grade AI?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Is there a theoretical ceiling on outcomes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04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13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benefits from high GPU prices? Who is hurt?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35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this mean for market concentration?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34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32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1A6EF-4B30-CDC2-B381-1C177A6E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F6C24-A687-65F8-7568-17C37A37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224E1-F43B-A8FC-2235-994228FAD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788C6-966E-BE15-C034-2D619B2EA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83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does API token-level pricing compare to raw GPU inference costs?</a:t>
            </a: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are a startup, when should you rent GPUs versus use APIs?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APIs when: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still validating the product, usage is uncertain or spiky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do not want to manage infrastructure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differentiation is the workflow, data, UX, or distribution rather than the model itself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Rent GPUs when: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large, predictable volume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costs are eating margins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need to fine-tune, serve, or own a specialized model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actually operate model infrastructure well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36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spending frenzy is basically because of this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23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is that as our compute budget increases, we should switch to post-training, and then to </a:t>
            </a:r>
            <a:r>
              <a:rPr lang="en-US"/>
              <a:t>inference-time thinking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48A0E-067D-4146-84BB-4B38BF93E3B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18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460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://www.vast.ai/pricing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24576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B20D14A-F983-B1FF-0A2D-B470B0DDF507}"/>
              </a:ext>
            </a:extLst>
          </p:cNvPr>
          <p:cNvSpPr/>
          <p:nvPr/>
        </p:nvSpPr>
        <p:spPr>
          <a:xfrm>
            <a:off x="0" y="1645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7</a:t>
            </a:r>
            <a:endParaRPr lang="en-US" sz="2000" dirty="0">
              <a:solidFill>
                <a:srgbClr val="FFD100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18502C3-C1B9-7796-FC64-0BEFD88E283E}"/>
              </a:ext>
            </a:extLst>
          </p:cNvPr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cs typeface="Whitney Bold" pitchFamily="34" charset="-120"/>
              </a:rPr>
              <a:t>LLM Training and Economics</a:t>
            </a:r>
            <a:endParaRPr lang="en-US" sz="36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D6BA810F-4124-86D1-486E-23F2F30073E7}"/>
              </a:ext>
            </a:extLst>
          </p:cNvPr>
          <p:cNvSpPr/>
          <p:nvPr/>
        </p:nvSpPr>
        <p:spPr>
          <a:xfrm>
            <a:off x="457199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MGMT298D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Science and Strategy of AI</a:t>
            </a:r>
            <a:b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732A5A9-9B76-FFB1-30C0-F66F4E8B4A8D}"/>
              </a:ext>
            </a:extLst>
          </p:cNvPr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b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UCLA Anderson School of Management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2300-31C8-0958-4C8F-BE809A41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16688-E5C4-07CF-B58A-D4DEF82D1F9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4CFD8-1226-5B72-E87C-BBB37B5277B4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Week 6 Recap: Attention and Transformers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740B7AA-F5A9-AB38-0320-F832E9DF4BD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EA7B496F-18E1-6712-ED39-34E7129C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1"/>
          <a:stretch>
            <a:fillRect/>
          </a:stretch>
        </p:blipFill>
        <p:spPr>
          <a:xfrm>
            <a:off x="331004" y="1573227"/>
            <a:ext cx="2078835" cy="147389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FE9085F-8648-F454-9DF8-6C18D7A732A2}"/>
              </a:ext>
            </a:extLst>
          </p:cNvPr>
          <p:cNvSpPr txBox="1"/>
          <p:nvPr/>
        </p:nvSpPr>
        <p:spPr>
          <a:xfrm>
            <a:off x="290851" y="3215164"/>
            <a:ext cx="228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</a:p>
          <a:p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 (tokens) become high-dimensional numeric vectors.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82716A-30B6-3546-1973-31D5FE84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151" y="1573227"/>
            <a:ext cx="2128224" cy="147389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87D90C5-BE37-897D-5C1A-16655FAB3132}"/>
              </a:ext>
            </a:extLst>
          </p:cNvPr>
          <p:cNvSpPr txBox="1"/>
          <p:nvPr/>
        </p:nvSpPr>
        <p:spPr>
          <a:xfrm>
            <a:off x="2733151" y="3215164"/>
            <a:ext cx="2257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</a:p>
          <a:p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token updates its own embedding based on other tokens and attention weights. 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8F1E3B-5B68-4899-5370-A9C7BE7BAC55}"/>
              </a:ext>
            </a:extLst>
          </p:cNvPr>
          <p:cNvSpPr txBox="1"/>
          <p:nvPr/>
        </p:nvSpPr>
        <p:spPr>
          <a:xfrm>
            <a:off x="4990160" y="3215163"/>
            <a:ext cx="3734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r>
              <a:rPr 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 learns attention weights from billions of next-token predictions from a massive corpus.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Picture 57" descr="A diagram of a training&#10;&#10;AI-generated content may be incorrect.">
            <a:extLst>
              <a:ext uri="{FF2B5EF4-FFF2-40B4-BE49-F238E27FC236}">
                <a16:creationId xmlns:a16="http://schemas.microsoft.com/office/drawing/2014/main" id="{D47207F5-5D38-41C4-2208-E615FA32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052" b="25764"/>
          <a:stretch>
            <a:fillRect/>
          </a:stretch>
        </p:blipFill>
        <p:spPr>
          <a:xfrm>
            <a:off x="4990159" y="1646770"/>
            <a:ext cx="4073453" cy="1382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B363C5-90BA-1576-5503-99EB5121ED74}"/>
              </a:ext>
            </a:extLst>
          </p:cNvPr>
          <p:cNvSpPr txBox="1"/>
          <p:nvPr/>
        </p:nvSpPr>
        <p:spPr>
          <a:xfrm>
            <a:off x="457201" y="4271211"/>
            <a:ext cx="8085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Attention weights specify how strongly each token’s embedding incorporates information from other tokens</a:t>
            </a:r>
          </a:p>
        </p:txBody>
      </p:sp>
    </p:spTree>
    <p:extLst>
      <p:ext uri="{BB962C8B-B14F-4D97-AF65-F5344CB8AC3E}">
        <p14:creationId xmlns:p14="http://schemas.microsoft.com/office/powerpoint/2010/main" val="48813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D288-D85C-7F6F-A367-5304E4599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 225">
            <a:extLst>
              <a:ext uri="{FF2B5EF4-FFF2-40B4-BE49-F238E27FC236}">
                <a16:creationId xmlns:a16="http://schemas.microsoft.com/office/drawing/2014/main" id="{61F029D0-D9B0-BC74-D8C7-E3F32B4B0AA5}"/>
              </a:ext>
            </a:extLst>
          </p:cNvPr>
          <p:cNvSpPr txBox="1"/>
          <p:nvPr/>
        </p:nvSpPr>
        <p:spPr>
          <a:xfrm rot="16200000">
            <a:off x="846781" y="3322784"/>
            <a:ext cx="2405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 block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538C10-6AD9-6746-5D7C-D5C799C18DF8}"/>
              </a:ext>
            </a:extLst>
          </p:cNvPr>
          <p:cNvSpPr/>
          <p:nvPr/>
        </p:nvSpPr>
        <p:spPr>
          <a:xfrm>
            <a:off x="1503474" y="2232167"/>
            <a:ext cx="582177" cy="282892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96CA00-8560-3E56-CF23-8857D3389864}"/>
              </a:ext>
            </a:extLst>
          </p:cNvPr>
          <p:cNvSpPr txBox="1"/>
          <p:nvPr/>
        </p:nvSpPr>
        <p:spPr>
          <a:xfrm>
            <a:off x="1743906" y="2506501"/>
            <a:ext cx="25529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A6791D5A-8CA8-6846-4952-87166DC4ED6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F61F27-5EB5-D921-5B2A-498B58C07ECB}"/>
              </a:ext>
            </a:extLst>
          </p:cNvPr>
          <p:cNvSpPr/>
          <p:nvPr/>
        </p:nvSpPr>
        <p:spPr>
          <a:xfrm>
            <a:off x="457200" y="914400"/>
            <a:ext cx="83210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10E8A0D3-66F9-8AD1-FADE-7B76046B1596}"/>
              </a:ext>
            </a:extLst>
          </p:cNvPr>
          <p:cNvSpPr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GPT 3.0 = 96 Stacked Transformer Blocks</a:t>
            </a:r>
            <a:endParaRPr lang="en-US" sz="28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B7BAB1-94D4-1992-5EBC-82656EA9B4B6}"/>
              </a:ext>
            </a:extLst>
          </p:cNvPr>
          <p:cNvGrpSpPr/>
          <p:nvPr/>
        </p:nvGrpSpPr>
        <p:grpSpPr>
          <a:xfrm>
            <a:off x="2187175" y="3163193"/>
            <a:ext cx="1028072" cy="1501016"/>
            <a:chOff x="1316501" y="1782221"/>
            <a:chExt cx="975528" cy="162478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25F7D93-DA46-1CD8-9C78-59FA10DE4EFB}"/>
                </a:ext>
              </a:extLst>
            </p:cNvPr>
            <p:cNvSpPr/>
            <p:nvPr/>
          </p:nvSpPr>
          <p:spPr>
            <a:xfrm>
              <a:off x="1725388" y="1782221"/>
              <a:ext cx="566641" cy="16247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D282150D-B77E-0326-1D4F-3EF4F731A832}"/>
                </a:ext>
              </a:extLst>
            </p:cNvPr>
            <p:cNvSpPr/>
            <p:nvPr/>
          </p:nvSpPr>
          <p:spPr>
            <a:xfrm>
              <a:off x="1384013" y="1893093"/>
              <a:ext cx="695667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D97A5FC1-016E-C9A8-388E-D0BC67476666}"/>
                </a:ext>
              </a:extLst>
            </p:cNvPr>
            <p:cNvSpPr/>
            <p:nvPr/>
          </p:nvSpPr>
          <p:spPr>
            <a:xfrm>
              <a:off x="1432471" y="2166340"/>
              <a:ext cx="686759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9172174A-54D2-B168-7C50-3D68DC158B7E}"/>
                </a:ext>
              </a:extLst>
            </p:cNvPr>
            <p:cNvSpPr/>
            <p:nvPr/>
          </p:nvSpPr>
          <p:spPr>
            <a:xfrm>
              <a:off x="1390557" y="2421449"/>
              <a:ext cx="747232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4EE57BFB-931D-8165-913E-6E21EA825AA5}"/>
                </a:ext>
              </a:extLst>
            </p:cNvPr>
            <p:cNvSpPr/>
            <p:nvPr/>
          </p:nvSpPr>
          <p:spPr>
            <a:xfrm>
              <a:off x="1395251" y="1896943"/>
              <a:ext cx="686759" cy="524507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7B0920DD-3346-EC72-1023-E7EC43C44B97}"/>
                </a:ext>
              </a:extLst>
            </p:cNvPr>
            <p:cNvSpPr/>
            <p:nvPr/>
          </p:nvSpPr>
          <p:spPr>
            <a:xfrm>
              <a:off x="1324748" y="2166340"/>
              <a:ext cx="814319" cy="1112359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39DFF429-3F26-FA21-B7ED-67892EF4E655}"/>
                </a:ext>
              </a:extLst>
            </p:cNvPr>
            <p:cNvSpPr/>
            <p:nvPr/>
          </p:nvSpPr>
          <p:spPr>
            <a:xfrm>
              <a:off x="1316501" y="2421449"/>
              <a:ext cx="813041" cy="602141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E7FFA209-4CD3-BEAC-2BCB-2C39B31C8D2B}"/>
                </a:ext>
              </a:extLst>
            </p:cNvPr>
            <p:cNvSpPr/>
            <p:nvPr/>
          </p:nvSpPr>
          <p:spPr>
            <a:xfrm flipV="1">
              <a:off x="1431181" y="1893092"/>
              <a:ext cx="633870" cy="2732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8C0A5838-B736-C04D-2139-A10775AA673A}"/>
                </a:ext>
              </a:extLst>
            </p:cNvPr>
            <p:cNvSpPr/>
            <p:nvPr/>
          </p:nvSpPr>
          <p:spPr>
            <a:xfrm>
              <a:off x="1340875" y="2766980"/>
              <a:ext cx="784957" cy="51171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7F1918F3-0FB1-E04C-52AF-960A612BF6C2}"/>
                </a:ext>
              </a:extLst>
            </p:cNvPr>
            <p:cNvSpPr/>
            <p:nvPr/>
          </p:nvSpPr>
          <p:spPr>
            <a:xfrm>
              <a:off x="1340267" y="2172573"/>
              <a:ext cx="765759" cy="577770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65046D91-7B6F-E010-E687-EAB09FFE9692}"/>
              </a:ext>
            </a:extLst>
          </p:cNvPr>
          <p:cNvSpPr txBox="1"/>
          <p:nvPr/>
        </p:nvSpPr>
        <p:spPr>
          <a:xfrm>
            <a:off x="2393828" y="982120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attention head 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F6D47F-81EE-E087-C6A2-87AB4F51A429}"/>
              </a:ext>
            </a:extLst>
          </p:cNvPr>
          <p:cNvSpPr txBox="1"/>
          <p:nvPr/>
        </p:nvSpPr>
        <p:spPr>
          <a:xfrm>
            <a:off x="2393828" y="2940855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attention head 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FA1BEE-CFDE-9BE1-141B-CCE3EC4C0011}"/>
              </a:ext>
            </a:extLst>
          </p:cNvPr>
          <p:cNvSpPr/>
          <p:nvPr/>
        </p:nvSpPr>
        <p:spPr>
          <a:xfrm>
            <a:off x="1120193" y="1212029"/>
            <a:ext cx="341603" cy="3452179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356C4DC-B37A-1311-3B91-60E3AB9EEE5B}"/>
              </a:ext>
            </a:extLst>
          </p:cNvPr>
          <p:cNvGrpSpPr/>
          <p:nvPr/>
        </p:nvGrpSpPr>
        <p:grpSpPr>
          <a:xfrm>
            <a:off x="2190375" y="1229799"/>
            <a:ext cx="1028072" cy="1501016"/>
            <a:chOff x="1316501" y="1782221"/>
            <a:chExt cx="975528" cy="1624783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17FAD622-7423-9266-A385-D66888DAB311}"/>
                </a:ext>
              </a:extLst>
            </p:cNvPr>
            <p:cNvSpPr/>
            <p:nvPr/>
          </p:nvSpPr>
          <p:spPr>
            <a:xfrm>
              <a:off x="1725388" y="1782221"/>
              <a:ext cx="566641" cy="16247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9058B1DA-E057-B369-972F-76E3C6C65892}"/>
                </a:ext>
              </a:extLst>
            </p:cNvPr>
            <p:cNvSpPr/>
            <p:nvPr/>
          </p:nvSpPr>
          <p:spPr>
            <a:xfrm>
              <a:off x="1384013" y="1893093"/>
              <a:ext cx="695667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CF53C80-3FCD-EE11-B975-5EDBF8E8349C}"/>
                </a:ext>
              </a:extLst>
            </p:cNvPr>
            <p:cNvSpPr/>
            <p:nvPr/>
          </p:nvSpPr>
          <p:spPr>
            <a:xfrm>
              <a:off x="1432471" y="2166340"/>
              <a:ext cx="686759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85DD811A-51EA-172B-6209-30E541DAD589}"/>
                </a:ext>
              </a:extLst>
            </p:cNvPr>
            <p:cNvSpPr/>
            <p:nvPr/>
          </p:nvSpPr>
          <p:spPr>
            <a:xfrm>
              <a:off x="1390557" y="2421449"/>
              <a:ext cx="747232" cy="857250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1687150-929A-3F37-0CDD-8BB1E915C5D8}"/>
                </a:ext>
              </a:extLst>
            </p:cNvPr>
            <p:cNvSpPr/>
            <p:nvPr/>
          </p:nvSpPr>
          <p:spPr>
            <a:xfrm>
              <a:off x="1395251" y="1896943"/>
              <a:ext cx="686759" cy="524507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C37CB543-DFC3-CE4E-739C-418C073CBFD6}"/>
                </a:ext>
              </a:extLst>
            </p:cNvPr>
            <p:cNvSpPr/>
            <p:nvPr/>
          </p:nvSpPr>
          <p:spPr>
            <a:xfrm>
              <a:off x="1324748" y="2166340"/>
              <a:ext cx="814319" cy="1112359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7CBF31C0-2633-1CD4-82D7-24BD45121B6B}"/>
                </a:ext>
              </a:extLst>
            </p:cNvPr>
            <p:cNvSpPr/>
            <p:nvPr/>
          </p:nvSpPr>
          <p:spPr>
            <a:xfrm>
              <a:off x="1316501" y="2421449"/>
              <a:ext cx="813041" cy="602141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913ED85F-2CCB-2782-8A6E-E721F4014C74}"/>
                </a:ext>
              </a:extLst>
            </p:cNvPr>
            <p:cNvSpPr/>
            <p:nvPr/>
          </p:nvSpPr>
          <p:spPr>
            <a:xfrm flipV="1">
              <a:off x="1431181" y="1893092"/>
              <a:ext cx="633870" cy="2732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2AA51229-E8A6-1C4F-8897-6982302EC4CE}"/>
                </a:ext>
              </a:extLst>
            </p:cNvPr>
            <p:cNvSpPr/>
            <p:nvPr/>
          </p:nvSpPr>
          <p:spPr>
            <a:xfrm>
              <a:off x="1340875" y="2766980"/>
              <a:ext cx="784957" cy="51171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D5C93E43-BAD5-5EC5-AC6C-6904A52F22C6}"/>
                </a:ext>
              </a:extLst>
            </p:cNvPr>
            <p:cNvSpPr/>
            <p:nvPr/>
          </p:nvSpPr>
          <p:spPr>
            <a:xfrm>
              <a:off x="1340267" y="2172573"/>
              <a:ext cx="765759" cy="577770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CDD268A-FEEE-376A-3F27-0A15F553B5D6}"/>
              </a:ext>
            </a:extLst>
          </p:cNvPr>
          <p:cNvCxnSpPr>
            <a:cxnSpLocks/>
          </p:cNvCxnSpPr>
          <p:nvPr/>
        </p:nvCxnSpPr>
        <p:spPr>
          <a:xfrm>
            <a:off x="720930" y="2945489"/>
            <a:ext cx="37738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C8F7F4D-72AF-7A18-5ECB-6ADA06A8049E}"/>
              </a:ext>
            </a:extLst>
          </p:cNvPr>
          <p:cNvSpPr/>
          <p:nvPr/>
        </p:nvSpPr>
        <p:spPr>
          <a:xfrm>
            <a:off x="195125" y="2630221"/>
            <a:ext cx="484543" cy="6463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4771AF-CD3B-FBEE-B898-1CEDA57EFAF3}"/>
              </a:ext>
            </a:extLst>
          </p:cNvPr>
          <p:cNvSpPr txBox="1"/>
          <p:nvPr/>
        </p:nvSpPr>
        <p:spPr>
          <a:xfrm>
            <a:off x="125732" y="2746952"/>
            <a:ext cx="5937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Input tokens</a:t>
            </a:r>
          </a:p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BE8555-EAEF-0011-3CD0-89FAB3B005A5}"/>
              </a:ext>
            </a:extLst>
          </p:cNvPr>
          <p:cNvSpPr txBox="1"/>
          <p:nvPr/>
        </p:nvSpPr>
        <p:spPr>
          <a:xfrm>
            <a:off x="699245" y="973609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raw embeddings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ACE59-0964-8E05-937F-EB8FB0FD1E52}"/>
              </a:ext>
            </a:extLst>
          </p:cNvPr>
          <p:cNvSpPr txBox="1"/>
          <p:nvPr/>
        </p:nvSpPr>
        <p:spPr>
          <a:xfrm>
            <a:off x="1507846" y="2234221"/>
            <a:ext cx="582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>
                <a:latin typeface="Arial" panose="020B0604020202020204" pitchFamily="34" charset="0"/>
                <a:cs typeface="Arial" panose="020B0604020202020204" pitchFamily="34" charset="0"/>
              </a:rPr>
              <a:t>positional embedding</a:t>
            </a: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98B8CD7E-A430-3F27-1DAE-907E8EA28988}"/>
              </a:ext>
            </a:extLst>
          </p:cNvPr>
          <p:cNvCxnSpPr>
            <a:cxnSpLocks/>
          </p:cNvCxnSpPr>
          <p:nvPr/>
        </p:nvCxnSpPr>
        <p:spPr>
          <a:xfrm>
            <a:off x="1482845" y="2932671"/>
            <a:ext cx="1119965" cy="969805"/>
          </a:xfrm>
          <a:prstGeom prst="bentConnector3">
            <a:avLst>
              <a:gd name="adj1" fmla="val 75802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AA8DB87C-E80F-E10C-9F7D-F0AC895C0297}"/>
              </a:ext>
            </a:extLst>
          </p:cNvPr>
          <p:cNvCxnSpPr>
            <a:cxnSpLocks/>
          </p:cNvCxnSpPr>
          <p:nvPr/>
        </p:nvCxnSpPr>
        <p:spPr>
          <a:xfrm flipV="1">
            <a:off x="1484404" y="1989185"/>
            <a:ext cx="1119126" cy="944945"/>
          </a:xfrm>
          <a:prstGeom prst="bentConnector3">
            <a:avLst>
              <a:gd name="adj1" fmla="val 7554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F3C5397-045D-8E96-2C5D-37E0623FA626}"/>
              </a:ext>
            </a:extLst>
          </p:cNvPr>
          <p:cNvCxnSpPr>
            <a:cxnSpLocks/>
          </p:cNvCxnSpPr>
          <p:nvPr/>
        </p:nvCxnSpPr>
        <p:spPr>
          <a:xfrm>
            <a:off x="1797495" y="2521409"/>
            <a:ext cx="2070" cy="401073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 4">
            <a:extLst>
              <a:ext uri="{FF2B5EF4-FFF2-40B4-BE49-F238E27FC236}">
                <a16:creationId xmlns:a16="http://schemas.microsoft.com/office/drawing/2014/main" id="{32D1E724-0EBB-160F-803D-8840684EB40D}"/>
              </a:ext>
            </a:extLst>
          </p:cNvPr>
          <p:cNvSpPr/>
          <p:nvPr/>
        </p:nvSpPr>
        <p:spPr>
          <a:xfrm>
            <a:off x="6575727" y="1315799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cs typeface="Arial" pitchFamily="34" charset="-120"/>
              </a:rPr>
              <a:t>    Positional embedding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90" name="Text 5">
            <a:extLst>
              <a:ext uri="{FF2B5EF4-FFF2-40B4-BE49-F238E27FC236}">
                <a16:creationId xmlns:a16="http://schemas.microsoft.com/office/drawing/2014/main" id="{C65DB292-3BFC-B181-FBCA-86C5E2AA8891}"/>
              </a:ext>
            </a:extLst>
          </p:cNvPr>
          <p:cNvSpPr/>
          <p:nvPr/>
        </p:nvSpPr>
        <p:spPr>
          <a:xfrm>
            <a:off x="6750721" y="1747475"/>
            <a:ext cx="2149799" cy="39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Makes model aware of token positions.</a:t>
            </a:r>
            <a:endParaRPr lang="en-US" sz="1100" dirty="0"/>
          </a:p>
        </p:txBody>
      </p:sp>
      <p:sp>
        <p:nvSpPr>
          <p:cNvPr id="92" name="Text 7">
            <a:extLst>
              <a:ext uri="{FF2B5EF4-FFF2-40B4-BE49-F238E27FC236}">
                <a16:creationId xmlns:a16="http://schemas.microsoft.com/office/drawing/2014/main" id="{0B918F1F-0FEF-DF5E-FFFB-2473D31C8324}"/>
              </a:ext>
            </a:extLst>
          </p:cNvPr>
          <p:cNvSpPr/>
          <p:nvPr/>
        </p:nvSpPr>
        <p:spPr>
          <a:xfrm>
            <a:off x="6730227" y="211672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F2843033-0B0C-5F9B-FD13-1C31012D57E2}"/>
              </a:ext>
            </a:extLst>
          </p:cNvPr>
          <p:cNvSpPr/>
          <p:nvPr/>
        </p:nvSpPr>
        <p:spPr>
          <a:xfrm>
            <a:off x="6719836" y="2712864"/>
            <a:ext cx="2149799" cy="426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Add original input embeddings to output of attention head and dense layer; passes original input forward.</a:t>
            </a:r>
            <a:endParaRPr lang="en-US" sz="1100" dirty="0"/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EC3775E2-13A4-BA0D-41A3-DB47935FA403}"/>
              </a:ext>
            </a:extLst>
          </p:cNvPr>
          <p:cNvSpPr/>
          <p:nvPr/>
        </p:nvSpPr>
        <p:spPr>
          <a:xfrm>
            <a:off x="6730227" y="324937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96" name="Text 11">
            <a:extLst>
              <a:ext uri="{FF2B5EF4-FFF2-40B4-BE49-F238E27FC236}">
                <a16:creationId xmlns:a16="http://schemas.microsoft.com/office/drawing/2014/main" id="{27A7E71F-2D8E-98B5-DDBB-1D7866B30132}"/>
              </a:ext>
            </a:extLst>
          </p:cNvPr>
          <p:cNvSpPr/>
          <p:nvPr/>
        </p:nvSpPr>
        <p:spPr>
          <a:xfrm>
            <a:off x="6743400" y="3691382"/>
            <a:ext cx="230795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Keeps values within a reasonable range to improve stability of gradients and backprop.</a:t>
            </a:r>
            <a:endParaRPr lang="en-US" sz="1100" dirty="0"/>
          </a:p>
        </p:txBody>
      </p: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E1BB7161-128B-42B6-0931-677B71F2BEEA}"/>
              </a:ext>
            </a:extLst>
          </p:cNvPr>
          <p:cNvCxnSpPr>
            <a:cxnSpLocks/>
          </p:cNvCxnSpPr>
          <p:nvPr/>
        </p:nvCxnSpPr>
        <p:spPr>
          <a:xfrm>
            <a:off x="2327597" y="2938543"/>
            <a:ext cx="2928287" cy="1913995"/>
          </a:xfrm>
          <a:prstGeom prst="bentConnector3">
            <a:avLst>
              <a:gd name="adj1" fmla="val 38"/>
            </a:avLst>
          </a:prstGeom>
          <a:ln w="63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2B019A1-0FA1-D766-2CD5-CFDDE9D5E716}"/>
              </a:ext>
            </a:extLst>
          </p:cNvPr>
          <p:cNvCxnSpPr>
            <a:cxnSpLocks/>
          </p:cNvCxnSpPr>
          <p:nvPr/>
        </p:nvCxnSpPr>
        <p:spPr>
          <a:xfrm flipV="1">
            <a:off x="3893632" y="2940309"/>
            <a:ext cx="0" cy="1910846"/>
          </a:xfrm>
          <a:prstGeom prst="straightConnector1">
            <a:avLst/>
          </a:prstGeom>
          <a:ln w="6350">
            <a:solidFill>
              <a:schemeClr val="accent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0748E78A-1045-AF43-7FD4-69F1B3DD43A2}"/>
              </a:ext>
            </a:extLst>
          </p:cNvPr>
          <p:cNvCxnSpPr>
            <a:cxnSpLocks/>
            <a:stCxn id="20" idx="3"/>
            <a:endCxn id="136" idx="1"/>
          </p:cNvCxnSpPr>
          <p:nvPr/>
        </p:nvCxnSpPr>
        <p:spPr>
          <a:xfrm>
            <a:off x="3218447" y="1980307"/>
            <a:ext cx="1564682" cy="952077"/>
          </a:xfrm>
          <a:prstGeom prst="bentConnector3">
            <a:avLst>
              <a:gd name="adj1" fmla="val 33691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6100F6AD-312D-7C74-D347-F0D39E60270C}"/>
              </a:ext>
            </a:extLst>
          </p:cNvPr>
          <p:cNvSpPr/>
          <p:nvPr/>
        </p:nvSpPr>
        <p:spPr>
          <a:xfrm>
            <a:off x="4783129" y="1215182"/>
            <a:ext cx="273665" cy="343440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F94E94BB-2C30-303F-7AEF-D55507DE5BA5}"/>
              </a:ext>
            </a:extLst>
          </p:cNvPr>
          <p:cNvCxnSpPr>
            <a:cxnSpLocks/>
            <a:endCxn id="136" idx="1"/>
          </p:cNvCxnSpPr>
          <p:nvPr/>
        </p:nvCxnSpPr>
        <p:spPr>
          <a:xfrm flipV="1">
            <a:off x="3206282" y="2932384"/>
            <a:ext cx="1576847" cy="972352"/>
          </a:xfrm>
          <a:prstGeom prst="bentConnector3">
            <a:avLst>
              <a:gd name="adj1" fmla="val 34266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0E314C09-5931-0DEB-EA1F-2F1E7DD80D77}"/>
              </a:ext>
            </a:extLst>
          </p:cNvPr>
          <p:cNvSpPr txBox="1"/>
          <p:nvPr/>
        </p:nvSpPr>
        <p:spPr>
          <a:xfrm>
            <a:off x="2505330" y="4810038"/>
            <a:ext cx="25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7ABAAAC-6B26-2647-E2BD-1AAD277C4FB4}"/>
              </a:ext>
            </a:extLst>
          </p:cNvPr>
          <p:cNvSpPr txBox="1"/>
          <p:nvPr/>
        </p:nvSpPr>
        <p:spPr>
          <a:xfrm>
            <a:off x="2637631" y="4891522"/>
            <a:ext cx="10068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 connection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2DC6898-FB33-A1EB-60B4-8A4EDDA81D81}"/>
              </a:ext>
            </a:extLst>
          </p:cNvPr>
          <p:cNvCxnSpPr>
            <a:cxnSpLocks/>
          </p:cNvCxnSpPr>
          <p:nvPr/>
        </p:nvCxnSpPr>
        <p:spPr>
          <a:xfrm>
            <a:off x="5066567" y="2929115"/>
            <a:ext cx="1178785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5C23E765-18F7-58F9-0C84-79509A88BDCE}"/>
              </a:ext>
            </a:extLst>
          </p:cNvPr>
          <p:cNvSpPr txBox="1"/>
          <p:nvPr/>
        </p:nvSpPr>
        <p:spPr>
          <a:xfrm>
            <a:off x="4337745" y="982120"/>
            <a:ext cx="1164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 dirty="0">
                <a:latin typeface="Arial" panose="020B0604020202020204" pitchFamily="34" charset="0"/>
                <a:cs typeface="Arial" panose="020B0604020202020204" pitchFamily="34" charset="0"/>
              </a:rPr>
              <a:t>dense layer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5399202C-DA00-3055-5958-6BC2CBEDFA27}"/>
              </a:ext>
            </a:extLst>
          </p:cNvPr>
          <p:cNvCxnSpPr>
            <a:cxnSpLocks/>
          </p:cNvCxnSpPr>
          <p:nvPr/>
        </p:nvCxnSpPr>
        <p:spPr>
          <a:xfrm flipV="1">
            <a:off x="5249820" y="2937160"/>
            <a:ext cx="0" cy="1914205"/>
          </a:xfrm>
          <a:prstGeom prst="straightConnector1">
            <a:avLst/>
          </a:prstGeom>
          <a:ln w="6350">
            <a:solidFill>
              <a:schemeClr val="accent2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B12F2E4B-ACA7-B681-E76F-DAE98A108671}"/>
              </a:ext>
            </a:extLst>
          </p:cNvPr>
          <p:cNvSpPr txBox="1"/>
          <p:nvPr/>
        </p:nvSpPr>
        <p:spPr>
          <a:xfrm>
            <a:off x="4081577" y="4803376"/>
            <a:ext cx="25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9759DFF3-B1F9-C8A0-24FC-95B45133F1F5}"/>
              </a:ext>
            </a:extLst>
          </p:cNvPr>
          <p:cNvSpPr txBox="1"/>
          <p:nvPr/>
        </p:nvSpPr>
        <p:spPr>
          <a:xfrm>
            <a:off x="4227790" y="4893868"/>
            <a:ext cx="10068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 connection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B428295B-74AB-3065-92CE-9C17DC2F1EC6}"/>
              </a:ext>
            </a:extLst>
          </p:cNvPr>
          <p:cNvSpPr/>
          <p:nvPr/>
        </p:nvSpPr>
        <p:spPr>
          <a:xfrm>
            <a:off x="4047951" y="2807114"/>
            <a:ext cx="529052" cy="23811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E7B5FA7C-AFD1-8375-667E-D1AD806AF12C}"/>
              </a:ext>
            </a:extLst>
          </p:cNvPr>
          <p:cNvSpPr txBox="1"/>
          <p:nvPr/>
        </p:nvSpPr>
        <p:spPr>
          <a:xfrm>
            <a:off x="4043848" y="2821938"/>
            <a:ext cx="523263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>
                <a:latin typeface="Arial" panose="020B0604020202020204" pitchFamily="34" charset="0"/>
                <a:cs typeface="Arial" panose="020B0604020202020204" pitchFamily="34" charset="0"/>
              </a:rPr>
              <a:t>normalize</a:t>
            </a: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C0741FD4-2EC8-38AC-E4C1-D8243EAB4613}"/>
              </a:ext>
            </a:extLst>
          </p:cNvPr>
          <p:cNvSpPr/>
          <p:nvPr/>
        </p:nvSpPr>
        <p:spPr>
          <a:xfrm>
            <a:off x="5362028" y="2821071"/>
            <a:ext cx="529052" cy="23811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D6D90B9C-1EB8-012A-234F-55D4736FFD30}"/>
              </a:ext>
            </a:extLst>
          </p:cNvPr>
          <p:cNvSpPr txBox="1"/>
          <p:nvPr/>
        </p:nvSpPr>
        <p:spPr>
          <a:xfrm>
            <a:off x="5357925" y="2835895"/>
            <a:ext cx="523263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>
                <a:latin typeface="Arial" panose="020B0604020202020204" pitchFamily="34" charset="0"/>
                <a:cs typeface="Arial" panose="020B0604020202020204" pitchFamily="34" charset="0"/>
              </a:rPr>
              <a:t>normalize</a:t>
            </a: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FEDE5709-136F-4635-DD4E-9745D98B9E92}"/>
              </a:ext>
            </a:extLst>
          </p:cNvPr>
          <p:cNvSpPr/>
          <p:nvPr/>
        </p:nvSpPr>
        <p:spPr>
          <a:xfrm>
            <a:off x="1689531" y="1995204"/>
            <a:ext cx="199566" cy="1995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15594BD3-F75F-A54D-7BBC-E595F62D8EC7}"/>
              </a:ext>
            </a:extLst>
          </p:cNvPr>
          <p:cNvSpPr/>
          <p:nvPr/>
        </p:nvSpPr>
        <p:spPr>
          <a:xfrm>
            <a:off x="2384679" y="4870169"/>
            <a:ext cx="190143" cy="19014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17C19FA5-2E55-546D-5AC6-28F2A3EB3FA7}"/>
              </a:ext>
            </a:extLst>
          </p:cNvPr>
          <p:cNvSpPr/>
          <p:nvPr/>
        </p:nvSpPr>
        <p:spPr>
          <a:xfrm>
            <a:off x="4208469" y="2556819"/>
            <a:ext cx="202926" cy="2029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DDFD263E-C16B-19FA-E2DD-95FC23490ED0}"/>
              </a:ext>
            </a:extLst>
          </p:cNvPr>
          <p:cNvSpPr/>
          <p:nvPr/>
        </p:nvSpPr>
        <p:spPr>
          <a:xfrm>
            <a:off x="6405229" y="1520103"/>
            <a:ext cx="234833" cy="2348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3C740FB8-41B3-1071-E8F7-E8F408BF740A}"/>
              </a:ext>
            </a:extLst>
          </p:cNvPr>
          <p:cNvSpPr/>
          <p:nvPr/>
        </p:nvSpPr>
        <p:spPr>
          <a:xfrm>
            <a:off x="6420279" y="2312852"/>
            <a:ext cx="234833" cy="2348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995A2DEB-AFB0-5661-0BF1-E89BC4A4A835}"/>
              </a:ext>
            </a:extLst>
          </p:cNvPr>
          <p:cNvSpPr/>
          <p:nvPr/>
        </p:nvSpPr>
        <p:spPr>
          <a:xfrm>
            <a:off x="6429334" y="3441181"/>
            <a:ext cx="234833" cy="2348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CEBE3194-5A54-0607-A452-57C96D165AAE}"/>
              </a:ext>
            </a:extLst>
          </p:cNvPr>
          <p:cNvSpPr/>
          <p:nvPr/>
        </p:nvSpPr>
        <p:spPr>
          <a:xfrm>
            <a:off x="2171299" y="930654"/>
            <a:ext cx="3808455" cy="4163270"/>
          </a:xfrm>
          <a:prstGeom prst="roundRect">
            <a:avLst>
              <a:gd name="adj" fmla="val 5260"/>
            </a:avLst>
          </a:prstGeom>
          <a:noFill/>
          <a:ln w="127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8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vs. Inference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2029967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10712" y="2029967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37724" y="4087369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09908" y="4087369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601" y="1964353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080" b="1" dirty="0">
                <a:solidFill>
                  <a:srgbClr val="000000"/>
                </a:solidFill>
                <a:latin typeface="Arial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88720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>
                <a:solidFill>
                  <a:srgbClr val="000000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5668" y="1201658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0000"/>
                </a:solidFill>
                <a:latin typeface="Arial"/>
              </a:rPr>
              <a:t>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1408176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1668780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1929384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189988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2450592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1408176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1408176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1668780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929384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2189988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2450592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840" y="4004971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/>
            <a:r>
              <a:rPr sz="1080" b="1">
                <a:solidFill>
                  <a:srgbClr val="000000"/>
                </a:solidFill>
                <a:latin typeface="Arial"/>
              </a:rPr>
              <a:t>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7868" y="3266217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0000"/>
                </a:solidFill>
                <a:latin typeface="Arial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3268980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880" b="1" dirty="0">
                <a:solidFill>
                  <a:srgbClr val="000000"/>
                </a:solidFill>
                <a:latin typeface="Arial"/>
              </a:rPr>
              <a:t>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7916" y="3465577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791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7916" y="3726181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791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7916" y="3986785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91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7916" y="4247389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791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7916" y="4507993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0916" y="3465577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39676" y="3465577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967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39676" y="3726181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967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39676" y="3986785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3967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39676" y="4247389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3967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ctr"/>
            <a:r>
              <a:rPr sz="640" b="1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39676" y="4507993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rmAutofit/>
          </a:bodyPr>
          <a:lstStyle/>
          <a:p>
            <a:pPr algn="ctr"/>
            <a:r>
              <a:rPr sz="790" b="1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43FB4A-222E-BDC2-E5F5-87EA49380F11}"/>
              </a:ext>
            </a:extLst>
          </p:cNvPr>
          <p:cNvSpPr txBox="1"/>
          <p:nvPr/>
        </p:nvSpPr>
        <p:spPr>
          <a:xfrm>
            <a:off x="5134005" y="1508760"/>
            <a:ext cx="36442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During training, the model learns from every next-token label simultaneously (”the cat sat on the mat” = 5 training examples) </a:t>
            </a: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During inference, only the final output is used to generate the next token prediction; rest ignored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 animBg="1"/>
      <p:bldP spid="46" grpId="0" animBg="1"/>
      <p:bldP spid="47" grpId="0"/>
      <p:bldP spid="48" grpId="0" animBg="1"/>
      <p:bldP spid="49" grpId="0"/>
      <p:bldP spid="50" grpId="0" animBg="1"/>
      <p:bldP spid="51" grpId="0"/>
      <p:bldP spid="52" grpId="0" animBg="1"/>
      <p:bldP spid="53" grpId="0"/>
      <p:bldP spid="5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Today's Class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305EB4A-44FC-2066-6417-29CEE9F46F88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09517-32AD-355A-EC29-2F73B0B69FCA}"/>
              </a:ext>
            </a:extLst>
          </p:cNvPr>
          <p:cNvSpPr txBox="1"/>
          <p:nvPr/>
        </p:nvSpPr>
        <p:spPr>
          <a:xfrm>
            <a:off x="609600" y="12691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Part 1: Post-Training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lang="en-US" b="0" dirty="0">
                <a:solidFill>
                  <a:srgbClr val="000000"/>
                </a:solidFill>
                <a:latin typeface="Arial"/>
              </a:rPr>
              <a:t>How do we go from an LLM that can complete text (GPT 3.0) to one that can answer questions, align with human preferences, and “reason”? 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Part 2: (Some) Economics of AI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r>
              <a:rPr lang="en-US" dirty="0">
                <a:solidFill>
                  <a:srgbClr val="000000"/>
                </a:solidFill>
                <a:latin typeface="Arial"/>
              </a:rPr>
              <a:t>How does LLM technology impact development costs and AI industry economics?</a:t>
            </a:r>
          </a:p>
        </p:txBody>
      </p:sp>
    </p:spTree>
    <p:extLst>
      <p:ext uri="{BB962C8B-B14F-4D97-AF65-F5344CB8AC3E}">
        <p14:creationId xmlns:p14="http://schemas.microsoft.com/office/powerpoint/2010/main" val="245666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Part 1: Post-Training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2AC51-6068-5783-5EFB-163FD69A50D9}"/>
              </a:ext>
            </a:extLst>
          </p:cNvPr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Whitney Bold"/>
              </a:rPr>
              <a:t>Part </a:t>
            </a:r>
            <a:r>
              <a:rPr lang="en-US" sz="4000" b="1" dirty="0">
                <a:solidFill>
                  <a:srgbClr val="FFFFFF"/>
                </a:solidFill>
                <a:latin typeface="Whitney Bold"/>
              </a:rPr>
              <a:t>1</a:t>
            </a:r>
            <a:r>
              <a:rPr sz="4000" b="1" dirty="0">
                <a:solidFill>
                  <a:srgbClr val="FFFFFF"/>
                </a:solidFill>
                <a:latin typeface="Whitney Bold"/>
              </a:rPr>
              <a:t>: </a:t>
            </a:r>
            <a:r>
              <a:rPr lang="en-US" sz="4000" b="1" dirty="0">
                <a:solidFill>
                  <a:srgbClr val="FFFFFF"/>
                </a:solidFill>
                <a:latin typeface="Whitney Bold"/>
              </a:rPr>
              <a:t>Post-Training</a:t>
            </a:r>
            <a:endParaRPr sz="4000" b="1" dirty="0">
              <a:solidFill>
                <a:srgbClr val="FFFFFF"/>
              </a:solidFill>
              <a:latin typeface="Whitne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52E3-3E32-0879-638B-11D33693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88E53-5BB6-809D-16E7-8D283F2E949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59411-F9D8-927D-0941-3627B1868CAB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From GPT 3.0 to ChatGPT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3E21BED-F6F7-FA3F-406E-6C2F46C2BE6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9FA0360-D005-BDBD-E622-735E4AE263B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Pre-training</a:t>
            </a:r>
            <a:r>
              <a:rPr b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teaches the model how to continue generating text. GPT 3.0 was only pre-trained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b="0" dirty="0">
                <a:solidFill>
                  <a:srgbClr val="000000"/>
                </a:solidFill>
                <a:latin typeface="Arial"/>
              </a:rPr>
              <a:t>How do we turn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a raw text-generation model into a helpful conversational agent? 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Post-training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B59C3-F7B0-7731-BAC5-DA6E305CF9F4}"/>
              </a:ext>
            </a:extLst>
          </p:cNvPr>
          <p:cNvSpPr/>
          <p:nvPr/>
        </p:nvSpPr>
        <p:spPr>
          <a:xfrm>
            <a:off x="392000" y="2982396"/>
            <a:ext cx="1880000" cy="1814213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Arial"/>
              </a:rPr>
              <a:t>GPT-3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May 2020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Pretraining on a massive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text corpus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Next-token 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BF411-5A3D-0800-D4C1-4A35C884ACB1}"/>
              </a:ext>
            </a:extLst>
          </p:cNvPr>
          <p:cNvSpPr/>
          <p:nvPr/>
        </p:nvSpPr>
        <p:spPr>
          <a:xfrm>
            <a:off x="3632000" y="2982397"/>
            <a:ext cx="1880000" cy="1814216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 err="1">
                <a:solidFill>
                  <a:srgbClr val="000000"/>
                </a:solidFill>
                <a:latin typeface="Arial"/>
              </a:rPr>
              <a:t>InstructGPT</a:t>
            </a:r>
            <a:endParaRPr sz="10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January 2022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GPT-3 pretraining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+ Supervised fine-tuning (SFT)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Reinforcement learning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from human feedback (RLHF)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03892-E3B4-883F-0A3F-20B96EC22D2E}"/>
              </a:ext>
            </a:extLst>
          </p:cNvPr>
          <p:cNvSpPr/>
          <p:nvPr/>
        </p:nvSpPr>
        <p:spPr>
          <a:xfrm>
            <a:off x="7012000" y="2982397"/>
            <a:ext cx="1880000" cy="1814207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Arial"/>
              </a:rPr>
              <a:t>ChatGPT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November 2022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-style training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Dialogue-format SFT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Dialogue-based RLHF</a:t>
            </a:r>
          </a:p>
        </p:txBody>
      </p: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E395D9D3-A4C5-F8C7-039E-860320937BA3}"/>
              </a:ext>
            </a:extLst>
          </p:cNvPr>
          <p:cNvCxnSpPr/>
          <p:nvPr/>
        </p:nvCxnSpPr>
        <p:spPr>
          <a:xfrm>
            <a:off x="2272000" y="3617397"/>
            <a:ext cx="136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16080D-8321-1EA9-09D3-28FCE41613CC}"/>
              </a:ext>
            </a:extLst>
          </p:cNvPr>
          <p:cNvSpPr txBox="1"/>
          <p:nvPr/>
        </p:nvSpPr>
        <p:spPr>
          <a:xfrm>
            <a:off x="2326143" y="3307397"/>
            <a:ext cx="1341714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+ alignment training</a:t>
            </a:r>
          </a:p>
        </p:txBody>
      </p: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17AC6C97-244A-0F67-9BEA-FC95AB9C024B}"/>
              </a:ext>
            </a:extLst>
          </p:cNvPr>
          <p:cNvCxnSpPr/>
          <p:nvPr/>
        </p:nvCxnSpPr>
        <p:spPr>
          <a:xfrm>
            <a:off x="5512000" y="3617397"/>
            <a:ext cx="150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A4E362-895C-FAFF-BEB8-5C4651EDA147}"/>
              </a:ext>
            </a:extLst>
          </p:cNvPr>
          <p:cNvSpPr txBox="1"/>
          <p:nvPr/>
        </p:nvSpPr>
        <p:spPr>
          <a:xfrm>
            <a:off x="5557981" y="3307397"/>
            <a:ext cx="1386598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+ conversational training</a:t>
            </a:r>
          </a:p>
        </p:txBody>
      </p:sp>
    </p:spTree>
    <p:extLst>
      <p:ext uri="{BB962C8B-B14F-4D97-AF65-F5344CB8AC3E}">
        <p14:creationId xmlns:p14="http://schemas.microsoft.com/office/powerpoint/2010/main" val="223940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What does pre-training alone give us?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3802112"/>
            <a:ext cx="832104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000000"/>
                </a:solidFill>
                <a:latin typeface="Arial"/>
              </a:rPr>
              <a:t>After pre-training, the model continues whatever text you give it. It hasn't learned to answer questions yet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!</a:t>
            </a:r>
          </a:p>
          <a:p>
            <a:pPr algn="l"/>
            <a:br>
              <a:rPr lang="en-US" b="1" dirty="0">
                <a:solidFill>
                  <a:srgbClr val="1F1F1F"/>
                </a:solidFill>
                <a:latin typeface="Arial"/>
              </a:rPr>
            </a:br>
            <a:endParaRPr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86434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24762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39162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749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Supervised-Fine Tuning (SFT)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15675"/>
            <a:ext cx="8321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000000"/>
                </a:solidFill>
                <a:latin typeface="Arial"/>
              </a:rPr>
              <a:t>Idea: Continue training model weights using a small number of additional examples and </a:t>
            </a:r>
            <a:r>
              <a:rPr lang="en-US" sz="1400" b="1" dirty="0">
                <a:solidFill>
                  <a:srgbClr val="000000"/>
                </a:solidFill>
                <a:latin typeface="Arial"/>
              </a:rPr>
              <a:t>tiny step sizes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in backprop / gradient descent </a:t>
            </a:r>
            <a:r>
              <a:rPr lang="en-US" sz="1400" b="0" dirty="0">
                <a:solidFill>
                  <a:srgbClr val="000000"/>
                </a:solidFill>
                <a:latin typeface="Arial"/>
                <a:sym typeface="Wingdings" pitchFamily="2" charset="2"/>
              </a:rPr>
              <a:t> goal is to nudge weights slightly based on additional training data</a:t>
            </a:r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sz="1400" b="0" dirty="0">
                <a:solidFill>
                  <a:srgbClr val="000000"/>
                </a:solidFill>
                <a:latin typeface="Arial"/>
              </a:rPr>
              <a:t>Each example is a (prompt, ideal answer) pair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:</a:t>
            </a:r>
            <a:endParaRPr sz="14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908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Open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" y="24716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Who proposed the theory of natural selection?</a:t>
            </a:r>
          </a:p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Charles Darwin, in 1859, in On the Origin of Species.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3260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Brainstorming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3260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Give me three ideas for an MBA capstone on supply chains.</a:t>
            </a:r>
          </a:p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1) Resilience under tariff shocks. 2) AI demand forecasting. 3) Reshoring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9612" y="22156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Summarization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9612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Summarize this 5-paragraph memo in 2 sentences.</a:t>
            </a:r>
          </a:p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The memo argues Q3 missed forecast due to delayed launches. Recommends pulling forward two SKUs.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Extract name, date, amount as JSON: "Maya paid $42 on 5/3."</a:t>
            </a:r>
          </a:p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{"name": "Maya", "date": "2026-05-03", "amount": 42}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3260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3260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Is this review positive, negative, or mixed? "Loved the food, hated the wait."</a:t>
            </a:r>
          </a:p>
          <a:p>
            <a:pPr algn="l"/>
            <a:r>
              <a:rPr sz="950" b="1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Mixed.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9612" y="3587234"/>
            <a:ext cx="2697480" cy="22860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Refusal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9612" y="38432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How do I forge my landlord's signature?</a:t>
            </a:r>
          </a:p>
          <a:p>
            <a:pPr algn="l"/>
            <a:r>
              <a:rPr sz="950" b="1" dirty="0">
                <a:solidFill>
                  <a:srgbClr val="000000"/>
                </a:solidFill>
                <a:latin typeface="Arial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I can't help with forgery. If there is a dispute, here is how to escalate properly...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40830"/>
            <a:ext cx="7812644" cy="307777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used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only 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13k SFT prompts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. Diversity across behaviors matters more than volume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35028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SFT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0000" y="995000"/>
            <a:ext cx="76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/>
            <a:r>
              <a:rPr sz="1220" b="1">
                <a:solidFill>
                  <a:srgbClr val="000000"/>
                </a:solidFill>
                <a:latin typeface="Arial"/>
              </a:rPr>
              <a:t>Input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0000" y="119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0000" y="132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0000" y="146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0000" y="160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0000" y="174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0000" y="188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0000" y="201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0000" y="215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0000" y="229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0000" y="243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0000" y="257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0000" y="270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0000" y="284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0000" y="298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0000" y="312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0000" y="326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0000" y="339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0000" y="353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0000" y="367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0000" y="381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0000" y="395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0000" y="995000"/>
            <a:ext cx="130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7500" lnSpcReduction="20000"/>
          </a:bodyPr>
          <a:lstStyle/>
          <a:p>
            <a:pPr algn="ctr"/>
            <a:r>
              <a:rPr sz="1220" b="1">
                <a:solidFill>
                  <a:srgbClr val="000000"/>
                </a:solidFill>
                <a:latin typeface="Arial"/>
              </a:rPr>
              <a:t>Next-token predictions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0000" y="119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0000" y="132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0000" y="146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0000" y="160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0000" y="174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00000" y="188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0000" y="201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00000" y="215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0000" y="229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00000" y="243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00000" y="257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00000" y="270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0000" y="284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00000" y="298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00000" y="312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00000" y="326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00000" y="339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00000" y="353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00000" y="367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00000" y="381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00000" y="395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80000" y="2200000"/>
            <a:ext cx="1850000" cy="1180000"/>
          </a:xfrm>
          <a:prstGeom prst="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650" b="1">
                <a:solidFill>
                  <a:srgbClr val="005587"/>
                </a:solidFill>
                <a:latin typeface="Whitney Bold"/>
              </a:rPr>
              <a:t>Transformer
(LLM)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50000" y="2780000"/>
            <a:ext cx="65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210000" y="2780000"/>
            <a:ext cx="59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80000" y="119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90000" y="1190000"/>
            <a:ext cx="0" cy="2070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90000" y="3260000"/>
            <a:ext cx="0" cy="828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80000" y="4088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630001" y="2040818"/>
            <a:ext cx="90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Arial"/>
              </a:rPr>
              <a:t>loss ignored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14518" y="3488335"/>
            <a:ext cx="1334739" cy="30777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000000"/>
                </a:solidFill>
                <a:latin typeface="Arial"/>
              </a:rPr>
              <a:t>assistant response </a:t>
            </a:r>
            <a:r>
              <a:rPr sz="1000" b="1" dirty="0">
                <a:solidFill>
                  <a:srgbClr val="000000"/>
                </a:solidFill>
                <a:latin typeface="Arial"/>
              </a:rPr>
              <a:t>loss counted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109" y="4428791"/>
            <a:ext cx="8741437" cy="3019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0" dirty="0">
                <a:solidFill>
                  <a:srgbClr val="000000"/>
                </a:solidFill>
                <a:latin typeface="Arial"/>
              </a:rPr>
              <a:t>Special tokens like &lt;|start|&gt; (and others) help guide the LLM toward question-answer behavior</a:t>
            </a:r>
            <a:endParaRPr sz="16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After SFT: A Helpful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30453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920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(after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Sign in at </a:t>
            </a:r>
            <a:r>
              <a:rPr sz="1200" b="1" dirty="0" err="1">
                <a:solidFill>
                  <a:srgbClr val="000000"/>
                </a:solidFill>
                <a:latin typeface="Arial"/>
              </a:rPr>
              <a:t>netflix.com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, click your profile picture, choose Account, and click Cancel Membership. Your access continues until the end of the billing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011" y="2612606"/>
            <a:ext cx="8229600" cy="27699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011" y="360562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(after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It depends on a few things: how much runway do you have, what's the idea, and is there something specific making you want to leave now? Happy to think through it with you.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F09B6-EC52-3D94-B0FC-2F9BC9565F91}"/>
              </a:ext>
            </a:extLst>
          </p:cNvPr>
          <p:cNvSpPr txBox="1"/>
          <p:nvPr/>
        </p:nvSpPr>
        <p:spPr>
          <a:xfrm>
            <a:off x="457200" y="1461598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(before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7B7B3-62F1-9472-BBF5-E37E097972DF}"/>
              </a:ext>
            </a:extLst>
          </p:cNvPr>
          <p:cNvSpPr txBox="1"/>
          <p:nvPr/>
        </p:nvSpPr>
        <p:spPr>
          <a:xfrm>
            <a:off x="399011" y="2939837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0000"/>
                </a:solidFill>
                <a:latin typeface="Arial"/>
              </a:rPr>
              <a:t>Model</a:t>
            </a:r>
            <a:r>
              <a:rPr lang="en-US" sz="1200" b="1" dirty="0">
                <a:solidFill>
                  <a:srgbClr val="000000"/>
                </a:solidFill>
                <a:latin typeface="Arial"/>
              </a:rPr>
              <a:t> (before SFT)</a:t>
            </a:r>
            <a:r>
              <a:rPr sz="1200" b="1" dirty="0">
                <a:solidFill>
                  <a:srgbClr val="000000"/>
                </a:solidFill>
                <a:latin typeface="Arial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59D4B-4749-A520-6AD5-18346F9878C2}"/>
              </a:ext>
            </a:extLst>
          </p:cNvPr>
          <p:cNvSpPr txBox="1"/>
          <p:nvPr/>
        </p:nvSpPr>
        <p:spPr>
          <a:xfrm>
            <a:off x="399011" y="4218478"/>
            <a:ext cx="781264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Same transformer architecture, backprop, and next-token prediction loss</a:t>
            </a:r>
          </a:p>
          <a:p>
            <a:endParaRPr lang="en-US" sz="1600" dirty="0">
              <a:latin typeface="Arial"/>
            </a:endParaRPr>
          </a:p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New behavior is entirely due to updated weights through improved training</a:t>
            </a:r>
            <a:endParaRPr sz="1600" b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Limitations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of S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upervised Fine-Tuning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30F19F4-E584-9167-2C28-E27823495C5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0" dirty="0">
                <a:solidFill>
                  <a:srgbClr val="000000"/>
                </a:solidFill>
                <a:latin typeface="Arial"/>
              </a:rPr>
              <a:t>SFT has limitations, some related to overfitting 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0000"/>
                </a:solidFill>
                <a:latin typeface="Arial"/>
              </a:rPr>
              <a:t>Catastrophic forgetting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: Updating weights too aggressively (e.g., large step sizes or too many epochs) risks destroying the knowledge carried in the weights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Style drift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: May overfit to training examples and lose previous style / tone (become too verbose, too formal,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etc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)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0000"/>
                </a:solidFill>
                <a:latin typeface="Arial"/>
              </a:rPr>
              <a:t>Can’t shape preferences: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SFT teaches the LLM to be an assistant, but not all answers are equally helpful. 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How do we “teach” the LLM what kind of answers we want? 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Not all answers are equally desirable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01187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Q: Can a premium subscriber get a refund after 45 days?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9379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12083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0000"/>
                </a:solidFill>
                <a:latin typeface="Arial"/>
              </a:rPr>
              <a:t>Answer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No. Refunds are only allowed within 30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49379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512083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 fontScale="85000" lnSpcReduction="20000"/>
          </a:bodyPr>
          <a:lstStyle/>
          <a:p>
            <a:pPr algn="l"/>
            <a:r>
              <a:rPr sz="850" b="1" dirty="0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Yes. The general window is 30 days, but premium subscribers have 60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298467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Q: Compare the iPhone 16 and Pixel 9 in a short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9107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609363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0000"/>
                </a:solidFill>
                <a:latin typeface="Arial"/>
              </a:rPr>
              <a:t>Answer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Well, the iPhone has a great camera, and the Pixel also has good AI features and the battery is okay too...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59107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609363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 fontScale="85000" lnSpcReduction="20000"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| Feature | iPhone 16 | Pixel 9 |
| Camera | 48MP main | 50MP main |
| AI | Apple Intel. | Gemini Nano |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95746"/>
            <a:ext cx="7360920" cy="2560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Q: Write a message that pretends to be from my bank to scare my friend.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8835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706642"/>
            <a:ext cx="3840480" cy="22313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850" b="1" dirty="0">
                <a:solidFill>
                  <a:srgbClr val="000000"/>
                </a:solidFill>
                <a:latin typeface="Arial"/>
              </a:rPr>
              <a:t>Answer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Sure! Here is a fake fraud-alert message you can send: 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68835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3706642"/>
            <a:ext cx="3840480" cy="182880"/>
          </a:xfrm>
          <a:prstGeom prst="rect">
            <a:avLst/>
          </a:prstGeom>
          <a:noFill/>
        </p:spPr>
        <p:txBody>
          <a:bodyPr wrap="square" anchor="ctr">
            <a:normAutofit fontScale="85000" lnSpcReduction="20000"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Arial"/>
              </a:rPr>
              <a:t>Answer B: preferred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 can't help create a deceptive message impersonating a bank. If this is for a security demo, I can suggest a clearly-labeled training example instead.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6880E-2385-3E25-5320-9D7D7CC75321}"/>
              </a:ext>
            </a:extLst>
          </p:cNvPr>
          <p:cNvSpPr txBox="1"/>
          <p:nvPr/>
        </p:nvSpPr>
        <p:spPr>
          <a:xfrm>
            <a:off x="457200" y="4584467"/>
            <a:ext cx="8229600" cy="296710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norm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LLM behavior is tuned using </a:t>
            </a:r>
            <a:r>
              <a:rPr lang="en-US" sz="1600" b="1" dirty="0">
                <a:solidFill>
                  <a:srgbClr val="000000"/>
                </a:solidFill>
                <a:latin typeface="Arial"/>
              </a:rPr>
              <a:t>Reinforcement Learning with Human Feedback (RLHF)</a:t>
            </a:r>
            <a:endParaRPr sz="1400" b="1" dirty="0">
              <a:solidFill>
                <a:srgbClr val="003C7D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5807" y="2250884"/>
            <a:ext cx="1900000" cy="10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500" b="1" dirty="0">
                <a:solidFill>
                  <a:srgbClr val="005587"/>
                </a:solidFill>
                <a:latin typeface="Whitney Bold"/>
              </a:rPr>
              <a:t>Question</a:t>
            </a:r>
          </a:p>
          <a:p>
            <a:pPr algn="ctr"/>
            <a:r>
              <a:rPr lang="en-US" sz="1400" b="0" dirty="0">
                <a:solidFill>
                  <a:srgbClr val="000000"/>
                </a:solidFill>
                <a:latin typeface="Arial"/>
              </a:rPr>
              <a:t>"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Can I get a refund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after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15 days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?"</a:t>
            </a:r>
            <a:endParaRPr sz="12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50000" y="137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 fontScale="92500" lnSpcReduction="20000"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“Sure.”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9999" y="137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 fontScale="85000" lnSpcReduction="20000"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Arial"/>
              </a:rPr>
              <a:t>+1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0000" y="215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 fontScale="92500" lnSpcReduction="20000"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B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“I think so, but you should check the policy.”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9999" y="215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 fontScale="85000" lnSpcReduction="20000"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0000" y="293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 fontScale="92500" lnSpcReduction="20000"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C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“Yes. Refunds are available within 30 days.”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9999" y="293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 fontScale="85000" lnSpcReduction="20000"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Arial"/>
              </a:rPr>
              <a:t>+2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0000" y="371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 fontScale="92500" lnSpcReduction="20000"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“No. Refunds are never allowed.”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9999" y="371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 fontScale="85000" lnSpcReduction="20000"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Human score</a:t>
            </a:r>
          </a:p>
          <a:p>
            <a:pPr algn="ctr"/>
            <a:r>
              <a:rPr sz="2000" b="1">
                <a:solidFill>
                  <a:srgbClr val="B82525"/>
                </a:solidFill>
                <a:latin typeface="Arial"/>
              </a:rPr>
              <a:t>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3859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1: Humans Score Candidate Responses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2: Train the Scoring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Model</a:t>
            </a:r>
            <a:endParaRPr sz="13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000" y="1280000"/>
            <a:ext cx="21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Training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" y="160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A</a:t>
            </a:r>
            <a:r>
              <a:rPr lang="en-US" sz="1400" b="1" dirty="0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+1</a:t>
            </a:r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12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B, 0)</a:t>
            </a:r>
            <a:endParaRPr sz="14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000" y="264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C, +2)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316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400" b="1">
                <a:solidFill>
                  <a:srgbClr val="B82525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D, -2)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70000" y="2580000"/>
            <a:ext cx="404225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0000" y="4171864"/>
            <a:ext cx="7460767" cy="542931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The scoring 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model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learns to approximate human scores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. Allows scaling to arbitrarily large number of (Question, Response) pairs without needing humans</a:t>
            </a:r>
            <a:endParaRPr sz="1400" dirty="0">
              <a:solidFill>
                <a:srgbClr val="003C7D"/>
              </a:solidFill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BDA78-BADE-A089-43EA-577DD8E41148}"/>
              </a:ext>
            </a:extLst>
          </p:cNvPr>
          <p:cNvGrpSpPr/>
          <p:nvPr/>
        </p:nvGrpSpPr>
        <p:grpSpPr>
          <a:xfrm>
            <a:off x="3747432" y="1850000"/>
            <a:ext cx="2252567" cy="1450000"/>
            <a:chOff x="3747432" y="1850000"/>
            <a:chExt cx="2252567" cy="1450000"/>
          </a:xfrm>
        </p:grpSpPr>
        <p:sp>
          <p:nvSpPr>
            <p:cNvPr id="16" name="Rounded Rectangle 15"/>
            <p:cNvSpPr/>
            <p:nvPr/>
          </p:nvSpPr>
          <p:spPr>
            <a:xfrm>
              <a:off x="3785137" y="1850000"/>
              <a:ext cx="2214862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747432" y="2512807"/>
              <a:ext cx="520000" cy="16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input:</a:t>
              </a:r>
            </a:p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(Q, R)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A91432-9C38-6CE6-879F-3E1434EC009F}"/>
                </a:ext>
              </a:extLst>
            </p:cNvPr>
            <p:cNvSpPr txBox="1"/>
            <p:nvPr/>
          </p:nvSpPr>
          <p:spPr>
            <a:xfrm>
              <a:off x="5479998" y="2520189"/>
              <a:ext cx="520000" cy="26161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850" b="0" dirty="0">
                  <a:solidFill>
                    <a:srgbClr val="000000"/>
                  </a:solidFill>
                  <a:latin typeface="Arial"/>
                </a:rPr>
                <a:t>output:</a:t>
              </a:r>
              <a:br>
                <a:rPr lang="en-US" sz="850" dirty="0">
                  <a:solidFill>
                    <a:srgbClr val="000000"/>
                  </a:solidFill>
                  <a:latin typeface="Arial"/>
                </a:rPr>
              </a:br>
              <a:r>
                <a:rPr lang="en-US" sz="850" b="0" dirty="0">
                  <a:solidFill>
                    <a:srgbClr val="000000"/>
                  </a:solidFill>
                  <a:latin typeface="Arial"/>
                </a:rPr>
                <a:t>score</a:t>
              </a:r>
              <a:endParaRPr sz="850" b="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3999" y="2071418"/>
            <a:ext cx="26337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000000"/>
                </a:solidFill>
                <a:latin typeface="Arial"/>
              </a:rPr>
              <a:t>Human-scored examples become training data for</a:t>
            </a:r>
            <a:r>
              <a:rPr lang="en-US" sz="1700" b="0" dirty="0">
                <a:solidFill>
                  <a:srgbClr val="000000"/>
                </a:solidFill>
                <a:latin typeface="Arial"/>
              </a:rPr>
              <a:t> scoring model</a:t>
            </a:r>
            <a:endParaRPr sz="17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3: Fine-Tune the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8717"/>
            <a:ext cx="8321040" cy="2462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Arial"/>
              </a:rPr>
              <a:t>Generate many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new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(Q, R) pairs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and score them using the trained scoring model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069" y="3354484"/>
            <a:ext cx="6465271" cy="2462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Then use same (Q, R) pairs and their scores to f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ine-tune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LLM weights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5069" y="1742073"/>
            <a:ext cx="1555173" cy="102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364598" y="2180961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7659" y="2025961"/>
            <a:ext cx="1780000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76543" y="3802656"/>
            <a:ext cx="1850000" cy="11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A11B90D-0350-3588-A50E-E4134056C943}"/>
              </a:ext>
            </a:extLst>
          </p:cNvPr>
          <p:cNvSpPr/>
          <p:nvPr/>
        </p:nvSpPr>
        <p:spPr>
          <a:xfrm>
            <a:off x="5524065" y="2063697"/>
            <a:ext cx="715102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160CE0-E1FF-6534-7B87-8E62BD218884}"/>
              </a:ext>
            </a:extLst>
          </p:cNvPr>
          <p:cNvGrpSpPr/>
          <p:nvPr/>
        </p:nvGrpSpPr>
        <p:grpSpPr>
          <a:xfrm>
            <a:off x="4878911" y="1473668"/>
            <a:ext cx="2064224" cy="1450000"/>
            <a:chOff x="3785137" y="1850000"/>
            <a:chExt cx="2064224" cy="1450000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7981E6F4-B280-4915-4A04-7CE2AF1E49D2}"/>
                </a:ext>
              </a:extLst>
            </p:cNvPr>
            <p:cNvSpPr/>
            <p:nvPr/>
          </p:nvSpPr>
          <p:spPr>
            <a:xfrm>
              <a:off x="3785137" y="1850000"/>
              <a:ext cx="2064224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1351DA-6B6B-D573-AC50-F05ADD655434}"/>
                </a:ext>
              </a:extLst>
            </p:cNvPr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4" name="Connector 17">
              <a:extLst>
                <a:ext uri="{FF2B5EF4-FFF2-40B4-BE49-F238E27FC236}">
                  <a16:creationId xmlns:a16="http://schemas.microsoft.com/office/drawing/2014/main" id="{C3A318F7-C810-067B-CE69-F8858D8D6418}"/>
                </a:ext>
              </a:extLst>
            </p:cNvPr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18">
              <a:extLst>
                <a:ext uri="{FF2B5EF4-FFF2-40B4-BE49-F238E27FC236}">
                  <a16:creationId xmlns:a16="http://schemas.microsoft.com/office/drawing/2014/main" id="{626E21D0-01D5-40A1-D7FA-110F0C3351FF}"/>
                </a:ext>
              </a:extLst>
            </p:cNvPr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19">
              <a:extLst>
                <a:ext uri="{FF2B5EF4-FFF2-40B4-BE49-F238E27FC236}">
                  <a16:creationId xmlns:a16="http://schemas.microsoft.com/office/drawing/2014/main" id="{C066B837-5C89-469E-BEBD-FB4EAE8CC206}"/>
                </a:ext>
              </a:extLst>
            </p:cNvPr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20">
              <a:extLst>
                <a:ext uri="{FF2B5EF4-FFF2-40B4-BE49-F238E27FC236}">
                  <a16:creationId xmlns:a16="http://schemas.microsoft.com/office/drawing/2014/main" id="{41BDA423-BBCC-2488-21C2-15865262343D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21">
              <a:extLst>
                <a:ext uri="{FF2B5EF4-FFF2-40B4-BE49-F238E27FC236}">
                  <a16:creationId xmlns:a16="http://schemas.microsoft.com/office/drawing/2014/main" id="{FCC51258-9EF1-83DC-2377-7B83368F63A8}"/>
                </a:ext>
              </a:extLst>
            </p:cNvPr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22">
              <a:extLst>
                <a:ext uri="{FF2B5EF4-FFF2-40B4-BE49-F238E27FC236}">
                  <a16:creationId xmlns:a16="http://schemas.microsoft.com/office/drawing/2014/main" id="{4A7B65ED-851C-9218-DF8B-75B6CF3CECE9}"/>
                </a:ext>
              </a:extLst>
            </p:cNvPr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23">
              <a:extLst>
                <a:ext uri="{FF2B5EF4-FFF2-40B4-BE49-F238E27FC236}">
                  <a16:creationId xmlns:a16="http://schemas.microsoft.com/office/drawing/2014/main" id="{8A7A2173-9280-830B-164D-E7B12422C29E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24">
              <a:extLst>
                <a:ext uri="{FF2B5EF4-FFF2-40B4-BE49-F238E27FC236}">
                  <a16:creationId xmlns:a16="http://schemas.microsoft.com/office/drawing/2014/main" id="{B36B7A03-8E6F-C516-3808-436428D342A0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25">
              <a:extLst>
                <a:ext uri="{FF2B5EF4-FFF2-40B4-BE49-F238E27FC236}">
                  <a16:creationId xmlns:a16="http://schemas.microsoft.com/office/drawing/2014/main" id="{15AB94E0-08AD-000A-4B93-FCBDCBD51E32}"/>
                </a:ext>
              </a:extLst>
            </p:cNvPr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26">
              <a:extLst>
                <a:ext uri="{FF2B5EF4-FFF2-40B4-BE49-F238E27FC236}">
                  <a16:creationId xmlns:a16="http://schemas.microsoft.com/office/drawing/2014/main" id="{24F01E8B-9BC6-DD81-1C4F-78BD9D25C502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27">
              <a:extLst>
                <a:ext uri="{FF2B5EF4-FFF2-40B4-BE49-F238E27FC236}">
                  <a16:creationId xmlns:a16="http://schemas.microsoft.com/office/drawing/2014/main" id="{3410F508-3371-CEB1-0DEF-5C8573E3A47C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8">
              <a:extLst>
                <a:ext uri="{FF2B5EF4-FFF2-40B4-BE49-F238E27FC236}">
                  <a16:creationId xmlns:a16="http://schemas.microsoft.com/office/drawing/2014/main" id="{D201EFB5-498C-B9CD-0D77-10BF4508923E}"/>
                </a:ext>
              </a:extLst>
            </p:cNvPr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29">
              <a:extLst>
                <a:ext uri="{FF2B5EF4-FFF2-40B4-BE49-F238E27FC236}">
                  <a16:creationId xmlns:a16="http://schemas.microsoft.com/office/drawing/2014/main" id="{94BD13D8-C308-547E-A072-EDEB0797152D}"/>
                </a:ext>
              </a:extLst>
            </p:cNvPr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30">
              <a:extLst>
                <a:ext uri="{FF2B5EF4-FFF2-40B4-BE49-F238E27FC236}">
                  <a16:creationId xmlns:a16="http://schemas.microsoft.com/office/drawing/2014/main" id="{CF57FF5E-D883-D6CC-ECBC-5B7F3C6C110C}"/>
                </a:ext>
              </a:extLst>
            </p:cNvPr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31">
              <a:extLst>
                <a:ext uri="{FF2B5EF4-FFF2-40B4-BE49-F238E27FC236}">
                  <a16:creationId xmlns:a16="http://schemas.microsoft.com/office/drawing/2014/main" id="{2F31DBEE-DFAB-4AC3-107F-4BADB2F079C4}"/>
                </a:ext>
              </a:extLst>
            </p:cNvPr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1DC96B-D39F-AC3A-A93A-D7F7514F013F}"/>
                </a:ext>
              </a:extLst>
            </p:cNvPr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E34D31C-8EB6-1ACA-0ACF-C4C41E6A1914}"/>
                </a:ext>
              </a:extLst>
            </p:cNvPr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5278AD8-749C-F5FA-9D7A-6C4A45BD2808}"/>
                </a:ext>
              </a:extLst>
            </p:cNvPr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E4E1B4A-8464-D495-9A57-14FA4268D23D}"/>
                </a:ext>
              </a:extLst>
            </p:cNvPr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39FA041-5E8E-6B88-85C7-4C2D9A127A5B}"/>
                </a:ext>
              </a:extLst>
            </p:cNvPr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2FC9497-9AD0-1CF2-8186-3A2C48FF4C3F}"/>
                </a:ext>
              </a:extLst>
            </p:cNvPr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BA97BE4-3C86-E7DF-2A46-80A091FCABF1}"/>
                </a:ext>
              </a:extLst>
            </p:cNvPr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DEF7BBB-1D68-B5E0-A1FF-BA8287110805}"/>
                </a:ext>
              </a:extLst>
            </p:cNvPr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60" name="Connector 9">
            <a:extLst>
              <a:ext uri="{FF2B5EF4-FFF2-40B4-BE49-F238E27FC236}">
                <a16:creationId xmlns:a16="http://schemas.microsoft.com/office/drawing/2014/main" id="{2C01AC85-BC7D-A703-F95D-709D564D14E8}"/>
              </a:ext>
            </a:extLst>
          </p:cNvPr>
          <p:cNvCxnSpPr>
            <a:cxnSpLocks/>
          </p:cNvCxnSpPr>
          <p:nvPr/>
        </p:nvCxnSpPr>
        <p:spPr>
          <a:xfrm>
            <a:off x="7142921" y="2180961"/>
            <a:ext cx="312588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9">
            <a:extLst>
              <a:ext uri="{FF2B5EF4-FFF2-40B4-BE49-F238E27FC236}">
                <a16:creationId xmlns:a16="http://schemas.microsoft.com/office/drawing/2014/main" id="{6B89A3C3-B522-F906-6702-21A5CB4D988C}"/>
              </a:ext>
            </a:extLst>
          </p:cNvPr>
          <p:cNvCxnSpPr>
            <a:cxnSpLocks/>
          </p:cNvCxnSpPr>
          <p:nvPr/>
        </p:nvCxnSpPr>
        <p:spPr>
          <a:xfrm>
            <a:off x="2019701" y="2185865"/>
            <a:ext cx="383094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3A39E6-2D55-220B-0CE7-B25D430956A1}"/>
              </a:ext>
            </a:extLst>
          </p:cNvPr>
          <p:cNvSpPr/>
          <p:nvPr/>
        </p:nvSpPr>
        <p:spPr>
          <a:xfrm>
            <a:off x="7780110" y="1973668"/>
            <a:ext cx="53321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 fontScale="85000" lnSpcReduction="20000"/>
          </a:bodyPr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11750E-E6B4-60CD-101F-1E4FDD8788B5}"/>
              </a:ext>
            </a:extLst>
          </p:cNvPr>
          <p:cNvSpPr/>
          <p:nvPr/>
        </p:nvSpPr>
        <p:spPr>
          <a:xfrm>
            <a:off x="5468774" y="4179494"/>
            <a:ext cx="312370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 fontScale="92500" lnSpcReduction="10000"/>
          </a:bodyPr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= - </a:t>
            </a:r>
            <a:r>
              <a:rPr lang="en-US" sz="15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log P(R | Q)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ctor 9">
            <a:extLst>
              <a:ext uri="{FF2B5EF4-FFF2-40B4-BE49-F238E27FC236}">
                <a16:creationId xmlns:a16="http://schemas.microsoft.com/office/drawing/2014/main" id="{2630A1A8-4F97-CADC-9BC3-EB9E227E38B2}"/>
              </a:ext>
            </a:extLst>
          </p:cNvPr>
          <p:cNvCxnSpPr>
            <a:cxnSpLocks/>
          </p:cNvCxnSpPr>
          <p:nvPr/>
        </p:nvCxnSpPr>
        <p:spPr>
          <a:xfrm flipH="1">
            <a:off x="6941675" y="2395143"/>
            <a:ext cx="1049282" cy="1716654"/>
          </a:xfrm>
          <a:prstGeom prst="line">
            <a:avLst/>
          </a:prstGeom>
          <a:ln w="11430">
            <a:solidFill>
              <a:schemeClr val="accent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9906A0AE-DB5E-3FA2-1569-7807B9D4273B}"/>
              </a:ext>
            </a:extLst>
          </p:cNvPr>
          <p:cNvCxnSpPr>
            <a:cxnSpLocks/>
          </p:cNvCxnSpPr>
          <p:nvPr/>
        </p:nvCxnSpPr>
        <p:spPr>
          <a:xfrm>
            <a:off x="2757181" y="4302322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D7CFA0-E848-0E72-17F4-272D3897F0FE}"/>
              </a:ext>
            </a:extLst>
          </p:cNvPr>
          <p:cNvSpPr/>
          <p:nvPr/>
        </p:nvSpPr>
        <p:spPr>
          <a:xfrm>
            <a:off x="1680328" y="4147322"/>
            <a:ext cx="991853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nector 9">
            <a:extLst>
              <a:ext uri="{FF2B5EF4-FFF2-40B4-BE49-F238E27FC236}">
                <a16:creationId xmlns:a16="http://schemas.microsoft.com/office/drawing/2014/main" id="{E1037B31-B0B6-749B-909D-12B1BF447784}"/>
              </a:ext>
            </a:extLst>
          </p:cNvPr>
          <p:cNvCxnSpPr>
            <a:cxnSpLocks/>
          </p:cNvCxnSpPr>
          <p:nvPr/>
        </p:nvCxnSpPr>
        <p:spPr>
          <a:xfrm>
            <a:off x="5074545" y="4352656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C730052-1688-4287-BB15-D72EB1EDE158}"/>
              </a:ext>
            </a:extLst>
          </p:cNvPr>
          <p:cNvSpPr txBox="1"/>
          <p:nvPr/>
        </p:nvSpPr>
        <p:spPr>
          <a:xfrm>
            <a:off x="5572844" y="4614108"/>
            <a:ext cx="33718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Score rewards (if positive) or penalizes (if negative) generated response</a:t>
            </a:r>
            <a:endParaRPr sz="11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15" grpId="0" animBg="1"/>
      <p:bldP spid="23" grpId="0" animBg="1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DE1A-415C-8FA0-328E-98B57F6E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75B538-C196-2191-B0F8-7FB3060C3A2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199F5-B000-A1B9-97FD-8A1BB98B0A53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Summary: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How a Frontier Lab Builds an Assistant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AB21C4F-CCB8-5BA7-5E76-1906A3EBAE4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C91229-4B33-29D9-8A29-9882B491A47E}"/>
              </a:ext>
            </a:extLst>
          </p:cNvPr>
          <p:cNvSpPr/>
          <p:nvPr/>
        </p:nvSpPr>
        <p:spPr>
          <a:xfrm>
            <a:off x="36576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ABA2A-237A-1A0C-2C80-80CCC04ECC6C}"/>
              </a:ext>
            </a:extLst>
          </p:cNvPr>
          <p:cNvSpPr txBox="1"/>
          <p:nvPr/>
        </p:nvSpPr>
        <p:spPr>
          <a:xfrm>
            <a:off x="36576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/>
              </a:rPr>
              <a:t>Pre-training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7B55A-7CED-A91B-FD40-58EBB2769A2E}"/>
              </a:ext>
            </a:extLst>
          </p:cNvPr>
          <p:cNvSpPr txBox="1"/>
          <p:nvPr/>
        </p:nvSpPr>
        <p:spPr>
          <a:xfrm>
            <a:off x="45720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Trillions of tokens of
web text + books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34803DF-2909-D5F1-9A6F-6D11BC364B0A}"/>
              </a:ext>
            </a:extLst>
          </p:cNvPr>
          <p:cNvSpPr/>
          <p:nvPr/>
        </p:nvSpPr>
        <p:spPr>
          <a:xfrm>
            <a:off x="251460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B41834-BD3B-FC61-BF86-CD1B7C342B1F}"/>
              </a:ext>
            </a:extLst>
          </p:cNvPr>
          <p:cNvSpPr txBox="1"/>
          <p:nvPr/>
        </p:nvSpPr>
        <p:spPr>
          <a:xfrm>
            <a:off x="251460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SFT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AC5A71-E956-4179-8252-9C058B2D87D3}"/>
              </a:ext>
            </a:extLst>
          </p:cNvPr>
          <p:cNvSpPr txBox="1"/>
          <p:nvPr/>
        </p:nvSpPr>
        <p:spPr>
          <a:xfrm>
            <a:off x="260604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~13k labeler-written
(prompt, ideal answer)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1B69D1-F118-C3F4-6DF6-B5A895819DB7}"/>
              </a:ext>
            </a:extLst>
          </p:cNvPr>
          <p:cNvSpPr/>
          <p:nvPr/>
        </p:nvSpPr>
        <p:spPr>
          <a:xfrm>
            <a:off x="466344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1158A1-F663-7DCB-D5A0-12F4DA638479}"/>
              </a:ext>
            </a:extLst>
          </p:cNvPr>
          <p:cNvSpPr txBox="1"/>
          <p:nvPr/>
        </p:nvSpPr>
        <p:spPr>
          <a:xfrm>
            <a:off x="466344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00000"/>
                </a:solidFill>
                <a:latin typeface="Arial"/>
              </a:rPr>
              <a:t>Scoring Model</a:t>
            </a:r>
            <a:endParaRPr sz="13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FD185-2148-BBC2-5FCA-4986FB276A76}"/>
              </a:ext>
            </a:extLst>
          </p:cNvPr>
          <p:cNvSpPr txBox="1"/>
          <p:nvPr/>
        </p:nvSpPr>
        <p:spPr>
          <a:xfrm>
            <a:off x="475488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k preference pairs
(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Q, R, score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9DFC1E-E8CF-F526-9F91-193311407348}"/>
              </a:ext>
            </a:extLst>
          </p:cNvPr>
          <p:cNvSpPr/>
          <p:nvPr/>
        </p:nvSpPr>
        <p:spPr>
          <a:xfrm>
            <a:off x="681228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D8C4A4-C02F-3D25-DD15-58DB817AB156}"/>
              </a:ext>
            </a:extLst>
          </p:cNvPr>
          <p:cNvSpPr txBox="1"/>
          <p:nvPr/>
        </p:nvSpPr>
        <p:spPr>
          <a:xfrm>
            <a:off x="681228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300" b="1" dirty="0">
                <a:solidFill>
                  <a:srgbClr val="000000"/>
                </a:solidFill>
                <a:latin typeface="Arial"/>
              </a:rPr>
              <a:t>RLHF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D2C8D-F802-1455-3533-A2BDB2EB4BCA}"/>
              </a:ext>
            </a:extLst>
          </p:cNvPr>
          <p:cNvSpPr txBox="1"/>
          <p:nvPr/>
        </p:nvSpPr>
        <p:spPr>
          <a:xfrm>
            <a:off x="690372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0k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prompts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 and scores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B19FD3C7-1F15-2283-ED9B-0E387DC434C4}"/>
              </a:ext>
            </a:extLst>
          </p:cNvPr>
          <p:cNvCxnSpPr/>
          <p:nvPr/>
        </p:nvCxnSpPr>
        <p:spPr>
          <a:xfrm>
            <a:off x="235000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151DB07-0FE0-2667-592F-54250AFDDD38}"/>
              </a:ext>
            </a:extLst>
          </p:cNvPr>
          <p:cNvCxnSpPr/>
          <p:nvPr/>
        </p:nvCxnSpPr>
        <p:spPr>
          <a:xfrm>
            <a:off x="449884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3E3E2671-59A5-8502-ADB9-4B6A7DA77DF9}"/>
              </a:ext>
            </a:extLst>
          </p:cNvPr>
          <p:cNvCxnSpPr/>
          <p:nvPr/>
        </p:nvCxnSpPr>
        <p:spPr>
          <a:xfrm>
            <a:off x="664768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275EC31-5949-0233-4C51-A3F7278D1DB7}"/>
              </a:ext>
            </a:extLst>
          </p:cNvPr>
          <p:cNvSpPr txBox="1"/>
          <p:nvPr/>
        </p:nvSpPr>
        <p:spPr>
          <a:xfrm>
            <a:off x="411480" y="3043718"/>
            <a:ext cx="832104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Same architecture all the way through.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Only difference is training data used and loss function</a:t>
            </a:r>
          </a:p>
          <a:p>
            <a:endParaRPr lang="en-US" dirty="0">
              <a:solidFill>
                <a:srgbClr val="1F1F1F"/>
              </a:solidFill>
              <a:latin typeface="Arial"/>
            </a:endParaRPr>
          </a:p>
          <a:p>
            <a:r>
              <a:rPr lang="en-US" b="0" dirty="0">
                <a:solidFill>
                  <a:srgbClr val="000000"/>
                </a:solidFill>
                <a:latin typeface="Arial"/>
              </a:rPr>
              <a:t>Values above from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(ChatGPT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precedessor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)</a:t>
            </a:r>
            <a:endParaRPr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2934B7-4F68-DC02-3355-FCAB406B9409}"/>
              </a:ext>
            </a:extLst>
          </p:cNvPr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ctr">
            <a:normAutofit fontScale="92500"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Approx. data sizes from Ouyang et al. (2022), InstructGPT.</a:t>
            </a:r>
          </a:p>
        </p:txBody>
      </p:sp>
    </p:spTree>
    <p:extLst>
      <p:ext uri="{BB962C8B-B14F-4D97-AF65-F5344CB8AC3E}">
        <p14:creationId xmlns:p14="http://schemas.microsoft.com/office/powerpoint/2010/main" val="1646167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0CE63F1D-9D89-7553-8EA2-E7911DD849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34" r="14129"/>
          <a:stretch>
            <a:fillRect/>
          </a:stretch>
        </p:blipFill>
        <p:spPr>
          <a:xfrm>
            <a:off x="4385569" y="221942"/>
            <a:ext cx="4576866" cy="276271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F81230-26DD-3EFA-2CC7-E0947CE9F1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88" r="8604"/>
          <a:stretch>
            <a:fillRect/>
          </a:stretch>
        </p:blipFill>
        <p:spPr>
          <a:xfrm>
            <a:off x="181565" y="410037"/>
            <a:ext cx="4247602" cy="19086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82C50-CF76-425D-A055-E02B174A2561}"/>
              </a:ext>
            </a:extLst>
          </p:cNvPr>
          <p:cNvSpPr txBox="1"/>
          <p:nvPr/>
        </p:nvSpPr>
        <p:spPr>
          <a:xfrm>
            <a:off x="2134439" y="3659102"/>
            <a:ext cx="5245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Sometimes RLHF makes AI annoying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6997DE-D2E4-C234-12D2-793A062E62EF}"/>
              </a:ext>
            </a:extLst>
          </p:cNvPr>
          <p:cNvCxnSpPr>
            <a:cxnSpLocks/>
          </p:cNvCxnSpPr>
          <p:nvPr/>
        </p:nvCxnSpPr>
        <p:spPr>
          <a:xfrm>
            <a:off x="6345379" y="2641023"/>
            <a:ext cx="1717966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633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FE7E-1266-DCDC-D9F2-0849D546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B10BB8-EDC6-68D0-4842-3A92493A8BB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6" name="Picture 5" descr="A group of people working on computers&#10;&#10;AI-generated content may be incorrect.">
            <a:extLst>
              <a:ext uri="{FF2B5EF4-FFF2-40B4-BE49-F238E27FC236}">
                <a16:creationId xmlns:a16="http://schemas.microsoft.com/office/drawing/2014/main" id="{A4A49445-AABC-C134-C86E-F2C8F4E1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480" y="2164427"/>
            <a:ext cx="5624718" cy="2422758"/>
          </a:xfrm>
          <a:prstGeom prst="rect">
            <a:avLst/>
          </a:prstGeom>
        </p:spPr>
      </p:pic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B43EF537-B033-7177-4208-6A7D8A912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477" y="857424"/>
            <a:ext cx="5624721" cy="11562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4873B3-971D-504E-B561-E7FE6E87C419}"/>
              </a:ext>
            </a:extLst>
          </p:cNvPr>
          <p:cNvSpPr txBox="1"/>
          <p:nvPr/>
        </p:nvSpPr>
        <p:spPr>
          <a:xfrm>
            <a:off x="157915" y="2063918"/>
            <a:ext cx="31905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Ethical questions about how human feedback is incorporated</a:t>
            </a:r>
          </a:p>
        </p:txBody>
      </p:sp>
    </p:spTree>
    <p:extLst>
      <p:ext uri="{BB962C8B-B14F-4D97-AF65-F5344CB8AC3E}">
        <p14:creationId xmlns:p14="http://schemas.microsoft.com/office/powerpoint/2010/main" val="1363427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F7046FEC-B90C-EFB7-CFB1-3E7299B6D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26" y="1071652"/>
            <a:ext cx="4214552" cy="2464853"/>
          </a:xfrm>
          <a:prstGeom prst="rect">
            <a:avLst/>
          </a:prstGeom>
        </p:spPr>
      </p:pic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3C9FA15F-D94F-6D0E-DAB9-C4B065771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818" y="1071652"/>
            <a:ext cx="4037341" cy="24247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7A2F93-A0CD-AFA5-FA09-41E918F3763B}"/>
              </a:ext>
            </a:extLst>
          </p:cNvPr>
          <p:cNvSpPr txBox="1"/>
          <p:nvPr/>
        </p:nvSpPr>
        <p:spPr>
          <a:xfrm>
            <a:off x="927599" y="321273"/>
            <a:ext cx="770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giving AI a “constitution” decrease reliance on human feedback?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0EDC9-9D51-66A1-8CEC-D0F4E449A468}"/>
              </a:ext>
            </a:extLst>
          </p:cNvPr>
          <p:cNvSpPr txBox="1"/>
          <p:nvPr/>
        </p:nvSpPr>
        <p:spPr>
          <a:xfrm>
            <a:off x="358346" y="3745243"/>
            <a:ext cx="84588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Classic RLHF: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Humans judge model outputs → train reward/preference model → fine-tune the assistant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Constitutional AI: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Humans write principles → AI uses principles to rate its own outputs → fine-tune the assistant</a:t>
            </a:r>
          </a:p>
        </p:txBody>
      </p:sp>
    </p:spTree>
    <p:extLst>
      <p:ext uri="{BB962C8B-B14F-4D97-AF65-F5344CB8AC3E}">
        <p14:creationId xmlns:p14="http://schemas.microsoft.com/office/powerpoint/2010/main" val="261976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8949-A0AA-F0E3-BB80-C878AF84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DF3FFB-40CE-96D3-D19D-779C13B3B0F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60D77-9ECA-6243-BEAC-450021E7F7B7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Synthetic Data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610CA-0A10-04F0-40EB-449995504D93}"/>
              </a:ext>
            </a:extLst>
          </p:cNvPr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Whitney Bold"/>
              </a:rPr>
              <a:t>Synthetic Data</a:t>
            </a:r>
            <a:endParaRPr sz="4000" b="1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3827551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Data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Curation (GPT-3)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data_curation_sankey.png">
            <a:extLst>
              <a:ext uri="{FF2B5EF4-FFF2-40B4-BE49-F238E27FC236}">
                <a16:creationId xmlns:a16="http://schemas.microsoft.com/office/drawing/2014/main" id="{8403021F-08D7-ADDF-53B4-D2667E67D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2" t="19656" r="-409" b="8398"/>
          <a:stretch>
            <a:fillRect/>
          </a:stretch>
        </p:blipFill>
        <p:spPr>
          <a:xfrm>
            <a:off x="643522" y="1347470"/>
            <a:ext cx="7948396" cy="3341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07FBE-185A-7037-D5AE-B0D85742B414}"/>
              </a:ext>
            </a:extLst>
          </p:cNvPr>
          <p:cNvSpPr txBox="1"/>
          <p:nvPr/>
        </p:nvSpPr>
        <p:spPr>
          <a:xfrm>
            <a:off x="832340" y="4457813"/>
            <a:ext cx="529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else can we get training data?</a:t>
            </a:r>
          </a:p>
        </p:txBody>
      </p:sp>
    </p:spTree>
    <p:extLst>
      <p:ext uri="{BB962C8B-B14F-4D97-AF65-F5344CB8AC3E}">
        <p14:creationId xmlns:p14="http://schemas.microsoft.com/office/powerpoint/2010/main" val="343638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6716"/>
            <a:ext cx="8321040" cy="3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Synthetic data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is purely LLM-generated data; not “raw” text data</a:t>
            </a: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b="1" dirty="0">
                <a:solidFill>
                  <a:srgbClr val="000000"/>
                </a:solidFill>
                <a:latin typeface="Arial"/>
              </a:rPr>
              <a:t>Distillation</a:t>
            </a:r>
            <a:r>
              <a:rPr b="0" dirty="0">
                <a:solidFill>
                  <a:srgbClr val="000000"/>
                </a:solidFill>
                <a:latin typeface="Arial"/>
              </a:rPr>
              <a:t> is a way to transfer behavior from a stronger model to a cheaper model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using only synthetic data</a:t>
            </a:r>
            <a:endParaRPr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b="0" dirty="0">
                <a:solidFill>
                  <a:srgbClr val="000000"/>
                </a:solidFill>
                <a:latin typeface="Arial"/>
              </a:rPr>
              <a:t>Teacher: a large model generates high-quality answers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b="0" dirty="0">
                <a:solidFill>
                  <a:srgbClr val="000000"/>
                </a:solidFill>
                <a:latin typeface="Arial"/>
              </a:rPr>
              <a:t>Student: a smaller model trains on those teacher outputs 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lang="en-US" b="0" dirty="0">
                <a:solidFill>
                  <a:srgbClr val="000000"/>
                </a:solidFill>
                <a:latin typeface="Arial"/>
                <a:sym typeface="Wingdings" pitchFamily="2" charset="2"/>
              </a:rPr>
              <a:t>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Lowers training </a:t>
            </a:r>
            <a:r>
              <a:rPr b="0" dirty="0">
                <a:solidFill>
                  <a:srgbClr val="000000"/>
                </a:solidFill>
                <a:latin typeface="Arial"/>
              </a:rPr>
              <a:t>cost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for student model</a:t>
            </a:r>
            <a:r>
              <a:rPr b="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improves </a:t>
            </a:r>
            <a:r>
              <a:rPr b="0" dirty="0">
                <a:solidFill>
                  <a:srgbClr val="000000"/>
                </a:solidFill>
                <a:latin typeface="Arial"/>
              </a:rPr>
              <a:t>control over behavior</a:t>
            </a:r>
          </a:p>
        </p:txBody>
      </p:sp>
    </p:spTree>
    <p:extLst>
      <p:ext uri="{BB962C8B-B14F-4D97-AF65-F5344CB8AC3E}">
        <p14:creationId xmlns:p14="http://schemas.microsoft.com/office/powerpoint/2010/main" val="2132799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87C0-7D03-B8B7-981A-0C912667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9EEBBF-A917-40BC-FE3E-7751A2B8845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9602C-35A3-97CE-A18E-AD69D10AD0FD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A92E9-342B-BBB4-E8FD-C839098C3ABE}"/>
              </a:ext>
            </a:extLst>
          </p:cNvPr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652E3-47EB-6B7C-4B81-39FF2F73F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69" r="9109" b="15922"/>
          <a:stretch>
            <a:fillRect/>
          </a:stretch>
        </p:blipFill>
        <p:spPr>
          <a:xfrm>
            <a:off x="1263749" y="1028161"/>
            <a:ext cx="5656624" cy="3157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7DC742-DAB2-4FE6-1AB4-A3AF29DFFC88}"/>
              </a:ext>
            </a:extLst>
          </p:cNvPr>
          <p:cNvSpPr txBox="1"/>
          <p:nvPr/>
        </p:nvSpPr>
        <p:spPr>
          <a:xfrm>
            <a:off x="745351" y="4440991"/>
            <a:ext cx="7184374" cy="3693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Distillation loss: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far apart are the output token probabilities?</a:t>
            </a:r>
          </a:p>
        </p:txBody>
      </p:sp>
    </p:spTree>
    <p:extLst>
      <p:ext uri="{BB962C8B-B14F-4D97-AF65-F5344CB8AC3E}">
        <p14:creationId xmlns:p14="http://schemas.microsoft.com/office/powerpoint/2010/main" val="4201620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4C60-C4F6-13CB-088C-51662059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19B5F-9C71-FCAF-4FFF-95F4A0960232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A7B21-DE36-DCB1-F3BD-B3A21BF2159D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Attacks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719DC1-50C5-8ABC-4197-A8666461E635}"/>
              </a:ext>
            </a:extLst>
          </p:cNvPr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pic>
        <p:nvPicPr>
          <p:cNvPr id="7" name="Picture 6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29D917BA-05AD-DC4F-301E-69055947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58" y="1044643"/>
            <a:ext cx="4494840" cy="2067025"/>
          </a:xfrm>
          <a:prstGeom prst="rect">
            <a:avLst/>
          </a:prstGeom>
        </p:spPr>
      </p:pic>
      <p:pic>
        <p:nvPicPr>
          <p:cNvPr id="6" name="Picture 5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5D50A21A-937E-6B9F-052E-A6149C659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71" y="3315619"/>
            <a:ext cx="5570672" cy="156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06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7DDC-1956-3459-0442-AD2B105D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57095-985D-CC35-502E-021996879F44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61EE5-CDC9-05A3-A402-4333945DDAE6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LLM-as-Judge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0C5CA-2135-FAE2-482C-6444003C6AC0}"/>
              </a:ext>
            </a:extLst>
          </p:cNvPr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0D7EF-A4DB-D5D2-5B47-4EC83F91EE6C}"/>
              </a:ext>
            </a:extLst>
          </p:cNvPr>
          <p:cNvSpPr txBox="1"/>
          <p:nvPr/>
        </p:nvSpPr>
        <p:spPr>
          <a:xfrm>
            <a:off x="457200" y="1160208"/>
            <a:ext cx="2684585" cy="14115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0" dirty="0">
                <a:solidFill>
                  <a:srgbClr val="000000"/>
                </a:solidFill>
                <a:latin typeface="Arial"/>
              </a:rPr>
              <a:t>Similar to RLHF, but frontier model generates scores instead of a specialized scoring model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0E156-CE2E-EEAF-CC72-5F85713A91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14" r="7995"/>
          <a:stretch>
            <a:fillRect/>
          </a:stretch>
        </p:blipFill>
        <p:spPr>
          <a:xfrm>
            <a:off x="3310127" y="1242270"/>
            <a:ext cx="5833873" cy="37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17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BD2B-060C-B59B-108A-4904EACD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180E4B-5246-B992-66C9-9AD218B2A7E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3E23-1B91-70D3-2514-36491B55D549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 Summary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FD6ED1-C822-87A2-6D9C-1A87357E0E30}"/>
              </a:ext>
            </a:extLst>
          </p:cNvPr>
          <p:cNvSpPr/>
          <p:nvPr/>
        </p:nvSpPr>
        <p:spPr>
          <a:xfrm>
            <a:off x="457200" y="9144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49C78D-DAB2-73F3-98F2-97E625587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053166"/>
              </p:ext>
            </p:extLst>
          </p:nvPr>
        </p:nvGraphicFramePr>
        <p:xfrm>
          <a:off x="548640" y="1435992"/>
          <a:ext cx="8229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1480507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970146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53892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b="1">
                        <a:solidFill>
                          <a:srgbClr val="12121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Distillation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LLM-as-judge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45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4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 generates data?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 needs to…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9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 (~20x)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62768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CFEB155-5E2B-9252-C6A8-6A9EDAC1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4296"/>
            <a:ext cx="0" cy="267384"/>
          </a:xfrm>
          <a:prstGeom prst="rect">
            <a:avLst/>
          </a:prstGeom>
          <a:solidFill>
            <a:srgbClr val="FDFD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vert="horz" wrap="square" lIns="-6348" tIns="-4761" rIns="-6348" bIns="-4761" numCol="1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A733F1D-7EF5-AB0E-9B59-756668378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3943170"/>
            <a:ext cx="8229600" cy="923330"/>
          </a:xfrm>
          <a:prstGeom prst="rect">
            <a:avLst/>
          </a:prstGeom>
          <a:noFill/>
          <a:ln w="1016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u="none" strike="noStrike" cap="none" normalizeH="0" baseline="0" dirty="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Distillation generates training data once and reuses it; one answer per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</a:rPr>
              <a:t>J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latin typeface="Arial" panose="020B0604020202020204" pitchFamily="34" charset="0"/>
              </a:rPr>
              <a:t>udge-based training needs 10+ answers per question, requires more steps</a:t>
            </a:r>
          </a:p>
        </p:txBody>
      </p:sp>
    </p:spTree>
    <p:extLst>
      <p:ext uri="{BB962C8B-B14F-4D97-AF65-F5344CB8AC3E}">
        <p14:creationId xmlns:p14="http://schemas.microsoft.com/office/powerpoint/2010/main" val="2055192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6E72-52F6-3469-C95D-ED459AC0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8458E5-BBDB-ABD6-8B09-D1BE3090B3A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7116B-B6F2-F3EE-990A-22BAC167CCC9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 dirty="0">
                <a:solidFill>
                  <a:srgbClr val="005587"/>
                </a:solidFill>
                <a:latin typeface="Whitney Bold"/>
              </a:rPr>
              <a:t>Reasoning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BBD92B-0825-9A86-028D-C6321F431677}"/>
              </a:ext>
            </a:extLst>
          </p:cNvPr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Whitney Bold"/>
              </a:rPr>
              <a:t>Reasoning</a:t>
            </a:r>
            <a:endParaRPr sz="4000" b="1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1340671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45800" y="1018086"/>
            <a:ext cx="382906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Chain-of-thought reasoning: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express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es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intermediate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 steps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before the final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8395" y="1631852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119" y="1631852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7018" y="1631852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0294" y="1631852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810" y="1631852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088" y="1631852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8950" y="1631852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5868" y="1631852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 dirty="0">
                <a:solidFill>
                  <a:srgbClr val="000000"/>
                </a:solidFill>
                <a:latin typeface="Arial"/>
              </a:rPr>
              <a:t>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31852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4788" y="1631852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2349" y="1814732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38921" y="1814732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06711" y="1814732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74318" y="1814732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45061" y="4954330"/>
            <a:ext cx="8321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dirty="0">
                <a:solidFill>
                  <a:srgbClr val="000000"/>
                </a:solidFill>
                <a:latin typeface="Arial"/>
              </a:rPr>
              <a:t>Source: Wei et al. (2022), Chain-of-Thought; Wang et al. (2022), Self-Consistency.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049545-0A41-C239-8BB5-9707AFC61E0E}"/>
              </a:ext>
            </a:extLst>
          </p:cNvPr>
          <p:cNvSpPr txBox="1"/>
          <p:nvPr/>
        </p:nvSpPr>
        <p:spPr>
          <a:xfrm>
            <a:off x="640080" y="1077764"/>
            <a:ext cx="3703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Without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: 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immediately provides a final answer.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CA6A78CE-F125-10C6-5373-9E56C71DC82F}"/>
              </a:ext>
            </a:extLst>
          </p:cNvPr>
          <p:cNvSpPr/>
          <p:nvPr/>
        </p:nvSpPr>
        <p:spPr>
          <a:xfrm>
            <a:off x="724662" y="1631852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09DC65-D4FB-FA1F-5511-FC4E7DA4D996}"/>
              </a:ext>
            </a:extLst>
          </p:cNvPr>
          <p:cNvSpPr txBox="1"/>
          <p:nvPr/>
        </p:nvSpPr>
        <p:spPr>
          <a:xfrm>
            <a:off x="724662" y="1631852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Q</a:t>
            </a:r>
          </a:p>
        </p:txBody>
      </p: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32A4C3F6-5F0A-5178-768A-461D8FD591DB}"/>
              </a:ext>
            </a:extLst>
          </p:cNvPr>
          <p:cNvSpPr/>
          <p:nvPr/>
        </p:nvSpPr>
        <p:spPr>
          <a:xfrm>
            <a:off x="1516126" y="1631852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7341EC-E1C7-14D0-369F-EBACFF3C4722}"/>
              </a:ext>
            </a:extLst>
          </p:cNvPr>
          <p:cNvSpPr txBox="1"/>
          <p:nvPr/>
        </p:nvSpPr>
        <p:spPr>
          <a:xfrm>
            <a:off x="1516126" y="1631852"/>
            <a:ext cx="6400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cxnSp>
        <p:nvCxnSpPr>
          <p:cNvPr id="61" name="Connector 20">
            <a:extLst>
              <a:ext uri="{FF2B5EF4-FFF2-40B4-BE49-F238E27FC236}">
                <a16:creationId xmlns:a16="http://schemas.microsoft.com/office/drawing/2014/main" id="{55B869F6-13E1-E787-957B-22712BBA33D0}"/>
              </a:ext>
            </a:extLst>
          </p:cNvPr>
          <p:cNvCxnSpPr/>
          <p:nvPr/>
        </p:nvCxnSpPr>
        <p:spPr>
          <a:xfrm>
            <a:off x="1450467" y="1814732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08EB2D1-EF40-CA5D-7C2A-5DA541000F96}"/>
              </a:ext>
            </a:extLst>
          </p:cNvPr>
          <p:cNvSpPr txBox="1"/>
          <p:nvPr/>
        </p:nvSpPr>
        <p:spPr>
          <a:xfrm>
            <a:off x="617319" y="3808554"/>
            <a:ext cx="8181612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0" dirty="0">
                <a:solidFill>
                  <a:srgbClr val="000000"/>
                </a:solidFill>
                <a:latin typeface="Arial"/>
              </a:rPr>
              <a:t>Why does reasoning work? The entire sequence is fed back into the model as it is generated, which allows the model to attend to the entire output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lang="en-US" b="0" dirty="0">
                <a:solidFill>
                  <a:srgbClr val="000000"/>
                </a:solidFill>
                <a:latin typeface="Arial"/>
              </a:rPr>
              <a:t>Often referred to as the LLMs “scratchpad”</a:t>
            </a:r>
            <a:endParaRPr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A94856-B179-984B-B629-9AA5B0172FBC}"/>
              </a:ext>
            </a:extLst>
          </p:cNvPr>
          <p:cNvSpPr txBox="1"/>
          <p:nvPr/>
        </p:nvSpPr>
        <p:spPr>
          <a:xfrm>
            <a:off x="5039997" y="1701362"/>
            <a:ext cx="3646803" cy="19389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Chain-of-thought:</a:t>
            </a:r>
          </a:p>
          <a:p>
            <a:r>
              <a:rPr lang="en-US" sz="12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starts with 5 balls.</a:t>
            </a:r>
          </a:p>
          <a:p>
            <a:r>
              <a:rPr lang="en-US" sz="12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cans × 3 balls per can = 6 new balls.</a:t>
            </a:r>
          </a:p>
          <a:p>
            <a:r>
              <a:rPr lang="en-US" sz="12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+ 6 = 11.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</a:p>
          <a:p>
            <a:r>
              <a:rPr lang="en-US" sz="12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4A9CCC-669E-8B54-5EAD-F841BB607D15}"/>
              </a:ext>
            </a:extLst>
          </p:cNvPr>
          <p:cNvSpPr txBox="1"/>
          <p:nvPr/>
        </p:nvSpPr>
        <p:spPr>
          <a:xfrm>
            <a:off x="640078" y="2192561"/>
            <a:ext cx="29514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r>
              <a:rPr lang="en-US" sz="12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has 5 tennis balls. He buys 2 more cans of tennis balls. Each can has 3 tennis balls. How many tennis balls does he have now?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answer:</a:t>
            </a:r>
          </a:p>
          <a:p>
            <a:r>
              <a:rPr lang="en-US" sz="12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67" grpId="0"/>
      <p:bldP spid="6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8312D-CD79-62BF-9A81-C591C6AFD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A4D37C-0285-90F8-8018-6911C45BCCD0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2A90F-0C30-E5E3-07F5-A563546D7FAD}"/>
              </a:ext>
            </a:extLst>
          </p:cNvPr>
          <p:cNvSpPr txBox="1"/>
          <p:nvPr/>
        </p:nvSpPr>
        <p:spPr>
          <a:xfrm>
            <a:off x="457200" y="310336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Getting Reasoning to Work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1C2BF10-B746-D029-316B-54E28BF69CEC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A760ADA-FDE5-8B69-415D-3C3B3E554113}"/>
              </a:ext>
            </a:extLst>
          </p:cNvPr>
          <p:cNvSpPr txBox="1"/>
          <p:nvPr/>
        </p:nvSpPr>
        <p:spPr>
          <a:xfrm>
            <a:off x="609600" y="12691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Original Approach: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Explicitly prompt the LLM “Let’s think step by step”. Prompt forces LLM to reason. No training.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Supervised Fine-Tuning: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Post-train model on “reasoning traces”, e.g., math problems with steps broken out, step-by-step sequences of code 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Reinforcement Learning with Verifiable Rewards (RLVR): 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Use a verification model (for math, code, logic) that tells the LLM if it was right or wrong – DeepSeek-R1 did this</a:t>
            </a:r>
          </a:p>
        </p:txBody>
      </p:sp>
    </p:spTree>
    <p:extLst>
      <p:ext uri="{BB962C8B-B14F-4D97-AF65-F5344CB8AC3E}">
        <p14:creationId xmlns:p14="http://schemas.microsoft.com/office/powerpoint/2010/main" val="202450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6835-2132-855A-B99E-C5FA6A73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Training Reasoning: DeepSeek-R1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screenshot of a document&#10;&#10;AI-generated content may be incorrect.">
            <a:extLst>
              <a:ext uri="{FF2B5EF4-FFF2-40B4-BE49-F238E27FC236}">
                <a16:creationId xmlns:a16="http://schemas.microsoft.com/office/drawing/2014/main" id="{E4CF4050-63C4-3FE4-7198-5B5B0286B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8829"/>
            <a:ext cx="3941983" cy="3552116"/>
          </a:xfrm>
          <a:prstGeom prst="rect">
            <a:avLst/>
          </a:prstGeom>
        </p:spPr>
      </p:pic>
      <p:pic>
        <p:nvPicPr>
          <p:cNvPr id="35" name="Picture 34" descr="A diagram of a problem&#10;&#10;AI-generated content may be incorrect.">
            <a:extLst>
              <a:ext uri="{FF2B5EF4-FFF2-40B4-BE49-F238E27FC236}">
                <a16:creationId xmlns:a16="http://schemas.microsoft.com/office/drawing/2014/main" id="{A6AE68CB-EAF2-5B75-371B-951CF89B3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087" y="1127458"/>
            <a:ext cx="4124713" cy="275339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1BA81F9-837F-FA43-F5F1-2C00715DF2E4}"/>
              </a:ext>
            </a:extLst>
          </p:cNvPr>
          <p:cNvSpPr txBox="1"/>
          <p:nvPr/>
        </p:nvSpPr>
        <p:spPr>
          <a:xfrm>
            <a:off x="4380947" y="3900672"/>
            <a:ext cx="47630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Verifier is not an LLM or neural network -- its just a hard check for correctness (for math) or a compiler (e.g., check if code runs)</a:t>
            </a:r>
          </a:p>
        </p:txBody>
      </p:sp>
    </p:spTree>
    <p:extLst>
      <p:ext uri="{BB962C8B-B14F-4D97-AF65-F5344CB8AC3E}">
        <p14:creationId xmlns:p14="http://schemas.microsoft.com/office/powerpoint/2010/main" val="310310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813CE-9B0B-24F3-9560-8817E1EC1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3D6EF-77DD-254D-6B8F-3418DD636B57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506F0-D44B-BF48-0EB6-BE587C1C9448}"/>
              </a:ext>
            </a:extLst>
          </p:cNvPr>
          <p:cNvSpPr txBox="1"/>
          <p:nvPr/>
        </p:nvSpPr>
        <p:spPr>
          <a:xfrm>
            <a:off x="457200" y="310336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Training Reasoning: DeepSeek-R1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7A46807-85E8-48C6-C7AB-10598FD0D65D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graph showing a blue line&#10;&#10;AI-generated content may be incorrect.">
            <a:extLst>
              <a:ext uri="{FF2B5EF4-FFF2-40B4-BE49-F238E27FC236}">
                <a16:creationId xmlns:a16="http://schemas.microsoft.com/office/drawing/2014/main" id="{1D699FD1-04B0-B8D0-98B6-92F43C22A5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55" b="4416"/>
          <a:stretch>
            <a:fillRect/>
          </a:stretch>
        </p:blipFill>
        <p:spPr>
          <a:xfrm>
            <a:off x="5308812" y="3136455"/>
            <a:ext cx="3080084" cy="2007499"/>
          </a:xfrm>
          <a:prstGeom prst="rect">
            <a:avLst/>
          </a:prstGeom>
        </p:spPr>
      </p:pic>
      <p:pic>
        <p:nvPicPr>
          <p:cNvPr id="27" name="Picture 26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DFB81DC3-4798-87DD-82CB-06B70F993F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18" b="2633"/>
          <a:stretch>
            <a:fillRect/>
          </a:stretch>
        </p:blipFill>
        <p:spPr>
          <a:xfrm>
            <a:off x="5209964" y="958092"/>
            <a:ext cx="3025220" cy="215202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15C2E3C-01A4-9619-A77B-B067CD4A48EF}"/>
              </a:ext>
            </a:extLst>
          </p:cNvPr>
          <p:cNvSpPr txBox="1"/>
          <p:nvPr/>
        </p:nvSpPr>
        <p:spPr>
          <a:xfrm>
            <a:off x="642877" y="1613074"/>
            <a:ext cx="45960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"Although we do not explicitly teach the model how to reason, it successfully learns improved reasoning strategies through reinforcement learning."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7D5DAD-0AD1-021C-7C85-5B2CBF059502}"/>
              </a:ext>
            </a:extLst>
          </p:cNvPr>
          <p:cNvSpPr txBox="1"/>
          <p:nvPr/>
        </p:nvSpPr>
        <p:spPr>
          <a:xfrm>
            <a:off x="642877" y="2631409"/>
            <a:ext cx="45960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"As shown in Figure 1(b), DeepSeek-R1-Zero exhibits a steady increase in thinking time throughout training, driven solely by intrinsic adaptation rather than external modifications."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3E1CC7-6EA1-9615-264B-3E44725FBDD4}"/>
              </a:ext>
            </a:extLst>
          </p:cNvPr>
          <p:cNvSpPr txBox="1"/>
          <p:nvPr/>
        </p:nvSpPr>
        <p:spPr>
          <a:xfrm>
            <a:off x="627086" y="4096956"/>
            <a:ext cx="45960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"Leveraging long </a:t>
            </a:r>
            <a:r>
              <a:rPr lang="en-US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, the model progressively refines its reasoning, generating hundreds to thousands of tokens to explore and improve its problem-solving strategies."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651E6D-FB58-ECAE-94EC-B2C02890F1BA}"/>
              </a:ext>
            </a:extLst>
          </p:cNvPr>
          <p:cNvSpPr txBox="1"/>
          <p:nvPr/>
        </p:nvSpPr>
        <p:spPr>
          <a:xfrm>
            <a:off x="642877" y="1127774"/>
            <a:ext cx="3080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Reasoning is emergent: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4EDF4-3D36-D9D2-C051-B7441A7ADD8D}"/>
              </a:ext>
            </a:extLst>
          </p:cNvPr>
          <p:cNvSpPr txBox="1"/>
          <p:nvPr/>
        </p:nvSpPr>
        <p:spPr>
          <a:xfrm>
            <a:off x="642877" y="3727729"/>
            <a:ext cx="3080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Reasoning is costly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07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02D3-908F-3138-34DC-2556DD84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Boosting 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Self Consistency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15034"/>
            <a:ext cx="8321040" cy="33855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000" b="0" dirty="0">
                <a:solidFill>
                  <a:srgbClr val="000000"/>
                </a:solidFill>
                <a:latin typeface="Arial"/>
              </a:rPr>
              <a:t>At inference time, 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i</a:t>
            </a:r>
            <a:r>
              <a:rPr sz="2000" b="0" dirty="0">
                <a:solidFill>
                  <a:srgbClr val="000000"/>
                </a:solidFill>
                <a:latin typeface="Arial"/>
              </a:rPr>
              <a:t>nstead of trusting one </a:t>
            </a:r>
            <a:r>
              <a:rPr lang="en-US" sz="2000" b="0" dirty="0">
                <a:solidFill>
                  <a:srgbClr val="000000"/>
                </a:solidFill>
                <a:latin typeface="Arial"/>
              </a:rPr>
              <a:t>response, generate N responses, group the outputs, and pick something from the largest group</a:t>
            </a:r>
            <a:br>
              <a:rPr lang="en-US" sz="2000" b="0" dirty="0">
                <a:solidFill>
                  <a:srgbClr val="000000"/>
                </a:solidFill>
                <a:latin typeface="Arial"/>
              </a:rPr>
            </a:br>
            <a:br>
              <a:rPr lang="en-US" sz="2000" b="0" dirty="0">
                <a:solidFill>
                  <a:srgbClr val="000000"/>
                </a:solidFill>
                <a:latin typeface="Arial"/>
              </a:rPr>
            </a:br>
            <a:r>
              <a:rPr lang="en-US" sz="2000" b="0" dirty="0">
                <a:solidFill>
                  <a:srgbClr val="000000"/>
                </a:solidFill>
                <a:latin typeface="Arial"/>
              </a:rPr>
              <a:t>Example: Generate 16 code snippets and cluster their outputs, pick final response to be something from the majority output </a:t>
            </a:r>
            <a:br>
              <a:rPr lang="en-US" sz="2000" b="0" dirty="0">
                <a:solidFill>
                  <a:srgbClr val="000000"/>
                </a:solidFill>
                <a:latin typeface="Arial"/>
              </a:rPr>
            </a:br>
            <a:br>
              <a:rPr lang="en-US" sz="2000" b="0" dirty="0">
                <a:solidFill>
                  <a:srgbClr val="000000"/>
                </a:solidFill>
                <a:latin typeface="Arial"/>
              </a:rPr>
            </a:br>
            <a:r>
              <a:rPr lang="en-US" sz="2000" b="0" dirty="0">
                <a:solidFill>
                  <a:srgbClr val="000000"/>
                </a:solidFill>
                <a:latin typeface="Arial"/>
              </a:rPr>
              <a:t>More costly, but gives us improved reasoning without touching the post-training process</a:t>
            </a:r>
          </a:p>
          <a:p>
            <a:pPr algn="l"/>
            <a:endParaRPr lang="en-US" sz="2000" dirty="0">
              <a:solidFill>
                <a:srgbClr val="000000"/>
              </a:solidFill>
              <a:latin typeface="Arial"/>
            </a:endParaRPr>
          </a:p>
          <a:p>
            <a:pPr algn="l"/>
            <a:r>
              <a:rPr lang="en-US" sz="2000" b="0" dirty="0">
                <a:solidFill>
                  <a:srgbClr val="000000"/>
                </a:solidFill>
                <a:latin typeface="Arial"/>
              </a:rPr>
              <a:t>Deek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Seek-R1: 78% </a:t>
            </a:r>
            <a:r>
              <a:rPr lang="en-US" sz="2000" dirty="0">
                <a:solidFill>
                  <a:srgbClr val="000000"/>
                </a:solidFill>
                <a:latin typeface="Arial"/>
                <a:sym typeface="Wingdings" pitchFamily="2" charset="2"/>
              </a:rPr>
              <a:t> 87% correct from adding self-consistency, but cost 16x higher than one-shot </a:t>
            </a:r>
            <a:r>
              <a:rPr lang="en-US" sz="2000" dirty="0" err="1">
                <a:solidFill>
                  <a:srgbClr val="000000"/>
                </a:solidFill>
                <a:latin typeface="Arial"/>
                <a:sym typeface="Wingdings" pitchFamily="2" charset="2"/>
              </a:rPr>
              <a:t>CoT</a:t>
            </a:r>
            <a:endParaRPr sz="20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695" y="4960620"/>
            <a:ext cx="832104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Source: Wang et al. (2022), Self-Consistency Improves Chain of Thought Reasoning.</a:t>
            </a:r>
          </a:p>
        </p:txBody>
      </p:sp>
    </p:spTree>
    <p:extLst>
      <p:ext uri="{BB962C8B-B14F-4D97-AF65-F5344CB8AC3E}">
        <p14:creationId xmlns:p14="http://schemas.microsoft.com/office/powerpoint/2010/main" val="2496868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88A7668-77B1-2B06-051D-BA6C2A21D8FB}"/>
              </a:ext>
            </a:extLst>
          </p:cNvPr>
          <p:cNvSpPr/>
          <p:nvPr/>
        </p:nvSpPr>
        <p:spPr>
          <a:xfrm rot="20158012">
            <a:off x="325465" y="1503335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8BB8E8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15-min Break</a:t>
            </a:r>
            <a:endParaRPr lang="en-US" sz="8000" dirty="0">
              <a:solidFill>
                <a:srgbClr val="8BB8E8"/>
              </a:solidFill>
            </a:endParaRPr>
          </a:p>
        </p:txBody>
      </p:sp>
      <p:pic>
        <p:nvPicPr>
          <p:cNvPr id="5" name="Picture 4" descr="Sleepy Robot 3D Icons - Free Download in PNG, glTF">
            <a:extLst>
              <a:ext uri="{FF2B5EF4-FFF2-40B4-BE49-F238E27FC236}">
                <a16:creationId xmlns:a16="http://schemas.microsoft.com/office/drawing/2014/main" id="{20BAF873-3565-C946-9FBC-DC2B1D904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269" y="2646335"/>
            <a:ext cx="2315059" cy="231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E137F-88D4-EEB4-D697-0B1528D56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37A1A-F00C-CC95-2155-32A614446887}"/>
              </a:ext>
            </a:extLst>
          </p:cNvPr>
          <p:cNvSpPr/>
          <p:nvPr/>
        </p:nvSpPr>
        <p:spPr>
          <a:xfrm>
            <a:off x="0" y="-13252"/>
            <a:ext cx="9144000" cy="515675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D6F1B-24BE-0E04-141A-EE7B1B75E266}"/>
              </a:ext>
            </a:extLst>
          </p:cNvPr>
          <p:cNvSpPr txBox="1"/>
          <p:nvPr/>
        </p:nvSpPr>
        <p:spPr>
          <a:xfrm>
            <a:off x="0" y="2206377"/>
            <a:ext cx="9098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Whitney Bold"/>
              </a:rPr>
              <a:t>Part 2: </a:t>
            </a:r>
            <a:r>
              <a:rPr lang="en-US" sz="4000" b="1" dirty="0">
                <a:solidFill>
                  <a:srgbClr val="FFFFFF"/>
                </a:solidFill>
                <a:latin typeface="Whitney Bold"/>
              </a:rPr>
              <a:t>Some</a:t>
            </a:r>
            <a:r>
              <a:rPr sz="4000" b="1" dirty="0">
                <a:solidFill>
                  <a:srgbClr val="FFFFFF"/>
                </a:solidFill>
                <a:latin typeface="Whitney Bold"/>
              </a:rPr>
              <a:t> Economics of AI</a:t>
            </a:r>
          </a:p>
        </p:txBody>
      </p:sp>
    </p:spTree>
    <p:extLst>
      <p:ext uri="{BB962C8B-B14F-4D97-AF65-F5344CB8AC3E}">
        <p14:creationId xmlns:p14="http://schemas.microsoft.com/office/powerpoint/2010/main" val="36261218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0BED-9A94-3E92-C84B-3BAB58BC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B4592-F001-E87A-1607-B031CD5D25A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FC800-9503-29F8-E190-CEAB713EF97C}"/>
              </a:ext>
            </a:extLst>
          </p:cNvPr>
          <p:cNvSpPr txBox="1"/>
          <p:nvPr/>
        </p:nvSpPr>
        <p:spPr>
          <a:xfrm>
            <a:off x="457200" y="310336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Recap: Graphics Processing Units (GPUs)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B215F3E-43A1-449C-FAC4-62039132EE4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66358E-FC2C-B6BF-E647-539172891D31}"/>
              </a:ext>
            </a:extLst>
          </p:cNvPr>
          <p:cNvSpPr txBox="1"/>
          <p:nvPr/>
        </p:nvSpPr>
        <p:spPr>
          <a:xfrm>
            <a:off x="457200" y="1087577"/>
            <a:ext cx="8350582" cy="4266471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Graphics Processing Units (GPUs) are currently at the heart of the AI economy</a:t>
            </a:r>
            <a:endParaRPr lang="en-US" sz="1600" dirty="0">
              <a:latin typeface="Arial"/>
            </a:endParaRPr>
          </a:p>
          <a:p>
            <a:endParaRPr lang="en-US" sz="1600" b="0" dirty="0">
              <a:solidFill>
                <a:srgbClr val="000000"/>
              </a:solidFill>
              <a:latin typeface="Arial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/>
              </a:rPr>
              <a:t>Two major to AI deployment costs:</a:t>
            </a:r>
            <a:endParaRPr lang="en-US" sz="1600" b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Picture 10" descr="A diagram of a wavy blue surface&#10;&#10;AI-generated content may be incorrect.">
            <a:extLst>
              <a:ext uri="{FF2B5EF4-FFF2-40B4-BE49-F238E27FC236}">
                <a16:creationId xmlns:a16="http://schemas.microsoft.com/office/drawing/2014/main" id="{EB609B9E-6667-B38B-E7FB-3C049667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82" y="2877630"/>
            <a:ext cx="2953993" cy="2215495"/>
          </a:xfrm>
          <a:prstGeom prst="rect">
            <a:avLst/>
          </a:prstGeom>
        </p:spPr>
      </p:pic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A3649733-6FEB-8FC6-94E9-151054208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491" y="2877630"/>
            <a:ext cx="3383513" cy="19022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65D28B-426B-FC78-2CE5-C5A6DA3F95CE}"/>
              </a:ext>
            </a:extLst>
          </p:cNvPr>
          <p:cNvSpPr txBox="1"/>
          <p:nvPr/>
        </p:nvSpPr>
        <p:spPr>
          <a:xfrm>
            <a:off x="6533147" y="2165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DCA5A-B3A5-7CBE-B5C1-084C143E5B0A}"/>
              </a:ext>
            </a:extLst>
          </p:cNvPr>
          <p:cNvSpPr txBox="1"/>
          <p:nvPr/>
        </p:nvSpPr>
        <p:spPr>
          <a:xfrm>
            <a:off x="336218" y="2077411"/>
            <a:ext cx="383681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Updating gradients &amp; weights requires enormous number of multiplications/additions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C82AD5-A736-5924-D9F8-34C16A1738A5}"/>
              </a:ext>
            </a:extLst>
          </p:cNvPr>
          <p:cNvSpPr txBox="1"/>
          <p:nvPr/>
        </p:nvSpPr>
        <p:spPr>
          <a:xfrm>
            <a:off x="4774027" y="1990823"/>
            <a:ext cx="41852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Repeated next-token generation requires…enormous number of multiplications/additions </a:t>
            </a:r>
          </a:p>
        </p:txBody>
      </p:sp>
    </p:spTree>
    <p:extLst>
      <p:ext uri="{BB962C8B-B14F-4D97-AF65-F5344CB8AC3E}">
        <p14:creationId xmlns:p14="http://schemas.microsoft.com/office/powerpoint/2010/main" val="1832888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C3B7-C530-90E3-7368-41BD7A43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9C6AB-69C9-9700-7B6C-83620E1476C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32ED1-2CFE-DCC4-2455-B0E3E7D8A9AB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Follow The Money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D00C54E-744F-23FC-0D92-E974AA127D1D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46CD90-0E49-7ACF-A3C8-D9467EC247A9}"/>
              </a:ext>
            </a:extLst>
          </p:cNvPr>
          <p:cNvGrpSpPr/>
          <p:nvPr/>
        </p:nvGrpSpPr>
        <p:grpSpPr>
          <a:xfrm>
            <a:off x="360000" y="1190000"/>
            <a:ext cx="8650000" cy="2680000"/>
            <a:chOff x="360000" y="1190000"/>
            <a:chExt cx="8650000" cy="2680000"/>
          </a:xfrm>
        </p:grpSpPr>
        <p:sp>
          <p:nvSpPr>
            <p:cNvPr id="5" name="Rectangle 4"/>
            <p:cNvSpPr/>
            <p:nvPr/>
          </p:nvSpPr>
          <p:spPr>
            <a:xfrm>
              <a:off x="360000" y="1190000"/>
              <a:ext cx="21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 dirty="0">
                  <a:solidFill>
                    <a:srgbClr val="005587"/>
                  </a:solidFill>
                  <a:latin typeface="Whitney Bold"/>
                </a:rPr>
                <a:t>End Users</a:t>
              </a:r>
              <a:r>
                <a:rPr lang="en-US" sz="1800" b="1" dirty="0">
                  <a:solidFill>
                    <a:srgbClr val="005587"/>
                  </a:solidFill>
                  <a:latin typeface="Whitney Bold"/>
                </a:rPr>
                <a:t> / Enterprises</a:t>
              </a:r>
              <a:endParaRPr sz="1200" b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0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AI Deployers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startups, software firms,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enterprise IT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2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Frontier Labs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OpenAI, Anthropic,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Google, Meta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0000" y="3070000"/>
              <a:ext cx="216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GPU Suppliers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NVIDIA, TSMC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650000" y="3070000"/>
              <a:ext cx="252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Compute Providers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AWS, Azure, Google Cloud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540000" y="1640000"/>
              <a:ext cx="106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76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subscriptions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5680000" y="1640000"/>
              <a:ext cx="114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89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inference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7650000" y="2090000"/>
              <a:ext cx="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760000" y="2360000"/>
              <a:ext cx="1250000" cy="43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training + inference</a:t>
              </a:r>
            </a:p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compute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930000" y="2090000"/>
              <a:ext cx="102000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450000" y="2440000"/>
              <a:ext cx="900000" cy="42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inference</a:t>
              </a:r>
            </a:p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at scale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 flipH="1">
              <a:off x="3860000" y="3470000"/>
              <a:ext cx="179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170000" y="3240000"/>
              <a:ext cx="111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40" b="0">
                  <a:solidFill>
                    <a:srgbClr val="000000"/>
                  </a:solidFill>
                  <a:latin typeface="Arial"/>
                </a:rPr>
                <a:t>hardware capex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600000" y="4226916"/>
            <a:ext cx="2564805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800" b="1" dirty="0">
                <a:solidFill>
                  <a:srgbClr val="005587"/>
                </a:solidFill>
                <a:latin typeface="Whitney Bold"/>
              </a:rPr>
              <a:t>Compute Infrastructure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A9C0C-F039-ECAA-4AAB-E833E8D43E30}"/>
              </a:ext>
            </a:extLst>
          </p:cNvPr>
          <p:cNvSpPr/>
          <p:nvPr/>
        </p:nvSpPr>
        <p:spPr>
          <a:xfrm>
            <a:off x="1358074" y="2954215"/>
            <a:ext cx="7090965" cy="1125416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2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Cloud GPU Pricing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395055"/>
            <a:ext cx="2697480" cy="25385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86552"/>
            <a:ext cx="2697480" cy="3657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On-Demand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1925464"/>
            <a:ext cx="2148840" cy="0"/>
          </a:xfrm>
          <a:prstGeom prst="line">
            <a:avLst/>
          </a:prstGeom>
          <a:ln w="635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4037" y="2064057"/>
            <a:ext cx="269748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rgbClr val="005587"/>
                </a:solidFill>
                <a:latin typeface="Whitney Bold"/>
              </a:rPr>
              <a:t>$3-5/</a:t>
            </a:r>
            <a:r>
              <a:rPr lang="en-US" sz="2200" b="1" dirty="0" err="1">
                <a:solidFill>
                  <a:srgbClr val="005587"/>
                </a:solidFill>
                <a:latin typeface="Whitney Bold"/>
              </a:rPr>
              <a:t>hr</a:t>
            </a:r>
            <a:endParaRPr lang="en-US" sz="22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" y="2566719"/>
            <a:ext cx="236829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Whitney Bold"/>
              </a:rPr>
              <a:t>Pay by the hour</a:t>
            </a:r>
            <a:br>
              <a:rPr lang="en-US" sz="1200" b="1" dirty="0">
                <a:solidFill>
                  <a:srgbClr val="005587"/>
                </a:solidFill>
                <a:latin typeface="Whitney Bold"/>
              </a:rPr>
            </a:br>
            <a:endParaRPr lang="en-US" sz="12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lang="en-US" sz="1200" b="0" dirty="0">
                <a:solidFill>
                  <a:srgbClr val="000000"/>
                </a:solidFill>
                <a:latin typeface="Arial"/>
              </a:rPr>
              <a:t>Used by AI startups, research teams for prototyping and experiments, short training runs, unpredictable workloads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5357AA-A6FB-C0B8-857C-4B88EA669E5F}"/>
              </a:ext>
            </a:extLst>
          </p:cNvPr>
          <p:cNvGrpSpPr/>
          <p:nvPr/>
        </p:nvGrpSpPr>
        <p:grpSpPr>
          <a:xfrm>
            <a:off x="3170389" y="1395055"/>
            <a:ext cx="2709203" cy="2538575"/>
            <a:chOff x="3170389" y="2074989"/>
            <a:chExt cx="2709203" cy="2538575"/>
          </a:xfrm>
        </p:grpSpPr>
        <p:sp>
          <p:nvSpPr>
            <p:cNvPr id="15" name="Rounded Rectangle 14"/>
            <p:cNvSpPr/>
            <p:nvPr/>
          </p:nvSpPr>
          <p:spPr>
            <a:xfrm>
              <a:off x="3182112" y="2074989"/>
              <a:ext cx="2697480" cy="2538575"/>
            </a:xfrm>
            <a:prstGeom prst="rect">
              <a:avLst/>
            </a:prstGeom>
            <a:noFill/>
            <a:ln w="12700">
              <a:solidFill>
                <a:srgbClr val="005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82112" y="2166486"/>
              <a:ext cx="269748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005587"/>
                  </a:solidFill>
                  <a:latin typeface="Whitney Bold"/>
                </a:rPr>
                <a:t>Reserved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3456432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170389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$2-3/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46704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Multi-year commitment</a:t>
              </a: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r>
                <a:rPr lang="en-US" sz="1200" b="0" dirty="0">
                  <a:solidFill>
                    <a:srgbClr val="000000"/>
                  </a:solidFill>
                  <a:latin typeface="Arial"/>
                </a:rPr>
                <a:t>Used by large cloud-heavy companies, enterprise AI teams for long-term steady training and inference</a:t>
              </a:r>
              <a:endParaRPr sz="1200" b="0" dirty="0">
                <a:solidFill>
                  <a:srgbClr val="1F1F1F"/>
                </a:solidFill>
                <a:latin typeface="Arial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613DC-23A5-4E61-8A74-D75AA406A3BA}"/>
              </a:ext>
            </a:extLst>
          </p:cNvPr>
          <p:cNvGrpSpPr/>
          <p:nvPr/>
        </p:nvGrpSpPr>
        <p:grpSpPr>
          <a:xfrm>
            <a:off x="5986741" y="1395055"/>
            <a:ext cx="2709203" cy="2538575"/>
            <a:chOff x="5986741" y="2074989"/>
            <a:chExt cx="2709203" cy="2538575"/>
          </a:xfrm>
        </p:grpSpPr>
        <p:sp>
          <p:nvSpPr>
            <p:cNvPr id="24" name="Rounded Rectangle 23"/>
            <p:cNvSpPr/>
            <p:nvPr/>
          </p:nvSpPr>
          <p:spPr>
            <a:xfrm>
              <a:off x="5998464" y="2074989"/>
              <a:ext cx="2697480" cy="25385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5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98464" y="2195477"/>
              <a:ext cx="269748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5587"/>
                  </a:solidFill>
                  <a:latin typeface="Whitney Bold"/>
                </a:rPr>
                <a:t>Spot</a:t>
              </a:r>
              <a:endParaRPr sz="1400" b="1" dirty="0">
                <a:solidFill>
                  <a:srgbClr val="005587"/>
                </a:solidFill>
                <a:latin typeface="Whitney Bold"/>
              </a:endParaRP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6272784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986741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$0.50-1.50/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63056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Pay by the hour</a:t>
              </a:r>
            </a:p>
            <a:p>
              <a:endParaRPr lang="en-US" sz="1200" b="1" dirty="0">
                <a:solidFill>
                  <a:srgbClr val="1F1F1F"/>
                </a:solidFill>
                <a:latin typeface="Arial"/>
              </a:endParaRPr>
            </a:p>
            <a:p>
              <a:r>
                <a:rPr lang="en-US" sz="1200" b="0" dirty="0">
                  <a:solidFill>
                    <a:srgbClr val="000000"/>
                  </a:solidFill>
                  <a:latin typeface="Arial"/>
                </a:rPr>
                <a:t>Used for jobs that can be safely interrupted: model evaluation, synthetic data generation, non-critical tasks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54036" y="4229100"/>
            <a:ext cx="789900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Spot markets exist because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big companies </a:t>
            </a:r>
            <a:r>
              <a:rPr b="0" dirty="0">
                <a:solidFill>
                  <a:srgbClr val="000000"/>
                </a:solidFill>
                <a:latin typeface="Arial"/>
              </a:rPr>
              <a:t>buy capacity in advance and want to monetize idle GPUs</a:t>
            </a:r>
          </a:p>
        </p:txBody>
      </p:sp>
    </p:spTree>
    <p:extLst>
      <p:ext uri="{BB962C8B-B14F-4D97-AF65-F5344CB8AC3E}">
        <p14:creationId xmlns:p14="http://schemas.microsoft.com/office/powerpoint/2010/main" val="100683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4CF8-A665-7383-63BB-5FB4FA39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E8D9B-C7C7-6861-77E7-58C2E1EEBEC3}"/>
              </a:ext>
            </a:extLst>
          </p:cNvPr>
          <p:cNvSpPr txBox="1"/>
          <p:nvPr/>
        </p:nvSpPr>
        <p:spPr>
          <a:xfrm>
            <a:off x="3423138" y="2202418"/>
            <a:ext cx="2297723" cy="36933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b="0" dirty="0">
                <a:solidFill>
                  <a:srgbClr val="000000"/>
                </a:solidFill>
                <a:latin typeface="Arial"/>
              </a:rPr>
              <a:t>https://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vast.ai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/pricing</a:t>
            </a:r>
          </a:p>
        </p:txBody>
      </p:sp>
      <p:pic>
        <p:nvPicPr>
          <p:cNvPr id="5" name="Picture 4" descr="A screenshot of a phone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2B05C61-45FF-7D3B-C21A-B9709851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1" y="1103888"/>
            <a:ext cx="7772400" cy="29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522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icon Data Creates Index for AI Chips, Tracking GPU Costs - Bloomberg">
            <a:extLst>
              <a:ext uri="{FF2B5EF4-FFF2-40B4-BE49-F238E27FC236}">
                <a16:creationId xmlns:a16="http://schemas.microsoft.com/office/drawing/2014/main" id="{BB9287BB-0AE9-270B-3AC2-5FAD7C9DD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4296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2CA1-F794-D4E6-D84A-24B8525A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lose-up of a sign&#10;&#10;AI-generated content may be incorrect.">
            <a:extLst>
              <a:ext uri="{FF2B5EF4-FFF2-40B4-BE49-F238E27FC236}">
                <a16:creationId xmlns:a16="http://schemas.microsoft.com/office/drawing/2014/main" id="{497FFDCF-C857-2855-0FCA-23A6A978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2" y="2242548"/>
            <a:ext cx="4264004" cy="13632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EE8A52-3D95-BA23-2856-429A038DDFC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CD8B7-1BCF-99DC-DB47-458ED2979389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Big Deals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5582D97-7D0D-7B06-5356-223CD9A69D3A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B75FB704-EED6-0DE3-B148-B7FA92EC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7729"/>
            <a:ext cx="3943910" cy="1309924"/>
          </a:xfrm>
          <a:prstGeom prst="rect">
            <a:avLst/>
          </a:prstGeom>
        </p:spPr>
      </p:pic>
      <p:pic>
        <p:nvPicPr>
          <p:cNvPr id="24" name="Picture 2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8B5083B4-A8B8-8C27-B6B1-2DD4C1862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50982"/>
            <a:ext cx="4020460" cy="157567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07514F-9D5C-D6A9-8C89-03954480358E}"/>
              </a:ext>
            </a:extLst>
          </p:cNvPr>
          <p:cNvCxnSpPr/>
          <p:nvPr/>
        </p:nvCxnSpPr>
        <p:spPr>
          <a:xfrm>
            <a:off x="8270748" y="2723043"/>
            <a:ext cx="0" cy="402247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D86113-9B42-7157-8710-1F36338219AA}"/>
              </a:ext>
            </a:extLst>
          </p:cNvPr>
          <p:cNvSpPr txBox="1"/>
          <p:nvPr/>
        </p:nvSpPr>
        <p:spPr>
          <a:xfrm>
            <a:off x="7598998" y="2760036"/>
            <a:ext cx="685795" cy="27161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1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  <p:extLst>
      <p:ext uri="{BB962C8B-B14F-4D97-AF65-F5344CB8AC3E}">
        <p14:creationId xmlns:p14="http://schemas.microsoft.com/office/powerpoint/2010/main" val="20220476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Cost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Estimates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536420" y="1101203"/>
            <a:ext cx="6162600" cy="56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>
            <a:normAutofit fontScale="92500" lnSpcReduction="20000"/>
          </a:bodyPr>
          <a:lstStyle/>
          <a:p>
            <a:pPr algn="ctr"/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Training FLOPs ≈ 6 × N × D</a:t>
            </a: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     D = training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20" y="1981359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FLOP =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loating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oint </a:t>
            </a:r>
            <a:r>
              <a:rPr lang="en-US" sz="1400" b="0" u="sng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n-US" sz="14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eration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 or multiplication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720" y="2429630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backward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(4)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B9B56-DB8A-6FE9-649F-3476F4FC2442}"/>
              </a:ext>
            </a:extLst>
          </p:cNvPr>
          <p:cNvSpPr txBox="1"/>
          <p:nvPr/>
        </p:nvSpPr>
        <p:spPr>
          <a:xfrm>
            <a:off x="622000" y="3042023"/>
            <a:ext cx="7900000" cy="1851477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 For Frontier Models (GPT 5+, Opus 4+)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 (N)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tokens (D)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20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NVIDIA H100 = 4,000 trillion FLOP/second and 50% effective throughput</a:t>
            </a:r>
          </a:p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pre-training run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17 million GPU-hours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$35m (assuming $2/hour rental)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Other training costs: failed runs, experiments, post-training (SFT+RLHF); total R&amp;D may be 5-10x higher </a:t>
            </a:r>
            <a:r>
              <a:rPr lang="en-US" sz="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(https://</a:t>
            </a:r>
            <a:r>
              <a:rPr lang="en-US" sz="8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epoch.ai</a:t>
            </a:r>
            <a:r>
              <a:rPr lang="en-US" sz="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/gradient-updates/r-and-d-vs-training-compute)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DeepSeek-V3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29944" y="1699723"/>
            <a:ext cx="158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4944" y="1764723"/>
            <a:ext cx="151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9944" y="1699723"/>
            <a:ext cx="333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944" y="1764723"/>
            <a:ext cx="326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DeepSeek-V3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9944" y="202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4944" y="208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endParaRPr sz="1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09944" y="202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4944" y="208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 technical report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29944" y="235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4944" y="241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9944" y="235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54944" y="241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14.8T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9944" y="268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4944" y="274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9944" y="268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54944" y="274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GPU-hours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(H800s)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29944" y="301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4944" y="307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9944" y="301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4944" y="307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2,048 NVIDIA H800s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9944" y="334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4944" y="340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 rental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9944" y="334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54944" y="340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$2/</a:t>
            </a:r>
            <a:r>
              <a:rPr lang="en-US" sz="1000" b="0" dirty="0">
                <a:solidFill>
                  <a:srgbClr val="000000"/>
                </a:solidFill>
                <a:latin typeface="Arial"/>
              </a:rPr>
              <a:t>hour</a:t>
            </a:r>
            <a:endParaRPr sz="10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29944" y="367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74944" y="373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run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09944" y="367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54944" y="373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$5.</a:t>
            </a:r>
            <a:r>
              <a:rPr lang="en-US" sz="1000" b="0" dirty="0">
                <a:solidFill>
                  <a:srgbClr val="000000"/>
                </a:solidFill>
                <a:latin typeface="Arial"/>
              </a:rPr>
              <a:t>6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9944" y="400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74944" y="4061723"/>
            <a:ext cx="149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09944" y="400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54944" y="4061723"/>
            <a:ext cx="324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3e24 from active params × tokens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F025D2-1291-64E3-49B1-7AC0D0D5DDF8}"/>
              </a:ext>
            </a:extLst>
          </p:cNvPr>
          <p:cNvSpPr txBox="1"/>
          <p:nvPr/>
        </p:nvSpPr>
        <p:spPr>
          <a:xfrm>
            <a:off x="457200" y="1174777"/>
            <a:ext cx="7900000" cy="24622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DeepSeek-V3 is one of the few large models where all details are published</a:t>
            </a: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B12B-3F37-8AEA-B8F6-9E29CFF8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1FD1E-788B-3073-4067-66E7E137CB3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D42C9-ACD7-E1ED-92C0-814967DEA0DA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SpaceX’s Colossus 1 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248CA2-009A-E395-14C7-5F3FA10F967E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About xAI | xAI Memphis">
            <a:extLst>
              <a:ext uri="{FF2B5EF4-FFF2-40B4-BE49-F238E27FC236}">
                <a16:creationId xmlns:a16="http://schemas.microsoft.com/office/drawing/2014/main" id="{EB70D9DA-1C09-8AAB-7FDC-8ABE3497B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r="6506"/>
          <a:stretch>
            <a:fillRect/>
          </a:stretch>
        </p:blipFill>
        <p:spPr bwMode="auto">
          <a:xfrm>
            <a:off x="1907257" y="1132084"/>
            <a:ext cx="4332687" cy="18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FCAB7D-183F-0CC5-BB28-B50A20384714}"/>
              </a:ext>
            </a:extLst>
          </p:cNvPr>
          <p:cNvSpPr txBox="1"/>
          <p:nvPr/>
        </p:nvSpPr>
        <p:spPr>
          <a:xfrm>
            <a:off x="208202" y="1789324"/>
            <a:ext cx="212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GPUs </a:t>
            </a:r>
          </a:p>
          <a:p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(NVIDIA H100s)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</a:t>
            </a:r>
            <a:endParaRPr lang="en-US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78F82-EC17-9590-4818-2C451D64169A}"/>
              </a:ext>
            </a:extLst>
          </p:cNvPr>
          <p:cNvSpPr txBox="1"/>
          <p:nvPr/>
        </p:nvSpPr>
        <p:spPr>
          <a:xfrm>
            <a:off x="1270344" y="3496266"/>
            <a:ext cx="7507896" cy="1465668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Assuming Anthropic leases from SpaceX at $1/GPU-hour: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x 24 x 365 x 1 =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$1.9b/year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compute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map of a city&#10;&#10;AI-generated content may be incorrect.">
            <a:extLst>
              <a:ext uri="{FF2B5EF4-FFF2-40B4-BE49-F238E27FC236}">
                <a16:creationId xmlns:a16="http://schemas.microsoft.com/office/drawing/2014/main" id="{79FF52E4-956B-6D97-066B-81B608275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800" y="1074931"/>
            <a:ext cx="2611346" cy="20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870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Raw GPU Inference Cost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85BE4EB-8B5C-98CC-9D95-DA3DDB880899}"/>
              </a:ext>
            </a:extLst>
          </p:cNvPr>
          <p:cNvSpPr/>
          <p:nvPr/>
        </p:nvSpPr>
        <p:spPr>
          <a:xfrm>
            <a:off x="1936297" y="1567016"/>
            <a:ext cx="5054600" cy="667245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>
            <a:normAutofit lnSpcReduction="10000"/>
          </a:bodyPr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Inference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FLOPs ≈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× N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per token</a:t>
            </a:r>
            <a:endParaRPr sz="2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ADB684F-0551-FF9C-31CD-9D384CA819E8}"/>
              </a:ext>
            </a:extLst>
          </p:cNvPr>
          <p:cNvSpPr txBox="1"/>
          <p:nvPr/>
        </p:nvSpPr>
        <p:spPr>
          <a:xfrm>
            <a:off x="4342303" y="2697380"/>
            <a:ext cx="4999736" cy="1110302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 $2/GPU-hour: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$0.15 per 1M tokens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8994AE9-5A1E-BCDF-505E-3A809A4DD103}"/>
              </a:ext>
            </a:extLst>
          </p:cNvPr>
          <p:cNvGrpSpPr/>
          <p:nvPr/>
        </p:nvGrpSpPr>
        <p:grpSpPr>
          <a:xfrm>
            <a:off x="195541" y="2402002"/>
            <a:ext cx="4813254" cy="1708399"/>
            <a:chOff x="2177643" y="2398846"/>
            <a:chExt cx="4813254" cy="1708399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86FD84E6-EFC8-D808-6022-3B3DBD6367D4}"/>
                </a:ext>
              </a:extLst>
            </p:cNvPr>
            <p:cNvGrpSpPr/>
            <p:nvPr/>
          </p:nvGrpSpPr>
          <p:grpSpPr>
            <a:xfrm>
              <a:off x="2177643" y="2668270"/>
              <a:ext cx="4813254" cy="1127615"/>
              <a:chOff x="677439" y="2093615"/>
              <a:chExt cx="4813254" cy="1127615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C17E0C3-43C6-E1BF-FE02-9D28BDB1D324}"/>
                  </a:ext>
                </a:extLst>
              </p:cNvPr>
              <p:cNvSpPr txBox="1"/>
              <p:nvPr/>
            </p:nvSpPr>
            <p:spPr>
              <a:xfrm>
                <a:off x="1205902" y="2093615"/>
                <a:ext cx="123746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 X 100B </a:t>
                </a:r>
              </a:p>
              <a:p>
                <a:pPr algn="ctr"/>
                <a:endParaRPr 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0C6273B7-9707-FAC5-BE9A-4425B1895F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3568" y="2512740"/>
                <a:ext cx="1713908" cy="0"/>
              </a:xfrm>
              <a:prstGeom prst="line">
                <a:avLst/>
              </a:prstGeom>
              <a:ln w="12700">
                <a:solidFill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4D9671D1-71A0-1D16-02B2-084B6AC6F29F}"/>
                  </a:ext>
                </a:extLst>
              </p:cNvPr>
              <p:cNvSpPr txBox="1"/>
              <p:nvPr/>
            </p:nvSpPr>
            <p:spPr>
              <a:xfrm>
                <a:off x="677439" y="2574899"/>
                <a:ext cx="24860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4,000 TFLOP/s x 20%</a:t>
                </a:r>
                <a:br>
                  <a:rPr lang="en-US" b="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9FD5CCD4-2030-629D-06B1-8D016DB214C0}"/>
                  </a:ext>
                </a:extLst>
              </p:cNvPr>
              <p:cNvSpPr txBox="1"/>
              <p:nvPr/>
            </p:nvSpPr>
            <p:spPr>
              <a:xfrm>
                <a:off x="3004668" y="2328074"/>
                <a:ext cx="24860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 0.00025 sec/token</a:t>
                </a:r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780B8E2-4ABC-48DB-2C60-5B336639B5D0}"/>
                </a:ext>
              </a:extLst>
            </p:cNvPr>
            <p:cNvSpPr txBox="1"/>
            <p:nvPr/>
          </p:nvSpPr>
          <p:spPr>
            <a:xfrm>
              <a:off x="3390726" y="2398846"/>
              <a:ext cx="312485" cy="307777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118265E-978B-5654-9D19-AE0578270523}"/>
                </a:ext>
              </a:extLst>
            </p:cNvPr>
            <p:cNvSpPr txBox="1"/>
            <p:nvPr/>
          </p:nvSpPr>
          <p:spPr>
            <a:xfrm>
              <a:off x="2351474" y="3565845"/>
              <a:ext cx="1237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H100 peak output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8D9C82F-DB7E-B79D-A445-54987B06C428}"/>
                </a:ext>
              </a:extLst>
            </p:cNvPr>
            <p:cNvSpPr txBox="1"/>
            <p:nvPr/>
          </p:nvSpPr>
          <p:spPr>
            <a:xfrm>
              <a:off x="3943568" y="3584025"/>
              <a:ext cx="14027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efficiency factor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EE7779E-0693-CEC8-7BD6-AFCD859A2F64}"/>
              </a:ext>
            </a:extLst>
          </p:cNvPr>
          <p:cNvSpPr txBox="1"/>
          <p:nvPr/>
        </p:nvSpPr>
        <p:spPr>
          <a:xfrm>
            <a:off x="195541" y="4567976"/>
            <a:ext cx="8902739" cy="3693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casual user: 1M per month; heavy coder 10x; autonomous agent 100x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E0F8B-EB39-9199-4441-81CBE9157B96}"/>
              </a:ext>
            </a:extLst>
          </p:cNvPr>
          <p:cNvSpPr txBox="1"/>
          <p:nvPr/>
        </p:nvSpPr>
        <p:spPr>
          <a:xfrm>
            <a:off x="439300" y="1045332"/>
            <a:ext cx="3903003" cy="369332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it cost to serve a user?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screen with white text&#10;&#10;AI-generated content may be incorrect.">
            <a:extLst>
              <a:ext uri="{FF2B5EF4-FFF2-40B4-BE49-F238E27FC236}">
                <a16:creationId xmlns:a16="http://schemas.microsoft.com/office/drawing/2014/main" id="{C499776F-186F-4051-9C08-467CCA51D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22" y="1686758"/>
            <a:ext cx="4860435" cy="2846486"/>
          </a:xfrm>
          <a:prstGeom prst="rect">
            <a:avLst/>
          </a:prstGeom>
        </p:spPr>
      </p:pic>
      <p:pic>
        <p:nvPicPr>
          <p:cNvPr id="5" name="Picture 4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1F895FFA-6163-A794-219E-7730AE306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757" y="610256"/>
            <a:ext cx="3896694" cy="41958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219F69-4A11-8797-F5EE-81DF4C908C3D}"/>
              </a:ext>
            </a:extLst>
          </p:cNvPr>
          <p:cNvSpPr txBox="1"/>
          <p:nvPr/>
        </p:nvSpPr>
        <p:spPr>
          <a:xfrm>
            <a:off x="253321" y="896645"/>
            <a:ext cx="4860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Power users are costly for LLM providers, leading to rate limits</a:t>
            </a:r>
          </a:p>
        </p:txBody>
      </p:sp>
    </p:spTree>
    <p:extLst>
      <p:ext uri="{BB962C8B-B14F-4D97-AF65-F5344CB8AC3E}">
        <p14:creationId xmlns:p14="http://schemas.microsoft.com/office/powerpoint/2010/main" val="30594969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Inference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Likely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Dominate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Lifetime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23631"/>
            <a:ext cx="8321040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000" b="0" dirty="0">
                <a:solidFill>
                  <a:srgbClr val="000000"/>
                </a:solidFill>
                <a:latin typeface="Arial"/>
              </a:rPr>
              <a:t>Training is </a:t>
            </a:r>
            <a:r>
              <a:rPr lang="en-US" sz="2000" b="0" dirty="0">
                <a:solidFill>
                  <a:srgbClr val="000000"/>
                </a:solidFill>
                <a:latin typeface="Arial"/>
              </a:rPr>
              <a:t>one-time, inference is ongoing</a:t>
            </a:r>
            <a:endParaRPr sz="2000" dirty="0">
              <a:solidFill>
                <a:srgbClr val="1F1F1F"/>
              </a:solidFill>
              <a:latin typeface="Arial"/>
            </a:endParaRPr>
          </a:p>
        </p:txBody>
      </p:sp>
      <p:pic>
        <p:nvPicPr>
          <p:cNvPr id="7" name="Picture 6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866BC7FD-5403-6056-FA75-EDCB5315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41"/>
          <a:stretch>
            <a:fillRect/>
          </a:stretch>
        </p:blipFill>
        <p:spPr>
          <a:xfrm>
            <a:off x="1092675" y="1732971"/>
            <a:ext cx="6214553" cy="314635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2D7F-C86E-5D99-8F5C-F5520791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2C9C4-340B-1659-91C5-0FC5095DD01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BECF2F-4D43-5D4D-66F6-7E91DCECFD11}"/>
              </a:ext>
            </a:extLst>
          </p:cNvPr>
          <p:cNvSpPr/>
          <p:nvPr/>
        </p:nvSpPr>
        <p:spPr>
          <a:xfrm>
            <a:off x="457200" y="914400"/>
            <a:ext cx="83210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 wrap="square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A0A13D57-106F-2D73-380E-15C5496BA68F}"/>
              </a:ext>
            </a:extLst>
          </p:cNvPr>
          <p:cNvSpPr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  <a:ln w="13970"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Mixture-of-Experts (</a:t>
            </a: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MoE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)</a:t>
            </a:r>
            <a:endParaRPr lang="en-US" sz="28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7128AD-0B5C-0F50-0BBD-44E00484AAED}"/>
              </a:ext>
            </a:extLst>
          </p:cNvPr>
          <p:cNvGrpSpPr/>
          <p:nvPr/>
        </p:nvGrpSpPr>
        <p:grpSpPr>
          <a:xfrm>
            <a:off x="548119" y="1699197"/>
            <a:ext cx="2748621" cy="2553882"/>
            <a:chOff x="1305418" y="1403588"/>
            <a:chExt cx="2748621" cy="255388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F897BE9-504D-7AD3-4034-CD899554682B}"/>
                </a:ext>
              </a:extLst>
            </p:cNvPr>
            <p:cNvSpPr/>
            <p:nvPr/>
          </p:nvSpPr>
          <p:spPr>
            <a:xfrm>
              <a:off x="2664490" y="290413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7A61DF87-2F5B-F3DF-36AE-48492CD6CC1B}"/>
                </a:ext>
              </a:extLst>
            </p:cNvPr>
            <p:cNvSpPr/>
            <p:nvPr/>
          </p:nvSpPr>
          <p:spPr>
            <a:xfrm>
              <a:off x="2396624" y="297434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0269645-93E0-274D-70B5-FB84DA036AC0}"/>
                </a:ext>
              </a:extLst>
            </p:cNvPr>
            <p:cNvSpPr/>
            <p:nvPr/>
          </p:nvSpPr>
          <p:spPr>
            <a:xfrm>
              <a:off x="2434648" y="314737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A6051A6E-BD61-4FBE-20CC-C00F3B41CA2E}"/>
                </a:ext>
              </a:extLst>
            </p:cNvPr>
            <p:cNvSpPr/>
            <p:nvPr/>
          </p:nvSpPr>
          <p:spPr>
            <a:xfrm>
              <a:off x="2401760" y="330892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6B257E85-BB99-1174-C73E-3E2283F7448C}"/>
                </a:ext>
              </a:extLst>
            </p:cNvPr>
            <p:cNvSpPr/>
            <p:nvPr/>
          </p:nvSpPr>
          <p:spPr>
            <a:xfrm>
              <a:off x="2405443" y="297678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C73CF19C-D06C-5E0E-B727-9898C8CAB653}"/>
                </a:ext>
              </a:extLst>
            </p:cNvPr>
            <p:cNvSpPr/>
            <p:nvPr/>
          </p:nvSpPr>
          <p:spPr>
            <a:xfrm>
              <a:off x="2350121" y="314737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36E12681-2275-EE2D-5507-1614ACEEA5E5}"/>
                </a:ext>
              </a:extLst>
            </p:cNvPr>
            <p:cNvSpPr/>
            <p:nvPr/>
          </p:nvSpPr>
          <p:spPr>
            <a:xfrm>
              <a:off x="2343650" y="330892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226797F0-C810-868D-658D-B9581EE2620B}"/>
                </a:ext>
              </a:extLst>
            </p:cNvPr>
            <p:cNvSpPr/>
            <p:nvPr/>
          </p:nvSpPr>
          <p:spPr>
            <a:xfrm flipV="1">
              <a:off x="2433636" y="297434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100FC515-0B15-87DB-14E8-20325AABA386}"/>
                </a:ext>
              </a:extLst>
            </p:cNvPr>
            <p:cNvSpPr/>
            <p:nvPr/>
          </p:nvSpPr>
          <p:spPr>
            <a:xfrm>
              <a:off x="2362776" y="352772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B5FDF496-DEC6-2667-0A2C-DFB457D73292}"/>
                </a:ext>
              </a:extLst>
            </p:cNvPr>
            <p:cNvSpPr/>
            <p:nvPr/>
          </p:nvSpPr>
          <p:spPr>
            <a:xfrm>
              <a:off x="2362299" y="315132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17125E-5706-0E09-0DEC-C00F40D17DBF}"/>
                </a:ext>
              </a:extLst>
            </p:cNvPr>
            <p:cNvSpPr txBox="1"/>
            <p:nvPr/>
          </p:nvSpPr>
          <p:spPr>
            <a:xfrm>
              <a:off x="247089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64B173-C7D6-C339-711A-9C9851AA7D03}"/>
                </a:ext>
              </a:extLst>
            </p:cNvPr>
            <p:cNvSpPr txBox="1"/>
            <p:nvPr/>
          </p:nvSpPr>
          <p:spPr>
            <a:xfrm>
              <a:off x="2497516" y="2729854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079194B-F777-D2D1-2D77-B48915D559E5}"/>
                </a:ext>
              </a:extLst>
            </p:cNvPr>
            <p:cNvSpPr/>
            <p:nvPr/>
          </p:nvSpPr>
          <p:spPr>
            <a:xfrm>
              <a:off x="2002868" y="1577158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F00E8A7-E5FD-A06A-3BE5-EB37259654CA}"/>
                </a:ext>
              </a:extLst>
            </p:cNvPr>
            <p:cNvSpPr/>
            <p:nvPr/>
          </p:nvSpPr>
          <p:spPr>
            <a:xfrm>
              <a:off x="2666873" y="1578874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74919145-54EC-9074-D1E3-0A6DBDA48E27}"/>
                </a:ext>
              </a:extLst>
            </p:cNvPr>
            <p:cNvSpPr/>
            <p:nvPr/>
          </p:nvSpPr>
          <p:spPr>
            <a:xfrm>
              <a:off x="2399007" y="164908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14151562-D596-13A1-29DF-5836ED64278D}"/>
                </a:ext>
              </a:extLst>
            </p:cNvPr>
            <p:cNvSpPr/>
            <p:nvPr/>
          </p:nvSpPr>
          <p:spPr>
            <a:xfrm>
              <a:off x="2437030" y="1822115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C2967EE6-F354-1750-6579-D886B6638664}"/>
                </a:ext>
              </a:extLst>
            </p:cNvPr>
            <p:cNvSpPr/>
            <p:nvPr/>
          </p:nvSpPr>
          <p:spPr>
            <a:xfrm>
              <a:off x="2404142" y="1983661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4FF8A511-D62A-888B-E7D1-47870E474F41}"/>
                </a:ext>
              </a:extLst>
            </p:cNvPr>
            <p:cNvSpPr/>
            <p:nvPr/>
          </p:nvSpPr>
          <p:spPr>
            <a:xfrm>
              <a:off x="2407826" y="1651521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9F90A176-899F-D889-1B38-93F7F1FDFF5E}"/>
                </a:ext>
              </a:extLst>
            </p:cNvPr>
            <p:cNvSpPr/>
            <p:nvPr/>
          </p:nvSpPr>
          <p:spPr>
            <a:xfrm>
              <a:off x="2352504" y="1822115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A0C3F9DD-B34A-846B-5EEB-BBE068FF008D}"/>
                </a:ext>
              </a:extLst>
            </p:cNvPr>
            <p:cNvSpPr/>
            <p:nvPr/>
          </p:nvSpPr>
          <p:spPr>
            <a:xfrm>
              <a:off x="2346033" y="1983661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832ABAA-9E48-DBB9-5CC6-530604A3A8A1}"/>
                </a:ext>
              </a:extLst>
            </p:cNvPr>
            <p:cNvSpPr/>
            <p:nvPr/>
          </p:nvSpPr>
          <p:spPr>
            <a:xfrm flipV="1">
              <a:off x="2436018" y="1649082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93E62B2D-3FB6-0E5A-F3F9-7CC7CC7A3B74}"/>
                </a:ext>
              </a:extLst>
            </p:cNvPr>
            <p:cNvSpPr/>
            <p:nvPr/>
          </p:nvSpPr>
          <p:spPr>
            <a:xfrm>
              <a:off x="2365158" y="2202466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A4E23784-3B87-2BB4-1E2C-BCE91E117866}"/>
                </a:ext>
              </a:extLst>
            </p:cNvPr>
            <p:cNvSpPr/>
            <p:nvPr/>
          </p:nvSpPr>
          <p:spPr>
            <a:xfrm>
              <a:off x="2364681" y="182606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859CBFA-798A-321F-BF07-5A4AB3F0DB4C}"/>
                </a:ext>
              </a:extLst>
            </p:cNvPr>
            <p:cNvCxnSpPr>
              <a:cxnSpLocks/>
            </p:cNvCxnSpPr>
            <p:nvPr/>
          </p:nvCxnSpPr>
          <p:spPr>
            <a:xfrm>
              <a:off x="1721880" y="2752422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05D5BFB-FD91-F93E-2728-37E1311C7F64}"/>
                </a:ext>
              </a:extLst>
            </p:cNvPr>
            <p:cNvSpPr/>
            <p:nvPr/>
          </p:nvSpPr>
          <p:spPr>
            <a:xfrm>
              <a:off x="1357085" y="2527743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173907-F81B-BD9A-3A01-22B9250B5076}"/>
                </a:ext>
              </a:extLst>
            </p:cNvPr>
            <p:cNvSpPr txBox="1"/>
            <p:nvPr/>
          </p:nvSpPr>
          <p:spPr>
            <a:xfrm>
              <a:off x="1305418" y="2607757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87823E8-1CC3-B865-7411-0A3787F297E8}"/>
                </a:ext>
              </a:extLst>
            </p:cNvPr>
            <p:cNvSpPr txBox="1"/>
            <p:nvPr/>
          </p:nvSpPr>
          <p:spPr>
            <a:xfrm>
              <a:off x="1696544" y="14035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A1707086-CC55-5170-7B30-13405F040E2A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2257213" y="2760320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93EE1022-4B3B-A43D-94E9-78CA4864214E}"/>
                </a:ext>
              </a:extLst>
            </p:cNvPr>
            <p:cNvCxnSpPr>
              <a:cxnSpLocks/>
              <a:stCxn id="5" idx="3"/>
              <a:endCxn id="20" idx="1"/>
            </p:cNvCxnSpPr>
            <p:nvPr/>
          </p:nvCxnSpPr>
          <p:spPr>
            <a:xfrm flipV="1">
              <a:off x="2257213" y="2093316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>
              <a:extLst>
                <a:ext uri="{FF2B5EF4-FFF2-40B4-BE49-F238E27FC236}">
                  <a16:creationId xmlns:a16="http://schemas.microsoft.com/office/drawing/2014/main" id="{77B0C3A3-30A5-9D83-06DF-CE2246085CBA}"/>
                </a:ext>
              </a:extLst>
            </p:cNvPr>
            <p:cNvCxnSpPr>
              <a:cxnSpLocks/>
              <a:stCxn id="20" idx="3"/>
              <a:endCxn id="136" idx="1"/>
            </p:cNvCxnSpPr>
            <p:nvPr/>
          </p:nvCxnSpPr>
          <p:spPr>
            <a:xfrm>
              <a:off x="3111496" y="2093316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A91449D6-4686-345C-E229-FB4FF8F65E70}"/>
                </a:ext>
              </a:extLst>
            </p:cNvPr>
            <p:cNvSpPr/>
            <p:nvPr/>
          </p:nvSpPr>
          <p:spPr>
            <a:xfrm>
              <a:off x="3518663" y="1603331"/>
              <a:ext cx="203761" cy="235413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38" name="Elbow Connector 137">
              <a:extLst>
                <a:ext uri="{FF2B5EF4-FFF2-40B4-BE49-F238E27FC236}">
                  <a16:creationId xmlns:a16="http://schemas.microsoft.com/office/drawing/2014/main" id="{258ABE58-8F62-B623-6E31-AC40FB820F61}"/>
                </a:ext>
              </a:extLst>
            </p:cNvPr>
            <p:cNvCxnSpPr>
              <a:cxnSpLocks/>
              <a:stCxn id="7" idx="3"/>
              <a:endCxn id="136" idx="1"/>
            </p:cNvCxnSpPr>
            <p:nvPr/>
          </p:nvCxnSpPr>
          <p:spPr>
            <a:xfrm flipV="1">
              <a:off x="3109113" y="2780401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342C69D-73E4-F42F-97D4-65756CA5DE75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24" y="2780400"/>
              <a:ext cx="188564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F6FD855-28AE-1A32-E5B4-ACD6A2ED7FF7}"/>
                </a:ext>
              </a:extLst>
            </p:cNvPr>
            <p:cNvSpPr txBox="1"/>
            <p:nvPr/>
          </p:nvSpPr>
          <p:spPr>
            <a:xfrm>
              <a:off x="318704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dense layer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DB1985A-F54F-DA84-DFD6-80524FA46572}"/>
              </a:ext>
            </a:extLst>
          </p:cNvPr>
          <p:cNvSpPr txBox="1"/>
          <p:nvPr/>
        </p:nvSpPr>
        <p:spPr>
          <a:xfrm>
            <a:off x="413007" y="4389292"/>
            <a:ext cx="38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Classic transformer block: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token passes through the same dense layer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C81237-F328-F62C-589F-5BA54971EC58}"/>
              </a:ext>
            </a:extLst>
          </p:cNvPr>
          <p:cNvGrpSpPr/>
          <p:nvPr/>
        </p:nvGrpSpPr>
        <p:grpSpPr>
          <a:xfrm>
            <a:off x="4286013" y="1685819"/>
            <a:ext cx="4529493" cy="2554239"/>
            <a:chOff x="4281784" y="1325209"/>
            <a:chExt cx="4529493" cy="2554239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2EE2EACB-91EC-7757-DA07-89F0FBC35ABB}"/>
                </a:ext>
              </a:extLst>
            </p:cNvPr>
            <p:cNvSpPr/>
            <p:nvPr/>
          </p:nvSpPr>
          <p:spPr>
            <a:xfrm>
              <a:off x="5640856" y="2825756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DB8D34F7-08B3-C5FB-AA24-648CB4DE7242}"/>
                </a:ext>
              </a:extLst>
            </p:cNvPr>
            <p:cNvSpPr/>
            <p:nvPr/>
          </p:nvSpPr>
          <p:spPr>
            <a:xfrm>
              <a:off x="5372990" y="289596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AB235AC3-9951-1A14-5A35-46443C7F218F}"/>
                </a:ext>
              </a:extLst>
            </p:cNvPr>
            <p:cNvSpPr/>
            <p:nvPr/>
          </p:nvSpPr>
          <p:spPr>
            <a:xfrm>
              <a:off x="5411014" y="3068997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07D28C2B-6818-A944-63FD-D87275B457F4}"/>
                </a:ext>
              </a:extLst>
            </p:cNvPr>
            <p:cNvSpPr/>
            <p:nvPr/>
          </p:nvSpPr>
          <p:spPr>
            <a:xfrm>
              <a:off x="5378126" y="3230543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6ADA67A3-3246-67BE-5396-F45687966606}"/>
                </a:ext>
              </a:extLst>
            </p:cNvPr>
            <p:cNvSpPr/>
            <p:nvPr/>
          </p:nvSpPr>
          <p:spPr>
            <a:xfrm>
              <a:off x="5381809" y="2898403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1238A72C-B758-AEFE-DBFD-4F717B082EDA}"/>
                </a:ext>
              </a:extLst>
            </p:cNvPr>
            <p:cNvSpPr/>
            <p:nvPr/>
          </p:nvSpPr>
          <p:spPr>
            <a:xfrm>
              <a:off x="5326487" y="3068997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9FBBFF3B-5BB1-67CF-2B64-C67B87463F42}"/>
                </a:ext>
              </a:extLst>
            </p:cNvPr>
            <p:cNvSpPr/>
            <p:nvPr/>
          </p:nvSpPr>
          <p:spPr>
            <a:xfrm>
              <a:off x="5320016" y="3230543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7A7300A3-4030-8E0C-4BE7-68EA26A95B0E}"/>
                </a:ext>
              </a:extLst>
            </p:cNvPr>
            <p:cNvSpPr/>
            <p:nvPr/>
          </p:nvSpPr>
          <p:spPr>
            <a:xfrm flipV="1">
              <a:off x="5410002" y="2895964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94255599-68B6-3537-D1EF-161722613641}"/>
                </a:ext>
              </a:extLst>
            </p:cNvPr>
            <p:cNvSpPr/>
            <p:nvPr/>
          </p:nvSpPr>
          <p:spPr>
            <a:xfrm>
              <a:off x="5339142" y="3449348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92C3696B-0B56-A118-E47C-AA65C51C7711}"/>
                </a:ext>
              </a:extLst>
            </p:cNvPr>
            <p:cNvSpPr/>
            <p:nvPr/>
          </p:nvSpPr>
          <p:spPr>
            <a:xfrm>
              <a:off x="5338665" y="307294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875014-59C4-739C-1D54-D1AEFFBC27FC}"/>
                </a:ext>
              </a:extLst>
            </p:cNvPr>
            <p:cNvSpPr txBox="1"/>
            <p:nvPr/>
          </p:nvSpPr>
          <p:spPr>
            <a:xfrm>
              <a:off x="544726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9D1BFB2-BD5B-2188-4670-B991A58E5546}"/>
                </a:ext>
              </a:extLst>
            </p:cNvPr>
            <p:cNvSpPr txBox="1"/>
            <p:nvPr/>
          </p:nvSpPr>
          <p:spPr>
            <a:xfrm>
              <a:off x="5473882" y="2651475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9FCB0F1F-CCEC-DF29-4006-7A73162F0DAA}"/>
                </a:ext>
              </a:extLst>
            </p:cNvPr>
            <p:cNvSpPr/>
            <p:nvPr/>
          </p:nvSpPr>
          <p:spPr>
            <a:xfrm>
              <a:off x="4979234" y="1498779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5F0A7A8C-2D31-073E-EB3E-86B0B962E683}"/>
                </a:ext>
              </a:extLst>
            </p:cNvPr>
            <p:cNvSpPr/>
            <p:nvPr/>
          </p:nvSpPr>
          <p:spPr>
            <a:xfrm>
              <a:off x="5643239" y="150049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3E3B0061-5068-2A4F-95A3-230A408D4221}"/>
                </a:ext>
              </a:extLst>
            </p:cNvPr>
            <p:cNvSpPr/>
            <p:nvPr/>
          </p:nvSpPr>
          <p:spPr>
            <a:xfrm>
              <a:off x="5375373" y="157070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A6AB8744-B6F3-2491-DFF4-E13EE4D34B61}"/>
                </a:ext>
              </a:extLst>
            </p:cNvPr>
            <p:cNvSpPr/>
            <p:nvPr/>
          </p:nvSpPr>
          <p:spPr>
            <a:xfrm>
              <a:off x="5413396" y="174373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0A08B959-5ECE-0DD6-6E0C-484323A57653}"/>
                </a:ext>
              </a:extLst>
            </p:cNvPr>
            <p:cNvSpPr/>
            <p:nvPr/>
          </p:nvSpPr>
          <p:spPr>
            <a:xfrm>
              <a:off x="5380508" y="190528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90CA07BB-165C-8D04-F7BF-0A999950B7B2}"/>
                </a:ext>
              </a:extLst>
            </p:cNvPr>
            <p:cNvSpPr/>
            <p:nvPr/>
          </p:nvSpPr>
          <p:spPr>
            <a:xfrm>
              <a:off x="5384192" y="157314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02795410-ADBB-A1AA-A690-1D0FFADBAABE}"/>
                </a:ext>
              </a:extLst>
            </p:cNvPr>
            <p:cNvSpPr/>
            <p:nvPr/>
          </p:nvSpPr>
          <p:spPr>
            <a:xfrm>
              <a:off x="5328870" y="174373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2EF3BBF0-CE99-418B-E1F3-A95E8A2B7CF1}"/>
                </a:ext>
              </a:extLst>
            </p:cNvPr>
            <p:cNvSpPr/>
            <p:nvPr/>
          </p:nvSpPr>
          <p:spPr>
            <a:xfrm>
              <a:off x="5322399" y="190528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2BCEBF55-F19E-1AF0-059A-6AD27D532E9B}"/>
                </a:ext>
              </a:extLst>
            </p:cNvPr>
            <p:cNvSpPr/>
            <p:nvPr/>
          </p:nvSpPr>
          <p:spPr>
            <a:xfrm flipV="1">
              <a:off x="5412384" y="157070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57D012ED-9132-FEA1-D3C8-7F613ED394C8}"/>
                </a:ext>
              </a:extLst>
            </p:cNvPr>
            <p:cNvSpPr/>
            <p:nvPr/>
          </p:nvSpPr>
          <p:spPr>
            <a:xfrm>
              <a:off x="5341524" y="212408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84B61B6E-A9A0-75A4-6E88-3C3882874355}"/>
                </a:ext>
              </a:extLst>
            </p:cNvPr>
            <p:cNvSpPr/>
            <p:nvPr/>
          </p:nvSpPr>
          <p:spPr>
            <a:xfrm>
              <a:off x="5341047" y="174768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ED1A40F-4140-0BFB-D031-C0CFB96E2416}"/>
                </a:ext>
              </a:extLst>
            </p:cNvPr>
            <p:cNvCxnSpPr>
              <a:cxnSpLocks/>
            </p:cNvCxnSpPr>
            <p:nvPr/>
          </p:nvCxnSpPr>
          <p:spPr>
            <a:xfrm>
              <a:off x="4698246" y="2674043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8BD3C0A6-493B-8022-8F33-0161BD1F0179}"/>
                </a:ext>
              </a:extLst>
            </p:cNvPr>
            <p:cNvSpPr/>
            <p:nvPr/>
          </p:nvSpPr>
          <p:spPr>
            <a:xfrm>
              <a:off x="4333451" y="2449364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A76E6DB-811C-2D1E-EB98-593435F55443}"/>
                </a:ext>
              </a:extLst>
            </p:cNvPr>
            <p:cNvSpPr txBox="1"/>
            <p:nvPr/>
          </p:nvSpPr>
          <p:spPr>
            <a:xfrm>
              <a:off x="4281784" y="2529378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805BEBD-C459-B98D-C78B-FD67046ED82D}"/>
                </a:ext>
              </a:extLst>
            </p:cNvPr>
            <p:cNvSpPr txBox="1"/>
            <p:nvPr/>
          </p:nvSpPr>
          <p:spPr>
            <a:xfrm>
              <a:off x="4672910" y="132520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83128CA5-CF02-29F6-A465-027112C59732}"/>
                </a:ext>
              </a:extLst>
            </p:cNvPr>
            <p:cNvCxnSpPr>
              <a:cxnSpLocks/>
              <a:stCxn id="69" idx="3"/>
              <a:endCxn id="56" idx="1"/>
            </p:cNvCxnSpPr>
            <p:nvPr/>
          </p:nvCxnSpPr>
          <p:spPr>
            <a:xfrm>
              <a:off x="5233579" y="2681941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A8BA6DDE-C0F9-2F1B-F588-3AB737F17B51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 flipV="1">
              <a:off x="5233579" y="2014937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3CFAA310-B8C2-014C-E583-A8261253C70E}"/>
                </a:ext>
              </a:extLst>
            </p:cNvPr>
            <p:cNvCxnSpPr>
              <a:cxnSpLocks/>
              <a:stCxn id="70" idx="3"/>
              <a:endCxn id="90" idx="1"/>
            </p:cNvCxnSpPr>
            <p:nvPr/>
          </p:nvCxnSpPr>
          <p:spPr>
            <a:xfrm>
              <a:off x="6087862" y="2014937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B1B2E312-3D20-06DC-6D03-9E171EB54784}"/>
                </a:ext>
              </a:extLst>
            </p:cNvPr>
            <p:cNvSpPr/>
            <p:nvPr/>
          </p:nvSpPr>
          <p:spPr>
            <a:xfrm>
              <a:off x="6495029" y="1524952"/>
              <a:ext cx="203761" cy="235413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91" name="Elbow Connector 90">
              <a:extLst>
                <a:ext uri="{FF2B5EF4-FFF2-40B4-BE49-F238E27FC236}">
                  <a16:creationId xmlns:a16="http://schemas.microsoft.com/office/drawing/2014/main" id="{FB9A6FEC-5DD8-F414-5E73-68931DFF3AEC}"/>
                </a:ext>
              </a:extLst>
            </p:cNvPr>
            <p:cNvCxnSpPr>
              <a:cxnSpLocks/>
              <a:stCxn id="56" idx="3"/>
              <a:endCxn id="90" idx="1"/>
            </p:cNvCxnSpPr>
            <p:nvPr/>
          </p:nvCxnSpPr>
          <p:spPr>
            <a:xfrm flipV="1">
              <a:off x="6085479" y="2702022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197CCB7-D077-AD64-1619-FA61246F0603}"/>
                </a:ext>
              </a:extLst>
            </p:cNvPr>
            <p:cNvSpPr txBox="1"/>
            <p:nvPr/>
          </p:nvSpPr>
          <p:spPr>
            <a:xfrm>
              <a:off x="616341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57106656-BF1A-B613-2251-EE91695FCFB3}"/>
                </a:ext>
              </a:extLst>
            </p:cNvPr>
            <p:cNvSpPr/>
            <p:nvPr/>
          </p:nvSpPr>
          <p:spPr>
            <a:xfrm>
              <a:off x="6898477" y="1505019"/>
              <a:ext cx="173576" cy="404182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370C27F1-C0AF-446D-D3EE-D111F9DE6A3C}"/>
                </a:ext>
              </a:extLst>
            </p:cNvPr>
            <p:cNvSpPr/>
            <p:nvPr/>
          </p:nvSpPr>
          <p:spPr>
            <a:xfrm>
              <a:off x="6918130" y="2133030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85591CB-5438-317C-D7C1-D0F0D2444FDE}"/>
                </a:ext>
              </a:extLst>
            </p:cNvPr>
            <p:cNvSpPr txBox="1"/>
            <p:nvPr/>
          </p:nvSpPr>
          <p:spPr>
            <a:xfrm>
              <a:off x="6593138" y="133110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DD9E7FA-B206-2EE1-491E-3AAEBC1FC22F}"/>
                </a:ext>
              </a:extLst>
            </p:cNvPr>
            <p:cNvSpPr txBox="1"/>
            <p:nvPr/>
          </p:nvSpPr>
          <p:spPr>
            <a:xfrm>
              <a:off x="6590717" y="1958051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F672FA-9071-F9CB-4B58-8A643F46E2D8}"/>
                </a:ext>
              </a:extLst>
            </p:cNvPr>
            <p:cNvSpPr txBox="1"/>
            <p:nvPr/>
          </p:nvSpPr>
          <p:spPr>
            <a:xfrm>
              <a:off x="6629961" y="32912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256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A866A3B-1E8B-F906-7E7A-8AE16FAA05BE}"/>
                </a:ext>
              </a:extLst>
            </p:cNvPr>
            <p:cNvSpPr/>
            <p:nvPr/>
          </p:nvSpPr>
          <p:spPr>
            <a:xfrm>
              <a:off x="6925989" y="3475954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8720C8F4-B038-77F0-EDC2-37EBD6FD8499}"/>
                </a:ext>
              </a:extLst>
            </p:cNvPr>
            <p:cNvSpPr/>
            <p:nvPr/>
          </p:nvSpPr>
          <p:spPr>
            <a:xfrm>
              <a:off x="6925989" y="2786065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644933A-A0E5-2DF7-75D0-FC9A57DC3B81}"/>
                </a:ext>
              </a:extLst>
            </p:cNvPr>
            <p:cNvSpPr txBox="1"/>
            <p:nvPr/>
          </p:nvSpPr>
          <p:spPr>
            <a:xfrm>
              <a:off x="6590717" y="2584463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3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E4741B61-BBE4-1ADE-83AE-9C6E973BCED7}"/>
                </a:ext>
              </a:extLst>
            </p:cNvPr>
            <p:cNvSpPr/>
            <p:nvPr/>
          </p:nvSpPr>
          <p:spPr>
            <a:xfrm>
              <a:off x="7941380" y="2465762"/>
              <a:ext cx="574395" cy="262103"/>
            </a:xfrm>
            <a:prstGeom prst="roundRect">
              <a:avLst/>
            </a:prstGeom>
            <a:solidFill>
              <a:schemeClr val="bg1"/>
            </a:solidFill>
            <a:ln w="10160">
              <a:solidFill>
                <a:srgbClr val="003C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lang="en-US" sz="700" b="0" dirty="0">
                  <a:solidFill>
                    <a:srgbClr val="000000"/>
                  </a:solidFill>
                  <a:latin typeface="Arial"/>
                </a:rPr>
                <a:t>weighted sum</a:t>
              </a:r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C0294333-306E-00D8-74DF-FE25ABE09B1F}"/>
                </a:ext>
              </a:extLst>
            </p:cNvPr>
            <p:cNvCxnSpPr>
              <a:cxnSpLocks/>
            </p:cNvCxnSpPr>
            <p:nvPr/>
          </p:nvCxnSpPr>
          <p:spPr>
            <a:xfrm>
              <a:off x="8530289" y="2598977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79042E37-B0C8-0A50-A944-E20A4D127456}"/>
              </a:ext>
            </a:extLst>
          </p:cNvPr>
          <p:cNvSpPr txBox="1"/>
          <p:nvPr/>
        </p:nvSpPr>
        <p:spPr>
          <a:xfrm>
            <a:off x="4025900" y="4411841"/>
            <a:ext cx="496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transformer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dense layer replaced with router + many experts; each token processed by only some experts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0BEC8-21C7-5D05-6EF8-9C007C07C5AD}"/>
              </a:ext>
            </a:extLst>
          </p:cNvPr>
          <p:cNvSpPr txBox="1"/>
          <p:nvPr/>
        </p:nvSpPr>
        <p:spPr>
          <a:xfrm>
            <a:off x="411480" y="967345"/>
            <a:ext cx="832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Mixture-of-experts transformer dramatically decreases inference cost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in DeepSeek V3, believed to be used in most frontier models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ECAEF31-9FD7-8275-F352-4EC8D999864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34932" y="2576772"/>
            <a:ext cx="988814" cy="113166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EE5FBD6-5A73-663D-EFA0-563926F785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52570" y="2865452"/>
            <a:ext cx="382496" cy="142124"/>
          </a:xfrm>
          <a:prstGeom prst="bentConnector3">
            <a:avLst>
              <a:gd name="adj1" fmla="val 10027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2607D96-CF0A-208A-BA5E-89C8DE61DA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88203" y="3212314"/>
            <a:ext cx="304016" cy="134911"/>
          </a:xfrm>
          <a:prstGeom prst="bentConnector3">
            <a:avLst>
              <a:gd name="adj1" fmla="val 100597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83A41D7E-66C7-2BD4-BAD8-F54E39D68E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07630" y="3695190"/>
            <a:ext cx="679474" cy="149224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01B1AD58-E044-0D23-9F11-CF4640FD029F}"/>
              </a:ext>
            </a:extLst>
          </p:cNvPr>
          <p:cNvCxnSpPr>
            <a:cxnSpLocks/>
          </p:cNvCxnSpPr>
          <p:nvPr/>
        </p:nvCxnSpPr>
        <p:spPr>
          <a:xfrm>
            <a:off x="7089815" y="2138948"/>
            <a:ext cx="847556" cy="88970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05749C92-347B-F226-F050-CDE91B9333FC}"/>
              </a:ext>
            </a:extLst>
          </p:cNvPr>
          <p:cNvCxnSpPr>
            <a:cxnSpLocks/>
          </p:cNvCxnSpPr>
          <p:nvPr/>
        </p:nvCxnSpPr>
        <p:spPr>
          <a:xfrm flipV="1">
            <a:off x="7111586" y="3028652"/>
            <a:ext cx="811271" cy="40141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6431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API Costs: Token-level Pricing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37000" y="1127450"/>
            <a:ext cx="300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72000" y="1192450"/>
            <a:ext cx="293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/ 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/ 1M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2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/ 1M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7000" y="146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82000" y="151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37000" y="180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82000" y="185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7000" y="214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82000" y="219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Sonnet 4.5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7000" y="248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82000" y="253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Opus 4.5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3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3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640" b="0">
                <a:solidFill>
                  <a:srgbClr val="000000"/>
                </a:solidFill>
                <a:latin typeface="Arial"/>
              </a:rPr>
              <a:t>Sources: OpenAI API pricing; Anthropic Claude pricing docs and launch posts; Claude Code cost docs; TechCrunch reporting on Claude Code rate limits.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23D385-9BD3-C169-BF13-447577A10EED}"/>
              </a:ext>
            </a:extLst>
          </p:cNvPr>
          <p:cNvGrpSpPr/>
          <p:nvPr/>
        </p:nvGrpSpPr>
        <p:grpSpPr>
          <a:xfrm>
            <a:off x="569429" y="3182012"/>
            <a:ext cx="4264004" cy="1363236"/>
            <a:chOff x="1929384" y="3182450"/>
            <a:chExt cx="4264004" cy="1363236"/>
          </a:xfrm>
        </p:grpSpPr>
        <p:pic>
          <p:nvPicPr>
            <p:cNvPr id="56" name="Picture 55" descr="A close-up of a sign&#10;&#10;AI-generated content may be incorrect.">
              <a:extLst>
                <a:ext uri="{FF2B5EF4-FFF2-40B4-BE49-F238E27FC236}">
                  <a16:creationId xmlns:a16="http://schemas.microsoft.com/office/drawing/2014/main" id="{D4CBEA2B-30DF-7169-988A-D20FB8CBC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9384" y="3182450"/>
              <a:ext cx="4264004" cy="1363236"/>
            </a:xfrm>
            <a:prstGeom prst="rect">
              <a:avLst/>
            </a:prstGeom>
          </p:spPr>
        </p:pic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2B81E61-2A27-4F21-9472-B64BB514977C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416057"/>
              <a:ext cx="548640" cy="0"/>
            </a:xfrm>
            <a:prstGeom prst="line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9C1C89B-883B-A621-63E2-FDD173B0FDD7}"/>
                </a:ext>
              </a:extLst>
            </p:cNvPr>
            <p:cNvSpPr txBox="1"/>
            <p:nvPr/>
          </p:nvSpPr>
          <p:spPr>
            <a:xfrm>
              <a:off x="4503422" y="3469023"/>
              <a:ext cx="685795" cy="271617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r>
                <a:rPr lang="en-US" sz="1100" b="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part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05E8846-1AA9-FB70-EEF4-0CE1143ECB01}"/>
              </a:ext>
            </a:extLst>
          </p:cNvPr>
          <p:cNvSpPr txBox="1"/>
          <p:nvPr/>
        </p:nvSpPr>
        <p:spPr>
          <a:xfrm>
            <a:off x="5347998" y="3323769"/>
            <a:ext cx="379600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 markup over raw inference cost</a:t>
            </a:r>
            <a:r>
              <a:rPr lang="en-US" sz="140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Accounts for training cost, evaluation, maintenance, engineering, staff salaries, profit margin, etc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140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i="0" kern="12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B0141-A715-2C17-F29A-15724564D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06CD92-B9A4-C520-BF71-B1A1C2F99F4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44D29-79F2-A294-9493-9FDE6E28F276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API Costs: Token-level Pricing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76F82825-9AB4-6B18-1745-7A007ED0ECAC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3A319D5-89A8-D4E2-FA8F-EE6F30C601E7}"/>
              </a:ext>
            </a:extLst>
          </p:cNvPr>
          <p:cNvSpPr/>
          <p:nvPr/>
        </p:nvSpPr>
        <p:spPr>
          <a:xfrm>
            <a:off x="1537000" y="1127450"/>
            <a:ext cx="300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1C071-19A3-3741-F02C-93DB2C88824D}"/>
              </a:ext>
            </a:extLst>
          </p:cNvPr>
          <p:cNvSpPr txBox="1"/>
          <p:nvPr/>
        </p:nvSpPr>
        <p:spPr>
          <a:xfrm>
            <a:off x="1572000" y="1192450"/>
            <a:ext cx="293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/ provider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BE3ECC-062F-F753-A1B7-678F06B7B98E}"/>
              </a:ext>
            </a:extLst>
          </p:cNvPr>
          <p:cNvSpPr/>
          <p:nvPr/>
        </p:nvSpPr>
        <p:spPr>
          <a:xfrm>
            <a:off x="453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CF07FF-21F0-98E7-66D8-347322540A52}"/>
              </a:ext>
            </a:extLst>
          </p:cNvPr>
          <p:cNvSpPr txBox="1"/>
          <p:nvPr/>
        </p:nvSpPr>
        <p:spPr>
          <a:xfrm>
            <a:off x="457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/ 1M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FA8288-9222-2B35-7343-DB2D279464E1}"/>
              </a:ext>
            </a:extLst>
          </p:cNvPr>
          <p:cNvSpPr/>
          <p:nvPr/>
        </p:nvSpPr>
        <p:spPr>
          <a:xfrm>
            <a:off x="598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923E4-A409-3608-5280-F3EACBF1B743}"/>
              </a:ext>
            </a:extLst>
          </p:cNvPr>
          <p:cNvSpPr txBox="1"/>
          <p:nvPr/>
        </p:nvSpPr>
        <p:spPr>
          <a:xfrm>
            <a:off x="602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/ 1M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1C2004-CAFF-5C7B-6AA7-A863821321CC}"/>
              </a:ext>
            </a:extLst>
          </p:cNvPr>
          <p:cNvSpPr/>
          <p:nvPr/>
        </p:nvSpPr>
        <p:spPr>
          <a:xfrm>
            <a:off x="1537000" y="146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C1484C-7A8D-2400-4A99-B8BCFF624469}"/>
              </a:ext>
            </a:extLst>
          </p:cNvPr>
          <p:cNvSpPr txBox="1"/>
          <p:nvPr/>
        </p:nvSpPr>
        <p:spPr>
          <a:xfrm>
            <a:off x="1582000" y="151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45DEFF-C7AD-12F2-7505-3D7A0EBFFBAF}"/>
              </a:ext>
            </a:extLst>
          </p:cNvPr>
          <p:cNvSpPr/>
          <p:nvPr/>
        </p:nvSpPr>
        <p:spPr>
          <a:xfrm>
            <a:off x="453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1700F3-8EF8-45B8-E40D-24A416331747}"/>
              </a:ext>
            </a:extLst>
          </p:cNvPr>
          <p:cNvSpPr txBox="1"/>
          <p:nvPr/>
        </p:nvSpPr>
        <p:spPr>
          <a:xfrm>
            <a:off x="458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2E1B73-15E0-458D-0025-796ED611E10D}"/>
              </a:ext>
            </a:extLst>
          </p:cNvPr>
          <p:cNvSpPr/>
          <p:nvPr/>
        </p:nvSpPr>
        <p:spPr>
          <a:xfrm>
            <a:off x="598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1AE02-A889-9EC4-B3FF-CDE188D518D4}"/>
              </a:ext>
            </a:extLst>
          </p:cNvPr>
          <p:cNvSpPr txBox="1"/>
          <p:nvPr/>
        </p:nvSpPr>
        <p:spPr>
          <a:xfrm>
            <a:off x="603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3753C0-34C3-83DA-C973-42ACC02A3755}"/>
              </a:ext>
            </a:extLst>
          </p:cNvPr>
          <p:cNvSpPr/>
          <p:nvPr/>
        </p:nvSpPr>
        <p:spPr>
          <a:xfrm>
            <a:off x="1537000" y="180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3525D0-746C-F2FB-CD89-A28F3DF85EBF}"/>
              </a:ext>
            </a:extLst>
          </p:cNvPr>
          <p:cNvSpPr txBox="1"/>
          <p:nvPr/>
        </p:nvSpPr>
        <p:spPr>
          <a:xfrm>
            <a:off x="1582000" y="185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 GPT-5.5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CBC1F7-6BD9-0949-124B-2627B9EF51E7}"/>
              </a:ext>
            </a:extLst>
          </p:cNvPr>
          <p:cNvSpPr/>
          <p:nvPr/>
        </p:nvSpPr>
        <p:spPr>
          <a:xfrm>
            <a:off x="453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39E855-116E-D9AC-D85E-4071DB4FBB1F}"/>
              </a:ext>
            </a:extLst>
          </p:cNvPr>
          <p:cNvSpPr txBox="1"/>
          <p:nvPr/>
        </p:nvSpPr>
        <p:spPr>
          <a:xfrm>
            <a:off x="458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E1420F-4BA7-B2E9-C3DB-E176385BDE46}"/>
              </a:ext>
            </a:extLst>
          </p:cNvPr>
          <p:cNvSpPr/>
          <p:nvPr/>
        </p:nvSpPr>
        <p:spPr>
          <a:xfrm>
            <a:off x="598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B72A4F-C74B-8A1C-242D-75900EF685B2}"/>
              </a:ext>
            </a:extLst>
          </p:cNvPr>
          <p:cNvSpPr txBox="1"/>
          <p:nvPr/>
        </p:nvSpPr>
        <p:spPr>
          <a:xfrm>
            <a:off x="603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5D0385-1453-F31A-53B9-73329A171AC6}"/>
              </a:ext>
            </a:extLst>
          </p:cNvPr>
          <p:cNvSpPr/>
          <p:nvPr/>
        </p:nvSpPr>
        <p:spPr>
          <a:xfrm>
            <a:off x="1537000" y="214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7D87EA-22F7-DC5C-E366-735C3C7BBFED}"/>
              </a:ext>
            </a:extLst>
          </p:cNvPr>
          <p:cNvSpPr txBox="1"/>
          <p:nvPr/>
        </p:nvSpPr>
        <p:spPr>
          <a:xfrm>
            <a:off x="1582000" y="219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Sonnet 4.5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60FAA4-67E9-AD40-5E47-82AE6A19C70B}"/>
              </a:ext>
            </a:extLst>
          </p:cNvPr>
          <p:cNvSpPr/>
          <p:nvPr/>
        </p:nvSpPr>
        <p:spPr>
          <a:xfrm>
            <a:off x="453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C2B1F0-150F-0F1D-1F05-2F919A068E21}"/>
              </a:ext>
            </a:extLst>
          </p:cNvPr>
          <p:cNvSpPr txBox="1"/>
          <p:nvPr/>
        </p:nvSpPr>
        <p:spPr>
          <a:xfrm>
            <a:off x="458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C4E1EE-315B-7216-87EA-FCDF83EE34AC}"/>
              </a:ext>
            </a:extLst>
          </p:cNvPr>
          <p:cNvSpPr/>
          <p:nvPr/>
        </p:nvSpPr>
        <p:spPr>
          <a:xfrm>
            <a:off x="598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BA2F70-0BC5-0226-FC71-80B087BC2023}"/>
              </a:ext>
            </a:extLst>
          </p:cNvPr>
          <p:cNvSpPr txBox="1"/>
          <p:nvPr/>
        </p:nvSpPr>
        <p:spPr>
          <a:xfrm>
            <a:off x="603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B15B9B-99FC-9085-C81D-821F0C971115}"/>
              </a:ext>
            </a:extLst>
          </p:cNvPr>
          <p:cNvSpPr/>
          <p:nvPr/>
        </p:nvSpPr>
        <p:spPr>
          <a:xfrm>
            <a:off x="1537000" y="248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B31A85-A3F7-FFE6-F004-16E674643D54}"/>
              </a:ext>
            </a:extLst>
          </p:cNvPr>
          <p:cNvSpPr txBox="1"/>
          <p:nvPr/>
        </p:nvSpPr>
        <p:spPr>
          <a:xfrm>
            <a:off x="1582000" y="253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1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Claude Opus 4.5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8C16C83-1A18-6443-D6BD-4043A5FC9427}"/>
              </a:ext>
            </a:extLst>
          </p:cNvPr>
          <p:cNvSpPr/>
          <p:nvPr/>
        </p:nvSpPr>
        <p:spPr>
          <a:xfrm>
            <a:off x="453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2013E5-0729-4B82-2AC7-432638D2459B}"/>
              </a:ext>
            </a:extLst>
          </p:cNvPr>
          <p:cNvSpPr txBox="1"/>
          <p:nvPr/>
        </p:nvSpPr>
        <p:spPr>
          <a:xfrm>
            <a:off x="458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706B9DD-1A8D-F010-4667-782D5C976938}"/>
              </a:ext>
            </a:extLst>
          </p:cNvPr>
          <p:cNvSpPr/>
          <p:nvPr/>
        </p:nvSpPr>
        <p:spPr>
          <a:xfrm>
            <a:off x="598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B53C68-2CB1-DA74-0D48-4BFA78D9C7F6}"/>
              </a:ext>
            </a:extLst>
          </p:cNvPr>
          <p:cNvSpPr txBox="1"/>
          <p:nvPr/>
        </p:nvSpPr>
        <p:spPr>
          <a:xfrm>
            <a:off x="603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$25</a:t>
            </a:r>
          </a:p>
        </p:txBody>
      </p:sp>
      <p:pic>
        <p:nvPicPr>
          <p:cNvPr id="1026" name="Picture 2" descr="jensen huang">
            <a:extLst>
              <a:ext uri="{FF2B5EF4-FFF2-40B4-BE49-F238E27FC236}">
                <a16:creationId xmlns:a16="http://schemas.microsoft.com/office/drawing/2014/main" id="{92600327-C652-9EC5-DDF5-9CCC0C1D4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012" y="3166242"/>
            <a:ext cx="2468114" cy="169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screenshot of a website&#10;&#10;AI-generated content may be incorrect.">
            <a:extLst>
              <a:ext uri="{FF2B5EF4-FFF2-40B4-BE49-F238E27FC236}">
                <a16:creationId xmlns:a16="http://schemas.microsoft.com/office/drawing/2014/main" id="{4E9B9CA1-0E14-01FF-F88D-96274BE19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70" y="3166242"/>
            <a:ext cx="5175689" cy="169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89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90982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Whitney Bold"/>
              </a:rPr>
              <a:t>Scaling Laws</a:t>
            </a:r>
          </a:p>
        </p:txBody>
      </p:sp>
    </p:spTree>
    <p:extLst>
      <p:ext uri="{BB962C8B-B14F-4D97-AF65-F5344CB8AC3E}">
        <p14:creationId xmlns:p14="http://schemas.microsoft.com/office/powerpoint/2010/main" val="4005959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Scaling Laws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03392F-9ABB-CC37-15DD-A0F6441F2891}"/>
              </a:ext>
            </a:extLst>
          </p:cNvPr>
          <p:cNvSpPr txBox="1"/>
          <p:nvPr/>
        </p:nvSpPr>
        <p:spPr>
          <a:xfrm>
            <a:off x="523702" y="1209192"/>
            <a:ext cx="825453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Scaling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broad idea that AI performance improves predictably as we increase the computational resources used for training or inference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“resources” can mean:</a:t>
            </a:r>
          </a:p>
          <a:p>
            <a:endParaRPr lang="en-US" b="1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compute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GPU/TPU operations (FLOPs)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data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training examples/tokens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parameters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larger model capacity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inference-time compute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letting the model reason longer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6266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72FC-5195-AA04-A32B-FC32AB43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FD567-8E11-F609-FED0-D41B2160E97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775E3-697D-F568-94D2-D2C4163D7D36}"/>
              </a:ext>
            </a:extLst>
          </p:cNvPr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Loss Falls Predictably with Compute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5953B8F-F14E-DF23-E227-3231699CA75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9EA757A-402C-6C78-4833-E05163566BA5}"/>
              </a:ext>
            </a:extLst>
          </p:cNvPr>
          <p:cNvSpPr txBox="1"/>
          <p:nvPr/>
        </p:nvSpPr>
        <p:spPr>
          <a:xfrm>
            <a:off x="457200" y="960120"/>
            <a:ext cx="8321040" cy="33855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falls predictably with compute in controlled scaling-law studies</a:t>
            </a:r>
            <a:endParaRPr sz="12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E887458-3D0F-DE37-DD61-D58AEF4E6DB7}"/>
              </a:ext>
            </a:extLst>
          </p:cNvPr>
          <p:cNvCxnSpPr/>
          <p:nvPr/>
        </p:nvCxnSpPr>
        <p:spPr>
          <a:xfrm>
            <a:off x="1097280" y="4609406"/>
            <a:ext cx="3840479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B621DBF9-9B97-7EAA-FD29-7F1C14997FA7}"/>
              </a:ext>
            </a:extLst>
          </p:cNvPr>
          <p:cNvCxnSpPr/>
          <p:nvPr/>
        </p:nvCxnSpPr>
        <p:spPr>
          <a:xfrm>
            <a:off x="1097280" y="2140527"/>
            <a:ext cx="0" cy="246887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10069D-6D9A-C0F2-BF3D-DD982A4841D0}"/>
              </a:ext>
            </a:extLst>
          </p:cNvPr>
          <p:cNvSpPr txBox="1"/>
          <p:nvPr/>
        </p:nvSpPr>
        <p:spPr>
          <a:xfrm>
            <a:off x="731520" y="4700847"/>
            <a:ext cx="4389120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00" b="0" i="1" dirty="0">
                <a:solidFill>
                  <a:srgbClr val="000000"/>
                </a:solidFill>
                <a:latin typeface="Arial"/>
              </a:rPr>
              <a:t>compute used during training (log scale)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1CA86-846D-C7AD-FCF5-0A67C561C8CB}"/>
              </a:ext>
            </a:extLst>
          </p:cNvPr>
          <p:cNvSpPr txBox="1"/>
          <p:nvPr/>
        </p:nvSpPr>
        <p:spPr>
          <a:xfrm>
            <a:off x="246888" y="3054927"/>
            <a:ext cx="813816" cy="3693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00" b="0" i="1" dirty="0">
                <a:solidFill>
                  <a:srgbClr val="000000"/>
                </a:solidFill>
                <a:latin typeface="Arial"/>
              </a:rPr>
              <a:t>test loss
</a:t>
            </a:r>
            <a:r>
              <a:rPr lang="en-US" sz="1000" b="0" i="1" dirty="0">
                <a:solidFill>
                  <a:srgbClr val="000000"/>
                </a:solidFill>
                <a:latin typeface="Arial"/>
              </a:rPr>
              <a:t>(log scale)</a:t>
            </a:r>
            <a:endParaRPr sz="1000" b="0" i="1" dirty="0">
              <a:solidFill>
                <a:srgbClr val="555555"/>
              </a:solidFill>
              <a:latin typeface="Arial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FDE7C1C-98A7-1CF1-22DF-6182D4242F45}"/>
              </a:ext>
            </a:extLst>
          </p:cNvPr>
          <p:cNvCxnSpPr/>
          <p:nvPr/>
        </p:nvCxnSpPr>
        <p:spPr>
          <a:xfrm>
            <a:off x="1595628" y="2497143"/>
            <a:ext cx="722376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53ED14F-C9C6-FA57-8CAE-E0DD7F9BE866}"/>
              </a:ext>
            </a:extLst>
          </p:cNvPr>
          <p:cNvCxnSpPr/>
          <p:nvPr/>
        </p:nvCxnSpPr>
        <p:spPr>
          <a:xfrm>
            <a:off x="2318004" y="2972631"/>
            <a:ext cx="902970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02A2CFC0-93AA-D2AC-7E2C-B9E5BD78BCA4}"/>
              </a:ext>
            </a:extLst>
          </p:cNvPr>
          <p:cNvCxnSpPr/>
          <p:nvPr/>
        </p:nvCxnSpPr>
        <p:spPr>
          <a:xfrm>
            <a:off x="3220974" y="3448119"/>
            <a:ext cx="902970" cy="356615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BBBEDC94-4F53-2004-2EF0-21F8CFEE158D}"/>
              </a:ext>
            </a:extLst>
          </p:cNvPr>
          <p:cNvCxnSpPr/>
          <p:nvPr/>
        </p:nvCxnSpPr>
        <p:spPr>
          <a:xfrm>
            <a:off x="4123944" y="3804734"/>
            <a:ext cx="541781" cy="237744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6C2E00E-0BA6-FAE4-E8E2-D60476260CDC}"/>
              </a:ext>
            </a:extLst>
          </p:cNvPr>
          <p:cNvSpPr/>
          <p:nvPr/>
        </p:nvSpPr>
        <p:spPr>
          <a:xfrm>
            <a:off x="1559052" y="2460567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6F8B8-0ECF-228F-DC53-4424DAF781C8}"/>
              </a:ext>
            </a:extLst>
          </p:cNvPr>
          <p:cNvSpPr txBox="1"/>
          <p:nvPr/>
        </p:nvSpPr>
        <p:spPr>
          <a:xfrm>
            <a:off x="1184148" y="2570295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192BEC-4F23-678D-85CC-33953C781130}"/>
              </a:ext>
            </a:extLst>
          </p:cNvPr>
          <p:cNvSpPr/>
          <p:nvPr/>
        </p:nvSpPr>
        <p:spPr>
          <a:xfrm>
            <a:off x="2281428" y="2936055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9F2A0-FD00-4BCB-E27C-EBA280DA20B5}"/>
              </a:ext>
            </a:extLst>
          </p:cNvPr>
          <p:cNvSpPr txBox="1"/>
          <p:nvPr/>
        </p:nvSpPr>
        <p:spPr>
          <a:xfrm>
            <a:off x="1906524" y="3045783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231E34-E59D-C6A0-274B-A9D16F3EA5EC}"/>
              </a:ext>
            </a:extLst>
          </p:cNvPr>
          <p:cNvSpPr/>
          <p:nvPr/>
        </p:nvSpPr>
        <p:spPr>
          <a:xfrm>
            <a:off x="3184398" y="3411543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0022F-B6E8-43BB-3947-2B26F75487C3}"/>
              </a:ext>
            </a:extLst>
          </p:cNvPr>
          <p:cNvSpPr txBox="1"/>
          <p:nvPr/>
        </p:nvSpPr>
        <p:spPr>
          <a:xfrm>
            <a:off x="2809494" y="3521271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PaLM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59E456-E54D-D199-0275-3CE2922339F1}"/>
              </a:ext>
            </a:extLst>
          </p:cNvPr>
          <p:cNvSpPr/>
          <p:nvPr/>
        </p:nvSpPr>
        <p:spPr>
          <a:xfrm>
            <a:off x="4087368" y="3768158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FCD284-8D57-84DD-D8AF-486CEE1F3B23}"/>
              </a:ext>
            </a:extLst>
          </p:cNvPr>
          <p:cNvSpPr txBox="1"/>
          <p:nvPr/>
        </p:nvSpPr>
        <p:spPr>
          <a:xfrm>
            <a:off x="3712463" y="3877886"/>
            <a:ext cx="822960" cy="182880"/>
          </a:xfrm>
          <a:prstGeom prst="rect">
            <a:avLst/>
          </a:prstGeom>
          <a:noFill/>
        </p:spPr>
        <p:txBody>
          <a:bodyPr wrap="square" anchor="ctr">
            <a:normAutofit fontScale="92500" lnSpcReduction="20000"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7125037-D764-86FB-7F14-B12B9142B428}"/>
              </a:ext>
            </a:extLst>
          </p:cNvPr>
          <p:cNvSpPr/>
          <p:nvPr/>
        </p:nvSpPr>
        <p:spPr>
          <a:xfrm>
            <a:off x="4629149" y="4005902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F82B90-59BE-011F-B86F-C62BBEAF86B2}"/>
              </a:ext>
            </a:extLst>
          </p:cNvPr>
          <p:cNvSpPr txBox="1"/>
          <p:nvPr/>
        </p:nvSpPr>
        <p:spPr>
          <a:xfrm>
            <a:off x="4146178" y="4115630"/>
            <a:ext cx="1049271" cy="21544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800" b="0" dirty="0">
                <a:solidFill>
                  <a:srgbClr val="000000"/>
                </a:solidFill>
                <a:latin typeface="Arial"/>
              </a:rPr>
              <a:t>frontier 2025</a:t>
            </a:r>
            <a:r>
              <a:rPr lang="en-US" sz="800" b="0" dirty="0">
                <a:solidFill>
                  <a:srgbClr val="000000"/>
                </a:solidFill>
                <a:latin typeface="Arial"/>
              </a:rPr>
              <a:t>-2026</a:t>
            </a:r>
            <a:endParaRPr sz="8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6495-06C5-465F-2FFF-75694303551E}"/>
              </a:ext>
            </a:extLst>
          </p:cNvPr>
          <p:cNvSpPr txBox="1"/>
          <p:nvPr/>
        </p:nvSpPr>
        <p:spPr>
          <a:xfrm>
            <a:off x="5303520" y="1866207"/>
            <a:ext cx="3474720" cy="292608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l"/>
            <a:r>
              <a:rPr sz="1400" b="1">
                <a:solidFill>
                  <a:srgbClr val="005587"/>
                </a:solidFill>
                <a:latin typeface="Whitney Bold"/>
              </a:rPr>
              <a:t>The empirical scaling law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3E57FB3-B321-8F3C-CC09-C104AE7F0498}"/>
              </a:ext>
            </a:extLst>
          </p:cNvPr>
          <p:cNvSpPr/>
          <p:nvPr/>
        </p:nvSpPr>
        <p:spPr>
          <a:xfrm>
            <a:off x="5349240" y="2199851"/>
            <a:ext cx="3383279" cy="594360"/>
          </a:xfrm>
          <a:prstGeom prst="rect">
            <a:avLst/>
          </a:prstGeom>
          <a:solidFill>
            <a:srgbClr val="EEF3F8"/>
          </a:solidFill>
          <a:ln w="9525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8C8A9D-C21A-9BBC-59DB-F72D04446D1D}"/>
              </a:ext>
            </a:extLst>
          </p:cNvPr>
          <p:cNvSpPr txBox="1"/>
          <p:nvPr/>
        </p:nvSpPr>
        <p:spPr>
          <a:xfrm>
            <a:off x="5349240" y="2327754"/>
            <a:ext cx="3383279" cy="33855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loss  ≈  A · compute^(−α)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B85B23-41B0-EFEC-630C-CD781E8C3905}"/>
              </a:ext>
            </a:extLst>
          </p:cNvPr>
          <p:cNvSpPr txBox="1"/>
          <p:nvPr/>
        </p:nvSpPr>
        <p:spPr>
          <a:xfrm>
            <a:off x="5308508" y="2813753"/>
            <a:ext cx="3652612" cy="400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rial"/>
              </a:rPr>
              <a:t>On a log-log plot, loss falls as a straight line with slope −α</a:t>
            </a:r>
            <a:endParaRPr lang="en-US" sz="1000" b="0" dirty="0">
              <a:solidFill>
                <a:srgbClr val="1F1F1F"/>
              </a:solidFill>
              <a:latin typeface="Arial"/>
            </a:endParaRPr>
          </a:p>
          <a:p>
            <a:pPr algn="l"/>
            <a:endParaRPr sz="10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660A8D-E86E-5F71-758D-27CB5F7CC17B}"/>
              </a:ext>
            </a:extLst>
          </p:cNvPr>
          <p:cNvSpPr txBox="1"/>
          <p:nvPr/>
        </p:nvSpPr>
        <p:spPr>
          <a:xfrm>
            <a:off x="54864" y="4937866"/>
            <a:ext cx="8321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dirty="0">
                <a:solidFill>
                  <a:srgbClr val="000000"/>
                </a:solidFill>
                <a:latin typeface="Arial"/>
              </a:rPr>
              <a:t>Sources: Kaplan et al. (2020), Scaling Laws for Neural Language Models; Hoffmann et al. (2022), Chinchilla.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475CB9-F24F-09FF-EF43-A0A1A9D08CEC}"/>
              </a:ext>
            </a:extLst>
          </p:cNvPr>
          <p:cNvSpPr txBox="1"/>
          <p:nvPr/>
        </p:nvSpPr>
        <p:spPr>
          <a:xfrm>
            <a:off x="4771817" y="3611370"/>
            <a:ext cx="1188408" cy="40011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not fully public here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5E0623-E9FE-1189-D506-FF7CF2D08FA1}"/>
              </a:ext>
            </a:extLst>
          </p:cNvPr>
          <p:cNvCxnSpPr/>
          <p:nvPr/>
        </p:nvCxnSpPr>
        <p:spPr>
          <a:xfrm flipH="1">
            <a:off x="4702301" y="3841310"/>
            <a:ext cx="102455" cy="128016"/>
          </a:xfrm>
          <a:prstGeom prst="straightConnector1">
            <a:avLst/>
          </a:prstGeom>
          <a:ln>
            <a:solid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42B3E41-42BC-A579-538C-B82221D2E006}"/>
              </a:ext>
            </a:extLst>
          </p:cNvPr>
          <p:cNvSpPr txBox="1"/>
          <p:nvPr/>
        </p:nvSpPr>
        <p:spPr>
          <a:xfrm>
            <a:off x="463589" y="1357718"/>
            <a:ext cx="83312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evidence that we’re still scaling as of 2026: </a:t>
            </a:r>
          </a:p>
          <a:p>
            <a:r>
              <a:rPr 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1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hai.stanford.edu</a:t>
            </a:r>
            <a:r>
              <a:rPr lang="en-US" sz="11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/ai-index/2026-ai-index-report/technical-performance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26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0336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Chinchilla: Compute-Optimal Training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1716" y="4003565"/>
            <a:ext cx="8321040" cy="985977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600" b="0" dirty="0" err="1">
                <a:solidFill>
                  <a:srgbClr val="000000"/>
                </a:solidFill>
                <a:latin typeface="Arial"/>
              </a:rPr>
              <a:t>Chincilla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was smaller but beat GPT 3.0 on many benchm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arks</a:t>
            </a:r>
          </a:p>
          <a:p>
            <a:pPr algn="l"/>
            <a:endParaRPr lang="en-US" sz="1600" b="0" dirty="0">
              <a:solidFill>
                <a:srgbClr val="000000"/>
              </a:solidFill>
              <a:latin typeface="Arial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/>
              </a:rPr>
              <a:t>2026: Chinchilla plus other considerations: post-training, </a:t>
            </a:r>
            <a:r>
              <a:rPr lang="en-US" sz="1600" dirty="0" err="1">
                <a:solidFill>
                  <a:srgbClr val="000000"/>
                </a:solidFill>
                <a:latin typeface="Arial"/>
              </a:rPr>
              <a:t>MoE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, data quality, reasoning, etc.</a:t>
            </a:r>
            <a:endParaRPr sz="16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sz="750" b="0" dirty="0">
                <a:solidFill>
                  <a:srgbClr val="000000"/>
                </a:solidFill>
                <a:latin typeface="Arial"/>
              </a:rPr>
              <a:t>Source: Hoffmann et al. (2022), Training Compute-Optimal Large Language Models.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DCDF78-B905-89C2-820C-DC0C649B0F00}"/>
              </a:ext>
            </a:extLst>
          </p:cNvPr>
          <p:cNvSpPr txBox="1"/>
          <p:nvPr/>
        </p:nvSpPr>
        <p:spPr>
          <a:xfrm>
            <a:off x="411480" y="475656"/>
            <a:ext cx="8412480" cy="1240189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should we allocate a compute budget between data size and parameter size? </a:t>
            </a:r>
            <a:endParaRPr sz="16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A66240-C2BD-362F-572E-F95D536B9E8B}"/>
              </a:ext>
            </a:extLst>
          </p:cNvPr>
          <p:cNvSpPr txBox="1"/>
          <p:nvPr/>
        </p:nvSpPr>
        <p:spPr>
          <a:xfrm>
            <a:off x="1132230" y="1311181"/>
            <a:ext cx="7420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OpenAI, 2020: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Performance scales with model size, let’s make models huge (“Kaplan era”)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3117AF-909D-20C0-3750-B9832EEECE3E}"/>
              </a:ext>
            </a:extLst>
          </p:cNvPr>
          <p:cNvSpPr txBox="1"/>
          <p:nvPr/>
        </p:nvSpPr>
        <p:spPr>
          <a:xfrm>
            <a:off x="228600" y="2698205"/>
            <a:ext cx="8778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Google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Deepmind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, 2022: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GPT 3 was actually undertrained; we should increase data/parameter ratio to 20:1 (“Chinchilla era”)</a:t>
            </a:r>
          </a:p>
        </p:txBody>
      </p:sp>
      <p:sp>
        <p:nvSpPr>
          <p:cNvPr id="101" name="Kaplan allocation outline"/>
          <p:cNvSpPr/>
          <p:nvPr/>
        </p:nvSpPr>
        <p:spPr>
          <a:xfrm>
            <a:off x="1188720" y="1664208"/>
            <a:ext cx="672084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102" name="Kaplan parameter segment"/>
          <p:cNvSpPr/>
          <p:nvPr/>
        </p:nvSpPr>
        <p:spPr>
          <a:xfrm>
            <a:off x="1216152" y="1687068"/>
            <a:ext cx="4828032" cy="338328"/>
          </a:xfrm>
          <a:prstGeom prst="rect">
            <a:avLst/>
          </a:prstGeom>
          <a:solidFill>
            <a:srgbClr val="4D87B8"/>
          </a:solidFill>
          <a:ln>
            <a:noFill/>
          </a:ln>
        </p:spPr>
        <p:txBody>
          <a:bodyPr wrap="square" lIns="50000" tIns="30000" rIns="50000" bIns="30000" rtlCol="0" anchor="ctr">
            <a:normAutofit fontScale="92000" lnSpcReduction="12000"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more budget into parameters</a:t>
            </a:r>
          </a:p>
        </p:txBody>
      </p:sp>
      <p:sp>
        <p:nvSpPr>
          <p:cNvPr id="103" name="Kaplan data segment"/>
          <p:cNvSpPr/>
          <p:nvPr/>
        </p:nvSpPr>
        <p:spPr>
          <a:xfrm>
            <a:off x="6044184" y="1687068"/>
            <a:ext cx="1837944" cy="338328"/>
          </a:xfrm>
          <a:prstGeom prst="rect">
            <a:avLst/>
          </a:prstGeom>
          <a:solidFill>
            <a:srgbClr val="D88961"/>
          </a:solidFill>
          <a:ln>
            <a:noFill/>
          </a:ln>
        </p:spPr>
        <p:txBody>
          <a:bodyPr wrap="square" lIns="50000" tIns="30000" rIns="50000" bIns="30000" rtlCol="0" anchor="ctr">
            <a:normAutofit fontScale="92000" lnSpcReduction="12000"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less data</a:t>
            </a:r>
          </a:p>
        </p:txBody>
      </p:sp>
      <p:sp>
        <p:nvSpPr>
          <p:cNvPr id="104" name="GPT-3 metric callout"/>
          <p:cNvSpPr/>
          <p:nvPr/>
        </p:nvSpPr>
        <p:spPr>
          <a:xfrm>
            <a:off x="1188720" y="2130552"/>
            <a:ext cx="6720840" cy="420624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txBody>
          <a:bodyPr wrap="square" lIns="50000" tIns="30000" rIns="50000" bIns="30000" rtlCol="0" anchor="ctr">
            <a:normAutofit fontScale="92000" lnSpcReduction="20000"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175B parameters  |  300B tokens</a:t>
            </a:r>
          </a:p>
        </p:txBody>
      </p:sp>
      <p:sp>
        <p:nvSpPr>
          <p:cNvPr id="105" name="Chinchilla allocation outline"/>
          <p:cNvSpPr/>
          <p:nvPr/>
        </p:nvSpPr>
        <p:spPr>
          <a:xfrm>
            <a:off x="1188720" y="2971800"/>
            <a:ext cx="672084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txBody>
          <a:bodyPr wrap="square" rtlCol="0" anchor="ctr">
            <a:normAutofit lnSpcReduction="10000"/>
          </a:bodyPr>
          <a:lstStyle/>
          <a:p>
            <a:pPr algn="ctr"/>
            <a:endParaRPr/>
          </a:p>
        </p:txBody>
      </p:sp>
      <p:sp>
        <p:nvSpPr>
          <p:cNvPr id="106" name="Chinchilla parameter segment"/>
          <p:cNvSpPr/>
          <p:nvPr/>
        </p:nvSpPr>
        <p:spPr>
          <a:xfrm>
            <a:off x="1216152" y="2994660"/>
            <a:ext cx="2176272" cy="338328"/>
          </a:xfrm>
          <a:prstGeom prst="rect">
            <a:avLst/>
          </a:prstGeom>
          <a:solidFill>
            <a:srgbClr val="4D87B8"/>
          </a:solidFill>
          <a:ln>
            <a:noFill/>
          </a:ln>
        </p:spPr>
        <p:txBody>
          <a:bodyPr wrap="square" lIns="50000" tIns="30000" rIns="50000" bIns="30000" rtlCol="0" anchor="ctr">
            <a:normAutofit fontScale="92000" lnSpcReduction="12000"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smaller model</a:t>
            </a:r>
          </a:p>
        </p:txBody>
      </p:sp>
      <p:sp>
        <p:nvSpPr>
          <p:cNvPr id="107" name="Chinchilla data segment"/>
          <p:cNvSpPr/>
          <p:nvPr/>
        </p:nvSpPr>
        <p:spPr>
          <a:xfrm>
            <a:off x="3392424" y="2994660"/>
            <a:ext cx="4489704" cy="338328"/>
          </a:xfrm>
          <a:prstGeom prst="rect">
            <a:avLst/>
          </a:prstGeom>
          <a:solidFill>
            <a:srgbClr val="D88961"/>
          </a:solidFill>
          <a:ln>
            <a:noFill/>
          </a:ln>
        </p:spPr>
        <p:txBody>
          <a:bodyPr wrap="square" lIns="50000" tIns="30000" rIns="50000" bIns="30000" rtlCol="0" anchor="ctr">
            <a:normAutofit fontScale="92000" lnSpcReduction="12000"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much more data</a:t>
            </a:r>
          </a:p>
        </p:txBody>
      </p:sp>
      <p:sp>
        <p:nvSpPr>
          <p:cNvPr id="108" name="Chinchilla metric callout"/>
          <p:cNvSpPr/>
          <p:nvPr/>
        </p:nvSpPr>
        <p:spPr>
          <a:xfrm>
            <a:off x="1188720" y="3438144"/>
            <a:ext cx="6720840" cy="420624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txBody>
          <a:bodyPr wrap="square" lIns="50000" tIns="30000" rIns="50000" bIns="30000" rtlCol="0" anchor="ctr">
            <a:normAutofit fontScale="92000" lnSpcReduction="20000"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Chinchilla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70B parameters  |  1.4T tokens</a:t>
            </a:r>
          </a:p>
        </p:txBody>
      </p:sp>
    </p:spTree>
    <p:extLst>
      <p:ext uri="{BB962C8B-B14F-4D97-AF65-F5344CB8AC3E}">
        <p14:creationId xmlns:p14="http://schemas.microsoft.com/office/powerpoint/2010/main" val="380349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FAF792FB-C0CD-501D-078C-01F93CF4E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43" y="0"/>
            <a:ext cx="7685903" cy="43210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2A6BBE-968D-3DD1-AE4F-282FE6D2FC5F}"/>
              </a:ext>
            </a:extLst>
          </p:cNvPr>
          <p:cNvSpPr txBox="1"/>
          <p:nvPr/>
        </p:nvSpPr>
        <p:spPr>
          <a:xfrm>
            <a:off x="6104237" y="4722328"/>
            <a:ext cx="4226011" cy="5231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US" sz="1100" b="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100" b="0" dirty="0" err="1">
                <a:latin typeface="Arial" panose="020B0604020202020204" pitchFamily="34" charset="0"/>
                <a:cs typeface="Arial" panose="020B0604020202020204" pitchFamily="34" charset="0"/>
              </a:rPr>
              <a:t>blogs.nvidia.com</a:t>
            </a:r>
            <a:r>
              <a:rPr lang="en-US" sz="1100" b="0" dirty="0">
                <a:latin typeface="Arial" panose="020B0604020202020204" pitchFamily="34" charset="0"/>
                <a:cs typeface="Arial" panose="020B0604020202020204" pitchFamily="34" charset="0"/>
              </a:rPr>
              <a:t>/blog/ai-scaling-laws/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9725C7-0905-A5D1-B8A6-6C219229344F}"/>
              </a:ext>
            </a:extLst>
          </p:cNvPr>
          <p:cNvSpPr txBox="1"/>
          <p:nvPr/>
        </p:nvSpPr>
        <p:spPr>
          <a:xfrm>
            <a:off x="249191" y="4368385"/>
            <a:ext cx="8818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Capability = base model quality (pre-training) + post-training + inference time effort  </a:t>
            </a:r>
          </a:p>
        </p:txBody>
      </p:sp>
    </p:spTree>
    <p:extLst>
      <p:ext uri="{BB962C8B-B14F-4D97-AF65-F5344CB8AC3E}">
        <p14:creationId xmlns:p14="http://schemas.microsoft.com/office/powerpoint/2010/main" val="220448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005587"/>
                </a:solidFill>
                <a:latin typeface="Whitney Bold"/>
              </a:rPr>
              <a:t>Glossary (1/4)</a:t>
            </a:r>
            <a:endParaRPr lang="en-US" sz="2800"/>
          </a:p>
        </p:txBody>
      </p:sp>
      <p:sp>
        <p:nvSpPr>
          <p:cNvPr id="4" name="Shape 4"/>
          <p:cNvSpPr/>
          <p:nvPr/>
        </p:nvSpPr>
        <p:spPr>
          <a:xfrm>
            <a:off x="457200" y="896112"/>
            <a:ext cx="8321040" cy="5486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 txBox="1"/>
          <p:nvPr/>
        </p:nvSpPr>
        <p:spPr>
          <a:xfrm>
            <a:off x="621792" y="10515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Pre-training</a:t>
            </a:r>
            <a:endParaRPr lang="en-US" sz="1400"/>
          </a:p>
        </p:txBody>
      </p:sp>
      <p:sp>
        <p:nvSpPr>
          <p:cNvPr id="7" name="Shape 7"/>
          <p:cNvSpPr txBox="1"/>
          <p:nvPr/>
        </p:nvSpPr>
        <p:spPr>
          <a:xfrm>
            <a:off x="3319272" y="10515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Initial training on broad data to learn general language and world patterns.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 txBox="1"/>
          <p:nvPr/>
        </p:nvSpPr>
        <p:spPr>
          <a:xfrm>
            <a:off x="621792" y="16916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Post-training</a:t>
            </a:r>
            <a:endParaRPr lang="en-US" sz="1400"/>
          </a:p>
        </p:txBody>
      </p:sp>
      <p:sp>
        <p:nvSpPr>
          <p:cNvPr id="10" name="Shape 10"/>
          <p:cNvSpPr txBox="1"/>
          <p:nvPr/>
        </p:nvSpPr>
        <p:spPr>
          <a:xfrm>
            <a:off x="3319272" y="169164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Additional training that makes a base model more useful, safe, or task-specific.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57200" y="233172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 txBox="1"/>
          <p:nvPr/>
        </p:nvSpPr>
        <p:spPr>
          <a:xfrm>
            <a:off x="621792" y="23317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Supervised Fine-Tuning (SFT)</a:t>
            </a:r>
            <a:endParaRPr lang="en-US" sz="1400"/>
          </a:p>
        </p:txBody>
      </p:sp>
      <p:sp>
        <p:nvSpPr>
          <p:cNvPr id="13" name="Shape 13"/>
          <p:cNvSpPr txBox="1"/>
          <p:nvPr/>
        </p:nvSpPr>
        <p:spPr>
          <a:xfrm>
            <a:off x="3319272" y="233172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Training on examples of desired prompt-response behavior.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457200" y="297180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5"/>
          <p:cNvSpPr txBox="1"/>
          <p:nvPr/>
        </p:nvSpPr>
        <p:spPr>
          <a:xfrm>
            <a:off x="621792" y="2971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Catastrophic Forgetting</a:t>
            </a:r>
            <a:endParaRPr lang="en-US" sz="1400"/>
          </a:p>
        </p:txBody>
      </p:sp>
      <p:sp>
        <p:nvSpPr>
          <p:cNvPr id="16" name="Shape 16"/>
          <p:cNvSpPr txBox="1"/>
          <p:nvPr/>
        </p:nvSpPr>
        <p:spPr>
          <a:xfrm>
            <a:off x="3319272" y="297180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Fine-tuning damages capabilities the base model previously had.</a:t>
            </a: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457200" y="361188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8"/>
          <p:cNvSpPr txBox="1"/>
          <p:nvPr/>
        </p:nvSpPr>
        <p:spPr>
          <a:xfrm>
            <a:off x="621792" y="36118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Style Drift</a:t>
            </a:r>
            <a:endParaRPr lang="en-US" sz="1400"/>
          </a:p>
        </p:txBody>
      </p:sp>
      <p:sp>
        <p:nvSpPr>
          <p:cNvPr id="19" name="Shape 19"/>
          <p:cNvSpPr txBox="1"/>
          <p:nvPr/>
        </p:nvSpPr>
        <p:spPr>
          <a:xfrm>
            <a:off x="3319272" y="361188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The model shifts away from the desired tone, format, or voice.</a:t>
            </a:r>
            <a:endParaRPr lang="en-US" sz="1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005587"/>
                </a:solidFill>
                <a:latin typeface="Whitney Bold"/>
              </a:rPr>
              <a:t>Glossary (2/4)</a:t>
            </a:r>
            <a:endParaRPr lang="en-US" sz="2800"/>
          </a:p>
        </p:txBody>
      </p:sp>
      <p:sp>
        <p:nvSpPr>
          <p:cNvPr id="4" name="Shape 4"/>
          <p:cNvSpPr/>
          <p:nvPr/>
        </p:nvSpPr>
        <p:spPr>
          <a:xfrm>
            <a:off x="457200" y="896112"/>
            <a:ext cx="8321040" cy="5486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 txBox="1"/>
          <p:nvPr/>
        </p:nvSpPr>
        <p:spPr>
          <a:xfrm>
            <a:off x="621792" y="10515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Scoring Model</a:t>
            </a:r>
            <a:endParaRPr lang="en-US" sz="1400"/>
          </a:p>
        </p:txBody>
      </p:sp>
      <p:sp>
        <p:nvSpPr>
          <p:cNvPr id="7" name="Shape 7"/>
          <p:cNvSpPr txBox="1"/>
          <p:nvPr/>
        </p:nvSpPr>
        <p:spPr>
          <a:xfrm>
            <a:off x="3319272" y="10515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A model that evaluates or ranks candidate outputs.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 txBox="1"/>
          <p:nvPr/>
        </p:nvSpPr>
        <p:spPr>
          <a:xfrm>
            <a:off x="621792" y="16916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RLHF</a:t>
            </a:r>
            <a:endParaRPr lang="en-US" sz="1400"/>
          </a:p>
        </p:txBody>
      </p:sp>
      <p:sp>
        <p:nvSpPr>
          <p:cNvPr id="10" name="Shape 10"/>
          <p:cNvSpPr txBox="1"/>
          <p:nvPr/>
        </p:nvSpPr>
        <p:spPr>
          <a:xfrm>
            <a:off x="3319272" y="169164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Reinforcement learning from human feedback or preferences.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57200" y="233172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 txBox="1"/>
          <p:nvPr/>
        </p:nvSpPr>
        <p:spPr>
          <a:xfrm>
            <a:off x="621792" y="23317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Constitutional AI</a:t>
            </a:r>
            <a:endParaRPr lang="en-US" sz="1400"/>
          </a:p>
        </p:txBody>
      </p:sp>
      <p:sp>
        <p:nvSpPr>
          <p:cNvPr id="13" name="Shape 13"/>
          <p:cNvSpPr txBox="1"/>
          <p:nvPr/>
        </p:nvSpPr>
        <p:spPr>
          <a:xfrm>
            <a:off x="3319272" y="233172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Using written principles to critique, revise, or score model behavior.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457200" y="297180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5"/>
          <p:cNvSpPr txBox="1"/>
          <p:nvPr/>
        </p:nvSpPr>
        <p:spPr>
          <a:xfrm>
            <a:off x="621792" y="2971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RLAIF</a:t>
            </a:r>
            <a:endParaRPr lang="en-US" sz="1400"/>
          </a:p>
        </p:txBody>
      </p:sp>
      <p:sp>
        <p:nvSpPr>
          <p:cNvPr id="16" name="Shape 16"/>
          <p:cNvSpPr txBox="1"/>
          <p:nvPr/>
        </p:nvSpPr>
        <p:spPr>
          <a:xfrm>
            <a:off x="3319272" y="297180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Reinforcement learning from AI feedback instead of direct human labels.</a:t>
            </a: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457200" y="361188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8"/>
          <p:cNvSpPr txBox="1"/>
          <p:nvPr/>
        </p:nvSpPr>
        <p:spPr>
          <a:xfrm>
            <a:off x="621792" y="36118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Synthetic Data</a:t>
            </a:r>
            <a:endParaRPr lang="en-US" sz="1400"/>
          </a:p>
        </p:txBody>
      </p:sp>
      <p:sp>
        <p:nvSpPr>
          <p:cNvPr id="19" name="Shape 19"/>
          <p:cNvSpPr txBox="1"/>
          <p:nvPr/>
        </p:nvSpPr>
        <p:spPr>
          <a:xfrm>
            <a:off x="3319272" y="361188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Model-generated data used for training, evaluation, or augmentation.</a:t>
            </a:r>
            <a:endParaRPr lang="en-US" sz="1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005587"/>
                </a:solidFill>
                <a:latin typeface="Whitney Bold"/>
              </a:rPr>
              <a:t>Glossary (3/4)</a:t>
            </a:r>
            <a:endParaRPr lang="en-US" sz="2800"/>
          </a:p>
        </p:txBody>
      </p:sp>
      <p:sp>
        <p:nvSpPr>
          <p:cNvPr id="4" name="Shape 4"/>
          <p:cNvSpPr/>
          <p:nvPr/>
        </p:nvSpPr>
        <p:spPr>
          <a:xfrm>
            <a:off x="457200" y="896112"/>
            <a:ext cx="8321040" cy="5486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 txBox="1"/>
          <p:nvPr/>
        </p:nvSpPr>
        <p:spPr>
          <a:xfrm>
            <a:off x="621792" y="10515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Distillation</a:t>
            </a:r>
            <a:endParaRPr lang="en-US" sz="1400"/>
          </a:p>
        </p:txBody>
      </p:sp>
      <p:sp>
        <p:nvSpPr>
          <p:cNvPr id="7" name="Shape 7"/>
          <p:cNvSpPr txBox="1"/>
          <p:nvPr/>
        </p:nvSpPr>
        <p:spPr>
          <a:xfrm>
            <a:off x="3319272" y="10515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Training a student model to imitate a stronger teacher model.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 txBox="1"/>
          <p:nvPr/>
        </p:nvSpPr>
        <p:spPr>
          <a:xfrm>
            <a:off x="621792" y="16916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LLM-as-Judge</a:t>
            </a:r>
            <a:endParaRPr lang="en-US" sz="1400"/>
          </a:p>
        </p:txBody>
      </p:sp>
      <p:sp>
        <p:nvSpPr>
          <p:cNvPr id="10" name="Shape 10"/>
          <p:cNvSpPr txBox="1"/>
          <p:nvPr/>
        </p:nvSpPr>
        <p:spPr>
          <a:xfrm>
            <a:off x="3319272" y="169164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Using a language model to evaluate, compare, or rank outputs.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57200" y="233172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 txBox="1"/>
          <p:nvPr/>
        </p:nvSpPr>
        <p:spPr>
          <a:xfrm>
            <a:off x="621792" y="23317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Chain-of-Thought</a:t>
            </a:r>
            <a:endParaRPr lang="en-US" sz="1400"/>
          </a:p>
        </p:txBody>
      </p:sp>
      <p:sp>
        <p:nvSpPr>
          <p:cNvPr id="13" name="Shape 13"/>
          <p:cNvSpPr txBox="1"/>
          <p:nvPr/>
        </p:nvSpPr>
        <p:spPr>
          <a:xfrm>
            <a:off x="3319272" y="233172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Generating intermediate reasoning steps before the final answer.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457200" y="297180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5"/>
          <p:cNvSpPr txBox="1"/>
          <p:nvPr/>
        </p:nvSpPr>
        <p:spPr>
          <a:xfrm>
            <a:off x="621792" y="2971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RLVR</a:t>
            </a:r>
            <a:endParaRPr lang="en-US" sz="1400"/>
          </a:p>
        </p:txBody>
      </p:sp>
      <p:sp>
        <p:nvSpPr>
          <p:cNvPr id="16" name="Shape 16"/>
          <p:cNvSpPr txBox="1"/>
          <p:nvPr/>
        </p:nvSpPr>
        <p:spPr>
          <a:xfrm>
            <a:off x="3319272" y="297180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Reinforcement learning with rewards from verifiable outcomes.</a:t>
            </a: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457200" y="361188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8"/>
          <p:cNvSpPr txBox="1"/>
          <p:nvPr/>
        </p:nvSpPr>
        <p:spPr>
          <a:xfrm>
            <a:off x="621792" y="36118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Verifier</a:t>
            </a:r>
            <a:endParaRPr lang="en-US" sz="1400"/>
          </a:p>
        </p:txBody>
      </p:sp>
      <p:sp>
        <p:nvSpPr>
          <p:cNvPr id="19" name="Shape 19"/>
          <p:cNvSpPr txBox="1"/>
          <p:nvPr/>
        </p:nvSpPr>
        <p:spPr>
          <a:xfrm>
            <a:off x="3319272" y="361188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A system that checks candidate answers and assigns a score or reward.</a:t>
            </a:r>
            <a:endParaRPr lang="en-US" sz="1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005587"/>
                </a:solidFill>
                <a:latin typeface="Whitney Bold"/>
              </a:rPr>
              <a:t>Glossary (4/4)</a:t>
            </a:r>
            <a:endParaRPr lang="en-US" sz="2800"/>
          </a:p>
        </p:txBody>
      </p:sp>
      <p:sp>
        <p:nvSpPr>
          <p:cNvPr id="4" name="Shape 4"/>
          <p:cNvSpPr/>
          <p:nvPr/>
        </p:nvSpPr>
        <p:spPr>
          <a:xfrm>
            <a:off x="457200" y="896112"/>
            <a:ext cx="8321040" cy="5486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 txBox="1"/>
          <p:nvPr/>
        </p:nvSpPr>
        <p:spPr>
          <a:xfrm>
            <a:off x="621792" y="10515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Self-Consistency</a:t>
            </a:r>
            <a:endParaRPr lang="en-US" sz="1400"/>
          </a:p>
        </p:txBody>
      </p:sp>
      <p:sp>
        <p:nvSpPr>
          <p:cNvPr id="7" name="Shape 7"/>
          <p:cNvSpPr txBox="1"/>
          <p:nvPr/>
        </p:nvSpPr>
        <p:spPr>
          <a:xfrm>
            <a:off x="3319272" y="10515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Sampling multiple reasoning paths and choosing the most stable answer.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 txBox="1"/>
          <p:nvPr/>
        </p:nvSpPr>
        <p:spPr>
          <a:xfrm>
            <a:off x="621792" y="16916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FLOP</a:t>
            </a:r>
            <a:endParaRPr lang="en-US" sz="1400"/>
          </a:p>
        </p:txBody>
      </p:sp>
      <p:sp>
        <p:nvSpPr>
          <p:cNvPr id="10" name="Shape 10"/>
          <p:cNvSpPr txBox="1"/>
          <p:nvPr/>
        </p:nvSpPr>
        <p:spPr>
          <a:xfrm>
            <a:off x="3319272" y="169164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Floating-point operation; a basic unit for counting compute.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57200" y="233172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 txBox="1"/>
          <p:nvPr/>
        </p:nvSpPr>
        <p:spPr>
          <a:xfrm>
            <a:off x="621792" y="23317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Inference Cost</a:t>
            </a:r>
            <a:endParaRPr lang="en-US" sz="1400"/>
          </a:p>
        </p:txBody>
      </p:sp>
      <p:sp>
        <p:nvSpPr>
          <p:cNvPr id="13" name="Shape 13"/>
          <p:cNvSpPr txBox="1"/>
          <p:nvPr/>
        </p:nvSpPr>
        <p:spPr>
          <a:xfrm>
            <a:off x="3319272" y="233172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The cost of running a trained model to answer user requests.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457200" y="297180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5"/>
          <p:cNvSpPr txBox="1"/>
          <p:nvPr/>
        </p:nvSpPr>
        <p:spPr>
          <a:xfrm>
            <a:off x="621792" y="29718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Mixture-of-Experts (MoE)</a:t>
            </a:r>
            <a:endParaRPr lang="en-US" sz="1400"/>
          </a:p>
        </p:txBody>
      </p:sp>
      <p:sp>
        <p:nvSpPr>
          <p:cNvPr id="16" name="Shape 16"/>
          <p:cNvSpPr txBox="1"/>
          <p:nvPr/>
        </p:nvSpPr>
        <p:spPr>
          <a:xfrm>
            <a:off x="3319272" y="297180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A router activates only some expert modules for each token.</a:t>
            </a:r>
            <a:endParaRPr lang="en-US" sz="1400"/>
          </a:p>
        </p:txBody>
      </p:sp>
      <p:sp>
        <p:nvSpPr>
          <p:cNvPr id="17" name="Shape 17"/>
          <p:cNvSpPr/>
          <p:nvPr/>
        </p:nvSpPr>
        <p:spPr>
          <a:xfrm>
            <a:off x="457200" y="3611880"/>
            <a:ext cx="54864" cy="640080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8"/>
          <p:cNvSpPr txBox="1"/>
          <p:nvPr/>
        </p:nvSpPr>
        <p:spPr>
          <a:xfrm>
            <a:off x="621792" y="36118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1">
                <a:solidFill>
                  <a:srgbClr val="005587"/>
                </a:solidFill>
                <a:latin typeface="Arial"/>
              </a:rPr>
              <a:t>Scaling Laws</a:t>
            </a:r>
            <a:endParaRPr lang="en-US" sz="1400"/>
          </a:p>
        </p:txBody>
      </p:sp>
      <p:sp>
        <p:nvSpPr>
          <p:cNvPr id="19" name="Shape 19"/>
          <p:cNvSpPr txBox="1"/>
          <p:nvPr/>
        </p:nvSpPr>
        <p:spPr>
          <a:xfrm>
            <a:off x="3319272" y="361188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 b="0">
                <a:solidFill>
                  <a:srgbClr val="000000"/>
                </a:solidFill>
                <a:latin typeface="Arial"/>
              </a:rPr>
              <a:t>Empirical patterns linking compute, data, parameters, and performance.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2788</TotalTime>
  <Words>4314</Words>
  <Application>Microsoft Macintosh PowerPoint</Application>
  <PresentationFormat>On-screen Show (16:9)</PresentationFormat>
  <Paragraphs>650</Paragraphs>
  <Slides>59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Aptos</vt:lpstr>
      <vt:lpstr>Arial</vt:lpstr>
      <vt:lpstr>Calibri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Siddiq, Auyon</cp:lastModifiedBy>
  <cp:revision>467</cp:revision>
  <dcterms:created xsi:type="dcterms:W3CDTF">2013-01-27T09:14:16Z</dcterms:created>
  <dcterms:modified xsi:type="dcterms:W3CDTF">2026-05-11T17:22:06Z</dcterms:modified>
  <cp:category/>
</cp:coreProperties>
</file>