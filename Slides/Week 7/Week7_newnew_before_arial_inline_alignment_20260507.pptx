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375" r:id="rId4"/>
    <p:sldId id="358" r:id="rId5"/>
    <p:sldId id="260" r:id="rId6"/>
    <p:sldId id="267" r:id="rId7"/>
    <p:sldId id="361" r:id="rId8"/>
    <p:sldId id="348" r:id="rId9"/>
    <p:sldId id="269" r:id="rId10"/>
    <p:sldId id="368" r:id="rId11"/>
    <p:sldId id="307" r:id="rId12"/>
    <p:sldId id="272" r:id="rId13"/>
    <p:sldId id="279" r:id="rId14"/>
    <p:sldId id="369" r:id="rId15"/>
    <p:sldId id="370" r:id="rId16"/>
    <p:sldId id="371" r:id="rId17"/>
    <p:sldId id="367" r:id="rId18"/>
    <p:sldId id="374" r:id="rId19"/>
    <p:sldId id="373" r:id="rId20"/>
    <p:sldId id="352" r:id="rId21"/>
    <p:sldId id="330" r:id="rId22"/>
    <p:sldId id="376" r:id="rId23"/>
    <p:sldId id="387" r:id="rId24"/>
    <p:sldId id="377" r:id="rId25"/>
    <p:sldId id="378" r:id="rId26"/>
    <p:sldId id="388" r:id="rId27"/>
    <p:sldId id="353" r:id="rId28"/>
    <p:sldId id="288" r:id="rId29"/>
    <p:sldId id="363" r:id="rId30"/>
    <p:sldId id="362" r:id="rId31"/>
    <p:sldId id="285" r:id="rId32"/>
    <p:sldId id="333" r:id="rId33"/>
    <p:sldId id="386" r:id="rId34"/>
    <p:sldId id="364" r:id="rId35"/>
    <p:sldId id="346" r:id="rId36"/>
    <p:sldId id="355" r:id="rId37"/>
    <p:sldId id="354" r:id="rId38"/>
    <p:sldId id="384" r:id="rId39"/>
    <p:sldId id="339" r:id="rId40"/>
    <p:sldId id="383" r:id="rId41"/>
    <p:sldId id="385" r:id="rId42"/>
    <p:sldId id="381" r:id="rId43"/>
    <p:sldId id="343" r:id="rId44"/>
    <p:sldId id="366" r:id="rId45"/>
    <p:sldId id="382" r:id="rId46"/>
    <p:sldId id="342" r:id="rId47"/>
    <p:sldId id="335" r:id="rId48"/>
    <p:sldId id="336" r:id="rId49"/>
    <p:sldId id="380" r:id="rId50"/>
    <p:sldId id="337" r:id="rId51"/>
    <p:sldId id="379" r:id="rId52"/>
    <p:sldId id="347" r:id="rId53"/>
    <p:sldId id="365" r:id="rId54"/>
    <p:sldId id="303" r:id="rId55"/>
    <p:sldId id="304" r:id="rId5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73"/>
    <p:restoredTop sz="94544"/>
  </p:normalViewPr>
  <p:slideViewPr>
    <p:cSldViewPr snapToGrid="0" snapToObjects="1">
      <p:cViewPr varScale="1">
        <p:scale>
          <a:sx n="140" d="100"/>
          <a:sy n="140" d="100"/>
        </p:scale>
        <p:origin x="5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BE1A08-5BB2-C54C-9317-4AF355115872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48A0E-067D-4146-84BB-4B38BF93E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3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1A6EF-4B30-CDC2-B381-1C177A6E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F6C24-A687-65F8-7568-17C37A37C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224E1-F43B-A8FC-2235-994228FAD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788C6-966E-BE15-C034-2D619B2EA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835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4605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www.vast.ai/pricing" TargetMode="External"/><Relationship Id="rId3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e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eg"/><Relationship Id="rId3" Type="http://schemas.openxmlformats.org/officeDocument/2006/relationships/image" Target="../media/image2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e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7772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MGMT298D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Arial"/>
              </a:rPr>
              <a:t>Science and Strategy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916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D100"/>
                </a:solidFill>
                <a:latin typeface="Whitney Bold"/>
              </a:rPr>
              <a:t>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9144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Whitney Bold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6052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Whitney Bold"/>
              </a:rPr>
              <a:t>Auyon Siddiq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Whitney Bold"/>
              </a:rPr>
              <a:t>UCLA Anderson School of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Today's Class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2300-31C8-0958-4C8F-BE809A41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C16688-E5C4-07CF-B58A-D4DEF82D1F91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4CFD8-1226-5B72-E87C-BBB37B5277B4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Week 6 Recap: Attention and Transformers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740B7AA-F5A9-AB38-0320-F832E9DF4BD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EA7B496F-18E1-6712-ED39-34E7129C1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21"/>
          <a:stretch>
            <a:fillRect/>
          </a:stretch>
        </p:blipFill>
        <p:spPr>
          <a:xfrm>
            <a:off x="331004" y="1573227"/>
            <a:ext cx="2078835" cy="147389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FE9085F-8648-F454-9DF8-6C18D7A732A2}"/>
              </a:ext>
            </a:extLst>
          </p:cNvPr>
          <p:cNvSpPr txBox="1"/>
          <p:nvPr/>
        </p:nvSpPr>
        <p:spPr>
          <a:xfrm>
            <a:off x="290851" y="3215164"/>
            <a:ext cx="2281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Embeddings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 (tokens) become high-dimensional numeric vectors.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Picture 5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82716A-30B6-3546-1973-31D5FE843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151" y="1573227"/>
            <a:ext cx="2128224" cy="1473894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87D90C5-BE37-897D-5C1A-16655FAB3132}"/>
              </a:ext>
            </a:extLst>
          </p:cNvPr>
          <p:cNvSpPr txBox="1"/>
          <p:nvPr/>
        </p:nvSpPr>
        <p:spPr>
          <a:xfrm>
            <a:off x="2733151" y="3215164"/>
            <a:ext cx="1999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Attention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token updates its own embedding based on context from other tokens.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68F1E3B-5B68-4899-5370-A9C7BE7BAC55}"/>
              </a:ext>
            </a:extLst>
          </p:cNvPr>
          <p:cNvSpPr txBox="1"/>
          <p:nvPr/>
        </p:nvSpPr>
        <p:spPr>
          <a:xfrm>
            <a:off x="4990160" y="3215163"/>
            <a:ext cx="3734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Training</a:t>
            </a:r>
          </a:p>
          <a:p>
            <a:r>
              <a:rPr lang="en-US" sz="12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Backprop learns attention weights from billions of next-token predictions from a massive corpus.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Picture 57" descr="A diagram of a training&#10;&#10;AI-generated content may be incorrect.">
            <a:extLst>
              <a:ext uri="{FF2B5EF4-FFF2-40B4-BE49-F238E27FC236}">
                <a16:creationId xmlns:a16="http://schemas.microsoft.com/office/drawing/2014/main" id="{D47207F5-5D38-41C4-2208-E615FA3269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052" b="25764"/>
          <a:stretch>
            <a:fillRect/>
          </a:stretch>
        </p:blipFill>
        <p:spPr>
          <a:xfrm>
            <a:off x="4990159" y="1646770"/>
            <a:ext cx="4073453" cy="138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13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457200" y="896112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24423" y="354592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vs. Inference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38528" y="2029967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410712" y="2029967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37724" y="4087369"/>
            <a:ext cx="320040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09908" y="4087369"/>
            <a:ext cx="356616" cy="0"/>
          </a:xfrm>
          <a:prstGeom prst="line">
            <a:avLst/>
          </a:prstGeom>
          <a:ln w="13970">
            <a:solidFill>
              <a:srgbClr val="CDCD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5601" y="1964353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" b="1" dirty="0">
                <a:solidFill>
                  <a:srgbClr val="005587"/>
                </a:solidFill>
                <a:latin typeface="Whitney Bold"/>
              </a:rPr>
              <a:t>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188720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>
                <a:solidFill>
                  <a:srgbClr val="005587"/>
                </a:solidFill>
                <a:latin typeface="Whitney Bold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5668" y="1201658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Whitney Bold"/>
              </a:rPr>
              <a:t>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1408176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1668780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1929384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2189988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2450592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1408176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1408176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cat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1613916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1668780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sat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1874519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929384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135124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2189988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the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3957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2450592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840" y="4004971"/>
            <a:ext cx="841248" cy="166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80" b="1">
                <a:solidFill>
                  <a:srgbClr val="005587"/>
                </a:solidFill>
                <a:latin typeface="Whitney Bold"/>
              </a:rPr>
              <a:t>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7868" y="3266217"/>
            <a:ext cx="67665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Whitney Bold"/>
              </a:rPr>
              <a:t>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7328" y="3268980"/>
            <a:ext cx="8046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80" b="1" dirty="0">
                <a:solidFill>
                  <a:srgbClr val="005587"/>
                </a:solidFill>
                <a:latin typeface="Whitney Bold"/>
              </a:rPr>
              <a:t>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7916" y="3465577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791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7916" y="3726181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791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7916" y="3986785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91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7916" y="4247389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791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7916" y="4507993"/>
            <a:ext cx="67665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30916" y="3465577"/>
            <a:ext cx="1005840" cy="1243584"/>
          </a:xfrm>
          <a:prstGeom prst="roundRect">
            <a:avLst/>
          </a:prstGeom>
          <a:solidFill>
            <a:srgbClr val="E8F2F8"/>
          </a:solidFill>
          <a:ln w="1397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39676" y="3465577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cat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39676" y="3671317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39676" y="3726181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sat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39676" y="3931921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39676" y="3986785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39676" y="4192525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39676" y="4247389"/>
            <a:ext cx="676656" cy="201168"/>
          </a:xfrm>
          <a:prstGeom prst="roundRect">
            <a:avLst/>
          </a:prstGeom>
          <a:solidFill>
            <a:srgbClr val="F5F6F7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39676" y="4453128"/>
            <a:ext cx="676656" cy="64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40" b="1">
                <a:solidFill>
                  <a:srgbClr val="005587"/>
                </a:solidFill>
                <a:latin typeface="Whitney Bold"/>
              </a:rPr>
              <a:t>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39676" y="4507993"/>
            <a:ext cx="676656" cy="201168"/>
          </a:xfrm>
          <a:prstGeom prst="roundRect">
            <a:avLst/>
          </a:prstGeom>
          <a:solidFill>
            <a:srgbClr val="FFF7CD"/>
          </a:solidFill>
          <a:ln w="1143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 wrap="square"/>
          <a:lstStyle/>
          <a:p>
            <a:pPr algn="ctr"/>
            <a:r>
              <a:rPr sz="790" b="1">
                <a:solidFill>
                  <a:srgbClr val="005587"/>
                </a:solidFill>
                <a:latin typeface="Whitney Bold"/>
              </a:rPr>
              <a:t>mat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43FB4A-222E-BDC2-E5F5-87EA49380F11}"/>
              </a:ext>
            </a:extLst>
          </p:cNvPr>
          <p:cNvSpPr txBox="1"/>
          <p:nvPr/>
        </p:nvSpPr>
        <p:spPr>
          <a:xfrm>
            <a:off x="5134005" y="1508760"/>
            <a:ext cx="364423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During training, the model learns from every next-token label simultaneously (”the cat sat on the mat” = 5 training examples) </a:t>
            </a: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endParaRPr lang="en-US" sz="1600" dirty="0">
              <a:solidFill>
                <a:srgbClr val="000000"/>
              </a:solidFill>
              <a:latin typeface="Arial"/>
            </a:endParaRPr>
          </a:p>
          <a:p>
            <a:r>
              <a:rPr lang="en-US" sz="1600" dirty="0" b="0">
                <a:solidFill>
                  <a:srgbClr val="000000"/>
                </a:solidFill>
                <a:latin typeface="Arial"/>
              </a:rPr>
              <a:t>During inference, only the final output is used to generate the next token prediction; rest ignored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Temperature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and Sampling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The transformer outputs a raw score per vocabulary token. Softmax turns scores into probabilities; temperature reshapes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logits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92808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92808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+2.2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93976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93976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+1.8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95144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295144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+0.8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9631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96312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-1.0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83080" y="2125980"/>
            <a:ext cx="548640" cy="0"/>
          </a:xfrm>
          <a:prstGeom prst="line">
            <a:avLst/>
          </a:prstGeom>
          <a:ln w="1905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83080" y="176022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>
                <a:solidFill>
                  <a:srgbClr val="000000"/>
                </a:solidFill>
                <a:latin typeface="Arial"/>
              </a:rPr>
              <a:t>softmax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2174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p_i = exp(z_i) / Σ exp(z_j)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141732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probabilities (T =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16916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79" y="1746504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26079" y="1746504"/>
            <a:ext cx="855878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16916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52%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189280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79" y="1947672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26079" y="1947672"/>
            <a:ext cx="427939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17720" y="189280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09397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79" y="2148840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26079" y="2148840"/>
            <a:ext cx="263347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17720" y="209397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29514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79" y="2350008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26079" y="2350008"/>
            <a:ext cx="8229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229514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24963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79" y="2551176"/>
            <a:ext cx="164592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926079" y="2551176"/>
            <a:ext cx="16459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17720" y="24963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1371600"/>
            <a:ext cx="1417320" cy="1627632"/>
          </a:xfrm>
          <a:prstGeom prst="rect">
            <a:avLst/>
          </a:prstGeom>
          <a:solidFill>
            <a:srgbClr val="FAE8E5"/>
          </a:solidFill>
          <a:ln w="1016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17720" y="14173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Low 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17373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8464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184648" y="1792224"/>
            <a:ext cx="493776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79007" y="173736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90%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19202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8464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184648" y="1975104"/>
            <a:ext cx="38404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79007" y="19202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210312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8464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184648" y="2157984"/>
            <a:ext cx="10972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79007" y="21031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228600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8464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184648" y="2340864"/>
            <a:ext cx="5486" cy="91440"/>
          </a:xfrm>
          <a:prstGeom prst="rect">
            <a:avLst/>
          </a:prstGeom>
          <a:solidFill>
            <a:srgbClr val="C1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779007" y="228600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9898" y="2468880"/>
            <a:ext cx="45903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464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79007" y="246888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0%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80" y="1371600"/>
            <a:ext cx="1417320" cy="1627632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126480" y="14173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T =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17373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340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693408" y="1792224"/>
            <a:ext cx="28529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287768" y="173736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52%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19202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9340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693408" y="1975104"/>
            <a:ext cx="14264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287768" y="19202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26%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210312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9340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693408" y="2157984"/>
            <a:ext cx="8778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87768" y="21031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16%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228600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9340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693408" y="2340864"/>
            <a:ext cx="27432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87768" y="228600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246888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69340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693408" y="2523744"/>
            <a:ext cx="5486" cy="9144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87768" y="246888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635240" y="1371600"/>
            <a:ext cx="1417320" cy="1627632"/>
          </a:xfrm>
          <a:prstGeom prst="rect">
            <a:avLst/>
          </a:prstGeom>
          <a:solidFill>
            <a:srgbClr val="FDF6D8"/>
          </a:solidFill>
          <a:ln w="1016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635240" y="141732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High 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173736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mat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02168" y="179222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8202168" y="1792224"/>
            <a:ext cx="197510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796528" y="173736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36%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72400" y="192024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rug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02168" y="197510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202168" y="1975104"/>
            <a:ext cx="153619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796528" y="19202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28%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0" y="210312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floor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202168" y="215798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202168" y="2157984"/>
            <a:ext cx="115214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796528" y="21031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21%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0" y="228600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couch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02168" y="234086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8202168" y="2340864"/>
            <a:ext cx="71323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96528" y="228600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13%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72400" y="2468880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202168" y="2523744"/>
            <a:ext cx="548640" cy="9144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202168" y="2523744"/>
            <a:ext cx="10972" cy="914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796528" y="246888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05587"/>
                </a:solidFill>
                <a:latin typeface="Whitney Bold"/>
              </a:rPr>
              <a:t>2%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17720" y="304495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sharper, less random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26480" y="304495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neutral, baseline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35240" y="304495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1">
                <a:solidFill>
                  <a:srgbClr val="000000"/>
                </a:solidFill>
                <a:latin typeface="Arial"/>
              </a:rPr>
              <a:t>flatter, more random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solidFill>
            <a:srgbClr val="EEF3F8"/>
          </a:solidFill>
          <a:ln w="1016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7200" y="3657600"/>
            <a:ext cx="8321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 err="1">
                <a:solidFill>
                  <a:srgbClr val="005587"/>
                </a:solidFill>
                <a:latin typeface="Whitney Bold"/>
              </a:rPr>
              <a:t>p_i</a:t>
            </a:r>
            <a:r>
              <a:rPr sz="1800" b="1" dirty="0">
                <a:solidFill>
                  <a:srgbClr val="005587"/>
                </a:solidFill>
                <a:latin typeface="Whitney Bold"/>
              </a:rPr>
              <a:t>  =  exp(</a:t>
            </a:r>
            <a:r>
              <a:rPr sz="1800" b="1" dirty="0" err="1">
                <a:solidFill>
                  <a:srgbClr val="005587"/>
                </a:solidFill>
                <a:latin typeface="Whitney Bold"/>
              </a:rPr>
              <a:t>z_i</a:t>
            </a:r>
            <a:r>
              <a:rPr sz="1800" b="1" dirty="0">
                <a:solidFill>
                  <a:srgbClr val="005587"/>
                </a:solidFill>
                <a:latin typeface="Whitney Bold"/>
              </a:rPr>
              <a:t> / T) / </a:t>
            </a:r>
            <a:r>
              <a:rPr sz="1800" b="1" dirty="0" err="1">
                <a:solidFill>
                  <a:srgbClr val="005587"/>
                </a:solidFill>
                <a:latin typeface="Whitney Bold"/>
              </a:rPr>
              <a:t>Σ_j</a:t>
            </a:r>
            <a:r>
              <a:rPr sz="1800" b="1" dirty="0">
                <a:solidFill>
                  <a:srgbClr val="005587"/>
                </a:solidFill>
                <a:latin typeface="Whitney Bold"/>
              </a:rPr>
              <a:t> exp(</a:t>
            </a:r>
            <a:r>
              <a:rPr sz="1800" b="1" dirty="0" err="1">
                <a:solidFill>
                  <a:srgbClr val="005587"/>
                </a:solidFill>
                <a:latin typeface="Whitney Bold"/>
              </a:rPr>
              <a:t>z_j</a:t>
            </a:r>
            <a:r>
              <a:rPr sz="1800" b="1" dirty="0">
                <a:solidFill>
                  <a:srgbClr val="005587"/>
                </a:solidFill>
                <a:latin typeface="Whitney Bold"/>
              </a:rPr>
              <a:t> / T)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4343400"/>
            <a:ext cx="8321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Generation is a policy: a probability distribution over next-token actions.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4663440"/>
            <a:ext cx="8321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dirty="0" b="0">
                <a:solidFill>
                  <a:srgbClr val="555555"/>
                </a:solidFill>
                <a:latin typeface="Arial"/>
              </a:rPr>
              <a:t>Temperature is a knob the</a:t>
            </a:r>
            <a:r>
              <a:rPr lang="en-US" sz="1400" dirty="0" b="0">
                <a:solidFill>
                  <a:srgbClr val="555555"/>
                </a:solidFill>
                <a:latin typeface="Arial"/>
              </a:rPr>
              <a:t> AI service provider </a:t>
            </a:r>
            <a:r>
              <a:rPr sz="1400" dirty="0" b="0">
                <a:solidFill>
                  <a:srgbClr val="555555"/>
                </a:solidFill>
                <a:latin typeface="Arial"/>
              </a:rPr>
              <a:t>controls. Same weights, different output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Whitney Bold"/>
              </a:rPr>
              <a:t>Part 1: Post-Training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52E3-3E32-0879-638B-11D33693F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388E53-5BB6-809D-16E7-8D283F2E949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959411-F9D8-927D-0941-3627B1868CAB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From GPT 3.0 to ChatGPT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3E21BED-F6F7-FA3F-406E-6C2F46C2BE6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9FA0360-D005-BDBD-E622-735E4AE263B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dirty="0" b="0">
                <a:solidFill>
                  <a:srgbClr val="000000"/>
                </a:solidFill>
                <a:latin typeface="Arial"/>
              </a:rPr>
              <a:t>Pre-training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teaches the model how to continue generating text. GPT 3.0 was only pre-trained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How do we turn pre-trained model into a helpful assistant? </a:t>
            </a:r>
            <a:r>
              <a:rPr lang="en-US" b="1" dirty="0">
                <a:solidFill>
                  <a:srgbClr val="005587"/>
                </a:solidFill>
                <a:latin typeface="Whitney Bold"/>
              </a:rPr>
              <a:t>Post-training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Post-training turns a raw text-generation model into a conversational agent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0B59C3-F7B0-7731-BAC5-DA6E305CF9F4}"/>
              </a:ext>
            </a:extLst>
          </p:cNvPr>
          <p:cNvSpPr/>
          <p:nvPr/>
        </p:nvSpPr>
        <p:spPr>
          <a:xfrm>
            <a:off x="392000" y="2982396"/>
            <a:ext cx="1880000" cy="1814213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t"/>
          <a:lstStyle/>
          <a:p>
            <a:pPr algn="ctr"/>
            <a:r>
              <a:rPr sz="1000" b="1" dirty="0">
                <a:solidFill>
                  <a:srgbClr val="005587"/>
                </a:solidFill>
                <a:latin typeface="Whitney Bold"/>
              </a:rPr>
              <a:t>GPT-3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May 2020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Pretraining on a massive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text corpus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Next-token 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BF411-5A3D-0800-D4C1-4A35C884ACB1}"/>
              </a:ext>
            </a:extLst>
          </p:cNvPr>
          <p:cNvSpPr/>
          <p:nvPr/>
        </p:nvSpPr>
        <p:spPr>
          <a:xfrm>
            <a:off x="3632000" y="2982397"/>
            <a:ext cx="1880000" cy="1814216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t"/>
          <a:lstStyle/>
          <a:p>
            <a:pPr algn="ctr"/>
            <a:r>
              <a:rPr sz="1000" b="1" dirty="0" err="1">
                <a:solidFill>
                  <a:srgbClr val="005587"/>
                </a:solidFill>
                <a:latin typeface="Whitney Bold"/>
              </a:rPr>
              <a:t>InstructGPT</a:t>
            </a:r>
            <a:endParaRPr sz="1000" b="1" dirty="0">
              <a:solidFill>
                <a:srgbClr val="000000"/>
              </a:solidFill>
              <a:latin typeface="Arial"/>
            </a:endParaRP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January 2022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GPT-3 pretraining</a:t>
            </a:r>
          </a:p>
          <a:p>
            <a:pPr algn="ctr">
              <a:spcAft>
                <a:spcPts val="700"/>
              </a:spcAft>
            </a:pPr>
            <a:r>
              <a:rPr lang="en-US"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+ Supervised fine-tuning (SFT)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Reinforcement learning</a:t>
            </a:r>
            <a:br>
              <a:rPr sz="1000" dirty="0"/>
            </a:br>
            <a:r>
              <a:rPr sz="1000" b="0" dirty="0">
                <a:solidFill>
                  <a:srgbClr val="000000"/>
                </a:solidFill>
                <a:latin typeface="Arial"/>
              </a:rPr>
              <a:t>   from human feedback (RLHF)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103892-E3B4-883F-0A3F-20B96EC22D2E}"/>
              </a:ext>
            </a:extLst>
          </p:cNvPr>
          <p:cNvSpPr/>
          <p:nvPr/>
        </p:nvSpPr>
        <p:spPr>
          <a:xfrm>
            <a:off x="7012000" y="2982397"/>
            <a:ext cx="1880000" cy="1814207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t"/>
          <a:lstStyle/>
          <a:p>
            <a:pPr algn="ctr"/>
            <a:r>
              <a:rPr sz="1000" b="1" dirty="0">
                <a:solidFill>
                  <a:srgbClr val="005587"/>
                </a:solidFill>
                <a:latin typeface="Whitney Bold"/>
              </a:rPr>
              <a:t>ChatGPT</a:t>
            </a:r>
          </a:p>
          <a:p>
            <a:pPr algn="ctr">
              <a:spcBef>
                <a:spcPts val="400"/>
              </a:spcBef>
              <a:spcAft>
                <a:spcPts val="11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November 2022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</a:t>
            </a:r>
            <a:r>
              <a:rPr sz="1000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-style training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Dialogue-format SFT</a:t>
            </a:r>
          </a:p>
          <a:p>
            <a:pPr algn="ctr">
              <a:spcAft>
                <a:spcPts val="700"/>
              </a:spcAft>
            </a:pPr>
            <a:r>
              <a:rPr sz="1000" b="0" dirty="0">
                <a:solidFill>
                  <a:srgbClr val="000000"/>
                </a:solidFill>
                <a:latin typeface="Arial"/>
              </a:rPr>
              <a:t>•  + Dialogue-based RLHF</a:t>
            </a:r>
          </a:p>
        </p:txBody>
      </p:sp>
      <p:cxnSp>
        <p:nvCxnSpPr>
          <p:cNvPr id="10" name="Connector 7">
            <a:extLst>
              <a:ext uri="{FF2B5EF4-FFF2-40B4-BE49-F238E27FC236}">
                <a16:creationId xmlns:a16="http://schemas.microsoft.com/office/drawing/2014/main" id="{E395D9D3-A4C5-F8C7-039E-860320937BA3}"/>
              </a:ext>
            </a:extLst>
          </p:cNvPr>
          <p:cNvCxnSpPr/>
          <p:nvPr/>
        </p:nvCxnSpPr>
        <p:spPr>
          <a:xfrm>
            <a:off x="2272000" y="3617397"/>
            <a:ext cx="136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16080D-8321-1EA9-09D3-28FCE41613CC}"/>
              </a:ext>
            </a:extLst>
          </p:cNvPr>
          <p:cNvSpPr txBox="1"/>
          <p:nvPr/>
        </p:nvSpPr>
        <p:spPr>
          <a:xfrm>
            <a:off x="2326143" y="3307397"/>
            <a:ext cx="1341714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dirty="0" b="0">
                <a:solidFill>
                  <a:srgbClr val="000000"/>
                </a:solidFill>
                <a:latin typeface="Arial"/>
              </a:rPr>
              <a:t>+ alignment training</a:t>
            </a:r>
          </a:p>
        </p:txBody>
      </p:sp>
      <p:cxnSp>
        <p:nvCxnSpPr>
          <p:cNvPr id="12" name="Connector 9">
            <a:extLst>
              <a:ext uri="{FF2B5EF4-FFF2-40B4-BE49-F238E27FC236}">
                <a16:creationId xmlns:a16="http://schemas.microsoft.com/office/drawing/2014/main" id="{17AC6C97-244A-0F67-9BEA-FC95AB9C024B}"/>
              </a:ext>
            </a:extLst>
          </p:cNvPr>
          <p:cNvCxnSpPr/>
          <p:nvPr/>
        </p:nvCxnSpPr>
        <p:spPr>
          <a:xfrm>
            <a:off x="5512000" y="3617397"/>
            <a:ext cx="150000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A4E362-895C-FAFF-BEB8-5C4651EDA147}"/>
              </a:ext>
            </a:extLst>
          </p:cNvPr>
          <p:cNvSpPr txBox="1"/>
          <p:nvPr/>
        </p:nvSpPr>
        <p:spPr>
          <a:xfrm>
            <a:off x="5557981" y="3307397"/>
            <a:ext cx="138659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dirty="0" b="0">
                <a:solidFill>
                  <a:srgbClr val="000000"/>
                </a:solidFill>
                <a:latin typeface="Arial"/>
              </a:rPr>
              <a:t>+ conversational training</a:t>
            </a:r>
          </a:p>
        </p:txBody>
      </p:sp>
    </p:spTree>
    <p:extLst>
      <p:ext uri="{BB962C8B-B14F-4D97-AF65-F5344CB8AC3E}">
        <p14:creationId xmlns:p14="http://schemas.microsoft.com/office/powerpoint/2010/main" val="2239405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What does pre-training alone give us?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3802112"/>
            <a:ext cx="832104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dirty="0" b="0">
                <a:solidFill>
                  <a:srgbClr val="000000"/>
                </a:solidFill>
                <a:latin typeface="Arial"/>
              </a:rPr>
              <a:t>After pre-training, the model continues whatever text you give it. It hasn't learned to answer questions yet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!</a:t>
            </a:r>
          </a:p>
          <a:p>
            <a:pPr algn="l"/>
            <a:br>
              <a:rPr lang="en-US" sz="1600" b="1" dirty="0">
                <a:solidFill>
                  <a:srgbClr val="1F1F1F"/>
                </a:solidFill>
                <a:latin typeface="Arial"/>
              </a:rPr>
            </a:br>
            <a:endParaRPr sz="1600" b="1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186434"/>
            <a:ext cx="8229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User: </a:t>
            </a:r>
            <a:r>
              <a:rPr sz="1200" b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24762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39162"/>
            <a:ext cx="8229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77490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Model: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Supervised-Fine Tuning (SFT)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15675"/>
            <a:ext cx="83210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dirty="0" b="0">
                <a:solidFill>
                  <a:srgbClr val="000000"/>
                </a:solidFill>
                <a:latin typeface="Arial"/>
              </a:rPr>
              <a:t>Idea: Continue training model weights using a small number of additional examples and </a:t>
            </a:r>
            <a:r>
              <a:rPr lang="en-US" sz="1400" b="1" dirty="0">
                <a:solidFill>
                  <a:srgbClr val="005587"/>
                </a:solidFill>
                <a:latin typeface="Whitney Bold"/>
              </a:rPr>
              <a:t>tiny step sizes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in backprop / gradient descent </a:t>
            </a:r>
            <a:r>
              <a:rPr lang="en-US" sz="1400" dirty="0" b="0">
                <a:solidFill>
                  <a:srgbClr val="000000"/>
                </a:solidFill>
                <a:latin typeface="Arial"/>
                <a:sym typeface="Wingdings" pitchFamily="2" charset="2"/>
              </a:rPr>
              <a:t> goal is to nudge weights slightly based on additional training data</a:t>
            </a:r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endParaRPr lang="en-US" sz="14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sz="1400" dirty="0" b="0">
                <a:solidFill>
                  <a:srgbClr val="000000"/>
                </a:solidFill>
                <a:latin typeface="Arial"/>
              </a:rPr>
              <a:t>Each example is a (prompt, ideal answer) pair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:</a:t>
            </a:r>
            <a:endParaRPr sz="14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908" y="22156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Open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" y="24716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5587"/>
                </a:solidFill>
                <a:latin typeface="Whitney Bold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Who proposed the theory of natural selection?</a:t>
            </a:r>
          </a:p>
          <a:p>
            <a:pPr algn="l"/>
            <a:r>
              <a:rPr sz="950" b="1" dirty="0">
                <a:solidFill>
                  <a:srgbClr val="005587"/>
                </a:solidFill>
                <a:latin typeface="Whitney Bold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Charles Darwin, in 1859, in On the Origin of Species.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3260" y="22156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Brainstorming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3260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5587"/>
                </a:solidFill>
                <a:latin typeface="Whitney Bold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Give me three ideas for an MBA capstone on supply chains.</a:t>
            </a:r>
          </a:p>
          <a:p>
            <a:pPr algn="l"/>
            <a:r>
              <a:rPr sz="950" b="1">
                <a:solidFill>
                  <a:srgbClr val="005587"/>
                </a:solidFill>
                <a:latin typeface="Whitney Bold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1) Resilience under tariff shocks. 2) AI demand forecasting. 3) Reshoring trade-offs.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9612" y="22156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Summarization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9612" y="24716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5587"/>
                </a:solidFill>
                <a:latin typeface="Whitney Bold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Summarize this 5-paragraph memo in 2 sentences.</a:t>
            </a:r>
          </a:p>
          <a:p>
            <a:pPr algn="l"/>
            <a:r>
              <a:rPr sz="950" b="1" dirty="0">
                <a:solidFill>
                  <a:srgbClr val="005587"/>
                </a:solidFill>
                <a:latin typeface="Whitney Bold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The memo argues Q3 missed forecast due to delayed launches. Recommends pulling forward two SKUs.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" y="35872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5587"/>
                </a:solidFill>
                <a:latin typeface="Whitney Bold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Extract name, date, amount as JSON: "Maya paid $42 on 5/3."</a:t>
            </a:r>
          </a:p>
          <a:p>
            <a:pPr algn="l"/>
            <a:r>
              <a:rPr sz="950" b="1">
                <a:solidFill>
                  <a:srgbClr val="005587"/>
                </a:solidFill>
                <a:latin typeface="Whitney Bold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{"name": "Maya", "date": "2026-05-03", "amount": 42}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3260" y="35872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3260" y="3843266"/>
            <a:ext cx="269748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005587"/>
                </a:solidFill>
                <a:latin typeface="Whitney Bold"/>
              </a:rPr>
              <a:t>User: </a:t>
            </a:r>
            <a:r>
              <a:rPr sz="900" b="0">
                <a:solidFill>
                  <a:srgbClr val="000000"/>
                </a:solidFill>
                <a:latin typeface="Arial"/>
              </a:rPr>
              <a:t>Is this review positive, negative, or mixed? "Loved the food, hated the wait."</a:t>
            </a:r>
          </a:p>
          <a:p>
            <a:pPr algn="l"/>
            <a:r>
              <a:rPr sz="950" b="1">
                <a:solidFill>
                  <a:srgbClr val="005587"/>
                </a:solidFill>
                <a:latin typeface="Whitney Bold"/>
              </a:rPr>
              <a:t>Model: </a:t>
            </a:r>
            <a:r>
              <a:rPr sz="900" b="0">
                <a:solidFill>
                  <a:srgbClr val="000000"/>
                </a:solidFill>
                <a:latin typeface="Arial"/>
              </a:rPr>
              <a:t>Mixed.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9612" y="3587234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5587"/>
                </a:solidFill>
                <a:latin typeface="Whitney Bold"/>
              </a:rPr>
              <a:t>Refusal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9612" y="3843266"/>
            <a:ext cx="2697480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005587"/>
                </a:solidFill>
                <a:latin typeface="Whitney Bold"/>
              </a:rPr>
              <a:t>User: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How do I forge my landlord's signature?</a:t>
            </a:r>
          </a:p>
          <a:p>
            <a:pPr algn="l"/>
            <a:r>
              <a:rPr sz="950" b="1" dirty="0">
                <a:solidFill>
                  <a:srgbClr val="005587"/>
                </a:solidFill>
                <a:latin typeface="Whitney Bold"/>
              </a:rPr>
              <a:t>Model: </a:t>
            </a:r>
            <a:r>
              <a:rPr sz="900" b="0" dirty="0">
                <a:solidFill>
                  <a:srgbClr val="000000"/>
                </a:solidFill>
                <a:latin typeface="Arial"/>
              </a:rPr>
              <a:t>I can't help with forgery. If there is a dispute, here is how to escalate properly...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40830"/>
            <a:ext cx="781264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 err="1">
                <a:solidFill>
                  <a:srgbClr val="555555"/>
                </a:solidFill>
                <a:latin typeface="Arial"/>
              </a:rPr>
              <a:t>InstructGPT</a:t>
            </a:r>
            <a:r>
              <a:rPr sz="1400" b="0" dirty="0">
                <a:solidFill>
                  <a:srgbClr val="555555"/>
                </a:solidFill>
                <a:latin typeface="Arial"/>
              </a:rPr>
              <a:t> used </a:t>
            </a:r>
            <a:r>
              <a:rPr lang="en-US" sz="1400" b="0" dirty="0">
                <a:solidFill>
                  <a:srgbClr val="555555"/>
                </a:solidFill>
                <a:latin typeface="Arial"/>
              </a:rPr>
              <a:t>only </a:t>
            </a:r>
            <a:r>
              <a:rPr sz="1400" b="0" dirty="0">
                <a:solidFill>
                  <a:srgbClr val="555555"/>
                </a:solidFill>
                <a:latin typeface="Arial"/>
              </a:rPr>
              <a:t>13k SFT prompts</a:t>
            </a:r>
            <a:r>
              <a:rPr lang="en-US" sz="1400" b="0" dirty="0">
                <a:solidFill>
                  <a:srgbClr val="555555"/>
                </a:solidFill>
                <a:latin typeface="Arial"/>
              </a:rPr>
              <a:t>. </a:t>
            </a:r>
            <a:r>
              <a:rPr lang="en-US" sz="1400" dirty="0" b="0">
                <a:solidFill>
                  <a:srgbClr val="555555"/>
                </a:solidFill>
                <a:latin typeface="Arial"/>
              </a:rPr>
              <a:t>Diversity across behaviors matters more than volume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55000"/>
            <a:ext cx="832104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SFT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85000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30000" y="995000"/>
            <a:ext cx="76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20" b="1">
                <a:solidFill>
                  <a:srgbClr val="005587"/>
                </a:solidFill>
                <a:latin typeface="Whitney Bold"/>
              </a:rPr>
              <a:t>Input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20000" y="119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0000" y="132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0000" y="146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0000" y="160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0000" y="174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0000" y="188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helpful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0000" y="201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0000" y="215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0000" y="229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20000" y="243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Why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0000" y="257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0000" y="270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0000" y="284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sky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0000" y="298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blue?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0000" y="312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0000" y="326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0000" y="3398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Sunlight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0000" y="3536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scatters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0000" y="3674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20000" y="3812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20000" y="3950000"/>
            <a:ext cx="1160000" cy="138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molecules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0000" y="995000"/>
            <a:ext cx="1300000" cy="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20" b="1">
                <a:solidFill>
                  <a:srgbClr val="005587"/>
                </a:solidFill>
                <a:latin typeface="Whitney Bold"/>
              </a:rPr>
              <a:t>Next-token predictions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0000" y="119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0000" y="132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0000" y="146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00000" y="160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0000" y="174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helpful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00000" y="188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00000" y="201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00000" y="215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user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00000" y="229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Why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00000" y="243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00000" y="257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the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00000" y="270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sky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0000" y="284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blue?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00000" y="298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&lt;|start|&gt;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00000" y="312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assistant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00000" y="326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Sunlight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00000" y="3398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scatters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00000" y="3536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00000" y="3674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air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00000" y="3812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molecules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00000" y="3950000"/>
            <a:ext cx="1250000" cy="138000"/>
          </a:xfrm>
          <a:prstGeom prst="rect">
            <a:avLst/>
          </a:prstGeom>
          <a:solidFill>
            <a:srgbClr val="EEEEEE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wrap="square"/>
          <a:lstStyle/>
          <a:p>
            <a:pPr algn="ctr"/>
            <a:r>
              <a:rPr sz="919" b="0">
                <a:solidFill>
                  <a:srgbClr val="000000"/>
                </a:solidFill>
                <a:latin typeface="Arial"/>
              </a:rPr>
              <a:t>...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80000" y="2200000"/>
            <a:ext cx="1850000" cy="1180000"/>
          </a:xfrm>
          <a:prstGeom prst="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650" b="1">
                <a:solidFill>
                  <a:srgbClr val="005587"/>
                </a:solidFill>
                <a:latin typeface="Whitney Bold"/>
              </a:rPr>
              <a:t>Transformer
(LLM)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550000" y="2780000"/>
            <a:ext cx="65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210000" y="2780000"/>
            <a:ext cx="590000" cy="0"/>
          </a:xfrm>
          <a:prstGeom prst="line">
            <a:avLst/>
          </a:prstGeom>
          <a:ln w="1397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80000" y="119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390000" y="1190000"/>
            <a:ext cx="0" cy="2070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80000" y="3260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390000" y="3260000"/>
            <a:ext cx="0" cy="82800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280000" y="4088000"/>
            <a:ext cx="110000" cy="0"/>
          </a:xfrm>
          <a:prstGeom prst="line">
            <a:avLst/>
          </a:prstGeom>
          <a:ln w="127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630001" y="2040818"/>
            <a:ext cx="90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005587"/>
                </a:solidFill>
                <a:latin typeface="Whitney Bold"/>
              </a:rPr>
              <a:t>loss ignored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14518" y="3488335"/>
            <a:ext cx="133473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 dirty="0">
                <a:solidFill>
                  <a:srgbClr val="005587"/>
                </a:solidFill>
                <a:latin typeface="Whitney Bold"/>
              </a:rPr>
              <a:t>assistant response </a:t>
            </a:r>
            <a:r>
              <a:rPr sz="1000" b="1" dirty="0">
                <a:solidFill>
                  <a:srgbClr val="005587"/>
                </a:solidFill>
                <a:latin typeface="Whitney Bold"/>
              </a:rPr>
              <a:t>loss counted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4607588"/>
            <a:ext cx="773324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dirty="0" b="0">
                <a:solidFill>
                  <a:srgbClr val="555555"/>
                </a:solidFill>
                <a:latin typeface="Arial"/>
              </a:rPr>
              <a:t>Special tokens like &lt;|start|&gt; (and others) help guide the LLM toward question-answer behavior</a:t>
            </a:r>
            <a:endParaRPr sz="14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After SFT: A Helpful Assistant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30453"/>
            <a:ext cx="8229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cancel my Netflix subscription?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920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Whitney Bold"/>
              </a:rPr>
              <a:t> (after SFT)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: 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Sign in at </a:t>
            </a:r>
            <a:r>
              <a:rPr sz="1200" b="1" dirty="0" err="1">
                <a:solidFill>
                  <a:srgbClr val="005587"/>
                </a:solidFill>
                <a:latin typeface="Whitney Bold"/>
              </a:rPr>
              <a:t>netflix.com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, click your profile picture, choose Account, and click Cancel Membership. Your access continues until the end of the billing period.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011" y="2612606"/>
            <a:ext cx="8229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User: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I'm thinking about quitting my job to start a company. Should 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011" y="3605623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Whitney Bold"/>
              </a:rPr>
              <a:t> (after SFT)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: 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It depends on a few things: how much runway do you have, what's the idea, and is there something specific making you want to leave now? Happy to think through it with you.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F09B6-EC52-3D94-B0FC-2F9BC9565F91}"/>
              </a:ext>
            </a:extLst>
          </p:cNvPr>
          <p:cNvSpPr txBox="1"/>
          <p:nvPr/>
        </p:nvSpPr>
        <p:spPr>
          <a:xfrm>
            <a:off x="457200" y="1461598"/>
            <a:ext cx="82296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Whitney Bold"/>
              </a:rPr>
              <a:t> (before SFT)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How do I change my plan? How do I update my payment method? Can I pause my account? How do I delete a profile?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7B7B3-62F1-9472-BBF5-E37E097972DF}"/>
              </a:ext>
            </a:extLst>
          </p:cNvPr>
          <p:cNvSpPr txBox="1"/>
          <p:nvPr/>
        </p:nvSpPr>
        <p:spPr>
          <a:xfrm>
            <a:off x="399011" y="2939837"/>
            <a:ext cx="82296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5587"/>
                </a:solidFill>
                <a:latin typeface="Whitney Bold"/>
              </a:rPr>
              <a:t>Model</a:t>
            </a:r>
            <a:r>
              <a:rPr lang="en-US" sz="1200" b="1" dirty="0">
                <a:solidFill>
                  <a:srgbClr val="005587"/>
                </a:solidFill>
                <a:latin typeface="Whitney Bold"/>
              </a:rPr>
              <a:t> (before SFT)</a:t>
            </a:r>
            <a:r>
              <a:rPr sz="1200" b="1" dirty="0">
                <a:solidFill>
                  <a:srgbClr val="005587"/>
                </a:solidFill>
                <a:latin typeface="Whitney Bold"/>
              </a:rPr>
              <a:t>: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Posted 3 hours ago by ThrowawayUser42 in r/Entrepreneur. 312 upvotes, 47 comments. Top reply by VCpartner_42: Don't quit without runway. I learned this the hard way in 2014, when I burned through savings before...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59D4B-4749-A520-6AD5-18346F9878C2}"/>
              </a:ext>
            </a:extLst>
          </p:cNvPr>
          <p:cNvSpPr txBox="1"/>
          <p:nvPr/>
        </p:nvSpPr>
        <p:spPr>
          <a:xfrm>
            <a:off x="399011" y="4218478"/>
            <a:ext cx="7812644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latin typeface="Arial"/>
              </a:rPr>
              <a:t>Same transformer architecture, backprop, and next-token prediction loss</a:t>
            </a:r>
          </a:p>
          <a:p>
            <a:endParaRPr lang="en-US" sz="1400" dirty="0">
              <a:latin typeface="Arial"/>
            </a:endParaRPr>
          </a:p>
          <a:p>
            <a:r>
              <a:rPr lang="en-US" sz="1400" b="0" dirty="0">
                <a:solidFill>
                  <a:srgbClr val="000000"/>
                </a:solidFill>
                <a:latin typeface="Arial"/>
              </a:rPr>
              <a:t>New </a:t>
            </a:r>
            <a:r>
              <a:rPr lang="en-US" sz="1400" dirty="0" b="0">
                <a:solidFill>
                  <a:srgbClr val="000000"/>
                </a:solidFill>
                <a:latin typeface="Arial"/>
              </a:rPr>
              <a:t>behavior is entirely due to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 updated weights through improved training</a:t>
            </a:r>
            <a:endParaRPr sz="1400" b="0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Limitations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of S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upervised Fine-Tuning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30F19F4-E584-9167-2C28-E27823495C5B}"/>
              </a:ext>
            </a:extLst>
          </p:cNvPr>
          <p:cNvSpPr txBox="1"/>
          <p:nvPr/>
        </p:nvSpPr>
        <p:spPr>
          <a:xfrm>
            <a:off x="457200" y="1116784"/>
            <a:ext cx="8029034" cy="34753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SFT has limitations, some related to overfitting 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5587"/>
                </a:solidFill>
                <a:latin typeface="Whitney Bold"/>
              </a:rPr>
              <a:t>Catastrophic forgetting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: Updating weights too aggressively (e.g., large step sizes or too many epochs) risks destroying the knowledge carried in the weights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5587"/>
                </a:solidFill>
                <a:latin typeface="Whitney Bold"/>
              </a:rPr>
              <a:t>Style drift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: May overfit to training examples and lose previous style / tone (become too verbose, too formal, </a:t>
            </a:r>
            <a:r>
              <a:rPr lang="en-US" dirty="0" err="1" b="0">
                <a:solidFill>
                  <a:srgbClr val="000000"/>
                </a:solidFill>
                <a:latin typeface="Arial"/>
              </a:rPr>
              <a:t>etc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)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b="1" dirty="0">
                <a:solidFill>
                  <a:srgbClr val="005587"/>
                </a:solidFill>
                <a:latin typeface="Whitney Bold"/>
              </a:rPr>
              <a:t>Can’t shape preferences: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SFT teaches the LLM to be an assistant, but not all answers are equally helpful. How do we “teach” the LLM what kind </a:t>
            </a:r>
            <a:r>
              <a:rPr lang="en-US" b="0">
                <a:solidFill>
                  <a:srgbClr val="000000"/>
                </a:solidFill>
                <a:latin typeface="Arial"/>
              </a:rPr>
              <a:t>of answers we want? </a:t>
            </a:r>
            <a:br>
              <a:rPr lang="en-US" b="1" dirty="0">
                <a:solidFill>
                  <a:srgbClr val="000000"/>
                </a:solidFill>
                <a:latin typeface="Arial"/>
              </a:rPr>
            </a:br>
            <a:endParaRPr lang="en-US" sz="1700" b="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Not all answers are equally desirable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1187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Whitney Bold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01187"/>
            <a:ext cx="7360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Q: Can a premium subscriber get a refund after 45 days?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9379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12083"/>
            <a:ext cx="38404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005587"/>
                </a:solidFill>
                <a:latin typeface="Whitney Bold"/>
              </a:rPr>
              <a:t>Answer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No. Refunds are only allowed within 30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49379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512083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2E7D32"/>
                </a:solidFill>
                <a:latin typeface="Whitney Bold"/>
              </a:rPr>
              <a:t>Answer B: preferred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69496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Yes. The general window is 30 days, but premium subscribers have 60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298467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Whitney Bold"/>
              </a:rPr>
              <a:t>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298467"/>
            <a:ext cx="7360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Q: Compare the iPhone 16 and Pixel 9 in a short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9107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2609363"/>
            <a:ext cx="38404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005587"/>
                </a:solidFill>
                <a:latin typeface="Whitney Bold"/>
              </a:rPr>
              <a:t>Answer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Well, the iPhone has a great camera, and the Pixel also has good AI features and the battery is okay too...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59107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609363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Whitney Bold"/>
              </a:rPr>
              <a:t>Answer B: preferred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792243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| Feature | iPhone 16 | Pixel 9 |
| Camera | 48MP main | 50MP main |
| AI | Apple Intel. | Gemini Nano |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solidFill>
            <a:srgbClr val="EEF3F8"/>
          </a:solidFill>
          <a:ln w="635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395746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5587"/>
                </a:solidFill>
                <a:latin typeface="Whitney Bold"/>
              </a:rPr>
              <a:t>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395746"/>
            <a:ext cx="7360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Q: Write a message that pretends to be from my bank to scare my friend.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88355"/>
            <a:ext cx="4069080" cy="713232"/>
          </a:xfrm>
          <a:prstGeom prst="rect">
            <a:avLst/>
          </a:prstGeom>
          <a:solidFill>
            <a:srgbClr val="FAE8E5"/>
          </a:solidFill>
          <a:ln w="7620">
            <a:solidFill>
              <a:srgbClr val="C1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3706642"/>
            <a:ext cx="38404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dirty="0">
                <a:solidFill>
                  <a:srgbClr val="005587"/>
                </a:solidFill>
                <a:latin typeface="Whitney Bold"/>
              </a:rPr>
              <a:t>Answer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Sure! Here is a fake fraud-alert message you can send: 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20" y="3688355"/>
            <a:ext cx="4069080" cy="713232"/>
          </a:xfrm>
          <a:prstGeom prst="rect">
            <a:avLst/>
          </a:prstGeom>
          <a:solidFill>
            <a:srgbClr val="E7F2E5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3706642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E7D32"/>
                </a:solidFill>
                <a:latin typeface="Whitney Bold"/>
              </a:rPr>
              <a:t>Answer B: preferred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889522"/>
            <a:ext cx="384048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I can't help create a deceptive message impersonating a bank. If this is for a security demo, I can suggest a clearly-labeled training example instead.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6880E-2385-3E25-5320-9D7D7CC75321}"/>
              </a:ext>
            </a:extLst>
          </p:cNvPr>
          <p:cNvSpPr txBox="1"/>
          <p:nvPr/>
        </p:nvSpPr>
        <p:spPr>
          <a:xfrm>
            <a:off x="457200" y="4584467"/>
            <a:ext cx="8927561" cy="296710"/>
          </a:xfrm>
          <a:prstGeom prst="rect">
            <a:avLst/>
          </a:prstGeom>
          <a:noFill/>
          <a:effectLst/>
        </p:spPr>
        <p:txBody>
          <a:bodyPr wrap="square" lIns="50000" tIns="25000" rIns="50000" bIns="25000" anchor="ctr">
            <a:spAutoFit/>
          </a:bodyPr>
          <a:lstStyle/>
          <a:p>
            <a:r>
              <a:rPr lang="en-US" sz="1600" dirty="0" b="0">
                <a:solidFill>
                  <a:srgbClr val="555555"/>
                </a:solidFill>
                <a:latin typeface="Arial"/>
              </a:rPr>
              <a:t>LLM behavior is tuned using </a:t>
            </a:r>
            <a:r>
              <a:rPr lang="en-US" sz="1600" b="1" dirty="0">
                <a:solidFill>
                  <a:srgbClr val="555555"/>
                </a:solidFill>
                <a:latin typeface="Arial"/>
              </a:rPr>
              <a:t>Reinforcement Learning with Human Feedback (RLHF)</a:t>
            </a:r>
            <a:endParaRPr sz="1400" b="1" dirty="0">
              <a:solidFill>
                <a:srgbClr val="003C7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05807" y="2250884"/>
            <a:ext cx="1900000" cy="10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500" b="1" dirty="0">
                <a:solidFill>
                  <a:srgbClr val="005587"/>
                </a:solidFill>
                <a:latin typeface="Whitney Bold"/>
              </a:rPr>
              <a:t>Question</a:t>
            </a:r>
          </a:p>
          <a:p>
            <a:pPr algn="ctr"/>
            <a:r>
              <a:rPr lang="en-US" sz="1400" b="0" dirty="0">
                <a:solidFill>
                  <a:srgbClr val="000000"/>
                </a:solidFill>
                <a:latin typeface="Arial"/>
              </a:rPr>
              <a:t>"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Can I get a refund 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after</a:t>
            </a:r>
            <a:r>
              <a:rPr sz="1400" b="0" dirty="0">
                <a:solidFill>
                  <a:srgbClr val="000000"/>
                </a:solidFill>
                <a:latin typeface="Arial"/>
              </a:rPr>
              <a:t> 15 days</a:t>
            </a:r>
            <a:r>
              <a:rPr lang="en-US" sz="1400" b="0" dirty="0">
                <a:solidFill>
                  <a:srgbClr val="000000"/>
                </a:solidFill>
                <a:latin typeface="Arial"/>
              </a:rPr>
              <a:t>?"</a:t>
            </a:r>
            <a:endParaRPr sz="12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50000" y="137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“Sure.”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9999" y="137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Whitney Bold"/>
              </a:rPr>
              <a:t>+1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0000" y="215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B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“I think so, but you should check the policy.”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9999" y="215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 dirty="0">
                <a:solidFill>
                  <a:srgbClr val="005587"/>
                </a:solidFill>
                <a:latin typeface="Whitney Bold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0000" y="293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/>
              </a:rPr>
              <a:t>Response C</a:t>
            </a:r>
          </a:p>
          <a:p>
            <a:pPr algn="ctr"/>
            <a:r>
              <a:rPr sz="1300" b="0" dirty="0">
                <a:solidFill>
                  <a:srgbClr val="000000"/>
                </a:solidFill>
                <a:latin typeface="Arial"/>
              </a:rPr>
              <a:t>“Yes. Refunds are available within 30 days.”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9999" y="293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 dirty="0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 dirty="0">
                <a:solidFill>
                  <a:srgbClr val="2E7D32"/>
                </a:solidFill>
                <a:latin typeface="Whitney Bold"/>
              </a:rPr>
              <a:t>+2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0000" y="3715000"/>
            <a:ext cx="4200000" cy="45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Response D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Arial"/>
              </a:rPr>
              <a:t>“No. Refunds are never allowed.”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9999" y="3715000"/>
            <a:ext cx="1254415" cy="45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200" b="1">
                <a:solidFill>
                  <a:srgbClr val="005587"/>
                </a:solidFill>
                <a:latin typeface="Whitney Bold"/>
              </a:rPr>
              <a:t>Human score</a:t>
            </a:r>
          </a:p>
          <a:p>
            <a:pPr algn="ctr"/>
            <a:r>
              <a:rPr sz="2000" b="1">
                <a:solidFill>
                  <a:srgbClr val="B82525"/>
                </a:solidFill>
                <a:latin typeface="Whitney Bold"/>
              </a:rPr>
              <a:t>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45000"/>
            <a:ext cx="6885218" cy="5232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1: Humans Score Candidate Responses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5000"/>
            <a:ext cx="8321040" cy="480000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Step 2: Train the Scoring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Model</a:t>
            </a:r>
            <a:endParaRPr sz="13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000" y="1280000"/>
            <a:ext cx="21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Training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000" y="160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A</a:t>
            </a:r>
            <a:r>
              <a:rPr lang="en-US" sz="1400" b="1" dirty="0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, +1</a:t>
            </a:r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12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B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, 0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4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000" y="264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>
                <a:solidFill>
                  <a:srgbClr val="2E7D32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C, +2)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3160000"/>
            <a:ext cx="2600000" cy="39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400" b="1">
                <a:solidFill>
                  <a:srgbClr val="B82525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Response D, -2)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3270000" y="2580000"/>
            <a:ext cx="404225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0000" y="4171864"/>
            <a:ext cx="7460767" cy="542931"/>
          </a:xfrm>
          <a:prstGeom prst="rect">
            <a:avLst/>
          </a:prstGeom>
          <a:noFill/>
        </p:spPr>
        <p:txBody>
          <a:bodyPr wrap="square" lIns="50000" tIns="25000" rIns="50000" bIns="25000" anchor="ctr">
            <a:spAutoFit/>
          </a:bodyPr>
          <a:lstStyle/>
          <a:p>
            <a:r>
              <a:rPr sz="1600" b="0" dirty="0">
                <a:solidFill>
                  <a:srgbClr val="000000"/>
                </a:solidFill>
                <a:latin typeface="Arial"/>
              </a:rPr>
              <a:t>The scoring 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model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learns to approximate human scores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. Allows scaling to arbitrarily large number of (Question, Response) pairs without needing humans</a:t>
            </a:r>
            <a:endParaRPr sz="1400" dirty="0">
              <a:solidFill>
                <a:srgbClr val="003C7D"/>
              </a:solidFill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FBDA78-BADE-A089-43EA-577DD8E41148}"/>
              </a:ext>
            </a:extLst>
          </p:cNvPr>
          <p:cNvGrpSpPr/>
          <p:nvPr/>
        </p:nvGrpSpPr>
        <p:grpSpPr>
          <a:xfrm>
            <a:off x="3747432" y="1850000"/>
            <a:ext cx="2252567" cy="1450000"/>
            <a:chOff x="3747432" y="1850000"/>
            <a:chExt cx="2252567" cy="1450000"/>
          </a:xfrm>
        </p:grpSpPr>
        <p:sp>
          <p:nvSpPr>
            <p:cNvPr id="16" name="Rounded Rectangle 15"/>
            <p:cNvSpPr/>
            <p:nvPr/>
          </p:nvSpPr>
          <p:spPr>
            <a:xfrm>
              <a:off x="3785137" y="1850000"/>
              <a:ext cx="2214862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Oval 34"/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Oval 35"/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36"/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Oval 37"/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39"/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747432" y="2512807"/>
              <a:ext cx="520000" cy="16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input:</a:t>
              </a:r>
            </a:p>
            <a:p>
              <a:pPr algn="ctr"/>
              <a:r>
                <a:rPr sz="850" b="0" dirty="0">
                  <a:solidFill>
                    <a:srgbClr val="000000"/>
                  </a:solidFill>
                  <a:latin typeface="Arial"/>
                </a:rPr>
                <a:t>(Q, R)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A91432-9C38-6CE6-879F-3E1434EC009F}"/>
                </a:ext>
              </a:extLst>
            </p:cNvPr>
            <p:cNvSpPr txBox="1"/>
            <p:nvPr/>
          </p:nvSpPr>
          <p:spPr>
            <a:xfrm>
              <a:off x="5479998" y="2520189"/>
              <a:ext cx="520000" cy="26161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850" dirty="0" b="0">
                  <a:solidFill>
                    <a:srgbClr val="000000"/>
                  </a:solidFill>
                  <a:latin typeface="Arial"/>
                </a:rPr>
                <a:t>output:</a:t>
              </a:r>
              <a:br>
                <a:rPr lang="en-US" sz="850" dirty="0">
                  <a:solidFill>
                    <a:srgbClr val="000000"/>
                  </a:solidFill>
                  <a:latin typeface="Arial"/>
                </a:rPr>
              </a:br>
              <a:r>
                <a:rPr lang="en-US" sz="850" dirty="0" b="0">
                  <a:solidFill>
                    <a:srgbClr val="000000"/>
                  </a:solidFill>
                  <a:latin typeface="Arial"/>
                </a:rPr>
                <a:t>score</a:t>
              </a:r>
              <a:endParaRPr sz="850" b="0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" name="Rectangle 41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3999" y="2071418"/>
            <a:ext cx="263376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dirty="0">
                <a:solidFill>
                  <a:srgbClr val="000000"/>
                </a:solidFill>
                <a:latin typeface="Arial"/>
              </a:rPr>
              <a:t>Human-scored examples become training data for</a:t>
            </a:r>
            <a:r>
              <a:rPr lang="en-US" sz="1700" b="0" dirty="0">
                <a:solidFill>
                  <a:srgbClr val="000000"/>
                </a:solidFill>
                <a:latin typeface="Arial"/>
              </a:rPr>
              <a:t> scoring model</a:t>
            </a:r>
            <a:endParaRPr sz="1700" b="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3307" y="214570"/>
            <a:ext cx="8321040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sz="2800" b="1" dirty="0">
                <a:solidFill>
                  <a:srgbClr val="005587"/>
                </a:solidFill>
                <a:latin typeface="Whitney Bold"/>
              </a:rPr>
              <a:t>Step 3: Fine-Tune the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0000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94317" y="1008717"/>
            <a:ext cx="8686800" cy="246221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dirty="0">
                <a:solidFill>
                  <a:srgbClr val="000000"/>
                </a:solidFill>
                <a:latin typeface="Arial"/>
              </a:rPr>
              <a:t>Generate many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new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 (Q, R) pairs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and score them using the trained scoring model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069" y="3354484"/>
            <a:ext cx="6465271" cy="246221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latin typeface="Arial"/>
              </a:rPr>
              <a:t>Then use same (Q, R) pairs and </a:t>
            </a:r>
            <a:r>
              <a:rPr lang="en-US" sz="1600" dirty="0" b="0">
                <a:solidFill>
                  <a:srgbClr val="000000"/>
                </a:solidFill>
                <a:latin typeface="Arial"/>
              </a:rPr>
              <a:t>their 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scores to f</a:t>
            </a:r>
            <a:r>
              <a:rPr sz="1600" b="0" dirty="0">
                <a:solidFill>
                  <a:srgbClr val="000000"/>
                </a:solidFill>
                <a:latin typeface="Arial"/>
              </a:rPr>
              <a:t>ine-tune</a:t>
            </a:r>
            <a:r>
              <a:rPr lang="en-US" sz="1600" b="0" dirty="0">
                <a:solidFill>
                  <a:srgbClr val="000000"/>
                </a:solidFill>
                <a:latin typeface="Arial"/>
              </a:rPr>
              <a:t> LLM weights</a:t>
            </a:r>
            <a:endParaRPr sz="16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95069" y="1742073"/>
            <a:ext cx="1555173" cy="102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4364598" y="2180961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7659" y="2025961"/>
            <a:ext cx="1780000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76543" y="3802656"/>
            <a:ext cx="1850000" cy="110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2200" b="1" dirty="0">
                <a:solidFill>
                  <a:srgbClr val="005587"/>
                </a:solidFill>
                <a:latin typeface="Whitney Bold"/>
              </a:rPr>
              <a:t>LLM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A11B90D-0350-3588-A50E-E4134056C943}"/>
              </a:ext>
            </a:extLst>
          </p:cNvPr>
          <p:cNvSpPr/>
          <p:nvPr/>
        </p:nvSpPr>
        <p:spPr>
          <a:xfrm>
            <a:off x="5524065" y="2063697"/>
            <a:ext cx="715102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25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160CE0-E1FF-6534-7B87-8E62BD218884}"/>
              </a:ext>
            </a:extLst>
          </p:cNvPr>
          <p:cNvGrpSpPr/>
          <p:nvPr/>
        </p:nvGrpSpPr>
        <p:grpSpPr>
          <a:xfrm>
            <a:off x="4878911" y="1473668"/>
            <a:ext cx="2064224" cy="1450000"/>
            <a:chOff x="3785137" y="1850000"/>
            <a:chExt cx="2064224" cy="1450000"/>
          </a:xfrm>
          <a:effectLst/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7981E6F4-B280-4915-4A04-7CE2AF1E49D2}"/>
                </a:ext>
              </a:extLst>
            </p:cNvPr>
            <p:cNvSpPr/>
            <p:nvPr/>
          </p:nvSpPr>
          <p:spPr>
            <a:xfrm>
              <a:off x="3785137" y="1850000"/>
              <a:ext cx="2064224" cy="1450000"/>
            </a:xfrm>
            <a:prstGeom prst="roundRect">
              <a:avLst/>
            </a:prstGeom>
            <a:solidFill>
              <a:srgbClr val="F2F7FB"/>
            </a:solidFill>
            <a:ln w="1270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1351DA-6B6B-D573-AC50-F05ADD655434}"/>
                </a:ext>
              </a:extLst>
            </p:cNvPr>
            <p:cNvSpPr txBox="1"/>
            <p:nvPr/>
          </p:nvSpPr>
          <p:spPr>
            <a:xfrm>
              <a:off x="3980000" y="1920000"/>
              <a:ext cx="174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180" b="1" dirty="0">
                  <a:solidFill>
                    <a:srgbClr val="005587"/>
                  </a:solidFill>
                  <a:latin typeface="Whitney Bold"/>
                </a:rPr>
                <a:t>Scoring </a:t>
              </a:r>
              <a:r>
                <a:rPr lang="en-US" sz="1180" b="1" dirty="0">
                  <a:solidFill>
                    <a:srgbClr val="005587"/>
                  </a:solidFill>
                  <a:latin typeface="Whitney Bold"/>
                </a:rPr>
                <a:t>model</a:t>
              </a:r>
              <a:endParaRPr sz="1180" b="1" dirty="0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34" name="Connector 17">
              <a:extLst>
                <a:ext uri="{FF2B5EF4-FFF2-40B4-BE49-F238E27FC236}">
                  <a16:creationId xmlns:a16="http://schemas.microsoft.com/office/drawing/2014/main" id="{C3A318F7-C810-067B-CE69-F8858D8D6418}"/>
                </a:ext>
              </a:extLst>
            </p:cNvPr>
            <p:cNvCxnSpPr/>
            <p:nvPr/>
          </p:nvCxnSpPr>
          <p:spPr>
            <a:xfrm>
              <a:off x="4460000" y="234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18">
              <a:extLst>
                <a:ext uri="{FF2B5EF4-FFF2-40B4-BE49-F238E27FC236}">
                  <a16:creationId xmlns:a16="http://schemas.microsoft.com/office/drawing/2014/main" id="{626E21D0-01D5-40A1-D7FA-110F0C3351FF}"/>
                </a:ext>
              </a:extLst>
            </p:cNvPr>
            <p:cNvCxnSpPr/>
            <p:nvPr/>
          </p:nvCxnSpPr>
          <p:spPr>
            <a:xfrm>
              <a:off x="4460000" y="2343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19">
              <a:extLst>
                <a:ext uri="{FF2B5EF4-FFF2-40B4-BE49-F238E27FC236}">
                  <a16:creationId xmlns:a16="http://schemas.microsoft.com/office/drawing/2014/main" id="{C066B837-5C89-469E-BEBD-FB4EAE8CC206}"/>
                </a:ext>
              </a:extLst>
            </p:cNvPr>
            <p:cNvCxnSpPr/>
            <p:nvPr/>
          </p:nvCxnSpPr>
          <p:spPr>
            <a:xfrm>
              <a:off x="4460000" y="2343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20">
              <a:extLst>
                <a:ext uri="{FF2B5EF4-FFF2-40B4-BE49-F238E27FC236}">
                  <a16:creationId xmlns:a16="http://schemas.microsoft.com/office/drawing/2014/main" id="{41BDA423-BBCC-2488-21C2-15865262343D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21">
              <a:extLst>
                <a:ext uri="{FF2B5EF4-FFF2-40B4-BE49-F238E27FC236}">
                  <a16:creationId xmlns:a16="http://schemas.microsoft.com/office/drawing/2014/main" id="{FCC51258-9EF1-83DC-2377-7B83368F63A8}"/>
                </a:ext>
              </a:extLst>
            </p:cNvPr>
            <p:cNvCxnSpPr/>
            <p:nvPr/>
          </p:nvCxnSpPr>
          <p:spPr>
            <a:xfrm>
              <a:off x="4460000" y="2575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22">
              <a:extLst>
                <a:ext uri="{FF2B5EF4-FFF2-40B4-BE49-F238E27FC236}">
                  <a16:creationId xmlns:a16="http://schemas.microsoft.com/office/drawing/2014/main" id="{4A7B65ED-851C-9218-DF8B-75B6CF3CECE9}"/>
                </a:ext>
              </a:extLst>
            </p:cNvPr>
            <p:cNvCxnSpPr/>
            <p:nvPr/>
          </p:nvCxnSpPr>
          <p:spPr>
            <a:xfrm>
              <a:off x="4460000" y="2575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23">
              <a:extLst>
                <a:ext uri="{FF2B5EF4-FFF2-40B4-BE49-F238E27FC236}">
                  <a16:creationId xmlns:a16="http://schemas.microsoft.com/office/drawing/2014/main" id="{8A7A2173-9280-830B-164D-E7B12422C29E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24">
              <a:extLst>
                <a:ext uri="{FF2B5EF4-FFF2-40B4-BE49-F238E27FC236}">
                  <a16:creationId xmlns:a16="http://schemas.microsoft.com/office/drawing/2014/main" id="{B36B7A03-8E6F-C516-3808-436428D342A0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25">
              <a:extLst>
                <a:ext uri="{FF2B5EF4-FFF2-40B4-BE49-F238E27FC236}">
                  <a16:creationId xmlns:a16="http://schemas.microsoft.com/office/drawing/2014/main" id="{15AB94E0-08AD-000A-4B93-FCBDCBD51E32}"/>
                </a:ext>
              </a:extLst>
            </p:cNvPr>
            <p:cNvCxnSpPr/>
            <p:nvPr/>
          </p:nvCxnSpPr>
          <p:spPr>
            <a:xfrm>
              <a:off x="4460000" y="2807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26">
              <a:extLst>
                <a:ext uri="{FF2B5EF4-FFF2-40B4-BE49-F238E27FC236}">
                  <a16:creationId xmlns:a16="http://schemas.microsoft.com/office/drawing/2014/main" id="{24F01E8B-9BC6-DD81-1C4F-78BD9D25C502}"/>
                </a:ext>
              </a:extLst>
            </p:cNvPr>
            <p:cNvCxnSpPr/>
            <p:nvPr/>
          </p:nvCxnSpPr>
          <p:spPr>
            <a:xfrm flipV="1">
              <a:off x="4460000" y="2459000"/>
              <a:ext cx="343000" cy="580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27">
              <a:extLst>
                <a:ext uri="{FF2B5EF4-FFF2-40B4-BE49-F238E27FC236}">
                  <a16:creationId xmlns:a16="http://schemas.microsoft.com/office/drawing/2014/main" id="{3410F508-3371-CEB1-0DEF-5C8573E3A47C}"/>
                </a:ext>
              </a:extLst>
            </p:cNvPr>
            <p:cNvCxnSpPr/>
            <p:nvPr/>
          </p:nvCxnSpPr>
          <p:spPr>
            <a:xfrm flipV="1">
              <a:off x="4460000" y="2691000"/>
              <a:ext cx="343000" cy="348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8">
              <a:extLst>
                <a:ext uri="{FF2B5EF4-FFF2-40B4-BE49-F238E27FC236}">
                  <a16:creationId xmlns:a16="http://schemas.microsoft.com/office/drawing/2014/main" id="{D201EFB5-498C-B9CD-0D77-10BF4508923E}"/>
                </a:ext>
              </a:extLst>
            </p:cNvPr>
            <p:cNvCxnSpPr/>
            <p:nvPr/>
          </p:nvCxnSpPr>
          <p:spPr>
            <a:xfrm flipV="1">
              <a:off x="4460000" y="2923000"/>
              <a:ext cx="343000" cy="116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29">
              <a:extLst>
                <a:ext uri="{FF2B5EF4-FFF2-40B4-BE49-F238E27FC236}">
                  <a16:creationId xmlns:a16="http://schemas.microsoft.com/office/drawing/2014/main" id="{94BD13D8-C308-547E-A072-EDEB0797152D}"/>
                </a:ext>
              </a:extLst>
            </p:cNvPr>
            <p:cNvCxnSpPr/>
            <p:nvPr/>
          </p:nvCxnSpPr>
          <p:spPr>
            <a:xfrm>
              <a:off x="4973000" y="2459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30">
              <a:extLst>
                <a:ext uri="{FF2B5EF4-FFF2-40B4-BE49-F238E27FC236}">
                  <a16:creationId xmlns:a16="http://schemas.microsoft.com/office/drawing/2014/main" id="{CF57FF5E-D883-D6CC-ECBC-5B7F3C6C110C}"/>
                </a:ext>
              </a:extLst>
            </p:cNvPr>
            <p:cNvCxnSpPr/>
            <p:nvPr/>
          </p:nvCxnSpPr>
          <p:spPr>
            <a:xfrm>
              <a:off x="4973000" y="2691000"/>
              <a:ext cx="324000" cy="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31">
              <a:extLst>
                <a:ext uri="{FF2B5EF4-FFF2-40B4-BE49-F238E27FC236}">
                  <a16:creationId xmlns:a16="http://schemas.microsoft.com/office/drawing/2014/main" id="{2F31DBEE-DFAB-4AC3-107F-4BADB2F079C4}"/>
                </a:ext>
              </a:extLst>
            </p:cNvPr>
            <p:cNvCxnSpPr/>
            <p:nvPr/>
          </p:nvCxnSpPr>
          <p:spPr>
            <a:xfrm flipV="1">
              <a:off x="4973000" y="2691000"/>
              <a:ext cx="324000" cy="232000"/>
            </a:xfrm>
            <a:prstGeom prst="line">
              <a:avLst/>
            </a:prstGeom>
            <a:ln w="1143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1DC96B-D39F-AC3A-A93A-D7F7514F013F}"/>
                </a:ext>
              </a:extLst>
            </p:cNvPr>
            <p:cNvSpPr/>
            <p:nvPr/>
          </p:nvSpPr>
          <p:spPr>
            <a:xfrm>
              <a:off x="4290000" y="225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E34D31C-8EB6-1ACA-0ACF-C4C41E6A1914}"/>
                </a:ext>
              </a:extLst>
            </p:cNvPr>
            <p:cNvSpPr/>
            <p:nvPr/>
          </p:nvSpPr>
          <p:spPr>
            <a:xfrm>
              <a:off x="4290000" y="2490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5278AD8-749C-F5FA-9D7A-6C4A45BD2808}"/>
                </a:ext>
              </a:extLst>
            </p:cNvPr>
            <p:cNvSpPr/>
            <p:nvPr/>
          </p:nvSpPr>
          <p:spPr>
            <a:xfrm>
              <a:off x="4290000" y="2722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E4E1B4A-8464-D495-9A57-14FA4268D23D}"/>
                </a:ext>
              </a:extLst>
            </p:cNvPr>
            <p:cNvSpPr/>
            <p:nvPr/>
          </p:nvSpPr>
          <p:spPr>
            <a:xfrm>
              <a:off x="4290000" y="295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39FA041-5E8E-6B88-85C7-4C2D9A127A5B}"/>
                </a:ext>
              </a:extLst>
            </p:cNvPr>
            <p:cNvSpPr/>
            <p:nvPr/>
          </p:nvSpPr>
          <p:spPr>
            <a:xfrm>
              <a:off x="4803000" y="2374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2FC9497-9AD0-1CF2-8186-3A2C48FF4C3F}"/>
                </a:ext>
              </a:extLst>
            </p:cNvPr>
            <p:cNvSpPr/>
            <p:nvPr/>
          </p:nvSpPr>
          <p:spPr>
            <a:xfrm>
              <a:off x="4803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BA97BE4-3C86-E7DF-2A46-80A091FCABF1}"/>
                </a:ext>
              </a:extLst>
            </p:cNvPr>
            <p:cNvSpPr/>
            <p:nvPr/>
          </p:nvSpPr>
          <p:spPr>
            <a:xfrm>
              <a:off x="4803000" y="2838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DEF7BBB-1D68-B5E0-A1FF-BA8287110805}"/>
                </a:ext>
              </a:extLst>
            </p:cNvPr>
            <p:cNvSpPr/>
            <p:nvPr/>
          </p:nvSpPr>
          <p:spPr>
            <a:xfrm>
              <a:off x="5297000" y="2606000"/>
              <a:ext cx="170000" cy="170000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60" name="Connector 9">
            <a:extLst>
              <a:ext uri="{FF2B5EF4-FFF2-40B4-BE49-F238E27FC236}">
                <a16:creationId xmlns:a16="http://schemas.microsoft.com/office/drawing/2014/main" id="{2C01AC85-BC7D-A703-F95D-709D564D14E8}"/>
              </a:ext>
            </a:extLst>
          </p:cNvPr>
          <p:cNvCxnSpPr>
            <a:cxnSpLocks/>
          </p:cNvCxnSpPr>
          <p:nvPr/>
        </p:nvCxnSpPr>
        <p:spPr>
          <a:xfrm>
            <a:off x="7142921" y="2180961"/>
            <a:ext cx="312588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9">
            <a:extLst>
              <a:ext uri="{FF2B5EF4-FFF2-40B4-BE49-F238E27FC236}">
                <a16:creationId xmlns:a16="http://schemas.microsoft.com/office/drawing/2014/main" id="{6B89A3C3-B522-F906-6702-21A5CB4D988C}"/>
              </a:ext>
            </a:extLst>
          </p:cNvPr>
          <p:cNvCxnSpPr>
            <a:cxnSpLocks/>
          </p:cNvCxnSpPr>
          <p:nvPr/>
        </p:nvCxnSpPr>
        <p:spPr>
          <a:xfrm>
            <a:off x="2019701" y="2185865"/>
            <a:ext cx="383094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3A39E6-2D55-220B-0CE7-B25D430956A1}"/>
              </a:ext>
            </a:extLst>
          </p:cNvPr>
          <p:cNvSpPr/>
          <p:nvPr/>
        </p:nvSpPr>
        <p:spPr>
          <a:xfrm>
            <a:off x="7780110" y="1973668"/>
            <a:ext cx="53321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s</a:t>
            </a:r>
            <a:endParaRPr sz="2000" b="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11750E-E6B4-60CD-101F-1E4FDD8788B5}"/>
              </a:ext>
            </a:extLst>
          </p:cNvPr>
          <p:cNvSpPr/>
          <p:nvPr/>
        </p:nvSpPr>
        <p:spPr>
          <a:xfrm>
            <a:off x="5468774" y="4179494"/>
            <a:ext cx="3123709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Loss = -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x log P(R | Q)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nector 9">
            <a:extLst>
              <a:ext uri="{FF2B5EF4-FFF2-40B4-BE49-F238E27FC236}">
                <a16:creationId xmlns:a16="http://schemas.microsoft.com/office/drawing/2014/main" id="{2630A1A8-4F97-CADC-9BC3-EB9E227E38B2}"/>
              </a:ext>
            </a:extLst>
          </p:cNvPr>
          <p:cNvCxnSpPr>
            <a:cxnSpLocks/>
          </p:cNvCxnSpPr>
          <p:nvPr/>
        </p:nvCxnSpPr>
        <p:spPr>
          <a:xfrm flipH="1">
            <a:off x="6941675" y="2395143"/>
            <a:ext cx="1049282" cy="1716654"/>
          </a:xfrm>
          <a:prstGeom prst="line">
            <a:avLst/>
          </a:prstGeom>
          <a:ln w="11430">
            <a:solidFill>
              <a:schemeClr val="accent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9">
            <a:extLst>
              <a:ext uri="{FF2B5EF4-FFF2-40B4-BE49-F238E27FC236}">
                <a16:creationId xmlns:a16="http://schemas.microsoft.com/office/drawing/2014/main" id="{9906A0AE-DB5E-3FA2-1569-7807B9D4273B}"/>
              </a:ext>
            </a:extLst>
          </p:cNvPr>
          <p:cNvCxnSpPr>
            <a:cxnSpLocks/>
          </p:cNvCxnSpPr>
          <p:nvPr/>
        </p:nvCxnSpPr>
        <p:spPr>
          <a:xfrm>
            <a:off x="2757181" y="4302322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D7CFA0-E848-0E72-17F4-272D3897F0FE}"/>
              </a:ext>
            </a:extLst>
          </p:cNvPr>
          <p:cNvSpPr/>
          <p:nvPr/>
        </p:nvSpPr>
        <p:spPr>
          <a:xfrm>
            <a:off x="1680328" y="4147322"/>
            <a:ext cx="991853" cy="31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(Q, R</a:t>
            </a:r>
            <a:r>
              <a:rPr lang="en-US" sz="13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)</a:t>
            </a:r>
            <a:endParaRPr sz="125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nector 9">
            <a:extLst>
              <a:ext uri="{FF2B5EF4-FFF2-40B4-BE49-F238E27FC236}">
                <a16:creationId xmlns:a16="http://schemas.microsoft.com/office/drawing/2014/main" id="{E1037B31-B0B6-749B-909D-12B1BF447784}"/>
              </a:ext>
            </a:extLst>
          </p:cNvPr>
          <p:cNvCxnSpPr>
            <a:cxnSpLocks/>
          </p:cNvCxnSpPr>
          <p:nvPr/>
        </p:nvCxnSpPr>
        <p:spPr>
          <a:xfrm>
            <a:off x="5074545" y="4352656"/>
            <a:ext cx="309229" cy="0"/>
          </a:xfrm>
          <a:prstGeom prst="line">
            <a:avLst/>
          </a:prstGeom>
          <a:ln w="11430">
            <a:solidFill>
              <a:srgbClr val="003C7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C730052-1688-4287-BB15-D72EB1EDE158}"/>
              </a:ext>
            </a:extLst>
          </p:cNvPr>
          <p:cNvSpPr txBox="1"/>
          <p:nvPr/>
        </p:nvSpPr>
        <p:spPr>
          <a:xfrm>
            <a:off x="5572844" y="4614108"/>
            <a:ext cx="3371839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r>
              <a:rPr lang="en-US" sz="1400" dirty="0" b="0">
                <a:solidFill>
                  <a:srgbClr val="555555"/>
                </a:solidFill>
                <a:latin typeface="Arial"/>
              </a:rPr>
              <a:t>Score rewards (if positive) or penalizes (if negative) generated response</a:t>
            </a:r>
            <a:endParaRPr sz="11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 animBg="1"/>
      <p:bldP spid="15" grpId="0" animBg="1"/>
      <p:bldP spid="23" grpId="0" animBg="1"/>
      <p:bldP spid="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5DE1A-415C-8FA0-328E-98B57F6ED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75B538-C196-2191-B0F8-7FB3060C3A2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199F5-B000-A1B9-97FD-8A1BB98B0A53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Summary: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How a Frontier Lab Builds an Assistant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AB21C4F-CCB8-5BA7-5E76-1906A3EBAE45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C91229-4B33-29D9-8A29-9882B491A47E}"/>
              </a:ext>
            </a:extLst>
          </p:cNvPr>
          <p:cNvSpPr/>
          <p:nvPr/>
        </p:nvSpPr>
        <p:spPr>
          <a:xfrm>
            <a:off x="36576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ABA2A-237A-1A0C-2C80-80CCC04ECC6C}"/>
              </a:ext>
            </a:extLst>
          </p:cNvPr>
          <p:cNvSpPr txBox="1"/>
          <p:nvPr/>
        </p:nvSpPr>
        <p:spPr>
          <a:xfrm>
            <a:off x="36576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/>
              </a:rPr>
              <a:t>Pre-training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57B55A-7CED-A91B-FD40-58EBB2769A2E}"/>
              </a:ext>
            </a:extLst>
          </p:cNvPr>
          <p:cNvSpPr txBox="1"/>
          <p:nvPr/>
        </p:nvSpPr>
        <p:spPr>
          <a:xfrm>
            <a:off x="45720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Trillions of tokens of
web text + books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34803DF-2909-D5F1-9A6F-6D11BC364B0A}"/>
              </a:ext>
            </a:extLst>
          </p:cNvPr>
          <p:cNvSpPr/>
          <p:nvPr/>
        </p:nvSpPr>
        <p:spPr>
          <a:xfrm>
            <a:off x="2514600" y="1777371"/>
            <a:ext cx="1965960" cy="879966"/>
          </a:xfrm>
          <a:prstGeom prst="rect">
            <a:avLst/>
          </a:prstGeom>
          <a:solidFill>
            <a:srgbClr val="EEF3F8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B41834-BD3B-FC61-BF86-CD1B7C342B1F}"/>
              </a:ext>
            </a:extLst>
          </p:cNvPr>
          <p:cNvSpPr txBox="1"/>
          <p:nvPr/>
        </p:nvSpPr>
        <p:spPr>
          <a:xfrm>
            <a:off x="2514600" y="1756480"/>
            <a:ext cx="1965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SFT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AC5A71-E956-4179-8252-9C058B2D87D3}"/>
              </a:ext>
            </a:extLst>
          </p:cNvPr>
          <p:cNvSpPr txBox="1"/>
          <p:nvPr/>
        </p:nvSpPr>
        <p:spPr>
          <a:xfrm>
            <a:off x="260604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~13k labeler-written
(prompt, ideal answer)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11B69D1-F118-C3F4-6DF6-B5A895819DB7}"/>
              </a:ext>
            </a:extLst>
          </p:cNvPr>
          <p:cNvSpPr/>
          <p:nvPr/>
        </p:nvSpPr>
        <p:spPr>
          <a:xfrm>
            <a:off x="466344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1158A1-F663-7DCB-D5A0-12F4DA638479}"/>
              </a:ext>
            </a:extLst>
          </p:cNvPr>
          <p:cNvSpPr txBox="1"/>
          <p:nvPr/>
        </p:nvSpPr>
        <p:spPr>
          <a:xfrm>
            <a:off x="466344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300" b="1" dirty="0">
                <a:solidFill>
                  <a:srgbClr val="005587"/>
                </a:solidFill>
                <a:latin typeface="Whitney Bold"/>
              </a:rPr>
              <a:t>Scoring Model</a:t>
            </a:r>
            <a:endParaRPr sz="13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FD185-2148-BBC2-5FCA-4986FB276A76}"/>
              </a:ext>
            </a:extLst>
          </p:cNvPr>
          <p:cNvSpPr txBox="1"/>
          <p:nvPr/>
        </p:nvSpPr>
        <p:spPr>
          <a:xfrm>
            <a:off x="475488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k preference pairs
(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Q, R, score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9DFC1E-E8CF-F526-9F91-193311407348}"/>
              </a:ext>
            </a:extLst>
          </p:cNvPr>
          <p:cNvSpPr/>
          <p:nvPr/>
        </p:nvSpPr>
        <p:spPr>
          <a:xfrm>
            <a:off x="6812280" y="1777371"/>
            <a:ext cx="1965960" cy="87996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D8C4A4-C02F-3D25-DD15-58DB817AB156}"/>
              </a:ext>
            </a:extLst>
          </p:cNvPr>
          <p:cNvSpPr txBox="1"/>
          <p:nvPr/>
        </p:nvSpPr>
        <p:spPr>
          <a:xfrm>
            <a:off x="6812280" y="1765734"/>
            <a:ext cx="196596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005587"/>
                </a:solidFill>
                <a:latin typeface="Whitney Bold"/>
              </a:rPr>
              <a:t>RLHF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0D2C8D-F802-1455-3533-A2BDB2EB4BCA}"/>
              </a:ext>
            </a:extLst>
          </p:cNvPr>
          <p:cNvSpPr txBox="1"/>
          <p:nvPr/>
        </p:nvSpPr>
        <p:spPr>
          <a:xfrm>
            <a:off x="6903720" y="2130552"/>
            <a:ext cx="1783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000000"/>
                </a:solidFill>
                <a:latin typeface="Arial"/>
              </a:rPr>
              <a:t>~3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0k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prompts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 and scores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cxnSp>
        <p:nvCxnSpPr>
          <p:cNvPr id="38" name="Connector 37">
            <a:extLst>
              <a:ext uri="{FF2B5EF4-FFF2-40B4-BE49-F238E27FC236}">
                <a16:creationId xmlns:a16="http://schemas.microsoft.com/office/drawing/2014/main" id="{B19FD3C7-1F15-2283-ED9B-0E387DC434C4}"/>
              </a:ext>
            </a:extLst>
          </p:cNvPr>
          <p:cNvCxnSpPr/>
          <p:nvPr/>
        </p:nvCxnSpPr>
        <p:spPr>
          <a:xfrm>
            <a:off x="235000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E151DB07-0FE0-2667-592F-54250AFDDD38}"/>
              </a:ext>
            </a:extLst>
          </p:cNvPr>
          <p:cNvCxnSpPr/>
          <p:nvPr/>
        </p:nvCxnSpPr>
        <p:spPr>
          <a:xfrm>
            <a:off x="449884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3E3E2671-59A5-8502-ADB9-4B6A7DA77DF9}"/>
              </a:ext>
            </a:extLst>
          </p:cNvPr>
          <p:cNvCxnSpPr/>
          <p:nvPr/>
        </p:nvCxnSpPr>
        <p:spPr>
          <a:xfrm>
            <a:off x="6647688" y="2308860"/>
            <a:ext cx="146304" cy="0"/>
          </a:xfrm>
          <a:prstGeom prst="line">
            <a:avLst/>
          </a:prstGeom>
          <a:ln w="254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275EC31-5949-0233-4C51-A3F7278D1DB7}"/>
              </a:ext>
            </a:extLst>
          </p:cNvPr>
          <p:cNvSpPr txBox="1"/>
          <p:nvPr/>
        </p:nvSpPr>
        <p:spPr>
          <a:xfrm>
            <a:off x="411480" y="3043718"/>
            <a:ext cx="832104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Same architecture all the way through.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Only difference is training data used and loss function</a:t>
            </a:r>
          </a:p>
          <a:p>
            <a:endParaRPr lang="en-US" dirty="0">
              <a:solidFill>
                <a:srgbClr val="1F1F1F"/>
              </a:solidFill>
              <a:latin typeface="Arial"/>
            </a:endParaRPr>
          </a:p>
          <a:p>
            <a:r>
              <a:rPr lang="en-US" b="0" dirty="0">
                <a:solidFill>
                  <a:srgbClr val="000000"/>
                </a:solidFill>
                <a:latin typeface="Arial"/>
              </a:rPr>
              <a:t>Values above from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InstructGPT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(ChatGPT </a:t>
            </a:r>
            <a:r>
              <a:rPr lang="en-US" b="0" dirty="0" err="1">
                <a:solidFill>
                  <a:srgbClr val="000000"/>
                </a:solidFill>
                <a:latin typeface="Arial"/>
              </a:rPr>
              <a:t>precedessor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)</a:t>
            </a:r>
            <a:endParaRPr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2934B7-4F68-DC02-3355-FCAB406B9409}"/>
              </a:ext>
            </a:extLst>
          </p:cNvPr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Arial"/>
              </a:rPr>
              <a:t>Approx. data sizes from Ouyang et al. (2022), InstructGPT.</a:t>
            </a:r>
          </a:p>
        </p:txBody>
      </p:sp>
    </p:spTree>
    <p:extLst>
      <p:ext uri="{BB962C8B-B14F-4D97-AF65-F5344CB8AC3E}">
        <p14:creationId xmlns:p14="http://schemas.microsoft.com/office/powerpoint/2010/main" val="1646167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FE7E-1266-DCDC-D9F2-0849D546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B10BB8-EDC6-68D0-4842-3A92493A8BB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 group of people working on computers&#10;&#10;AI-generated content may be incorrect.">
            <a:extLst>
              <a:ext uri="{FF2B5EF4-FFF2-40B4-BE49-F238E27FC236}">
                <a16:creationId xmlns:a16="http://schemas.microsoft.com/office/drawing/2014/main" id="{A4A49445-AABC-C134-C86E-F2C8F4E1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626" y="226952"/>
            <a:ext cx="6668352" cy="2872287"/>
          </a:xfrm>
          <a:prstGeom prst="rect">
            <a:avLst/>
          </a:prstGeom>
        </p:spPr>
      </p:pic>
      <p:pic>
        <p:nvPicPr>
          <p:cNvPr id="8" name="Picture 7" descr="A close-up of a sign&#10;&#10;AI-generated content may be incorrect.">
            <a:extLst>
              <a:ext uri="{FF2B5EF4-FFF2-40B4-BE49-F238E27FC236}">
                <a16:creationId xmlns:a16="http://schemas.microsoft.com/office/drawing/2014/main" id="{B43EF537-B033-7177-4208-6A7D8A912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263" y="3545774"/>
            <a:ext cx="6668355" cy="137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27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F7046FEC-B90C-EFB7-CFB1-3E7299B6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26" y="1355859"/>
            <a:ext cx="4214552" cy="2464853"/>
          </a:xfrm>
          <a:prstGeom prst="rect">
            <a:avLst/>
          </a:prstGeom>
        </p:spPr>
      </p:pic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3C9FA15F-D94F-6D0E-DAB9-C4B065771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18" y="1355859"/>
            <a:ext cx="4037341" cy="24247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97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8949-A0AA-F0E3-BB80-C878AF84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DF3FFB-40CE-96D3-D19D-779C13B3B0F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60D77-9ECA-6243-BEAC-450021E7F7B7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i="0" dirty="0">
                <a:solidFill>
                  <a:srgbClr val="005587"/>
                </a:solidFill>
                <a:latin typeface="Whitney Bold"/>
              </a:rPr>
              <a:t>Synthetic Data</a:t>
            </a:r>
            <a:endParaRPr sz="3600" b="1" i="0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3827551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Data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Curation (GPT-3)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data_curation_sankey.png">
            <a:extLst>
              <a:ext uri="{FF2B5EF4-FFF2-40B4-BE49-F238E27FC236}">
                <a16:creationId xmlns:a16="http://schemas.microsoft.com/office/drawing/2014/main" id="{8403021F-08D7-ADDF-53B4-D2667E67D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2" t="19656" r="-409" b="8398"/>
          <a:stretch>
            <a:fillRect/>
          </a:stretch>
        </p:blipFill>
        <p:spPr>
          <a:xfrm>
            <a:off x="643522" y="1347470"/>
            <a:ext cx="7948396" cy="33411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007FBE-185A-7037-D5AE-B0D85742B414}"/>
              </a:ext>
            </a:extLst>
          </p:cNvPr>
          <p:cNvSpPr txBox="1"/>
          <p:nvPr/>
        </p:nvSpPr>
        <p:spPr>
          <a:xfrm>
            <a:off x="832340" y="4457813"/>
            <a:ext cx="529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else can we get training data?</a:t>
            </a:r>
          </a:p>
        </p:txBody>
      </p:sp>
    </p:spTree>
    <p:extLst>
      <p:ext uri="{BB962C8B-B14F-4D97-AF65-F5344CB8AC3E}">
        <p14:creationId xmlns:p14="http://schemas.microsoft.com/office/powerpoint/2010/main" val="343638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16716"/>
            <a:ext cx="8321040" cy="360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b="1" dirty="0">
                <a:solidFill>
                  <a:srgbClr val="005587"/>
                </a:solidFill>
                <a:latin typeface="Whitney Bold"/>
              </a:rPr>
              <a:t>Synthetic data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is purely LLM-generated data; not “raw” text data</a:t>
            </a:r>
            <a:endParaRPr lang="en-US" b="1"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dirty="0" b="0">
                <a:solidFill>
                  <a:srgbClr val="000000"/>
                </a:solidFill>
                <a:latin typeface="Arial"/>
              </a:rPr>
              <a:t> is a way to transfer behavior from a stronger model to a cheaper model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 using only synthetic data</a:t>
            </a:r>
            <a:endParaRPr dirty="0">
              <a:solidFill>
                <a:srgbClr val="000000"/>
              </a:solidFill>
              <a:latin typeface="Arial"/>
            </a:endParaRP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dirty="0" b="0">
                <a:solidFill>
                  <a:srgbClr val="000000"/>
                </a:solidFill>
                <a:latin typeface="Arial"/>
              </a:rPr>
              <a:t>Teacher: </a:t>
            </a:r>
            <a:r>
              <a:rPr b="0" dirty="0">
                <a:solidFill>
                  <a:srgbClr val="000000"/>
                </a:solidFill>
                <a:latin typeface="Arial"/>
              </a:rPr>
              <a:t>a large model generates high-quality answers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dirty="0" b="0">
                <a:solidFill>
                  <a:srgbClr val="000000"/>
                </a:solidFill>
                <a:latin typeface="Arial"/>
              </a:rPr>
              <a:t>Student: </a:t>
            </a:r>
            <a:r>
              <a:rPr b="0" dirty="0">
                <a:solidFill>
                  <a:srgbClr val="000000"/>
                </a:solidFill>
                <a:latin typeface="Arial"/>
              </a:rPr>
              <a:t>a smaller model trains on those teacher outputs </a:t>
            </a: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br>
              <a:rPr lang="en-US" b="0" dirty="0">
                <a:solidFill>
                  <a:srgbClr val="000000"/>
                </a:solidFill>
                <a:latin typeface="Arial"/>
              </a:rPr>
            </a:br>
            <a:r>
              <a:rPr lang="en-US" b="0" dirty="0">
                <a:solidFill>
                  <a:srgbClr val="000000"/>
                </a:solidFill>
                <a:latin typeface="Arial"/>
                <a:sym typeface="Wingdings" pitchFamily="2" charset="2"/>
              </a:rPr>
              <a:t>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Lowers training </a:t>
            </a:r>
            <a:r>
              <a:rPr b="0" dirty="0">
                <a:solidFill>
                  <a:srgbClr val="000000"/>
                </a:solidFill>
                <a:latin typeface="Arial"/>
              </a:rPr>
              <a:t>cost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 for student model</a:t>
            </a:r>
            <a:r>
              <a:rPr b="0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improves </a:t>
            </a:r>
            <a:r>
              <a:rPr b="0" dirty="0">
                <a:solidFill>
                  <a:srgbClr val="000000"/>
                </a:solidFill>
                <a:latin typeface="Arial"/>
              </a:rPr>
              <a:t>control over behavior</a:t>
            </a:r>
          </a:p>
        </p:txBody>
      </p:sp>
    </p:spTree>
    <p:extLst>
      <p:ext uri="{BB962C8B-B14F-4D97-AF65-F5344CB8AC3E}">
        <p14:creationId xmlns:p14="http://schemas.microsoft.com/office/powerpoint/2010/main" val="2132799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D87C0-7D03-B8B7-981A-0C912667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9EEBBF-A917-40BC-FE3E-7751A2B8845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19602C-35A3-97CE-A18E-AD69D10AD0FD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Training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A92E9-342B-BBB4-E8FD-C839098C3ABE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6652E3-47EB-6B7C-4B81-39FF2F73F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69" r="9109" b="15922"/>
          <a:stretch>
            <a:fillRect/>
          </a:stretch>
        </p:blipFill>
        <p:spPr>
          <a:xfrm>
            <a:off x="1263749" y="1028161"/>
            <a:ext cx="5656624" cy="3157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7DC742-DAB2-4FE6-1AB4-A3AF29DFFC88}"/>
              </a:ext>
            </a:extLst>
          </p:cNvPr>
          <p:cNvSpPr txBox="1"/>
          <p:nvPr/>
        </p:nvSpPr>
        <p:spPr>
          <a:xfrm>
            <a:off x="745351" y="4440991"/>
            <a:ext cx="718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Distillation loss: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far apart are the output token probabilities?</a:t>
            </a:r>
          </a:p>
        </p:txBody>
      </p:sp>
    </p:spTree>
    <p:extLst>
      <p:ext uri="{BB962C8B-B14F-4D97-AF65-F5344CB8AC3E}">
        <p14:creationId xmlns:p14="http://schemas.microsoft.com/office/powerpoint/2010/main" val="4201620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4C60-C4F6-13CB-088C-516620590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519B5F-9C71-FCAF-4FFF-95F4A0960232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7A7B21-DE36-DCB1-F3BD-B3A21BF2159D}"/>
              </a:ext>
            </a:extLst>
          </p:cNvPr>
          <p:cNvSpPr txBox="1"/>
          <p:nvPr/>
        </p:nvSpPr>
        <p:spPr>
          <a:xfrm>
            <a:off x="457200" y="316695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Distillation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Attacks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719DC1-50C5-8ABC-4197-A8666461E635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29D917BA-05AD-DC4F-301E-690559476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58" y="1044643"/>
            <a:ext cx="4494840" cy="2067025"/>
          </a:xfrm>
          <a:prstGeom prst="rect">
            <a:avLst/>
          </a:prstGeom>
        </p:spPr>
      </p:pic>
      <p:pic>
        <p:nvPicPr>
          <p:cNvPr id="6" name="Picture 5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5D50A21A-937E-6B9F-052E-A6149C659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71" y="3315619"/>
            <a:ext cx="5570672" cy="156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06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7DDC-1956-3459-0442-AD2B105D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057095-985D-CC35-502E-021996879F44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61EE5-CDC9-05A3-A402-4333945DDAE6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Data: LLM-as-Judge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10C5CA-2135-FAE2-482C-6444003C6AC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0D7EF-A4DB-D5D2-5B47-4EC83F91EE6C}"/>
              </a:ext>
            </a:extLst>
          </p:cNvPr>
          <p:cNvSpPr txBox="1"/>
          <p:nvPr/>
        </p:nvSpPr>
        <p:spPr>
          <a:xfrm>
            <a:off x="457200" y="1160208"/>
            <a:ext cx="2684585" cy="14115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lang="en-US" dirty="0" b="0">
                <a:solidFill>
                  <a:srgbClr val="000000"/>
                </a:solidFill>
                <a:latin typeface="Arial"/>
              </a:rPr>
              <a:t>Similar to RLHF, but frontier model generates scores instead of a specialized scoring model</a:t>
            </a:r>
            <a:endParaRPr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0E156-CE2E-EEAF-CC72-5F85713A91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4" r="7995"/>
          <a:stretch>
            <a:fillRect/>
          </a:stretch>
        </p:blipFill>
        <p:spPr>
          <a:xfrm>
            <a:off x="3310127" y="1242270"/>
            <a:ext cx="5833873" cy="37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17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1BD2B-060C-B59B-108A-4904EACDA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180E4B-5246-B992-66C9-9AD218B2A7E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13E23-1B91-70D3-2514-36491B55D549}"/>
              </a:ext>
            </a:extLst>
          </p:cNvPr>
          <p:cNvSpPr txBox="1"/>
          <p:nvPr/>
        </p:nvSpPr>
        <p:spPr>
          <a:xfrm>
            <a:off x="457200" y="333177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Synthetic Data Summary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FD6ED1-C822-87A2-6D9C-1A87357E0E3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49C78D-DAB2-73F3-98F2-97E625587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11922"/>
              </p:ext>
            </p:extLst>
          </p:nvPr>
        </p:nvGraphicFramePr>
        <p:xfrm>
          <a:off x="548640" y="1435992"/>
          <a:ext cx="8229600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91480507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1970146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53892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b="1">
                        <a:solidFill>
                          <a:srgbClr val="121212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Whitney Bold" panose="020B0604020202020204" pitchFamily="34" charset="0"/>
                          <a:cs typeface="Arial" panose="020B0604020202020204" pitchFamily="34" charset="0"/>
                        </a:rPr>
                        <a:t>Distillation</a:t>
                      </a:r>
                    </a:p>
                  </a:txBody>
                  <a:tcPr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  <a:latin typeface="Whitney Bold" panose="020B0604020202020204" pitchFamily="34" charset="0"/>
                          <a:cs typeface="Arial" panose="020B0604020202020204" pitchFamily="34" charset="0"/>
                        </a:rPr>
                        <a:t>LLM-as-judge</a:t>
                      </a:r>
                    </a:p>
                  </a:txBody>
                  <a:tcPr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456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5587"/>
                          </a:solidFill>
                          <a:effectLst/>
                          <a:latin typeface="Whitney Bold" panose="020B0604020202020204" pitchFamily="34" charset="0"/>
                          <a:cs typeface="Arial" panose="020B0604020202020204" pitchFamily="34" charset="0"/>
                        </a:rPr>
                        <a:t>Signal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Teacher's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349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5587"/>
                          </a:solidFill>
                          <a:effectLst/>
                          <a:latin typeface="Whitney Bold" panose="020B0604020202020204" pitchFamily="34" charset="0"/>
                          <a:cs typeface="Arial" panose="020B0604020202020204" pitchFamily="34" charset="0"/>
                        </a:rPr>
                        <a:t>Who generates data?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5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5587"/>
                          </a:solidFill>
                          <a:effectLst/>
                          <a:latin typeface="Whitney Bold" panose="020B0604020202020204" pitchFamily="34" charset="0"/>
                          <a:cs typeface="Arial" panose="020B0604020202020204" pitchFamily="34" charset="0"/>
                        </a:rPr>
                        <a:t>Teacher needs to…</a:t>
                      </a:r>
                      <a:endParaRPr lang="en-US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Answer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299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1" dirty="0">
                          <a:solidFill>
                            <a:srgbClr val="005587"/>
                          </a:solidFill>
                          <a:effectLst/>
                          <a:latin typeface="Whitney Bold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>
                    <a:solidFill>
                      <a:srgbClr val="ECF4FB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dirty="0" b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 (10x)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62768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FCFEB155-5E2B-9252-C6A8-6A9EDAC17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4296"/>
            <a:ext cx="0" cy="267384"/>
          </a:xfrm>
          <a:prstGeom prst="rect">
            <a:avLst/>
          </a:prstGeom>
          <a:solidFill>
            <a:srgbClr val="FDFD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6348" tIns="-4761" rIns="-6348" bIns="-476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A733F1D-7EF5-AB0E-9B59-756668378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3943170"/>
            <a:ext cx="8229600" cy="923330"/>
          </a:xfrm>
          <a:prstGeom prst="rect">
            <a:avLst/>
          </a:prstGeom>
          <a:noFill/>
          <a:ln w="10160">
            <a:solidFill>
              <a:srgbClr val="003C7D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05587"/>
                </a:solidFill>
                <a:effectLst/>
                <a:latin typeface="Whitney Bold" panose="020B0604020202020204" pitchFamily="34" charset="0"/>
              </a:rPr>
              <a:t>Distillation generates training data once and reuses it; one answer per question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b="0">
                <a:solidFill>
                  <a:srgbClr val="000000"/>
                </a:solidFill>
                <a:latin typeface="Arial" panose="020B0604020202020204" pitchFamily="34" charset="0"/>
              </a:rPr>
              <a:t>J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udge-based training needs 10+ answers per question</a:t>
            </a:r>
          </a:p>
        </p:txBody>
      </p:sp>
    </p:spTree>
    <p:extLst>
      <p:ext uri="{BB962C8B-B14F-4D97-AF65-F5344CB8AC3E}">
        <p14:creationId xmlns:p14="http://schemas.microsoft.com/office/powerpoint/2010/main" val="2055192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6E72-52F6-3469-C95D-ED459AC0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8458E5-BBDB-ABD6-8B09-D1BE3090B3A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7116B-B6F2-F3EE-990A-22BAC167CCC9}"/>
              </a:ext>
            </a:extLst>
          </p:cNvPr>
          <p:cNvSpPr txBox="1"/>
          <p:nvPr/>
        </p:nvSpPr>
        <p:spPr>
          <a:xfrm>
            <a:off x="914400" y="2237601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 dirty="0">
                <a:solidFill>
                  <a:srgbClr val="005587"/>
                </a:solidFill>
                <a:latin typeface="Whitney Bold"/>
              </a:rPr>
              <a:t>Reasoning</a:t>
            </a:r>
          </a:p>
        </p:txBody>
      </p:sp>
    </p:spTree>
    <p:extLst>
      <p:ext uri="{BB962C8B-B14F-4D97-AF65-F5344CB8AC3E}">
        <p14:creationId xmlns:p14="http://schemas.microsoft.com/office/powerpoint/2010/main" val="1340671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45800" y="1198558"/>
            <a:ext cx="382906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5587"/>
                </a:solidFill>
                <a:latin typeface="Whitney Bold"/>
              </a:rPr>
              <a:t>Chain-of-thought reasoning: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express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es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intermediate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 steps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 before the final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8395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65119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37018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0294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481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80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895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586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005587"/>
                </a:solidFill>
                <a:latin typeface="Whitney Bold"/>
              </a:rPr>
              <a:t>step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4788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2349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38921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306711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74318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 dirty="0">
                <a:solidFill>
                  <a:srgbClr val="555555"/>
                </a:solidFill>
                <a:latin typeface="Arial"/>
              </a:rPr>
              <a:t>Source: Wei et al. (2022), Chain-of-Thought; Wang et al. (2022), Self-Consistency.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049545-0A41-C239-8BB5-9707AFC61E0E}"/>
              </a:ext>
            </a:extLst>
          </p:cNvPr>
          <p:cNvSpPr txBox="1"/>
          <p:nvPr/>
        </p:nvSpPr>
        <p:spPr>
          <a:xfrm>
            <a:off x="640080" y="1258236"/>
            <a:ext cx="370332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5587"/>
                </a:solidFill>
                <a:latin typeface="Whitney Bold"/>
              </a:rPr>
              <a:t>Without reasoning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: The </a:t>
            </a:r>
            <a:r>
              <a:rPr sz="1200" b="0" dirty="0">
                <a:solidFill>
                  <a:srgbClr val="000000"/>
                </a:solidFill>
                <a:latin typeface="Arial"/>
              </a:rPr>
              <a:t>model </a:t>
            </a:r>
            <a:r>
              <a:rPr lang="en-US" sz="1200" dirty="0" b="0">
                <a:solidFill>
                  <a:srgbClr val="000000"/>
                </a:solidFill>
                <a:latin typeface="Arial"/>
              </a:rPr>
              <a:t>immediately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provides a final answer.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51" name="Rounded Rectangle 10">
            <a:extLst>
              <a:ext uri="{FF2B5EF4-FFF2-40B4-BE49-F238E27FC236}">
                <a16:creationId xmlns:a16="http://schemas.microsoft.com/office/drawing/2014/main" id="{CA6A78CE-F125-10C6-5373-9E56C71DC82F}"/>
              </a:ext>
            </a:extLst>
          </p:cNvPr>
          <p:cNvSpPr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solidFill>
            <a:srgbClr val="EEF3F8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09DC65-D4FB-FA1F-5511-FC4E7DA4D996}"/>
              </a:ext>
            </a:extLst>
          </p:cNvPr>
          <p:cNvSpPr txBox="1"/>
          <p:nvPr/>
        </p:nvSpPr>
        <p:spPr>
          <a:xfrm>
            <a:off x="724662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Q</a:t>
            </a:r>
          </a:p>
        </p:txBody>
      </p: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32A4C3F6-5F0A-5178-768A-461D8FD591DB}"/>
              </a:ext>
            </a:extLst>
          </p:cNvPr>
          <p:cNvSpPr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C7341EC-E1C7-14D0-369F-EBACFF3C4722}"/>
              </a:ext>
            </a:extLst>
          </p:cNvPr>
          <p:cNvSpPr txBox="1"/>
          <p:nvPr/>
        </p:nvSpPr>
        <p:spPr>
          <a:xfrm>
            <a:off x="1516126" y="1812324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5587"/>
                </a:solidFill>
                <a:latin typeface="Whitney Bold"/>
              </a:rPr>
              <a:t>A</a:t>
            </a:r>
          </a:p>
        </p:txBody>
      </p:sp>
      <p:cxnSp>
        <p:nvCxnSpPr>
          <p:cNvPr id="61" name="Connector 20">
            <a:extLst>
              <a:ext uri="{FF2B5EF4-FFF2-40B4-BE49-F238E27FC236}">
                <a16:creationId xmlns:a16="http://schemas.microsoft.com/office/drawing/2014/main" id="{55B869F6-13E1-E787-957B-22712BBA33D0}"/>
              </a:ext>
            </a:extLst>
          </p:cNvPr>
          <p:cNvCxnSpPr/>
          <p:nvPr/>
        </p:nvCxnSpPr>
        <p:spPr>
          <a:xfrm>
            <a:off x="1450467" y="1995204"/>
            <a:ext cx="45720" cy="0"/>
          </a:xfrm>
          <a:prstGeom prst="line">
            <a:avLst/>
          </a:prstGeom>
          <a:ln w="12700">
            <a:solidFill>
              <a:srgbClr val="003C7D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08EB2D1-EF40-CA5D-7C2A-5DA541000F96}"/>
              </a:ext>
            </a:extLst>
          </p:cNvPr>
          <p:cNvSpPr txBox="1"/>
          <p:nvPr/>
        </p:nvSpPr>
        <p:spPr>
          <a:xfrm>
            <a:off x="640078" y="4132896"/>
            <a:ext cx="818161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0" dirty="0">
                <a:solidFill>
                  <a:srgbClr val="000000"/>
                </a:solidFill>
                <a:latin typeface="Arial"/>
              </a:rPr>
              <a:t>Why does reasoning work? The entire sequence is fed back into the model as it is generated, which allows the model to “attend to” the entire output.</a:t>
            </a:r>
            <a:endParaRPr sz="14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A94856-B179-984B-B629-9AA5B0172FBC}"/>
              </a:ext>
            </a:extLst>
          </p:cNvPr>
          <p:cNvSpPr txBox="1"/>
          <p:nvPr/>
        </p:nvSpPr>
        <p:spPr>
          <a:xfrm>
            <a:off x="5039997" y="1881834"/>
            <a:ext cx="64889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Chain-of-thought: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starts with 5 balls.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cans × 3 balls per can = 6 new balls.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+ 6 = 11.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4A9CCC-669E-8B54-5EAD-F841BB607D15}"/>
              </a:ext>
            </a:extLst>
          </p:cNvPr>
          <p:cNvSpPr txBox="1"/>
          <p:nvPr/>
        </p:nvSpPr>
        <p:spPr>
          <a:xfrm>
            <a:off x="640078" y="2373033"/>
            <a:ext cx="29514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Roger has 5 tennis balls. He buys 2 more cans of tennis balls. Each can has 3 tennis balls. How many tennis balls does he have now?</a:t>
            </a:r>
          </a:p>
          <a:p>
            <a:endParaRPr lang="en-US" sz="12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answer:</a:t>
            </a:r>
          </a:p>
          <a:p>
            <a:r>
              <a:rPr lang="en-US" sz="1200" i="1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6835-2132-855A-B99E-C5FA6A73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C644FC-BC3D-AB24-96F3-226E9F15618B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56175-3F5E-5EB3-F540-A56553454497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8C1DBEC-895C-501A-B6B0-714C66F341E2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3799158-CD0A-4C12-15F8-F0932F705C3B}"/>
              </a:ext>
            </a:extLst>
          </p:cNvPr>
          <p:cNvSpPr txBox="1"/>
          <p:nvPr/>
        </p:nvSpPr>
        <p:spPr>
          <a:xfrm>
            <a:off x="1812275" y="1599187"/>
            <a:ext cx="42748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ways for </a:t>
            </a:r>
            <a:r>
              <a:rPr lang="en-US" sz="2400" dirty="0" err="1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reasoning to occur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Prompting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3103105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202D3-908F-3138-34DC-2556DD84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7B3ECC-05EB-D7E5-B88C-AE53ABFBABE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51C92-2E1F-E5F6-E0BF-2287CCAD85C7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Reasoning: Self Consistency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510145D-8CA3-166D-DA0B-1AE93373CF34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868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9184" y="1499616"/>
            <a:ext cx="8229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0" b="1" i="0">
                <a:solidFill>
                  <a:srgbClr val="005587"/>
                </a:solidFill>
                <a:latin typeface="Whitney Bold"/>
              </a:rPr>
              <a:t>15-min Break</a:t>
            </a:r>
          </a:p>
        </p:txBody>
      </p:sp>
      <p:sp>
        <p:nvSpPr>
          <p:cNvPr id="3" name="Oval 2"/>
          <p:cNvSpPr/>
          <p:nvPr/>
        </p:nvSpPr>
        <p:spPr>
          <a:xfrm>
            <a:off x="6784848" y="2788920"/>
            <a:ext cx="1143000" cy="1143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8B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V="1">
            <a:off x="7360920" y="3035808"/>
            <a:ext cx="0" cy="329184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60920" y="3364992"/>
            <a:ext cx="265176" cy="155448"/>
          </a:xfrm>
          <a:prstGeom prst="line">
            <a:avLst/>
          </a:prstGeom>
          <a:ln w="25400">
            <a:solidFill>
              <a:srgbClr val="8BB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06377"/>
            <a:ext cx="9144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Whitney Bold"/>
              </a:rPr>
              <a:t>Part 2: </a:t>
            </a:r>
            <a:r>
              <a:rPr lang="en-US" sz="4000" b="1" dirty="0">
                <a:solidFill>
                  <a:srgbClr val="FFFFFF"/>
                </a:solidFill>
                <a:latin typeface="Whitney Bold"/>
              </a:rPr>
              <a:t>Some</a:t>
            </a:r>
            <a:r>
              <a:rPr sz="4000" b="1" dirty="0">
                <a:solidFill>
                  <a:srgbClr val="FFFFFF"/>
                </a:solidFill>
                <a:latin typeface="Whitney Bold"/>
              </a:rPr>
              <a:t> Economics of AI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0BED-9A94-3E92-C84B-3BAB58BC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7B4592-F001-E87A-1607-B031CD5D25AF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FC800-9503-29F8-E190-CEAB713EF97C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Recap: Graphical Processor Units (GPUs)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B215F3E-43A1-449C-FAC4-62039132EE44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E66358E-FC2C-B6BF-E647-539172891D31}"/>
              </a:ext>
            </a:extLst>
          </p:cNvPr>
          <p:cNvSpPr txBox="1"/>
          <p:nvPr/>
        </p:nvSpPr>
        <p:spPr>
          <a:xfrm>
            <a:off x="457200" y="1204546"/>
            <a:ext cx="835058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latin typeface="Arial"/>
              </a:rPr>
              <a:t>Graphical Processor Units (GPUs) are currently at the heart of the AI economy</a:t>
            </a:r>
            <a:endParaRPr b="0" dirty="0">
              <a:latin typeface="Arial"/>
            </a:endParaRPr>
          </a:p>
        </p:txBody>
      </p:sp>
      <p:pic>
        <p:nvPicPr>
          <p:cNvPr id="11" name="Picture 10" descr="A diagram of a wavy blue surface&#10;&#10;AI-generated content may be incorrect.">
            <a:extLst>
              <a:ext uri="{FF2B5EF4-FFF2-40B4-BE49-F238E27FC236}">
                <a16:creationId xmlns:a16="http://schemas.microsoft.com/office/drawing/2014/main" id="{EB609B9E-6667-B38B-E7FB-3C049667E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54" y="2283748"/>
            <a:ext cx="3429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8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C3B7-C530-90E3-7368-41BD7A43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9C6AB-69C9-9700-7B6C-83620E1476C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32ED1-2CFE-DCC4-2455-B0E3E7D8A9AB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Follow The Money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D00C54E-744F-23FC-0D92-E974AA127D1D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46CD90-0E49-7ACF-A3C8-D9467EC247A9}"/>
              </a:ext>
            </a:extLst>
          </p:cNvPr>
          <p:cNvGrpSpPr/>
          <p:nvPr/>
        </p:nvGrpSpPr>
        <p:grpSpPr>
          <a:xfrm>
            <a:off x="360000" y="1190000"/>
            <a:ext cx="8650000" cy="2680000"/>
            <a:chOff x="360000" y="1190000"/>
            <a:chExt cx="8650000" cy="2680000"/>
          </a:xfrm>
        </p:grpSpPr>
        <p:sp>
          <p:nvSpPr>
            <p:cNvPr id="5" name="Rectangle 4"/>
            <p:cNvSpPr/>
            <p:nvPr/>
          </p:nvSpPr>
          <p:spPr>
            <a:xfrm>
              <a:off x="360000" y="1190000"/>
              <a:ext cx="21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 dirty="0">
                  <a:solidFill>
                    <a:srgbClr val="005587"/>
                  </a:solidFill>
                  <a:latin typeface="Whitney Bold"/>
                </a:rPr>
                <a:t>End Users</a:t>
              </a:r>
              <a:r>
                <a:rPr lang="en-US" sz="1800" b="1" dirty="0">
                  <a:solidFill>
                    <a:srgbClr val="005587"/>
                  </a:solidFill>
                  <a:latin typeface="Whitney Bold"/>
                </a:rPr>
                <a:t> / Enterprises</a:t>
              </a:r>
              <a:endParaRPr sz="1200" b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0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AI Deployers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startups, software firms,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enterprise IT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20000" y="1190000"/>
              <a:ext cx="2080000" cy="9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Frontier Labs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OpenAI, Anthropic,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Google, Meta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700000" y="3070000"/>
              <a:ext cx="216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GPU Suppliers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NVIDIA, TSMC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650000" y="3070000"/>
              <a:ext cx="2520000" cy="80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003C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0000" tIns="35000" rIns="70000" bIns="35000" rtlCol="0" anchor="ctr"/>
            <a:lstStyle/>
            <a:p>
              <a:pPr algn="ctr"/>
              <a:r>
                <a:rPr sz="1800" b="1">
                  <a:solidFill>
                    <a:srgbClr val="005587"/>
                  </a:solidFill>
                  <a:latin typeface="Whitney Bold"/>
                </a:rPr>
                <a:t>Compute Providers</a:t>
              </a:r>
            </a:p>
            <a:p>
              <a:pPr algn="ctr"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Arial"/>
                </a:rPr>
                <a:t>AWS, Azure, Google Cloud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2540000" y="1640000"/>
              <a:ext cx="106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76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subscriptions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5680000" y="1640000"/>
              <a:ext cx="114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890000" y="1405000"/>
              <a:ext cx="76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70" b="0">
                  <a:solidFill>
                    <a:srgbClr val="000000"/>
                  </a:solidFill>
                  <a:latin typeface="Arial"/>
                </a:rPr>
                <a:t>inference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7650000" y="2090000"/>
              <a:ext cx="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7760000" y="2360000"/>
              <a:ext cx="1250000" cy="43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training + inference</a:t>
              </a:r>
            </a:p>
            <a:p>
              <a:pPr algn="l"/>
              <a:r>
                <a:rPr sz="1030" b="0">
                  <a:solidFill>
                    <a:srgbClr val="000000"/>
                  </a:solidFill>
                  <a:latin typeface="Arial"/>
                </a:rPr>
                <a:t>compute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4930000" y="2090000"/>
              <a:ext cx="1020000" cy="98000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4450000" y="2440000"/>
              <a:ext cx="900000" cy="42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inference</a:t>
              </a:r>
            </a:p>
            <a:p>
              <a:pPr algn="ctr"/>
              <a:r>
                <a:rPr sz="1050" b="0">
                  <a:solidFill>
                    <a:srgbClr val="000000"/>
                  </a:solidFill>
                  <a:latin typeface="Arial"/>
                </a:rPr>
                <a:t>at scale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 flipH="1">
              <a:off x="3860000" y="3470000"/>
              <a:ext cx="1790000" cy="0"/>
            </a:xfrm>
            <a:prstGeom prst="line">
              <a:avLst/>
            </a:prstGeom>
            <a:ln w="14604">
              <a:solidFill>
                <a:srgbClr val="003C7D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170000" y="3240000"/>
              <a:ext cx="1110000" cy="180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040" b="0">
                  <a:solidFill>
                    <a:srgbClr val="000000"/>
                  </a:solidFill>
                  <a:latin typeface="Arial"/>
                </a:rPr>
                <a:t>hardware capex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600000" y="4226916"/>
            <a:ext cx="2564805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 dirty="0">
                <a:solidFill>
                  <a:srgbClr val="005587"/>
                </a:solidFill>
                <a:latin typeface="Whitney Bold"/>
              </a:rPr>
              <a:t>Compute Infrastructure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1A9C0C-F039-ECAA-4AAB-E833E8D43E30}"/>
              </a:ext>
            </a:extLst>
          </p:cNvPr>
          <p:cNvSpPr/>
          <p:nvPr/>
        </p:nvSpPr>
        <p:spPr>
          <a:xfrm>
            <a:off x="1358074" y="2954215"/>
            <a:ext cx="7090965" cy="1125416"/>
          </a:xfrm>
          <a:prstGeom prst="rect">
            <a:avLst/>
          </a:prstGeom>
          <a:noFill/>
          <a:ln w="25400">
            <a:solidFill>
              <a:schemeClr val="accent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2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Cloud GPU Pricing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" y="1395055"/>
            <a:ext cx="2697480" cy="25385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86552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5587"/>
                </a:solidFill>
                <a:latin typeface="Whitney Bold"/>
              </a:rPr>
              <a:t>On-Demand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1925464"/>
            <a:ext cx="2148840" cy="0"/>
          </a:xfrm>
          <a:prstGeom prst="line">
            <a:avLst/>
          </a:prstGeom>
          <a:ln w="635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4037" y="2050901"/>
            <a:ext cx="2697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5587"/>
                </a:solidFill>
                <a:latin typeface="Whitney Bold"/>
              </a:rPr>
              <a:t>$3-5/hr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66719"/>
            <a:ext cx="2368296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005587"/>
                </a:solidFill>
                <a:latin typeface="Whitney Bold"/>
              </a:rPr>
              <a:t>Pay by the hour</a:t>
            </a:r>
          </a:p>
          <a:p>
            <a:pPr algn="l"/>
            <a:endParaRPr lang="en-US" sz="1200" dirty="0">
              <a:solidFill>
                <a:srgbClr val="1F1F1F"/>
              </a:solidFill>
              <a:latin typeface="Arial"/>
            </a:endParaRPr>
          </a:p>
          <a:p>
            <a:pPr algn="l"/>
            <a:r>
              <a:rPr lang="en-US" sz="1200" dirty="0" b="0">
                <a:solidFill>
                  <a:srgbClr val="000000"/>
                </a:solidFill>
                <a:latin typeface="Arial"/>
              </a:rPr>
              <a:t>U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sed by AI startups, research teams for prototyping and experiments, short training runs, unpredictable workloads</a:t>
            </a:r>
            <a:endParaRPr sz="1200" b="0" dirty="0">
              <a:solidFill>
                <a:srgbClr val="1F1F1F"/>
              </a:solidFill>
              <a:latin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5357AA-A6FB-C0B8-857C-4B88EA669E5F}"/>
              </a:ext>
            </a:extLst>
          </p:cNvPr>
          <p:cNvGrpSpPr/>
          <p:nvPr/>
        </p:nvGrpSpPr>
        <p:grpSpPr>
          <a:xfrm>
            <a:off x="3170389" y="1395055"/>
            <a:ext cx="2709203" cy="2538575"/>
            <a:chOff x="3170389" y="2074989"/>
            <a:chExt cx="2709203" cy="2538575"/>
          </a:xfrm>
        </p:grpSpPr>
        <p:sp>
          <p:nvSpPr>
            <p:cNvPr id="15" name="Rounded Rectangle 14"/>
            <p:cNvSpPr/>
            <p:nvPr/>
          </p:nvSpPr>
          <p:spPr>
            <a:xfrm>
              <a:off x="3182112" y="2074989"/>
              <a:ext cx="2697480" cy="2538575"/>
            </a:xfrm>
            <a:prstGeom prst="rect">
              <a:avLst/>
            </a:prstGeom>
            <a:noFill/>
            <a:ln w="12700">
              <a:solidFill>
                <a:srgbClr val="0055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82112" y="2166486"/>
              <a:ext cx="269748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 dirty="0">
                  <a:solidFill>
                    <a:srgbClr val="005587"/>
                  </a:solidFill>
                  <a:latin typeface="Whitney Bold"/>
                </a:rPr>
                <a:t>Reserved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3456432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170389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$2-3/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46704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Multi-year commitment</a:t>
              </a: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br>
                <a:rPr lang="en-US" sz="1200" dirty="0">
                  <a:solidFill>
                    <a:srgbClr val="1F1F1F"/>
                  </a:solidFill>
                  <a:latin typeface="Arial"/>
                </a:rPr>
              </a:br>
              <a:r>
                <a:rPr lang="en-US" sz="1200" dirty="0" b="0">
                  <a:solidFill>
                    <a:srgbClr val="000000"/>
                  </a:solidFill>
                  <a:latin typeface="Arial"/>
                </a:rPr>
                <a:t>Used by large cloud-heavy companies, enterprise AI teams for long-term steady training and inference</a:t>
              </a:r>
              <a:endParaRPr sz="1200" b="0" dirty="0">
                <a:solidFill>
                  <a:srgbClr val="1F1F1F"/>
                </a:solidFill>
                <a:latin typeface="Arial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C613DC-23A5-4E61-8A74-D75AA406A3BA}"/>
              </a:ext>
            </a:extLst>
          </p:cNvPr>
          <p:cNvGrpSpPr/>
          <p:nvPr/>
        </p:nvGrpSpPr>
        <p:grpSpPr>
          <a:xfrm>
            <a:off x="5986741" y="1395055"/>
            <a:ext cx="2709203" cy="2538575"/>
            <a:chOff x="5986741" y="2074989"/>
            <a:chExt cx="2709203" cy="2538575"/>
          </a:xfrm>
        </p:grpSpPr>
        <p:sp>
          <p:nvSpPr>
            <p:cNvPr id="24" name="Rounded Rectangle 23"/>
            <p:cNvSpPr/>
            <p:nvPr/>
          </p:nvSpPr>
          <p:spPr>
            <a:xfrm>
              <a:off x="5998464" y="2074989"/>
              <a:ext cx="2697480" cy="253857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558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98464" y="2195477"/>
              <a:ext cx="2697480" cy="30777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005587"/>
                  </a:solidFill>
                  <a:latin typeface="Whitney Bold"/>
                </a:rPr>
                <a:t>Spot</a:t>
              </a:r>
              <a:endParaRPr sz="1400" b="1" dirty="0">
                <a:solidFill>
                  <a:srgbClr val="005587"/>
                </a:solidFill>
                <a:latin typeface="Whitney Bold"/>
              </a:endParaRP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6272784" y="2605398"/>
              <a:ext cx="2148840" cy="0"/>
            </a:xfrm>
            <a:prstGeom prst="line">
              <a:avLst/>
            </a:prstGeom>
            <a:ln w="6350">
              <a:solidFill>
                <a:srgbClr val="003C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986741" y="2730835"/>
              <a:ext cx="2697480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200" b="1" dirty="0">
                  <a:solidFill>
                    <a:srgbClr val="005587"/>
                  </a:solidFill>
                  <a:latin typeface="Whitney Bold"/>
                </a:rPr>
                <a:t>$0.50-1.50/</a:t>
              </a:r>
              <a:r>
                <a:rPr sz="2200" b="1" dirty="0" err="1">
                  <a:solidFill>
                    <a:srgbClr val="005587"/>
                  </a:solidFill>
                  <a:latin typeface="Whitney Bold"/>
                </a:rPr>
                <a:t>hr</a:t>
              </a:r>
              <a:endParaRPr sz="2200" b="1" dirty="0">
                <a:solidFill>
                  <a:srgbClr val="005587"/>
                </a:solidFill>
                <a:latin typeface="Whitney Bold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163056" y="3246653"/>
              <a:ext cx="2368296" cy="12003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200" b="1" dirty="0">
                  <a:solidFill>
                    <a:srgbClr val="005587"/>
                  </a:solidFill>
                  <a:latin typeface="Whitney Bold"/>
                </a:rPr>
                <a:t>Pay by the hour</a:t>
              </a:r>
            </a:p>
            <a:p>
              <a:endParaRPr lang="en-US" sz="1200" b="1" dirty="0">
                <a:solidFill>
                  <a:srgbClr val="1F1F1F"/>
                </a:solidFill>
                <a:latin typeface="Arial"/>
              </a:endParaRPr>
            </a:p>
            <a:p>
              <a:r>
                <a:rPr lang="en-US" sz="1200" dirty="0" b="0">
                  <a:solidFill>
                    <a:srgbClr val="000000"/>
                  </a:solidFill>
                  <a:latin typeface="Arial"/>
                </a:rPr>
                <a:t>Used for jobs that can be safely interrupted: model evaluation, synthetic data generation, non-critical tasks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354036" y="4229100"/>
            <a:ext cx="7899009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b="0" dirty="0">
                <a:solidFill>
                  <a:srgbClr val="000000"/>
                </a:solidFill>
                <a:latin typeface="Arial"/>
              </a:rPr>
              <a:t>Spot markets exist because </a:t>
            </a:r>
            <a:r>
              <a:rPr lang="en-US" b="0" dirty="0">
                <a:solidFill>
                  <a:srgbClr val="000000"/>
                </a:solidFill>
                <a:latin typeface="Arial"/>
              </a:rPr>
              <a:t>big </a:t>
            </a:r>
            <a:r>
              <a:rPr lang="en-US" dirty="0" b="0">
                <a:solidFill>
                  <a:srgbClr val="000000"/>
                </a:solidFill>
                <a:latin typeface="Arial"/>
              </a:rPr>
              <a:t>companies </a:t>
            </a:r>
            <a:r>
              <a:rPr b="0" dirty="0">
                <a:solidFill>
                  <a:srgbClr val="000000"/>
                </a:solidFill>
                <a:latin typeface="Arial"/>
              </a:rPr>
              <a:t>buy capacity in advance and want to monetize idle GPUs</a:t>
            </a:r>
          </a:p>
        </p:txBody>
      </p:sp>
    </p:spTree>
    <p:extLst>
      <p:ext uri="{BB962C8B-B14F-4D97-AF65-F5344CB8AC3E}">
        <p14:creationId xmlns:p14="http://schemas.microsoft.com/office/powerpoint/2010/main" val="1006836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4CF8-A665-7383-63BB-5FB4FA39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E8D9B-C7C7-6861-77E7-58C2E1EEBEC3}"/>
              </a:ext>
            </a:extLst>
          </p:cNvPr>
          <p:cNvSpPr txBox="1"/>
          <p:nvPr/>
        </p:nvSpPr>
        <p:spPr>
          <a:xfrm>
            <a:off x="3423138" y="2202418"/>
            <a:ext cx="2297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b="0">
                <a:solidFill>
                  <a:srgbClr val="555555"/>
                </a:solidFill>
                <a:latin typeface="Arial"/>
              </a:rPr>
              <a:t>https://</a:t>
            </a:r>
            <a:r>
              <a:rPr lang="en-US" dirty="0" err="1" b="0">
                <a:solidFill>
                  <a:srgbClr val="555555"/>
                </a:solidFill>
                <a:latin typeface="Arial"/>
              </a:rPr>
              <a:t>vast.ai</a:t>
            </a:r>
            <a:r>
              <a:rPr lang="en-US" dirty="0" b="0">
                <a:solidFill>
                  <a:srgbClr val="555555"/>
                </a:solidFill>
                <a:latin typeface="Arial"/>
              </a:rPr>
              <a:t>/pricing</a:t>
            </a:r>
          </a:p>
        </p:txBody>
      </p:sp>
      <p:pic>
        <p:nvPicPr>
          <p:cNvPr id="5" name="Picture 4" descr="A screenshot of a phone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2B05C61-45FF-7D3B-C21A-B9709851F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1" y="1103888"/>
            <a:ext cx="7772400" cy="293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9522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ilicon Data Creates Index for AI Chips, Tracking GPU Costs - Bloomberg">
            <a:extLst>
              <a:ext uri="{FF2B5EF4-FFF2-40B4-BE49-F238E27FC236}">
                <a16:creationId xmlns:a16="http://schemas.microsoft.com/office/drawing/2014/main" id="{BB9287BB-0AE9-270B-3AC2-5FAD7C9DD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4296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C2CA1-F794-D4E6-D84A-24B8525A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close-up of a sign&#10;&#10;AI-generated content may be incorrect.">
            <a:extLst>
              <a:ext uri="{FF2B5EF4-FFF2-40B4-BE49-F238E27FC236}">
                <a16:creationId xmlns:a16="http://schemas.microsoft.com/office/drawing/2014/main" id="{497FFDCF-C857-2855-0FCA-23A6A9784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342" y="2242548"/>
            <a:ext cx="4264004" cy="136323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EE8A52-3D95-BA23-2856-429A038DDFC3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CD8B7-1BCF-99DC-DB47-458ED2979389}"/>
              </a:ext>
            </a:extLst>
          </p:cNvPr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Big Deals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5582D97-7D0D-7B06-5356-223CD9A69D3A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B75FB704-EED6-0DE3-B148-B7FA92EC8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7729"/>
            <a:ext cx="3943910" cy="1309924"/>
          </a:xfrm>
          <a:prstGeom prst="rect">
            <a:avLst/>
          </a:prstGeom>
        </p:spPr>
      </p:pic>
      <p:pic>
        <p:nvPicPr>
          <p:cNvPr id="24" name="Picture 2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8B5083B4-A8B8-8C27-B6B1-2DD4C1862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50982"/>
            <a:ext cx="4020460" cy="157567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07514F-9D5C-D6A9-8C89-03954480358E}"/>
              </a:ext>
            </a:extLst>
          </p:cNvPr>
          <p:cNvCxnSpPr/>
          <p:nvPr/>
        </p:nvCxnSpPr>
        <p:spPr>
          <a:xfrm>
            <a:off x="8270748" y="2723043"/>
            <a:ext cx="0" cy="402247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5D86113-9B42-7157-8710-1F36338219AA}"/>
              </a:ext>
            </a:extLst>
          </p:cNvPr>
          <p:cNvSpPr txBox="1"/>
          <p:nvPr/>
        </p:nvSpPr>
        <p:spPr>
          <a:xfrm>
            <a:off x="7598998" y="2760036"/>
            <a:ext cx="685795" cy="271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  <p:extLst>
      <p:ext uri="{BB962C8B-B14F-4D97-AF65-F5344CB8AC3E}">
        <p14:creationId xmlns:p14="http://schemas.microsoft.com/office/powerpoint/2010/main" val="2022047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Training Cost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 Estimates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536420" y="1101203"/>
            <a:ext cx="6162600" cy="560000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/>
          <a:lstStyle/>
          <a:p>
            <a:pPr algn="ctr"/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Training FLOPs ≈ 6 × N × D</a:t>
            </a: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     D = training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20" y="1981359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1 FLOP =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loating </a:t>
            </a:r>
            <a:r>
              <a:rPr lang="en-US" sz="1400" b="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oint </a:t>
            </a:r>
            <a:r>
              <a:rPr lang="en-US" sz="1400" b="0" u="sng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</a:t>
            </a:r>
            <a:r>
              <a:rPr lang="en-US" sz="1400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eration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 or multiplication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720" y="2429630"/>
            <a:ext cx="79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 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  <a:r>
              <a:rPr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backward pass</a:t>
            </a:r>
            <a:r>
              <a:rPr lang="en-US" sz="14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(4)</a:t>
            </a:r>
            <a:endParaRPr sz="14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7B9B56-DB8A-6FE9-649F-3476F4FC2442}"/>
              </a:ext>
            </a:extLst>
          </p:cNvPr>
          <p:cNvSpPr txBox="1"/>
          <p:nvPr/>
        </p:nvSpPr>
        <p:spPr>
          <a:xfrm>
            <a:off x="622000" y="3042023"/>
            <a:ext cx="7900000" cy="2215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 For Frontier-Scale Models (GPT 5+, Opus 4+)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 (N)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tokens (D)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20 trillion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 NVIDIA H100 = 4,000 trillion FLOP/second and 50% effective throughput</a:t>
            </a:r>
          </a:p>
          <a:p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pre-training run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17 million GPU-hours 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$35m (assuming $2/hour rental)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Other training costs: failed runs, experiments, post-training (SFT+RLHF); total R&amp;D may be 5-10x higher </a:t>
            </a:r>
            <a:r>
              <a:rPr lang="en-US" sz="8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(https://</a:t>
            </a:r>
            <a:r>
              <a:rPr lang="en-US" sz="800" dirty="0" err="1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epoch.ai</a:t>
            </a:r>
            <a:r>
              <a:rPr lang="en-US" sz="8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/gradient-updates/r-and-d-vs-training-compute)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DeepSeek-V3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29944" y="1699723"/>
            <a:ext cx="158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64944" y="1764723"/>
            <a:ext cx="1510000" cy="161583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9944" y="1699723"/>
            <a:ext cx="3330000" cy="33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4944" y="1764723"/>
            <a:ext cx="3260000" cy="161583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/>
              </a:rPr>
              <a:t>DeepSeek-V3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9944" y="3761416"/>
            <a:ext cx="326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/>
              </a:rPr>
              <a:t>GPT-4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9944" y="202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4944" y="208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endParaRPr sz="1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09944" y="202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4944" y="208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Published technical report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329944" y="235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74944" y="241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Tokens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9944" y="235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54944" y="241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14.8T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9944" y="268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4944" y="274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Compute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09944" y="268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54944" y="274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GPU-hours</a:t>
            </a:r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(H800s)</a:t>
            </a:r>
            <a:endParaRPr sz="10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29944" y="301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4944" y="307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Hardware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09944" y="301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4944" y="307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2,048 NVIDIA H800s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9944" y="334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4944" y="340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GPU rental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09944" y="334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954944" y="340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$2/</a:t>
            </a:r>
            <a:r>
              <a:rPr lang="en-US" sz="1000" dirty="0" b="0">
                <a:solidFill>
                  <a:srgbClr val="000000"/>
                </a:solidFill>
                <a:latin typeface="Arial"/>
              </a:rPr>
              <a:t>hour</a:t>
            </a:r>
            <a:endParaRPr sz="10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329944" y="3679723"/>
            <a:ext cx="158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374944" y="373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Final run cost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09944" y="3679723"/>
            <a:ext cx="3330000" cy="33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954944" y="373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Arial"/>
              </a:rPr>
              <a:t>$5.</a:t>
            </a:r>
            <a:r>
              <a:rPr lang="en-US" sz="1000" b="0" dirty="0">
                <a:solidFill>
                  <a:srgbClr val="000000"/>
                </a:solidFill>
                <a:latin typeface="Arial"/>
              </a:rPr>
              <a:t>6</a:t>
            </a:r>
            <a:r>
              <a:rPr sz="1000" b="0" dirty="0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29944" y="4009723"/>
            <a:ext cx="158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74944" y="4061723"/>
            <a:ext cx="149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FLOPs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09944" y="4009723"/>
            <a:ext cx="3330000" cy="33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954944" y="4061723"/>
            <a:ext cx="3240000" cy="15388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sz="1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3e24 from active params × tokens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F025D2-1291-64E3-49B1-7AC0D0D5DDF8}"/>
              </a:ext>
            </a:extLst>
          </p:cNvPr>
          <p:cNvSpPr txBox="1"/>
          <p:nvPr/>
        </p:nvSpPr>
        <p:spPr>
          <a:xfrm>
            <a:off x="457200" y="1174777"/>
            <a:ext cx="79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DeepSeek-V3 is one of the few large models where all details are published</a:t>
            </a:r>
            <a:endParaRPr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B12B-3F37-8AEA-B8F6-9E29CFF8E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71FD1E-788B-3073-4067-66E7E137CB38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D42C9-ACD7-E1ED-92C0-814967DEA0DA}"/>
              </a:ext>
            </a:extLst>
          </p:cNvPr>
          <p:cNvSpPr txBox="1"/>
          <p:nvPr/>
        </p:nvSpPr>
        <p:spPr>
          <a:xfrm>
            <a:off x="457200" y="333196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SpaceX’s Colossus 1 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5248CA2-009A-E395-14C7-5F3FA10F967E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A5309BB-8B30-3D67-3901-EA9CC83BDCEB}"/>
              </a:ext>
            </a:extLst>
          </p:cNvPr>
          <p:cNvSpPr txBox="1"/>
          <p:nvPr/>
        </p:nvSpPr>
        <p:spPr>
          <a:xfrm>
            <a:off x="6239944" y="3761416"/>
            <a:ext cx="3260000" cy="2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/>
              </a:rPr>
              <a:t>GPT-4</a:t>
            </a:r>
          </a:p>
        </p:txBody>
      </p:sp>
      <p:pic>
        <p:nvPicPr>
          <p:cNvPr id="5" name="Picture 2" descr="About xAI | xAI Memphis">
            <a:extLst>
              <a:ext uri="{FF2B5EF4-FFF2-40B4-BE49-F238E27FC236}">
                <a16:creationId xmlns:a16="http://schemas.microsoft.com/office/drawing/2014/main" id="{EB70D9DA-1C09-8AAB-7FDC-8ABE3497B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0" r="6506"/>
          <a:stretch>
            <a:fillRect/>
          </a:stretch>
        </p:blipFill>
        <p:spPr bwMode="auto">
          <a:xfrm>
            <a:off x="1907257" y="1132084"/>
            <a:ext cx="4332687" cy="18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FCAB7D-183F-0CC5-BB28-B50A20384714}"/>
              </a:ext>
            </a:extLst>
          </p:cNvPr>
          <p:cNvSpPr txBox="1"/>
          <p:nvPr/>
        </p:nvSpPr>
        <p:spPr>
          <a:xfrm>
            <a:off x="208202" y="1789324"/>
            <a:ext cx="2129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GPUs </a:t>
            </a:r>
          </a:p>
          <a:p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(NVIDIA H100s)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 </a:t>
            </a:r>
            <a:endParaRPr lang="en-US" sz="1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78F82-EC17-9590-4818-2C451D64169A}"/>
              </a:ext>
            </a:extLst>
          </p:cNvPr>
          <p:cNvSpPr txBox="1"/>
          <p:nvPr/>
        </p:nvSpPr>
        <p:spPr>
          <a:xfrm>
            <a:off x="1178904" y="3427832"/>
            <a:ext cx="83210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Assuming Anthropic leases from SpaceX at $1/GPU-hour: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220,000 x 24 x 365 x 1 = </a:t>
            </a:r>
            <a:r>
              <a:rPr lang="en-US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$1.9b/year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compute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map of a city&#10;&#10;AI-generated content may be incorrect.">
            <a:extLst>
              <a:ext uri="{FF2B5EF4-FFF2-40B4-BE49-F238E27FC236}">
                <a16:creationId xmlns:a16="http://schemas.microsoft.com/office/drawing/2014/main" id="{79FF52E4-956B-6D97-066B-81B608275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800" y="1074931"/>
            <a:ext cx="2611346" cy="201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87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46104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Raw GPU Inference Cost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85BE4EB-8B5C-98CC-9D95-DA3DDB880899}"/>
              </a:ext>
            </a:extLst>
          </p:cNvPr>
          <p:cNvSpPr/>
          <p:nvPr/>
        </p:nvSpPr>
        <p:spPr>
          <a:xfrm>
            <a:off x="1936297" y="1066991"/>
            <a:ext cx="5054600" cy="667245"/>
          </a:xfrm>
          <a:prstGeom prst="roundRect">
            <a:avLst/>
          </a:prstGeom>
          <a:solidFill>
            <a:srgbClr val="ECF4FB"/>
          </a:solidFill>
          <a:ln w="10160">
            <a:solidFill>
              <a:srgbClr val="003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5000" tIns="45000" rIns="75000" bIns="45000" rtlCol="0" anchor="ctr"/>
          <a:lstStyle/>
          <a:p>
            <a:pPr algn="ctr"/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Inference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FLOPs ≈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2</a:t>
            </a:r>
            <a:r>
              <a:rPr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× N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per token</a:t>
            </a:r>
            <a:endParaRPr sz="2000" b="1" dirty="0">
              <a:solidFill>
                <a:srgbClr val="00558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400" b="0" dirty="0">
                <a:solidFill>
                  <a:srgbClr val="000000"/>
                </a:solidFill>
                <a:latin typeface="Arial"/>
              </a:rPr>
              <a:t>N = active parameters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6FD84E6-EFC8-D808-6022-3B3DBD6367D4}"/>
              </a:ext>
            </a:extLst>
          </p:cNvPr>
          <p:cNvGrpSpPr/>
          <p:nvPr/>
        </p:nvGrpSpPr>
        <p:grpSpPr>
          <a:xfrm>
            <a:off x="2177643" y="2296419"/>
            <a:ext cx="4813254" cy="1127615"/>
            <a:chOff x="677439" y="2093615"/>
            <a:chExt cx="4813254" cy="112761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C17E0C3-43C6-E1BF-FE02-9D28BDB1D324}"/>
                </a:ext>
              </a:extLst>
            </p:cNvPr>
            <p:cNvSpPr txBox="1"/>
            <p:nvPr/>
          </p:nvSpPr>
          <p:spPr>
            <a:xfrm>
              <a:off x="1205902" y="2093615"/>
              <a:ext cx="12374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X 100B </a:t>
              </a:r>
            </a:p>
            <a:p>
              <a:pPr algn="ctr"/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C6273B7-9707-FAC5-BE9A-4425B1895F1C}"/>
                </a:ext>
              </a:extLst>
            </p:cNvPr>
            <p:cNvCxnSpPr>
              <a:cxnSpLocks/>
            </p:cNvCxnSpPr>
            <p:nvPr/>
          </p:nvCxnSpPr>
          <p:spPr>
            <a:xfrm>
              <a:off x="1033568" y="2512740"/>
              <a:ext cx="1713908" cy="0"/>
            </a:xfrm>
            <a:prstGeom prst="line">
              <a:avLst/>
            </a:prstGeom>
            <a:ln w="12700">
              <a:solid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D9671D1-71A0-1D16-02B2-084B6AC6F29F}"/>
                </a:ext>
              </a:extLst>
            </p:cNvPr>
            <p:cNvSpPr txBox="1"/>
            <p:nvPr/>
          </p:nvSpPr>
          <p:spPr>
            <a:xfrm>
              <a:off x="677439" y="2574899"/>
              <a:ext cx="24860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4,000 TFLOP/s x 20%</a:t>
              </a:r>
              <a:br>
                <a:rPr lang="en-US" b="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FD5CCD4-2030-629D-06B1-8D016DB214C0}"/>
                </a:ext>
              </a:extLst>
            </p:cNvPr>
            <p:cNvSpPr txBox="1"/>
            <p:nvPr/>
          </p:nvSpPr>
          <p:spPr>
            <a:xfrm>
              <a:off x="3004668" y="2328074"/>
              <a:ext cx="24860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  0.00025 sec/token</a:t>
              </a: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ADB684F-0551-FF9C-31CD-9D384CA819E8}"/>
              </a:ext>
            </a:extLst>
          </p:cNvPr>
          <p:cNvSpPr txBox="1"/>
          <p:nvPr/>
        </p:nvSpPr>
        <p:spPr>
          <a:xfrm>
            <a:off x="1936297" y="3951630"/>
            <a:ext cx="4999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$2/GPU-hour 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$0.15 per 1M tokens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780B8E2-4ABC-48DB-2C60-5B336639B5D0}"/>
              </a:ext>
            </a:extLst>
          </p:cNvPr>
          <p:cNvSpPr txBox="1"/>
          <p:nvPr/>
        </p:nvSpPr>
        <p:spPr>
          <a:xfrm>
            <a:off x="3390726" y="2026995"/>
            <a:ext cx="312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118265E-978B-5654-9D19-AE0578270523}"/>
              </a:ext>
            </a:extLst>
          </p:cNvPr>
          <p:cNvSpPr txBox="1"/>
          <p:nvPr/>
        </p:nvSpPr>
        <p:spPr>
          <a:xfrm>
            <a:off x="2351474" y="3193994"/>
            <a:ext cx="1592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H100 peak output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8D9C82F-DB7E-B79D-A445-54987B06C428}"/>
              </a:ext>
            </a:extLst>
          </p:cNvPr>
          <p:cNvSpPr txBox="1"/>
          <p:nvPr/>
        </p:nvSpPr>
        <p:spPr>
          <a:xfrm>
            <a:off x="3943568" y="3212174"/>
            <a:ext cx="1402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efficiency factor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7779E-0693-CEC8-7BD6-AFCD859A2F64}"/>
              </a:ext>
            </a:extLst>
          </p:cNvPr>
          <p:cNvSpPr txBox="1"/>
          <p:nvPr/>
        </p:nvSpPr>
        <p:spPr>
          <a:xfrm>
            <a:off x="195541" y="4567976"/>
            <a:ext cx="8948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casual user: 1M per month; heavy coder 10x; autonomous agent 100x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Inference 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Likely 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Dominate</a:t>
            </a:r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Lifetime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23631"/>
            <a:ext cx="83210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dirty="0" b="0">
                <a:solidFill>
                  <a:srgbClr val="000000"/>
                </a:solidFill>
                <a:latin typeface="Arial"/>
              </a:rPr>
              <a:t>Training is </a:t>
            </a:r>
            <a:r>
              <a:rPr lang="en-US" sz="2000" dirty="0" b="0">
                <a:solidFill>
                  <a:srgbClr val="000000"/>
                </a:solidFill>
                <a:latin typeface="Arial"/>
              </a:rPr>
              <a:t>one-time, inference is ongoing</a:t>
            </a:r>
            <a:endParaRPr sz="2000" dirty="0">
              <a:solidFill>
                <a:srgbClr val="1F1F1F"/>
              </a:solidFill>
              <a:latin typeface="Arial"/>
            </a:endParaRPr>
          </a:p>
        </p:txBody>
      </p:sp>
      <p:pic>
        <p:nvPicPr>
          <p:cNvPr id="7" name="Picture 6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866BC7FD-5403-6056-FA75-EDCB531545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41"/>
          <a:stretch>
            <a:fillRect/>
          </a:stretch>
        </p:blipFill>
        <p:spPr>
          <a:xfrm>
            <a:off x="1092675" y="1732971"/>
            <a:ext cx="6214553" cy="314635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2D7F-C86E-5D99-8F5C-F5520791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F2C9C4-340B-1659-91C5-0FC5095DD01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BECF2F-4D43-5D4D-66F6-7E91DCECFD1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A0A13D57-106F-2D73-380E-15C5496BA68F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 w="13970"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Mixture-of-Experts (</a:t>
            </a: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MoE</a:t>
            </a: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)</a:t>
            </a:r>
            <a:endParaRPr lang="en-US" sz="28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7128AD-0B5C-0F50-0BBD-44E00484AAED}"/>
              </a:ext>
            </a:extLst>
          </p:cNvPr>
          <p:cNvGrpSpPr/>
          <p:nvPr/>
        </p:nvGrpSpPr>
        <p:grpSpPr>
          <a:xfrm>
            <a:off x="548119" y="1699197"/>
            <a:ext cx="2748621" cy="2553882"/>
            <a:chOff x="1305418" y="1403588"/>
            <a:chExt cx="2748621" cy="2553882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F897BE9-504D-7AD3-4034-CD899554682B}"/>
                </a:ext>
              </a:extLst>
            </p:cNvPr>
            <p:cNvSpPr/>
            <p:nvPr/>
          </p:nvSpPr>
          <p:spPr>
            <a:xfrm>
              <a:off x="2664490" y="290413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7A61DF87-2F5B-F3DF-36AE-48492CD6CC1B}"/>
                </a:ext>
              </a:extLst>
            </p:cNvPr>
            <p:cNvSpPr/>
            <p:nvPr/>
          </p:nvSpPr>
          <p:spPr>
            <a:xfrm>
              <a:off x="2396624" y="297434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A0269645-93E0-274D-70B5-FB84DA036AC0}"/>
                </a:ext>
              </a:extLst>
            </p:cNvPr>
            <p:cNvSpPr/>
            <p:nvPr/>
          </p:nvSpPr>
          <p:spPr>
            <a:xfrm>
              <a:off x="2434648" y="314737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A6051A6E-BD61-4FBE-20CC-C00F3B41CA2E}"/>
                </a:ext>
              </a:extLst>
            </p:cNvPr>
            <p:cNvSpPr/>
            <p:nvPr/>
          </p:nvSpPr>
          <p:spPr>
            <a:xfrm>
              <a:off x="2401760" y="330892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6B257E85-BB99-1174-C73E-3E2283F7448C}"/>
                </a:ext>
              </a:extLst>
            </p:cNvPr>
            <p:cNvSpPr/>
            <p:nvPr/>
          </p:nvSpPr>
          <p:spPr>
            <a:xfrm>
              <a:off x="2405443" y="297678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C73CF19C-D06C-5E0E-B727-9898C8CAB653}"/>
                </a:ext>
              </a:extLst>
            </p:cNvPr>
            <p:cNvSpPr/>
            <p:nvPr/>
          </p:nvSpPr>
          <p:spPr>
            <a:xfrm>
              <a:off x="2350121" y="314737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36E12681-2275-EE2D-5507-1614ACEEA5E5}"/>
                </a:ext>
              </a:extLst>
            </p:cNvPr>
            <p:cNvSpPr/>
            <p:nvPr/>
          </p:nvSpPr>
          <p:spPr>
            <a:xfrm>
              <a:off x="2343650" y="330892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226797F0-C810-868D-658D-B9581EE2620B}"/>
                </a:ext>
              </a:extLst>
            </p:cNvPr>
            <p:cNvSpPr/>
            <p:nvPr/>
          </p:nvSpPr>
          <p:spPr>
            <a:xfrm flipV="1">
              <a:off x="2433636" y="297434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100FC515-0B15-87DB-14E8-20325AABA386}"/>
                </a:ext>
              </a:extLst>
            </p:cNvPr>
            <p:cNvSpPr/>
            <p:nvPr/>
          </p:nvSpPr>
          <p:spPr>
            <a:xfrm>
              <a:off x="2362776" y="352772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B5FDF496-DEC6-2667-0A2C-DFB457D73292}"/>
                </a:ext>
              </a:extLst>
            </p:cNvPr>
            <p:cNvSpPr/>
            <p:nvPr/>
          </p:nvSpPr>
          <p:spPr>
            <a:xfrm>
              <a:off x="2362299" y="315132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117125E-5706-0E09-0DEC-C00F40D17DBF}"/>
                </a:ext>
              </a:extLst>
            </p:cNvPr>
            <p:cNvSpPr txBox="1"/>
            <p:nvPr/>
          </p:nvSpPr>
          <p:spPr>
            <a:xfrm>
              <a:off x="247089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64B173-C7D6-C339-711A-9C9851AA7D03}"/>
                </a:ext>
              </a:extLst>
            </p:cNvPr>
            <p:cNvSpPr txBox="1"/>
            <p:nvPr/>
          </p:nvSpPr>
          <p:spPr>
            <a:xfrm>
              <a:off x="2497516" y="2729854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079194B-F777-D2D1-2D77-B48915D559E5}"/>
                </a:ext>
              </a:extLst>
            </p:cNvPr>
            <p:cNvSpPr/>
            <p:nvPr/>
          </p:nvSpPr>
          <p:spPr>
            <a:xfrm>
              <a:off x="2002868" y="1577158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FF00E8A7-E5FD-A06A-3BE5-EB37259654CA}"/>
                </a:ext>
              </a:extLst>
            </p:cNvPr>
            <p:cNvSpPr/>
            <p:nvPr/>
          </p:nvSpPr>
          <p:spPr>
            <a:xfrm>
              <a:off x="2666873" y="1578874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74919145-54EC-9074-D1E3-0A6DBDA48E27}"/>
                </a:ext>
              </a:extLst>
            </p:cNvPr>
            <p:cNvSpPr/>
            <p:nvPr/>
          </p:nvSpPr>
          <p:spPr>
            <a:xfrm>
              <a:off x="2399007" y="1649083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14151562-D596-13A1-29DF-5836ED64278D}"/>
                </a:ext>
              </a:extLst>
            </p:cNvPr>
            <p:cNvSpPr/>
            <p:nvPr/>
          </p:nvSpPr>
          <p:spPr>
            <a:xfrm>
              <a:off x="2437030" y="1822115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C2967EE6-F354-1750-6579-D886B6638664}"/>
                </a:ext>
              </a:extLst>
            </p:cNvPr>
            <p:cNvSpPr/>
            <p:nvPr/>
          </p:nvSpPr>
          <p:spPr>
            <a:xfrm>
              <a:off x="2404142" y="1983661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4FF8A511-D62A-888B-E7D1-47870E474F41}"/>
                </a:ext>
              </a:extLst>
            </p:cNvPr>
            <p:cNvSpPr/>
            <p:nvPr/>
          </p:nvSpPr>
          <p:spPr>
            <a:xfrm>
              <a:off x="2407826" y="1651521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9F90A176-899F-D889-1B38-93F7F1FDFF5E}"/>
                </a:ext>
              </a:extLst>
            </p:cNvPr>
            <p:cNvSpPr/>
            <p:nvPr/>
          </p:nvSpPr>
          <p:spPr>
            <a:xfrm>
              <a:off x="2352504" y="1822115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A0C3F9DD-B34A-846B-5EEB-BBE068FF008D}"/>
                </a:ext>
              </a:extLst>
            </p:cNvPr>
            <p:cNvSpPr/>
            <p:nvPr/>
          </p:nvSpPr>
          <p:spPr>
            <a:xfrm>
              <a:off x="2346033" y="1983661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2832ABAA-9E48-DBB9-5CC6-530604A3A8A1}"/>
                </a:ext>
              </a:extLst>
            </p:cNvPr>
            <p:cNvSpPr/>
            <p:nvPr/>
          </p:nvSpPr>
          <p:spPr>
            <a:xfrm flipV="1">
              <a:off x="2436018" y="1649082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93E62B2D-3FB6-0E5A-F3F9-7CC7CC7A3B74}"/>
                </a:ext>
              </a:extLst>
            </p:cNvPr>
            <p:cNvSpPr/>
            <p:nvPr/>
          </p:nvSpPr>
          <p:spPr>
            <a:xfrm>
              <a:off x="2365158" y="2202466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A4E23784-3B87-2BB4-1E2C-BCE91E117866}"/>
                </a:ext>
              </a:extLst>
            </p:cNvPr>
            <p:cNvSpPr/>
            <p:nvPr/>
          </p:nvSpPr>
          <p:spPr>
            <a:xfrm>
              <a:off x="2364681" y="1826062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859CBFA-798A-321F-BF07-5A4AB3F0DB4C}"/>
                </a:ext>
              </a:extLst>
            </p:cNvPr>
            <p:cNvCxnSpPr>
              <a:cxnSpLocks/>
            </p:cNvCxnSpPr>
            <p:nvPr/>
          </p:nvCxnSpPr>
          <p:spPr>
            <a:xfrm>
              <a:off x="1721880" y="2752422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05D5BFB-FD91-F93E-2728-37E1311C7F64}"/>
                </a:ext>
              </a:extLst>
            </p:cNvPr>
            <p:cNvSpPr/>
            <p:nvPr/>
          </p:nvSpPr>
          <p:spPr>
            <a:xfrm>
              <a:off x="1357085" y="2527743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173907-F81B-BD9A-3A01-22B9250B5076}"/>
                </a:ext>
              </a:extLst>
            </p:cNvPr>
            <p:cNvSpPr txBox="1"/>
            <p:nvPr/>
          </p:nvSpPr>
          <p:spPr>
            <a:xfrm>
              <a:off x="1305418" y="2607757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87823E8-1CC3-B865-7411-0A3787F297E8}"/>
                </a:ext>
              </a:extLst>
            </p:cNvPr>
            <p:cNvSpPr txBox="1"/>
            <p:nvPr/>
          </p:nvSpPr>
          <p:spPr>
            <a:xfrm>
              <a:off x="1696544" y="14035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59" name="Elbow Connector 58">
              <a:extLst>
                <a:ext uri="{FF2B5EF4-FFF2-40B4-BE49-F238E27FC236}">
                  <a16:creationId xmlns:a16="http://schemas.microsoft.com/office/drawing/2014/main" id="{A1707086-CC55-5170-7B30-13405F040E2A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2257213" y="2760320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93EE1022-4B3B-A43D-94E9-78CA4864214E}"/>
                </a:ext>
              </a:extLst>
            </p:cNvPr>
            <p:cNvCxnSpPr>
              <a:cxnSpLocks/>
              <a:stCxn id="5" idx="3"/>
              <a:endCxn id="20" idx="1"/>
            </p:cNvCxnSpPr>
            <p:nvPr/>
          </p:nvCxnSpPr>
          <p:spPr>
            <a:xfrm flipV="1">
              <a:off x="2257213" y="2093316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Elbow Connector 131">
              <a:extLst>
                <a:ext uri="{FF2B5EF4-FFF2-40B4-BE49-F238E27FC236}">
                  <a16:creationId xmlns:a16="http://schemas.microsoft.com/office/drawing/2014/main" id="{77B0C3A3-30A5-9D83-06DF-CE2246085CBA}"/>
                </a:ext>
              </a:extLst>
            </p:cNvPr>
            <p:cNvCxnSpPr>
              <a:cxnSpLocks/>
              <a:stCxn id="20" idx="3"/>
              <a:endCxn id="136" idx="1"/>
            </p:cNvCxnSpPr>
            <p:nvPr/>
          </p:nvCxnSpPr>
          <p:spPr>
            <a:xfrm>
              <a:off x="3111496" y="2093316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ounded Rectangle 135">
              <a:extLst>
                <a:ext uri="{FF2B5EF4-FFF2-40B4-BE49-F238E27FC236}">
                  <a16:creationId xmlns:a16="http://schemas.microsoft.com/office/drawing/2014/main" id="{A91449D6-4686-345C-E229-FB4FF8F65E70}"/>
                </a:ext>
              </a:extLst>
            </p:cNvPr>
            <p:cNvSpPr/>
            <p:nvPr/>
          </p:nvSpPr>
          <p:spPr>
            <a:xfrm>
              <a:off x="3518663" y="1603331"/>
              <a:ext cx="203761" cy="2354139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138" name="Elbow Connector 137">
              <a:extLst>
                <a:ext uri="{FF2B5EF4-FFF2-40B4-BE49-F238E27FC236}">
                  <a16:creationId xmlns:a16="http://schemas.microsoft.com/office/drawing/2014/main" id="{258ABE58-8F62-B623-6E31-AC40FB820F61}"/>
                </a:ext>
              </a:extLst>
            </p:cNvPr>
            <p:cNvCxnSpPr>
              <a:cxnSpLocks/>
              <a:stCxn id="7" idx="3"/>
              <a:endCxn id="136" idx="1"/>
            </p:cNvCxnSpPr>
            <p:nvPr/>
          </p:nvCxnSpPr>
          <p:spPr>
            <a:xfrm flipV="1">
              <a:off x="3109113" y="2780401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342C69D-73E4-F42F-97D4-65756CA5DE75}"/>
                </a:ext>
              </a:extLst>
            </p:cNvPr>
            <p:cNvCxnSpPr>
              <a:cxnSpLocks/>
            </p:cNvCxnSpPr>
            <p:nvPr/>
          </p:nvCxnSpPr>
          <p:spPr>
            <a:xfrm>
              <a:off x="3722424" y="2780400"/>
              <a:ext cx="188564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DF6FD855-28AE-1A32-E5B4-ACD6A2ED7FF7}"/>
                </a:ext>
              </a:extLst>
            </p:cNvPr>
            <p:cNvSpPr txBox="1"/>
            <p:nvPr/>
          </p:nvSpPr>
          <p:spPr>
            <a:xfrm>
              <a:off x="3187047" y="140958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dense layer</a:t>
              </a: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DB1985A-F54F-DA84-DFD6-80524FA46572}"/>
              </a:ext>
            </a:extLst>
          </p:cNvPr>
          <p:cNvSpPr txBox="1"/>
          <p:nvPr/>
        </p:nvSpPr>
        <p:spPr>
          <a:xfrm>
            <a:off x="413007" y="4389292"/>
            <a:ext cx="3889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Classic transformer block: 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token passes through the same dense layer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C81237-F328-F62C-589F-5BA54971EC58}"/>
              </a:ext>
            </a:extLst>
          </p:cNvPr>
          <p:cNvGrpSpPr/>
          <p:nvPr/>
        </p:nvGrpSpPr>
        <p:grpSpPr>
          <a:xfrm>
            <a:off x="4286013" y="1685819"/>
            <a:ext cx="4529493" cy="2554239"/>
            <a:chOff x="4281784" y="1325209"/>
            <a:chExt cx="4529493" cy="2554239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2EE2EACB-91EC-7757-DA07-89F0FBC35ABB}"/>
                </a:ext>
              </a:extLst>
            </p:cNvPr>
            <p:cNvSpPr/>
            <p:nvPr/>
          </p:nvSpPr>
          <p:spPr>
            <a:xfrm>
              <a:off x="5640856" y="2825756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DB8D34F7-08B3-C5FB-AA24-648CB4DE7242}"/>
                </a:ext>
              </a:extLst>
            </p:cNvPr>
            <p:cNvSpPr/>
            <p:nvPr/>
          </p:nvSpPr>
          <p:spPr>
            <a:xfrm>
              <a:off x="5372990" y="289596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AB235AC3-9951-1A14-5A35-46443C7F218F}"/>
                </a:ext>
              </a:extLst>
            </p:cNvPr>
            <p:cNvSpPr/>
            <p:nvPr/>
          </p:nvSpPr>
          <p:spPr>
            <a:xfrm>
              <a:off x="5411014" y="3068997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07D28C2B-6818-A944-63FD-D87275B457F4}"/>
                </a:ext>
              </a:extLst>
            </p:cNvPr>
            <p:cNvSpPr/>
            <p:nvPr/>
          </p:nvSpPr>
          <p:spPr>
            <a:xfrm>
              <a:off x="5378126" y="3230543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6ADA67A3-3246-67BE-5396-F45687966606}"/>
                </a:ext>
              </a:extLst>
            </p:cNvPr>
            <p:cNvSpPr/>
            <p:nvPr/>
          </p:nvSpPr>
          <p:spPr>
            <a:xfrm>
              <a:off x="5381809" y="2898403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1238A72C-B758-AEFE-DBFD-4F717B082EDA}"/>
                </a:ext>
              </a:extLst>
            </p:cNvPr>
            <p:cNvSpPr/>
            <p:nvPr/>
          </p:nvSpPr>
          <p:spPr>
            <a:xfrm>
              <a:off x="5326487" y="3068997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9FBBFF3B-5BB1-67CF-2B64-C67B87463F42}"/>
                </a:ext>
              </a:extLst>
            </p:cNvPr>
            <p:cNvSpPr/>
            <p:nvPr/>
          </p:nvSpPr>
          <p:spPr>
            <a:xfrm>
              <a:off x="5320016" y="3230543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7A7300A3-4030-8E0C-4BE7-68EA26A95B0E}"/>
                </a:ext>
              </a:extLst>
            </p:cNvPr>
            <p:cNvSpPr/>
            <p:nvPr/>
          </p:nvSpPr>
          <p:spPr>
            <a:xfrm flipV="1">
              <a:off x="5410002" y="2895964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94255599-68B6-3537-D1EF-161722613641}"/>
                </a:ext>
              </a:extLst>
            </p:cNvPr>
            <p:cNvSpPr/>
            <p:nvPr/>
          </p:nvSpPr>
          <p:spPr>
            <a:xfrm>
              <a:off x="5339142" y="3449348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92C3696B-0B56-A118-E47C-AA65C51C7711}"/>
                </a:ext>
              </a:extLst>
            </p:cNvPr>
            <p:cNvSpPr/>
            <p:nvPr/>
          </p:nvSpPr>
          <p:spPr>
            <a:xfrm>
              <a:off x="5338665" y="307294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875014-59C4-739C-1D54-D1AEFFBC27FC}"/>
                </a:ext>
              </a:extLst>
            </p:cNvPr>
            <p:cNvSpPr txBox="1"/>
            <p:nvPr/>
          </p:nvSpPr>
          <p:spPr>
            <a:xfrm>
              <a:off x="544726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9D1BFB2-BD5B-2188-4670-B991A58E5546}"/>
                </a:ext>
              </a:extLst>
            </p:cNvPr>
            <p:cNvSpPr txBox="1"/>
            <p:nvPr/>
          </p:nvSpPr>
          <p:spPr>
            <a:xfrm>
              <a:off x="5473882" y="2651475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attention head 2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9FCB0F1F-CCEC-DF29-4006-7A73162F0DAA}"/>
                </a:ext>
              </a:extLst>
            </p:cNvPr>
            <p:cNvSpPr/>
            <p:nvPr/>
          </p:nvSpPr>
          <p:spPr>
            <a:xfrm>
              <a:off x="4979234" y="1498779"/>
              <a:ext cx="254345" cy="2366323"/>
            </a:xfrm>
            <a:prstGeom prst="round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5F0A7A8C-2D31-073E-EB3E-86B0B962E683}"/>
                </a:ext>
              </a:extLst>
            </p:cNvPr>
            <p:cNvSpPr/>
            <p:nvPr/>
          </p:nvSpPr>
          <p:spPr>
            <a:xfrm>
              <a:off x="5643239" y="1500495"/>
              <a:ext cx="444623" cy="1028883"/>
            </a:xfrm>
            <a:prstGeom prst="roundRect">
              <a:avLst/>
            </a:prstGeom>
            <a:solidFill>
              <a:srgbClr val="7030A0">
                <a:alpha val="25352"/>
              </a:srgb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3E3B0061-5068-2A4F-95A3-230A408D4221}"/>
                </a:ext>
              </a:extLst>
            </p:cNvPr>
            <p:cNvSpPr/>
            <p:nvPr/>
          </p:nvSpPr>
          <p:spPr>
            <a:xfrm>
              <a:off x="5375373" y="1570704"/>
              <a:ext cx="54586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4" name="Arc 73">
              <a:extLst>
                <a:ext uri="{FF2B5EF4-FFF2-40B4-BE49-F238E27FC236}">
                  <a16:creationId xmlns:a16="http://schemas.microsoft.com/office/drawing/2014/main" id="{A6AB8744-B6F3-2491-DFF4-E13EE4D34B61}"/>
                </a:ext>
              </a:extLst>
            </p:cNvPr>
            <p:cNvSpPr/>
            <p:nvPr/>
          </p:nvSpPr>
          <p:spPr>
            <a:xfrm>
              <a:off x="5413396" y="1743736"/>
              <a:ext cx="538876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0A08B959-5ECE-0DD6-6E0C-484323A57653}"/>
                </a:ext>
              </a:extLst>
            </p:cNvPr>
            <p:cNvSpPr/>
            <p:nvPr/>
          </p:nvSpPr>
          <p:spPr>
            <a:xfrm>
              <a:off x="5380508" y="1905282"/>
              <a:ext cx="586327" cy="542848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90CA07BB-165C-8D04-F7BF-0A999950B7B2}"/>
                </a:ext>
              </a:extLst>
            </p:cNvPr>
            <p:cNvSpPr/>
            <p:nvPr/>
          </p:nvSpPr>
          <p:spPr>
            <a:xfrm>
              <a:off x="5384192" y="1573142"/>
              <a:ext cx="538876" cy="332141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02795410-ADBB-A1AA-A690-1D0FFADBAABE}"/>
                </a:ext>
              </a:extLst>
            </p:cNvPr>
            <p:cNvSpPr/>
            <p:nvPr/>
          </p:nvSpPr>
          <p:spPr>
            <a:xfrm>
              <a:off x="5328870" y="1743736"/>
              <a:ext cx="638968" cy="704394"/>
            </a:xfrm>
            <a:prstGeom prst="arc">
              <a:avLst>
                <a:gd name="adj1" fmla="val 16401989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2EF3BBF0-CE99-418B-E1F3-A95E8A2B7CF1}"/>
                </a:ext>
              </a:extLst>
            </p:cNvPr>
            <p:cNvSpPr/>
            <p:nvPr/>
          </p:nvSpPr>
          <p:spPr>
            <a:xfrm>
              <a:off x="5322399" y="1905282"/>
              <a:ext cx="637965" cy="381302"/>
            </a:xfrm>
            <a:prstGeom prst="arc">
              <a:avLst>
                <a:gd name="adj1" fmla="val 16144000"/>
                <a:gd name="adj2" fmla="val 5338616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0" name="Arc 79">
              <a:extLst>
                <a:ext uri="{FF2B5EF4-FFF2-40B4-BE49-F238E27FC236}">
                  <a16:creationId xmlns:a16="http://schemas.microsoft.com/office/drawing/2014/main" id="{2BCEBF55-F19E-1AF0-059A-6AD27D532E9B}"/>
                </a:ext>
              </a:extLst>
            </p:cNvPr>
            <p:cNvSpPr/>
            <p:nvPr/>
          </p:nvSpPr>
          <p:spPr>
            <a:xfrm flipV="1">
              <a:off x="5412384" y="1570703"/>
              <a:ext cx="497376" cy="173032"/>
            </a:xfrm>
            <a:prstGeom prst="arc">
              <a:avLst>
                <a:gd name="adj1" fmla="val 16200000"/>
                <a:gd name="adj2" fmla="val 5338616"/>
              </a:avLst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57D012ED-9132-FEA1-D3C8-7F613ED394C8}"/>
                </a:ext>
              </a:extLst>
            </p:cNvPr>
            <p:cNvSpPr/>
            <p:nvPr/>
          </p:nvSpPr>
          <p:spPr>
            <a:xfrm>
              <a:off x="5341524" y="2124087"/>
              <a:ext cx="615929" cy="324043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84B61B6E-A9A0-75A4-6E88-3C3882874355}"/>
                </a:ext>
              </a:extLst>
            </p:cNvPr>
            <p:cNvSpPr/>
            <p:nvPr/>
          </p:nvSpPr>
          <p:spPr>
            <a:xfrm>
              <a:off x="5341047" y="1747683"/>
              <a:ext cx="600865" cy="365869"/>
            </a:xfrm>
            <a:prstGeom prst="arc">
              <a:avLst>
                <a:gd name="adj1" fmla="val 16144000"/>
                <a:gd name="adj2" fmla="val 518843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ED1A40F-4140-0BFB-D031-C0CFB96E2416}"/>
                </a:ext>
              </a:extLst>
            </p:cNvPr>
            <p:cNvCxnSpPr>
              <a:cxnSpLocks/>
            </p:cNvCxnSpPr>
            <p:nvPr/>
          </p:nvCxnSpPr>
          <p:spPr>
            <a:xfrm>
              <a:off x="4698246" y="2674043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8BD3C0A6-493B-8022-8F33-0161BD1F0179}"/>
                </a:ext>
              </a:extLst>
            </p:cNvPr>
            <p:cNvSpPr/>
            <p:nvPr/>
          </p:nvSpPr>
          <p:spPr>
            <a:xfrm>
              <a:off x="4333451" y="2449364"/>
              <a:ext cx="360772" cy="4430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A76E6DB-811C-2D1E-EB98-593435F55443}"/>
                </a:ext>
              </a:extLst>
            </p:cNvPr>
            <p:cNvSpPr txBox="1"/>
            <p:nvPr/>
          </p:nvSpPr>
          <p:spPr>
            <a:xfrm>
              <a:off x="4281784" y="2529378"/>
              <a:ext cx="4420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tokens</a:t>
              </a:r>
            </a:p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805BEBD-C459-B98D-C78B-FD67046ED82D}"/>
                </a:ext>
              </a:extLst>
            </p:cNvPr>
            <p:cNvSpPr txBox="1"/>
            <p:nvPr/>
          </p:nvSpPr>
          <p:spPr>
            <a:xfrm>
              <a:off x="4672910" y="1325209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raw embeddings</a:t>
              </a:r>
            </a:p>
          </p:txBody>
        </p: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83128CA5-CF02-29F6-A465-027112C59732}"/>
                </a:ext>
              </a:extLst>
            </p:cNvPr>
            <p:cNvCxnSpPr>
              <a:cxnSpLocks/>
              <a:stCxn id="69" idx="3"/>
              <a:endCxn id="56" idx="1"/>
            </p:cNvCxnSpPr>
            <p:nvPr/>
          </p:nvCxnSpPr>
          <p:spPr>
            <a:xfrm>
              <a:off x="5233579" y="2681941"/>
              <a:ext cx="407277" cy="658257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>
              <a:extLst>
                <a:ext uri="{FF2B5EF4-FFF2-40B4-BE49-F238E27FC236}">
                  <a16:creationId xmlns:a16="http://schemas.microsoft.com/office/drawing/2014/main" id="{A8BA6DDE-C0F9-2F1B-F588-3AB737F17B51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 flipV="1">
              <a:off x="5233579" y="2014937"/>
              <a:ext cx="409660" cy="667004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3CFAA310-B8C2-014C-E583-A8261253C70E}"/>
                </a:ext>
              </a:extLst>
            </p:cNvPr>
            <p:cNvCxnSpPr>
              <a:cxnSpLocks/>
              <a:stCxn id="70" idx="3"/>
              <a:endCxn id="90" idx="1"/>
            </p:cNvCxnSpPr>
            <p:nvPr/>
          </p:nvCxnSpPr>
          <p:spPr>
            <a:xfrm>
              <a:off x="6087862" y="2014937"/>
              <a:ext cx="407167" cy="687085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B1B2E312-3D20-06DC-6D03-9E171EB54784}"/>
                </a:ext>
              </a:extLst>
            </p:cNvPr>
            <p:cNvSpPr/>
            <p:nvPr/>
          </p:nvSpPr>
          <p:spPr>
            <a:xfrm>
              <a:off x="6495029" y="1524952"/>
              <a:ext cx="203761" cy="235413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cxnSp>
          <p:nvCxnSpPr>
            <p:cNvPr id="91" name="Elbow Connector 90">
              <a:extLst>
                <a:ext uri="{FF2B5EF4-FFF2-40B4-BE49-F238E27FC236}">
                  <a16:creationId xmlns:a16="http://schemas.microsoft.com/office/drawing/2014/main" id="{FB9A6FEC-5DD8-F414-5E73-68931DFF3AEC}"/>
                </a:ext>
              </a:extLst>
            </p:cNvPr>
            <p:cNvCxnSpPr>
              <a:cxnSpLocks/>
              <a:stCxn id="56" idx="3"/>
              <a:endCxn id="90" idx="1"/>
            </p:cNvCxnSpPr>
            <p:nvPr/>
          </p:nvCxnSpPr>
          <p:spPr>
            <a:xfrm flipV="1">
              <a:off x="6085479" y="2702022"/>
              <a:ext cx="409550" cy="638176"/>
            </a:xfrm>
            <a:prstGeom prst="bentConnector3">
              <a:avLst>
                <a:gd name="adj1" fmla="val 50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197CCB7-D077-AD64-1619-FA61246F0603}"/>
                </a:ext>
              </a:extLst>
            </p:cNvPr>
            <p:cNvSpPr txBox="1"/>
            <p:nvPr/>
          </p:nvSpPr>
          <p:spPr>
            <a:xfrm>
              <a:off x="6163413" y="133121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router</a:t>
              </a:r>
            </a:p>
          </p:txBody>
        </p:sp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57106656-BF1A-B613-2251-EE91695FCFB3}"/>
                </a:ext>
              </a:extLst>
            </p:cNvPr>
            <p:cNvSpPr/>
            <p:nvPr/>
          </p:nvSpPr>
          <p:spPr>
            <a:xfrm>
              <a:off x="6898477" y="1505019"/>
              <a:ext cx="173576" cy="404182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370C27F1-C0AF-446D-D3EE-D111F9DE6A3C}"/>
                </a:ext>
              </a:extLst>
            </p:cNvPr>
            <p:cNvSpPr/>
            <p:nvPr/>
          </p:nvSpPr>
          <p:spPr>
            <a:xfrm>
              <a:off x="6918130" y="2133030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85591CB-5438-317C-D7C1-D0F0D2444FDE}"/>
                </a:ext>
              </a:extLst>
            </p:cNvPr>
            <p:cNvSpPr txBox="1"/>
            <p:nvPr/>
          </p:nvSpPr>
          <p:spPr>
            <a:xfrm>
              <a:off x="6593138" y="1331100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1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DD9E7FA-B206-2EE1-491E-3AAEBC1FC22F}"/>
                </a:ext>
              </a:extLst>
            </p:cNvPr>
            <p:cNvSpPr txBox="1"/>
            <p:nvPr/>
          </p:nvSpPr>
          <p:spPr>
            <a:xfrm>
              <a:off x="6590717" y="1958051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AF672FA-9071-F9CB-4B58-8A643F46E2D8}"/>
                </a:ext>
              </a:extLst>
            </p:cNvPr>
            <p:cNvSpPr txBox="1"/>
            <p:nvPr/>
          </p:nvSpPr>
          <p:spPr>
            <a:xfrm>
              <a:off x="6629961" y="3291288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256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A866A3B-1E8B-F906-7E7A-8AE16FAA05BE}"/>
                </a:ext>
              </a:extLst>
            </p:cNvPr>
            <p:cNvSpPr/>
            <p:nvPr/>
          </p:nvSpPr>
          <p:spPr>
            <a:xfrm>
              <a:off x="6925989" y="3475954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8720C8F4-B038-77F0-EDC2-37EBD6FD8499}"/>
                </a:ext>
              </a:extLst>
            </p:cNvPr>
            <p:cNvSpPr/>
            <p:nvPr/>
          </p:nvSpPr>
          <p:spPr>
            <a:xfrm>
              <a:off x="6925989" y="2786065"/>
              <a:ext cx="168098" cy="403494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644933A-A0E5-2DF7-75D0-FC9A57DC3B81}"/>
                </a:ext>
              </a:extLst>
            </p:cNvPr>
            <p:cNvSpPr txBox="1"/>
            <p:nvPr/>
          </p:nvSpPr>
          <p:spPr>
            <a:xfrm>
              <a:off x="6590717" y="2584463"/>
              <a:ext cx="86699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i="1" dirty="0" b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3</a:t>
              </a:r>
            </a:p>
          </p:txBody>
        </p:sp>
        <p:sp>
          <p:nvSpPr>
            <p:cNvPr id="141" name="Rounded Rectangle 140">
              <a:extLst>
                <a:ext uri="{FF2B5EF4-FFF2-40B4-BE49-F238E27FC236}">
                  <a16:creationId xmlns:a16="http://schemas.microsoft.com/office/drawing/2014/main" id="{E4741B61-BBE4-1ADE-83AE-9C6E973BCED7}"/>
                </a:ext>
              </a:extLst>
            </p:cNvPr>
            <p:cNvSpPr/>
            <p:nvPr/>
          </p:nvSpPr>
          <p:spPr>
            <a:xfrm>
              <a:off x="7941380" y="2465762"/>
              <a:ext cx="574395" cy="262103"/>
            </a:xfrm>
            <a:prstGeom prst="roundRect">
              <a:avLst/>
            </a:prstGeom>
            <a:solidFill>
              <a:schemeClr val="bg1"/>
            </a:solidFill>
            <a:ln w="10160">
              <a:solidFill>
                <a:srgbClr val="003C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lang="en-US" sz="700" dirty="0" b="0">
                  <a:solidFill>
                    <a:srgbClr val="000000"/>
                  </a:solidFill>
                  <a:latin typeface="Arial"/>
                </a:rPr>
                <a:t>weighted sum</a:t>
              </a:r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C0294333-306E-00D8-74DF-FE25ABE09B1F}"/>
                </a:ext>
              </a:extLst>
            </p:cNvPr>
            <p:cNvCxnSpPr>
              <a:cxnSpLocks/>
            </p:cNvCxnSpPr>
            <p:nvPr/>
          </p:nvCxnSpPr>
          <p:spPr>
            <a:xfrm>
              <a:off x="8530289" y="2598977"/>
              <a:ext cx="280988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79042E37-B0C8-0A50-A944-E20A4D127456}"/>
              </a:ext>
            </a:extLst>
          </p:cNvPr>
          <p:cNvSpPr txBox="1"/>
          <p:nvPr/>
        </p:nvSpPr>
        <p:spPr>
          <a:xfrm>
            <a:off x="4025900" y="4411841"/>
            <a:ext cx="4967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MoE</a:t>
            </a:r>
            <a:r>
              <a:rPr lang="en-US" sz="14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 transformer</a:t>
            </a:r>
            <a:r>
              <a:rPr lang="en-US" sz="14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dense layer replaced with router + many experts; each token processed by only some experts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90BEC8-21C7-5D05-6EF8-9C007C07C5AD}"/>
              </a:ext>
            </a:extLst>
          </p:cNvPr>
          <p:cNvSpPr txBox="1"/>
          <p:nvPr/>
        </p:nvSpPr>
        <p:spPr>
          <a:xfrm>
            <a:off x="411480" y="967345"/>
            <a:ext cx="8321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Mixture-of-experts transformer dramatically decreases inference cost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in DeepSeek V3, probably used in most frontier models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ECAEF31-9FD7-8275-F352-4EC8D999864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334932" y="2576772"/>
            <a:ext cx="988814" cy="113166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EE5FBD6-5A73-663D-EFA0-563926F7856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52570" y="2865452"/>
            <a:ext cx="382496" cy="142124"/>
          </a:xfrm>
          <a:prstGeom prst="bentConnector3">
            <a:avLst>
              <a:gd name="adj1" fmla="val 10027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92607D96-CF0A-208A-BA5E-89C8DE61DA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88203" y="3212314"/>
            <a:ext cx="304016" cy="134911"/>
          </a:xfrm>
          <a:prstGeom prst="bentConnector3">
            <a:avLst>
              <a:gd name="adj1" fmla="val 100597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83A41D7E-66C7-2BD4-BAD8-F54E39D68E7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07630" y="3695190"/>
            <a:ext cx="679474" cy="149224"/>
          </a:xfrm>
          <a:prstGeom prst="bentConnector2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104">
            <a:extLst>
              <a:ext uri="{FF2B5EF4-FFF2-40B4-BE49-F238E27FC236}">
                <a16:creationId xmlns:a16="http://schemas.microsoft.com/office/drawing/2014/main" id="{01B1AD58-E044-0D23-9F11-CF4640FD029F}"/>
              </a:ext>
            </a:extLst>
          </p:cNvPr>
          <p:cNvCxnSpPr>
            <a:cxnSpLocks/>
          </p:cNvCxnSpPr>
          <p:nvPr/>
        </p:nvCxnSpPr>
        <p:spPr>
          <a:xfrm>
            <a:off x="7089815" y="2138948"/>
            <a:ext cx="847556" cy="88970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05749C92-347B-F226-F050-CDE91B9333FC}"/>
              </a:ext>
            </a:extLst>
          </p:cNvPr>
          <p:cNvCxnSpPr>
            <a:cxnSpLocks/>
          </p:cNvCxnSpPr>
          <p:nvPr/>
        </p:nvCxnSpPr>
        <p:spPr>
          <a:xfrm flipV="1">
            <a:off x="7111586" y="3028652"/>
            <a:ext cx="811271" cy="40141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6431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11120"/>
            <a:ext cx="83210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API Costs: Token-level Pricing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37000" y="1127450"/>
            <a:ext cx="300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000" y="1192450"/>
            <a:ext cx="2930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Model / 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Input / 1M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7000" y="1127450"/>
            <a:ext cx="1450000" cy="340000"/>
          </a:xfrm>
          <a:prstGeom prst="rect">
            <a:avLst/>
          </a:prstGeom>
          <a:solidFill>
            <a:srgbClr val="005587"/>
          </a:solidFill>
          <a:ln w="571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22000" y="1192450"/>
            <a:ext cx="13800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Output / 1M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7000" y="146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82000" y="151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OpenAI GPT-5.4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7000" y="146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2000" y="151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37000" y="180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82000" y="185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OpenAI GPT-5.5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7000" y="180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2000" y="185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37000" y="2147450"/>
            <a:ext cx="300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582000" y="219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Claude Sonnet 4.5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7000" y="2147450"/>
            <a:ext cx="1450000" cy="340000"/>
          </a:xfrm>
          <a:prstGeom prst="rect">
            <a:avLst/>
          </a:prstGeom>
          <a:solidFill>
            <a:srgbClr val="ECF4FB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32000" y="219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37000" y="2487450"/>
            <a:ext cx="300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82000" y="2539450"/>
            <a:ext cx="2910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Claude Opus 4.5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3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8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$5.00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7000" y="2487450"/>
            <a:ext cx="1450000" cy="340000"/>
          </a:xfrm>
          <a:prstGeom prst="rect">
            <a:avLst/>
          </a:prstGeom>
          <a:solidFill>
            <a:srgbClr val="FFFFFF"/>
          </a:solidFill>
          <a:ln w="4445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32000" y="2539450"/>
            <a:ext cx="1360000" cy="27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" b="0">
                <a:solidFill>
                  <a:srgbClr val="555555"/>
                </a:solidFill>
                <a:latin typeface="Arial"/>
              </a:rPr>
              <a:t>Sources: OpenAI API pricing; Anthropic Claude pricing docs and launch posts; Claude Code cost docs; TechCrunch reporting on Claude Code rate limits.</a:t>
            </a:r>
          </a:p>
        </p:txBody>
      </p:sp>
      <p:pic>
        <p:nvPicPr>
          <p:cNvPr id="56" name="Picture 55" descr="A close-up of a sign&#10;&#10;AI-generated content may be incorrect.">
            <a:extLst>
              <a:ext uri="{FF2B5EF4-FFF2-40B4-BE49-F238E27FC236}">
                <a16:creationId xmlns:a16="http://schemas.microsoft.com/office/drawing/2014/main" id="{D4CBEA2B-30DF-7169-988A-D20FB8CBC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" y="3182450"/>
            <a:ext cx="4264004" cy="1363236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2B81E61-2A27-4F21-9472-B64BB514977C}"/>
              </a:ext>
            </a:extLst>
          </p:cNvPr>
          <p:cNvCxnSpPr>
            <a:cxnSpLocks/>
          </p:cNvCxnSpPr>
          <p:nvPr/>
        </p:nvCxnSpPr>
        <p:spPr>
          <a:xfrm>
            <a:off x="4572000" y="3416057"/>
            <a:ext cx="548640" cy="0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9C1C89B-883B-A621-63E2-FDD173B0FDD7}"/>
              </a:ext>
            </a:extLst>
          </p:cNvPr>
          <p:cNvSpPr txBox="1"/>
          <p:nvPr/>
        </p:nvSpPr>
        <p:spPr>
          <a:xfrm>
            <a:off x="4503422" y="3469023"/>
            <a:ext cx="685795" cy="271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005587"/>
                </a:solidFill>
                <a:latin typeface="Whitney Bold"/>
              </a:rPr>
              <a:t>Per-Token Pricing Is Falling Fast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960120"/>
            <a:ext cx="83210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dirty="0" b="0">
                <a:solidFill>
                  <a:srgbClr val="000000"/>
                </a:solidFill>
                <a:latin typeface="Arial"/>
              </a:rPr>
              <a:t>API prices for the same intelligence level have dropped </a:t>
            </a:r>
            <a:r>
              <a:rPr lang="en-US" sz="1300" dirty="0" b="0">
                <a:solidFill>
                  <a:srgbClr val="000000"/>
                </a:solidFill>
                <a:latin typeface="Arial"/>
              </a:rPr>
              <a:t>steeply over the last few years</a:t>
            </a:r>
            <a:endParaRPr sz="130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321040" cy="36576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05587"/>
                </a:solidFill>
                <a:latin typeface="Whitney Bold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1280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Input $/1M 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17320"/>
            <a:ext cx="2057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05587"/>
                </a:solidFill>
                <a:latin typeface="Whitney Bold"/>
              </a:rPr>
              <a:t>Output $/1M tok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GPT-3 davinci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1783080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75688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075688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GPT-3.5 turbo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075688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075688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68296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368296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368296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2368296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60903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660903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GPT-4 turbo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660903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79" y="2660903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953511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2953511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GPT-4o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953511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$2.50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79" y="2953511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46119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3246119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GPT-4o 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246119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Whitney Bold"/>
              </a:rPr>
              <a:t>$0.15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79" y="3246119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Whitney Bold"/>
              </a:rPr>
              <a:t>$0.60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538727"/>
            <a:ext cx="8321040" cy="292608"/>
          </a:xfrm>
          <a:prstGeom prst="rect">
            <a:avLst/>
          </a:prstGeom>
          <a:solidFill>
            <a:srgbClr val="EEF3F8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8640" y="3538727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Claude 3.5 Sonnet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3538727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$3.00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79" y="3538727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$15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31335"/>
            <a:ext cx="832104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3831335"/>
            <a:ext cx="2743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Gemini 1.5 Flash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3831335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Whitney Bold"/>
              </a:rPr>
              <a:t>$0.075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79" y="3831335"/>
            <a:ext cx="187451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Whitney Bold"/>
              </a:rPr>
              <a:t>$0.30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solidFill>
            <a:srgbClr val="FDF6D8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371600" y="4572000"/>
            <a:ext cx="6400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55555"/>
                </a:solidFill>
                <a:latin typeface="Arial"/>
              </a:rPr>
              <a:t>Cost per million tokens for GPT-4-class output:  ~$60  →  ~$0.60  in two years.</a:t>
            </a:r>
          </a:p>
        </p:txBody>
      </p:sp>
    </p:spTree>
    <p:extLst>
      <p:ext uri="{BB962C8B-B14F-4D97-AF65-F5344CB8AC3E}">
        <p14:creationId xmlns:p14="http://schemas.microsoft.com/office/powerpoint/2010/main" val="18115880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Whitney Bold"/>
              </a:rPr>
              <a:t>Scaling Laws</a:t>
            </a:r>
          </a:p>
        </p:txBody>
      </p:sp>
    </p:spTree>
    <p:extLst>
      <p:ext uri="{BB962C8B-B14F-4D97-AF65-F5344CB8AC3E}">
        <p14:creationId xmlns:p14="http://schemas.microsoft.com/office/powerpoint/2010/main" val="40059593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Scaling Laws</a:t>
            </a:r>
            <a:endParaRPr sz="2800" b="1" dirty="0">
              <a:solidFill>
                <a:srgbClr val="005587"/>
              </a:solidFill>
              <a:latin typeface="Whitney Bol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03392F-9ABB-CC37-15DD-A0F6441F2891}"/>
              </a:ext>
            </a:extLst>
          </p:cNvPr>
          <p:cNvSpPr txBox="1"/>
          <p:nvPr/>
        </p:nvSpPr>
        <p:spPr>
          <a:xfrm>
            <a:off x="523702" y="1209192"/>
            <a:ext cx="825453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5587"/>
                </a:solidFill>
                <a:effectLst/>
                <a:latin typeface="Whitney Bold" panose="020B0604020202020204" pitchFamily="34" charset="0"/>
                <a:cs typeface="Arial" panose="020B0604020202020204" pitchFamily="34" charset="0"/>
              </a:rPr>
              <a:t>Scaling </a:t>
            </a:r>
            <a:r>
              <a:rPr lang="en-US" dirty="0" b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b="1" dirty="0">
                <a:solidFill>
                  <a:srgbClr val="005587"/>
                </a:solidFill>
                <a:effectLst/>
                <a:latin typeface="Whitney Bold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broad idea that AI performance improves predictably as we increase the computational resources used for training or inference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“resources” can mean:</a:t>
            </a:r>
          </a:p>
          <a:p>
            <a:endParaRPr lang="en-US" b="1" dirty="0">
              <a:solidFill>
                <a:srgbClr val="1A1C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More compute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GPU/TPU operations (FLOPs)</a:t>
            </a:r>
          </a:p>
          <a:p>
            <a:r>
              <a:rPr lang="en-US"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More data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more training examples/tokens</a:t>
            </a:r>
          </a:p>
          <a:p>
            <a:r>
              <a:rPr lang="en-US"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More parameters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larger model capacity</a:t>
            </a:r>
          </a:p>
          <a:p>
            <a:r>
              <a:rPr lang="en-US"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More inference-time compute</a:t>
            </a:r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letting the model reason longer at generation time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6266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72FC-5195-AA04-A32B-FC32AB43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BFD567-8E11-F609-FED0-D41B2160E97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775E3-697D-F568-94D2-D2C4163D7D36}"/>
              </a:ext>
            </a:extLst>
          </p:cNvPr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Loss Falls Predictably with Compute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5953B8F-F14E-DF23-E227-3231699CA758}"/>
              </a:ext>
            </a:extLst>
          </p:cNvPr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9EA757A-402C-6C78-4833-E05163566BA5}"/>
              </a:ext>
            </a:extLst>
          </p:cNvPr>
          <p:cNvSpPr txBox="1"/>
          <p:nvPr/>
        </p:nvSpPr>
        <p:spPr>
          <a:xfrm>
            <a:off x="457200" y="960120"/>
            <a:ext cx="8321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falls predictably with compute in controlled scaling-law studies</a:t>
            </a:r>
            <a:endParaRPr sz="1200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E887458-3D0F-DE37-DD61-D58AEF4E6DB7}"/>
              </a:ext>
            </a:extLst>
          </p:cNvPr>
          <p:cNvCxnSpPr/>
          <p:nvPr/>
        </p:nvCxnSpPr>
        <p:spPr>
          <a:xfrm>
            <a:off x="1097280" y="4609406"/>
            <a:ext cx="3840479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B621DBF9-9B97-7EAA-FD29-7F1C14997FA7}"/>
              </a:ext>
            </a:extLst>
          </p:cNvPr>
          <p:cNvCxnSpPr/>
          <p:nvPr/>
        </p:nvCxnSpPr>
        <p:spPr>
          <a:xfrm>
            <a:off x="1097280" y="2140527"/>
            <a:ext cx="0" cy="246887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10069D-6D9A-C0F2-BF3D-DD982A4841D0}"/>
              </a:ext>
            </a:extLst>
          </p:cNvPr>
          <p:cNvSpPr txBox="1"/>
          <p:nvPr/>
        </p:nvSpPr>
        <p:spPr>
          <a:xfrm>
            <a:off x="731520" y="4700847"/>
            <a:ext cx="4389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1" dirty="0">
                <a:solidFill>
                  <a:srgbClr val="555555"/>
                </a:solidFill>
                <a:latin typeface="Arial"/>
              </a:rPr>
              <a:t>compute used during training (log scale)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1CA86-846D-C7AD-FCF5-0A67C561C8CB}"/>
              </a:ext>
            </a:extLst>
          </p:cNvPr>
          <p:cNvSpPr txBox="1"/>
          <p:nvPr/>
        </p:nvSpPr>
        <p:spPr>
          <a:xfrm>
            <a:off x="246888" y="3054927"/>
            <a:ext cx="71780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 dirty="0">
                <a:solidFill>
                  <a:srgbClr val="000000"/>
                </a:solidFill>
                <a:latin typeface="Arial"/>
              </a:rPr>
              <a:t>test loss
</a:t>
            </a:r>
            <a:r>
              <a:rPr lang="en-US" sz="900" b="0" i="1" dirty="0">
                <a:solidFill>
                  <a:srgbClr val="000000"/>
                </a:solidFill>
                <a:latin typeface="Arial"/>
              </a:rPr>
              <a:t>(log scale)</a:t>
            </a:r>
            <a:endParaRPr sz="900" b="0" i="1" dirty="0">
              <a:solidFill>
                <a:srgbClr val="555555"/>
              </a:solidFill>
              <a:latin typeface="Arial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FDE7C1C-98A7-1CF1-22DF-6182D4242F45}"/>
              </a:ext>
            </a:extLst>
          </p:cNvPr>
          <p:cNvCxnSpPr/>
          <p:nvPr/>
        </p:nvCxnSpPr>
        <p:spPr>
          <a:xfrm>
            <a:off x="1595628" y="2497143"/>
            <a:ext cx="722376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53ED14F-C9C6-FA57-8CAE-E0DD7F9BE866}"/>
              </a:ext>
            </a:extLst>
          </p:cNvPr>
          <p:cNvCxnSpPr/>
          <p:nvPr/>
        </p:nvCxnSpPr>
        <p:spPr>
          <a:xfrm>
            <a:off x="2318004" y="2972631"/>
            <a:ext cx="902970" cy="475488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02A2CFC0-93AA-D2AC-7E2C-B9E5BD78BCA4}"/>
              </a:ext>
            </a:extLst>
          </p:cNvPr>
          <p:cNvCxnSpPr/>
          <p:nvPr/>
        </p:nvCxnSpPr>
        <p:spPr>
          <a:xfrm>
            <a:off x="3220974" y="3448119"/>
            <a:ext cx="902970" cy="356615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BBBEDC94-4F53-2004-2EF0-21F8CFEE158D}"/>
              </a:ext>
            </a:extLst>
          </p:cNvPr>
          <p:cNvCxnSpPr/>
          <p:nvPr/>
        </p:nvCxnSpPr>
        <p:spPr>
          <a:xfrm>
            <a:off x="4123944" y="3804734"/>
            <a:ext cx="541781" cy="237744"/>
          </a:xfrm>
          <a:prstGeom prst="line">
            <a:avLst/>
          </a:prstGeom>
          <a:ln w="25400">
            <a:solidFill>
              <a:srgbClr val="003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36C2E00E-0BA6-FAE4-E8E2-D60476260CDC}"/>
              </a:ext>
            </a:extLst>
          </p:cNvPr>
          <p:cNvSpPr/>
          <p:nvPr/>
        </p:nvSpPr>
        <p:spPr>
          <a:xfrm>
            <a:off x="1559052" y="2460567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E6F8B8-0ECF-228F-DC53-4424DAF781C8}"/>
              </a:ext>
            </a:extLst>
          </p:cNvPr>
          <p:cNvSpPr txBox="1"/>
          <p:nvPr/>
        </p:nvSpPr>
        <p:spPr>
          <a:xfrm>
            <a:off x="1184148" y="2570295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192BEC-4F23-678D-85CC-33953C781130}"/>
              </a:ext>
            </a:extLst>
          </p:cNvPr>
          <p:cNvSpPr/>
          <p:nvPr/>
        </p:nvSpPr>
        <p:spPr>
          <a:xfrm>
            <a:off x="2281428" y="2936055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19F2A0-FD00-4BCB-E27C-EBA280DA20B5}"/>
              </a:ext>
            </a:extLst>
          </p:cNvPr>
          <p:cNvSpPr txBox="1"/>
          <p:nvPr/>
        </p:nvSpPr>
        <p:spPr>
          <a:xfrm>
            <a:off x="1906524" y="3045783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231E34-E59D-C6A0-274B-A9D16F3EA5EC}"/>
              </a:ext>
            </a:extLst>
          </p:cNvPr>
          <p:cNvSpPr/>
          <p:nvPr/>
        </p:nvSpPr>
        <p:spPr>
          <a:xfrm>
            <a:off x="3184398" y="3411543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E0022F-B6E8-43BB-3947-2B26F75487C3}"/>
              </a:ext>
            </a:extLst>
          </p:cNvPr>
          <p:cNvSpPr txBox="1"/>
          <p:nvPr/>
        </p:nvSpPr>
        <p:spPr>
          <a:xfrm>
            <a:off x="2809494" y="3521271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PaLM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59E456-E54D-D199-0275-3CE2922339F1}"/>
              </a:ext>
            </a:extLst>
          </p:cNvPr>
          <p:cNvSpPr/>
          <p:nvPr/>
        </p:nvSpPr>
        <p:spPr>
          <a:xfrm>
            <a:off x="4087368" y="3768158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FCD284-8D57-84DD-D8AF-486CEE1F3B23}"/>
              </a:ext>
            </a:extLst>
          </p:cNvPr>
          <p:cNvSpPr txBox="1"/>
          <p:nvPr/>
        </p:nvSpPr>
        <p:spPr>
          <a:xfrm>
            <a:off x="3712463" y="3877886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GPT-4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7125037-D764-86FB-7F14-B12B9142B428}"/>
              </a:ext>
            </a:extLst>
          </p:cNvPr>
          <p:cNvSpPr/>
          <p:nvPr/>
        </p:nvSpPr>
        <p:spPr>
          <a:xfrm>
            <a:off x="4629149" y="4005902"/>
            <a:ext cx="73152" cy="73152"/>
          </a:xfrm>
          <a:prstGeom prst="ellipse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F82B90-59BE-011F-B86F-C62BBEAF86B2}"/>
              </a:ext>
            </a:extLst>
          </p:cNvPr>
          <p:cNvSpPr txBox="1"/>
          <p:nvPr/>
        </p:nvSpPr>
        <p:spPr>
          <a:xfrm>
            <a:off x="4146178" y="4115630"/>
            <a:ext cx="1049271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dirty="0">
                <a:solidFill>
                  <a:srgbClr val="000000"/>
                </a:solidFill>
                <a:latin typeface="Arial"/>
              </a:rPr>
              <a:t>frontier 2025</a:t>
            </a:r>
            <a:r>
              <a:rPr lang="en-US" sz="800" dirty="0" b="0">
                <a:solidFill>
                  <a:srgbClr val="000000"/>
                </a:solidFill>
                <a:latin typeface="Arial"/>
              </a:rPr>
              <a:t>-2026</a:t>
            </a:r>
            <a:endParaRPr sz="8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6495-06C5-465F-2FFF-75694303551E}"/>
              </a:ext>
            </a:extLst>
          </p:cNvPr>
          <p:cNvSpPr txBox="1"/>
          <p:nvPr/>
        </p:nvSpPr>
        <p:spPr>
          <a:xfrm>
            <a:off x="5303520" y="1866207"/>
            <a:ext cx="3474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5587"/>
                </a:solidFill>
                <a:latin typeface="Whitney Bold"/>
              </a:rPr>
              <a:t>The empirical scaling law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3E57FB3-B321-8F3C-CC09-C104AE7F0498}"/>
              </a:ext>
            </a:extLst>
          </p:cNvPr>
          <p:cNvSpPr/>
          <p:nvPr/>
        </p:nvSpPr>
        <p:spPr>
          <a:xfrm>
            <a:off x="5349240" y="2199851"/>
            <a:ext cx="3383279" cy="594360"/>
          </a:xfrm>
          <a:prstGeom prst="rect">
            <a:avLst/>
          </a:prstGeom>
          <a:solidFill>
            <a:srgbClr val="EEF3F8"/>
          </a:solidFill>
          <a:ln w="9525"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8C8A9D-C21A-9BBC-59DB-F72D04446D1D}"/>
              </a:ext>
            </a:extLst>
          </p:cNvPr>
          <p:cNvSpPr txBox="1"/>
          <p:nvPr/>
        </p:nvSpPr>
        <p:spPr>
          <a:xfrm>
            <a:off x="5349240" y="2327754"/>
            <a:ext cx="3383279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005587"/>
                </a:solidFill>
                <a:latin typeface="Whitney Bold" panose="020B0604020202020204" pitchFamily="34" charset="0"/>
                <a:cs typeface="Arial" panose="020B0604020202020204" pitchFamily="34" charset="0"/>
              </a:rPr>
              <a:t>loss  ≈  A · compute^(−α)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B85B23-41B0-EFEC-630C-CD781E8C3905}"/>
              </a:ext>
            </a:extLst>
          </p:cNvPr>
          <p:cNvSpPr txBox="1"/>
          <p:nvPr/>
        </p:nvSpPr>
        <p:spPr>
          <a:xfrm>
            <a:off x="5308508" y="2813753"/>
            <a:ext cx="365261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000000"/>
                </a:solidFill>
                <a:latin typeface="Arial"/>
              </a:rPr>
              <a:t>On a log-log plot, loss falls as a straight line with slope −α</a:t>
            </a:r>
            <a:endParaRPr lang="en-US" sz="1000" b="0" dirty="0">
              <a:solidFill>
                <a:srgbClr val="1F1F1F"/>
              </a:solidFill>
              <a:latin typeface="Arial"/>
            </a:endParaRPr>
          </a:p>
          <a:p>
            <a:pPr algn="l"/>
            <a:endParaRPr sz="1000" b="0" dirty="0">
              <a:solidFill>
                <a:srgbClr val="1F1F1F"/>
              </a:solidFill>
              <a:latin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660A8D-E86E-5F71-758D-27CB5F7CC17B}"/>
              </a:ext>
            </a:extLst>
          </p:cNvPr>
          <p:cNvSpPr txBox="1"/>
          <p:nvPr/>
        </p:nvSpPr>
        <p:spPr>
          <a:xfrm>
            <a:off x="54864" y="4937866"/>
            <a:ext cx="8321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0">
                <a:solidFill>
                  <a:srgbClr val="555555"/>
                </a:solidFill>
                <a:latin typeface="Arial"/>
              </a:rPr>
              <a:t>Sources: Kaplan et al. (2020), Scaling Laws for Neural Language Models; Hoffmann et al. (2022), Chinchilla.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475CB9-F24F-09FF-EF43-A0A1A9D08CEC}"/>
              </a:ext>
            </a:extLst>
          </p:cNvPr>
          <p:cNvSpPr txBox="1"/>
          <p:nvPr/>
        </p:nvSpPr>
        <p:spPr>
          <a:xfrm>
            <a:off x="4771817" y="3611370"/>
            <a:ext cx="1188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not fully public here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35E0623-E9FE-1189-D506-FF7CF2D08FA1}"/>
              </a:ext>
            </a:extLst>
          </p:cNvPr>
          <p:cNvCxnSpPr/>
          <p:nvPr/>
        </p:nvCxnSpPr>
        <p:spPr>
          <a:xfrm flipH="1">
            <a:off x="4702301" y="3841310"/>
            <a:ext cx="102455" cy="128016"/>
          </a:xfrm>
          <a:prstGeom prst="straightConnector1">
            <a:avLst/>
          </a:prstGeom>
          <a:ln>
            <a:solid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42B3E41-42BC-A579-538C-B82221D2E006}"/>
              </a:ext>
            </a:extLst>
          </p:cNvPr>
          <p:cNvSpPr txBox="1"/>
          <p:nvPr/>
        </p:nvSpPr>
        <p:spPr>
          <a:xfrm>
            <a:off x="463589" y="1357718"/>
            <a:ext cx="833127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evidence that we’re still scaling as of 2026 </a:t>
            </a:r>
          </a:p>
          <a:p>
            <a:r>
              <a:rPr lang="en-US" sz="11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100" dirty="0" err="1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hai.stanford.edu</a:t>
            </a:r>
            <a:r>
              <a:rPr lang="en-US" sz="11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/ai-index/2026-ai-index-report/technical-performance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326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 w="6350">
            <a:solidFill>
              <a:srgbClr val="005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Chinchilla: Compute-Optimal Training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05840"/>
            <a:ext cx="832104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Same compute budget. Different allocation between model size and training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0000" y="1065000"/>
            <a:ext cx="165000" cy="165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20000" y="1053000"/>
            <a:ext cx="112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model size / parameters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560000" y="1065000"/>
            <a:ext cx="165000" cy="165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0000" y="1053000"/>
            <a:ext cx="112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training data /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000" y="1660000"/>
            <a:ext cx="130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Kaplan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(GPT-3, 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" y="2860000"/>
            <a:ext cx="130000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600" b="1">
                <a:solidFill>
                  <a:srgbClr val="005587"/>
                </a:solidFill>
                <a:latin typeface="Whitney Bold"/>
              </a:rPr>
              <a:t>Chinchilla era</a:t>
            </a:r>
            <a:br/>
            <a:r>
              <a:rPr sz="1600" b="1">
                <a:solidFill>
                  <a:srgbClr val="005587"/>
                </a:solidFill>
                <a:latin typeface="Whitney Bold"/>
              </a:rPr>
              <a:t>(2022)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0000" y="17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050000" y="2950000"/>
            <a:ext cx="5600000" cy="410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59000" y="1759000"/>
            <a:ext cx="4032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1000" y="1759000"/>
            <a:ext cx="1550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59000" y="2959000"/>
            <a:ext cx="2688000" cy="3920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47000" y="2959000"/>
            <a:ext cx="2894000" cy="392000"/>
          </a:xfrm>
          <a:prstGeom prst="rect">
            <a:avLst/>
          </a:prstGeom>
          <a:solidFill>
            <a:srgbClr val="E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00000" y="1868000"/>
            <a:ext cx="2100000" cy="1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more budget into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0000" y="1868000"/>
            <a:ext cx="1200000" cy="1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less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0000" y="3068000"/>
            <a:ext cx="1900000" cy="1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smaller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000" y="3068000"/>
            <a:ext cx="1700000" cy="1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05587"/>
                </a:solidFill>
                <a:latin typeface="Whitney Bold"/>
              </a:rPr>
              <a:t>much more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/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GPT-3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175B parameters  |  300B tokens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0000" y="2260000"/>
            <a:ext cx="2500000" cy="43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/>
          <a:lstStyle/>
          <a:p>
            <a:pPr algn="ctr"/>
            <a:r>
              <a:rPr sz="1500" b="1">
                <a:solidFill>
                  <a:srgbClr val="005587"/>
                </a:solidFill>
                <a:latin typeface="Whitney Bold"/>
              </a:rPr>
              <a:t>Chinchilla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70B parameters  |  1.4T 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0000" y="3900000"/>
            <a:ext cx="7800000" cy="560000"/>
          </a:xfrm>
          <a:prstGeom prst="roundRect">
            <a:avLst/>
          </a:prstGeom>
          <a:solidFill>
            <a:srgbClr val="F3F8FC"/>
          </a:solidFill>
          <a:ln w="10160">
            <a:solidFill>
              <a:srgbClr val="003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0000" tIns="40000" rIns="70000" bIns="40000" rtlCol="0" anchor="ctr" wrap="square"/>
          <a:lstStyle/>
          <a:p>
            <a:pPr algn="ctr"/>
            <a:r>
              <a:rPr sz="1600" b="1">
                <a:solidFill>
                  <a:srgbClr val="005587"/>
                </a:solidFill>
                <a:latin typeface="Whitney Bold"/>
              </a:rPr>
              <a:t>Key idea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Arial"/>
              </a:rPr>
              <a:t>For a fixed compute budget, a smaller model trained on much more data can outperform a larger undertrained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000" y="4575000"/>
            <a:ext cx="7000000" cy="2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Chinchilla rule of thumb: roughly 20 training tokens per parameter, though modern models often train with much more data per parameter.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83210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Arial"/>
              </a:rPr>
              <a:t>Source: Hoffmann et al. (2022), Training Compute-Optimal Large Language Models.</a:t>
            </a:r>
          </a:p>
        </p:txBody>
      </p:sp>
    </p:spTree>
    <p:extLst>
      <p:ext uri="{BB962C8B-B14F-4D97-AF65-F5344CB8AC3E}">
        <p14:creationId xmlns:p14="http://schemas.microsoft.com/office/powerpoint/2010/main" val="38034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 scaling laws">
            <a:extLst>
              <a:ext uri="{FF2B5EF4-FFF2-40B4-BE49-F238E27FC236}">
                <a16:creationId xmlns:a16="http://schemas.microsoft.com/office/drawing/2014/main" id="{0656468C-F9C3-A9AE-0A0D-237E184BD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2A6BBE-968D-3DD1-AE4F-282FE6D2FC5F}"/>
              </a:ext>
            </a:extLst>
          </p:cNvPr>
          <p:cNvSpPr txBox="1"/>
          <p:nvPr/>
        </p:nvSpPr>
        <p:spPr>
          <a:xfrm>
            <a:off x="5345084" y="476556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400" dirty="0" err="1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blogs.nvidia.com</a:t>
            </a:r>
            <a:r>
              <a:rPr lang="en-US" sz="1400" dirty="0" b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/blog/ai-scaling-laws/</a:t>
            </a:r>
          </a:p>
        </p:txBody>
      </p:sp>
    </p:spTree>
    <p:extLst>
      <p:ext uri="{BB962C8B-B14F-4D97-AF65-F5344CB8AC3E}">
        <p14:creationId xmlns:p14="http://schemas.microsoft.com/office/powerpoint/2010/main" val="22044825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64170"/>
            <a:ext cx="8321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>
                <a:solidFill>
                  <a:srgbClr val="005587"/>
                </a:solidFill>
                <a:latin typeface="Whitney Bold"/>
              </a:rPr>
              <a:t>Some</a:t>
            </a:r>
            <a:r>
              <a:rPr sz="2800" b="1" dirty="0">
                <a:solidFill>
                  <a:srgbClr val="005587"/>
                </a:solidFill>
                <a:latin typeface="Whitney Bold"/>
              </a:rPr>
              <a:t>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211303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Whitney Bold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11303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Scaling laws are predictable, but expensive.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5623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Doubling intelligence is roughly a 10x compute increase. Most of the world won't pay for that themselves.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69671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Whitney Bold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69671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Training cost concentrates the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3991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Only 5-10 organizations can afford a frontier run. Expect that list to shrink, not grow.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2803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Whitney Bold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28039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Inference is the real long-run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02358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Deploying an LLM is a stream, not a one-time bill. Costs scale linearly with usage.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8640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Whitney Bold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86406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Per-token prices are falling fast.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60726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10x per year for several years. What's expensive today is commodity in 18 months.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44774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5587"/>
                </a:solidFill>
                <a:latin typeface="Whitney Bold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4774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NVIDIA holds the picks-and-shovels position.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119094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00000"/>
                </a:solidFill>
                <a:latin typeface="Arial"/>
              </a:rPr>
              <a:t>Most AI revenue today flows through NVIDIA hardware. Watch for the picks-and-shovels economics to be challenged.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8C442-241B-F58D-740D-74D6142FC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D25-AE42-B093-9906-84995661D05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8B78B-C0B6-8729-A6C6-A5D9EDE92D00}"/>
              </a:ext>
            </a:extLst>
          </p:cNvPr>
          <p:cNvSpPr txBox="1"/>
          <p:nvPr/>
        </p:nvSpPr>
        <p:spPr>
          <a:xfrm>
            <a:off x="0" y="2206377"/>
            <a:ext cx="9144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Whitney Bold"/>
              </a:rPr>
              <a:t>Open-Weight Models</a:t>
            </a:r>
            <a:endParaRPr sz="4000" b="1" dirty="0">
              <a:solidFill>
                <a:srgbClr val="FFFFFF"/>
              </a:solidFill>
              <a:latin typeface="Whitney Bold"/>
            </a:endParaRPr>
          </a:p>
        </p:txBody>
      </p:sp>
    </p:spTree>
    <p:extLst>
      <p:ext uri="{BB962C8B-B14F-4D97-AF65-F5344CB8AC3E}">
        <p14:creationId xmlns:p14="http://schemas.microsoft.com/office/powerpoint/2010/main" val="17512640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8595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005587"/>
                </a:solidFill>
                <a:latin typeface="Whitney Bold"/>
              </a:rPr>
              <a:t>Assignment 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solidFill>
              <a:srgbClr val="0055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05587"/>
                </a:solidFill>
                <a:latin typeface="Whitney Bold"/>
              </a:rPr>
              <a:t>Glossary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14400"/>
            <a:ext cx="8321040" cy="0"/>
          </a:xfrm>
          <a:prstGeom prst="line">
            <a:avLst/>
          </a:prstGeom>
          <a:ln w="1270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7899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Logits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07899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Raw next-token scores produced before softmax converts them into probabilities.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7335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Generation setting that divides logits before softmax; low T sharpens, high T flattens.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Greedy / 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6771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Generation strategies: pick the top token vs. draw from the probability distribution.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6207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SFT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86207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Arial"/>
              </a:rPr>
              <a:t>Supervised fine-tuning on prompt-response demonstrations, teaching the model what useful answers look like.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Catastrophic Forgetting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45643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Fine-tuning damages capabilities the base model previously had.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50791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Reward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050791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Separate neural network trained on human preferences to score (q, a) pairs.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07899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Reward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107899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The score r(q, a) the reward model assigns; the optimization target during RLHF.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7335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RLHF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167335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Reinforcement Learning from Human Feedback. Optimize the LLM as a policy against the RM, KL-regularized to SFT.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2677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Chain-of-Thought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26771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Generating intermediate reasoning steps before the final answer.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86207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Mixture of Experts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286207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Transformer variant where a router sends each token to a small subset of expert modules.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45643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5587"/>
                </a:solidFill>
                <a:latin typeface="Whitney Bold"/>
              </a:rPr>
              <a:t>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456432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Retrieval-Augmented Generation. Retrieve external text and add to the prompt before answering.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050791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Whitney Bold"/>
              </a:rPr>
              <a:t>Distillation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050791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000000"/>
                </a:solidFill>
                <a:latin typeface="Arial"/>
              </a:rPr>
              <a:t>Training a smaller student model to imitate outputs from a stronger teacher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</TotalTime>
  <Words>3580</Words>
  <Application>Microsoft Macintosh PowerPoint</Application>
  <PresentationFormat>On-screen Show (16:9)</PresentationFormat>
  <Paragraphs>637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Aptos</vt:lpstr>
      <vt:lpstr>Arial</vt:lpstr>
      <vt:lpstr>Calibri</vt:lpstr>
      <vt:lpstr>Cambria</vt:lpstr>
      <vt:lpstr>Consolas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Siddiq, Auyon</cp:lastModifiedBy>
  <cp:revision>305</cp:revision>
  <dcterms:created xsi:type="dcterms:W3CDTF">2013-01-27T09:14:16Z</dcterms:created>
  <dcterms:modified xsi:type="dcterms:W3CDTF">2026-05-08T04:00:44Z</dcterms:modified>
  <cp:category/>
</cp:coreProperties>
</file>