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www.vast.ai/pricing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MGMT298D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Auyon Siddiq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 dirty="0">
                <a:solidFill>
                  <a:srgbClr val="005587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>
                <a:solidFill>
                  <a:srgbClr val="005587"/>
                </a:solidFill>
                <a:latin typeface="Arial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Arial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70707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DDDDDD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70707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DDDDDD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70707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DDDDDD"/>
                </a:solidFill>
                <a:latin typeface="Arial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0">
                <a:solidFill>
                  <a:srgbClr val="70707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CDCDCD"/>
                </a:solidFill>
                <a:latin typeface="Arial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Arial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Arial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Consolas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Consolas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Consolas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Consolas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Consolas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005587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mbria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Arial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12A2A"/>
                </a:solidFill>
                <a:latin typeface="Whitney Bold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1F1F1F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1F1F1F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1F1F1F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1F1F1F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860B"/>
                </a:solidFill>
                <a:latin typeface="Whitney Bold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9652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9652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79652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1F1F"/>
                </a:solidFill>
                <a:latin typeface="Arial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5587"/>
                </a:solidFill>
                <a:latin typeface="Cambria"/>
              </a:rPr>
              <a:t>p_i</a:t>
            </a:r>
            <a:r>
              <a:rPr sz="1800" b="1" dirty="0">
                <a:solidFill>
                  <a:srgbClr val="005587"/>
                </a:solidFill>
                <a:latin typeface="Cambria"/>
              </a:rPr>
              <a:t>  =  exp(</a:t>
            </a:r>
            <a:r>
              <a:rPr sz="1800" b="1" dirty="0" err="1">
                <a:solidFill>
                  <a:srgbClr val="005587"/>
                </a:solidFill>
                <a:latin typeface="Cambria"/>
              </a:rPr>
              <a:t>z_i</a:t>
            </a:r>
            <a:r>
              <a:rPr sz="1800" b="1" dirty="0">
                <a:solidFill>
                  <a:srgbClr val="005587"/>
                </a:solidFill>
                <a:latin typeface="Cambria"/>
              </a:rPr>
              <a:t> / T) / </a:t>
            </a:r>
            <a:r>
              <a:rPr sz="1800" b="1" dirty="0" err="1">
                <a:solidFill>
                  <a:srgbClr val="005587"/>
                </a:solidFill>
                <a:latin typeface="Cambria"/>
              </a:rPr>
              <a:t>Σ_j</a:t>
            </a:r>
            <a:r>
              <a:rPr sz="1800" b="1" dirty="0">
                <a:solidFill>
                  <a:srgbClr val="005587"/>
                </a:solidFill>
                <a:latin typeface="Cambria"/>
              </a:rPr>
              <a:t> exp(</a:t>
            </a:r>
            <a:r>
              <a:rPr sz="1800" b="1" dirty="0" err="1">
                <a:solidFill>
                  <a:srgbClr val="005587"/>
                </a:solidFill>
                <a:latin typeface="Cambria"/>
              </a:rPr>
              <a:t>z_j</a:t>
            </a:r>
            <a:r>
              <a:rPr sz="1800" b="1" dirty="0">
                <a:solidFill>
                  <a:srgbClr val="005587"/>
                </a:solidFill>
                <a:latin typeface="Cambria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1F1F1F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dirty="0">
                <a:latin typeface="Arial"/>
              </a:rPr>
              <a:t>Temperature is a knob the</a:t>
            </a:r>
            <a:r>
              <a:rPr lang="en-US" sz="1400" dirty="0">
                <a:latin typeface="Arial"/>
              </a:rPr>
              <a:t> AI service provider </a:t>
            </a:r>
            <a:r>
              <a:rPr sz="1400" dirty="0"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 err="1">
                <a:solidFill>
                  <a:srgbClr val="005587"/>
                </a:solidFill>
                <a:latin typeface="Whitney Bold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dirty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>
                <a:solidFill>
                  <a:srgbClr val="1F1F1F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>
                <a:solidFill>
                  <a:srgbClr val="1F1F1F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latin typeface="Arial"/>
              </a:rPr>
              <a:t>User: </a:t>
            </a:r>
            <a:r>
              <a:rPr sz="1200" b="0">
                <a:latin typeface="Consolas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Model: </a:t>
            </a:r>
            <a:r>
              <a:rPr sz="1200" b="0" dirty="0">
                <a:latin typeface="Consolas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User: </a:t>
            </a:r>
            <a:r>
              <a:rPr sz="1200" b="0" dirty="0">
                <a:latin typeface="Consolas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Model: </a:t>
            </a:r>
            <a:r>
              <a:rPr sz="1200" b="0" dirty="0">
                <a:latin typeface="Consolas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1F1F1F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1F1F1F"/>
                </a:solidFill>
                <a:latin typeface="Arial"/>
              </a:rPr>
              <a:t>tiny step sizes </a:t>
            </a:r>
            <a:r>
              <a:rPr lang="en-US" sz="1400" dirty="0">
                <a:solidFill>
                  <a:srgbClr val="1F1F1F"/>
                </a:solidFill>
                <a:latin typeface="Arial"/>
              </a:rPr>
              <a:t>in backprop / gradient descent </a:t>
            </a:r>
            <a:r>
              <a:rPr lang="en-US" sz="1400" dirty="0">
                <a:solidFill>
                  <a:srgbClr val="1F1F1F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>
                <a:solidFill>
                  <a:srgbClr val="1F1F1F"/>
                </a:solidFill>
                <a:latin typeface="Arial"/>
              </a:rPr>
              <a:t>Each example is a (prompt, ideal answer) pair</a:t>
            </a:r>
            <a:r>
              <a:rPr lang="en-US" sz="1400" dirty="0">
                <a:solidFill>
                  <a:srgbClr val="1F1F1F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latin typeface="Arial"/>
              </a:rPr>
              <a:t>User: </a:t>
            </a:r>
            <a:r>
              <a:rPr sz="900" b="0" dirty="0">
                <a:latin typeface="Consolas"/>
              </a:rPr>
              <a:t>Who proposed the theory of natural selection?</a:t>
            </a:r>
          </a:p>
          <a:p>
            <a:pPr algn="l"/>
            <a:r>
              <a:rPr sz="950" b="1" dirty="0">
                <a:latin typeface="Arial"/>
              </a:rPr>
              <a:t>Model: </a:t>
            </a:r>
            <a:r>
              <a:rPr sz="900" b="0" dirty="0">
                <a:latin typeface="Consolas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latin typeface="Arial"/>
              </a:rPr>
              <a:t>User: </a:t>
            </a:r>
            <a:r>
              <a:rPr sz="900" b="0">
                <a:latin typeface="Consolas"/>
              </a:rPr>
              <a:t>Give me three ideas for an MBA capstone on supply chains.</a:t>
            </a:r>
          </a:p>
          <a:p>
            <a:pPr algn="l"/>
            <a:r>
              <a:rPr sz="950" b="1">
                <a:latin typeface="Arial"/>
              </a:rPr>
              <a:t>Model: </a:t>
            </a:r>
            <a:r>
              <a:rPr sz="900" b="0">
                <a:latin typeface="Consolas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latin typeface="Arial"/>
              </a:rPr>
              <a:t>User: </a:t>
            </a:r>
            <a:r>
              <a:rPr sz="900" b="0" dirty="0">
                <a:latin typeface="Consolas"/>
              </a:rPr>
              <a:t>Summarize this 5-paragraph memo in 2 sentences.</a:t>
            </a:r>
          </a:p>
          <a:p>
            <a:pPr algn="l"/>
            <a:r>
              <a:rPr sz="950" b="1" dirty="0">
                <a:latin typeface="Arial"/>
              </a:rPr>
              <a:t>Model: </a:t>
            </a:r>
            <a:r>
              <a:rPr sz="900" b="0" dirty="0">
                <a:latin typeface="Consolas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latin typeface="Arial"/>
              </a:rPr>
              <a:t>User: </a:t>
            </a:r>
            <a:r>
              <a:rPr sz="900" b="0">
                <a:latin typeface="Consolas"/>
              </a:rPr>
              <a:t>Extract name, date, amount as JSON: "Maya paid $42 on 5/3."</a:t>
            </a:r>
          </a:p>
          <a:p>
            <a:pPr algn="l"/>
            <a:r>
              <a:rPr sz="950" b="1">
                <a:latin typeface="Arial"/>
              </a:rPr>
              <a:t>Model: </a:t>
            </a:r>
            <a:r>
              <a:rPr sz="900" b="0">
                <a:latin typeface="Consolas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latin typeface="Arial"/>
              </a:rPr>
              <a:t>User: </a:t>
            </a:r>
            <a:r>
              <a:rPr sz="900" b="0">
                <a:latin typeface="Consolas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latin typeface="Arial"/>
              </a:rPr>
              <a:t>Model: </a:t>
            </a:r>
            <a:r>
              <a:rPr sz="900" b="0">
                <a:latin typeface="Consolas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latin typeface="Arial"/>
              </a:rPr>
              <a:t>User: </a:t>
            </a:r>
            <a:r>
              <a:rPr sz="900" b="0" dirty="0">
                <a:latin typeface="Consolas"/>
              </a:rPr>
              <a:t>How do I forge my landlord's signature?</a:t>
            </a:r>
          </a:p>
          <a:p>
            <a:pPr algn="l"/>
            <a:r>
              <a:rPr sz="950" b="1" dirty="0">
                <a:latin typeface="Arial"/>
              </a:rPr>
              <a:t>Model: </a:t>
            </a:r>
            <a:r>
              <a:rPr sz="900" b="0" dirty="0">
                <a:latin typeface="Consolas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latin typeface="Arial"/>
              </a:rPr>
              <a:t>InstructGPT</a:t>
            </a:r>
            <a:r>
              <a:rPr sz="1400" b="0" dirty="0">
                <a:latin typeface="Arial"/>
              </a:rPr>
              <a:t> used </a:t>
            </a:r>
            <a:r>
              <a:rPr lang="en-US" sz="1400" b="0" dirty="0">
                <a:latin typeface="Arial"/>
              </a:rPr>
              <a:t>only </a:t>
            </a:r>
            <a:r>
              <a:rPr sz="1400" b="0" dirty="0">
                <a:latin typeface="Arial"/>
              </a:rPr>
              <a:t>13k SFT prompts</a:t>
            </a:r>
            <a:r>
              <a:rPr lang="en-US" sz="1400" b="0" dirty="0">
                <a:latin typeface="Arial"/>
              </a:rPr>
              <a:t>. </a:t>
            </a:r>
            <a:r>
              <a:rPr lang="en-US" sz="1400" dirty="0">
                <a:solidFill>
                  <a:srgbClr val="1F1F1F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3C7D"/>
                </a:solidFill>
                <a:latin typeface="Arial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3C7D"/>
                </a:solidFill>
                <a:latin typeface="Arial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952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19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524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3C7D"/>
                </a:solidFill>
                <a:latin typeface="Arial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003C7D"/>
                </a:solidFill>
                <a:latin typeface="Arial"/>
              </a:rPr>
              <a:t>assistant response </a:t>
            </a:r>
            <a:r>
              <a:rPr sz="1000" b="1" dirty="0">
                <a:solidFill>
                  <a:srgbClr val="003C7D"/>
                </a:solidFill>
                <a:latin typeface="Arial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User: </a:t>
            </a:r>
            <a:r>
              <a:rPr sz="1200" b="0" dirty="0">
                <a:latin typeface="Consolas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accent6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chemeClr val="accent6"/>
                </a:solidFill>
                <a:latin typeface="Arial"/>
              </a:rPr>
              <a:t> (after SFT)</a:t>
            </a:r>
            <a:r>
              <a:rPr sz="1200" b="1" dirty="0">
                <a:solidFill>
                  <a:schemeClr val="accent6"/>
                </a:solidFill>
                <a:latin typeface="Arial"/>
              </a:rPr>
              <a:t>: </a:t>
            </a:r>
            <a:r>
              <a:rPr sz="1200" b="1" dirty="0">
                <a:solidFill>
                  <a:schemeClr val="accent6"/>
                </a:solidFill>
                <a:latin typeface="Consolas"/>
              </a:rPr>
              <a:t>Sign in at </a:t>
            </a:r>
            <a:r>
              <a:rPr sz="1200" b="1" dirty="0" err="1">
                <a:solidFill>
                  <a:schemeClr val="accent6"/>
                </a:solidFill>
                <a:latin typeface="Consolas"/>
              </a:rPr>
              <a:t>netflix.com</a:t>
            </a:r>
            <a:r>
              <a:rPr sz="1200" b="1" dirty="0">
                <a:solidFill>
                  <a:schemeClr val="accent6"/>
                </a:solidFill>
                <a:latin typeface="Consolas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rial"/>
              </a:rPr>
              <a:t>User: </a:t>
            </a:r>
            <a:r>
              <a:rPr sz="1200" b="0" dirty="0">
                <a:latin typeface="Consolas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accent6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chemeClr val="accent6"/>
                </a:solidFill>
                <a:latin typeface="Arial"/>
              </a:rPr>
              <a:t> (after SFT)</a:t>
            </a:r>
            <a:r>
              <a:rPr sz="1200" b="1" dirty="0">
                <a:solidFill>
                  <a:schemeClr val="accent6"/>
                </a:solidFill>
                <a:latin typeface="Arial"/>
              </a:rPr>
              <a:t>: </a:t>
            </a:r>
            <a:r>
              <a:rPr sz="1200" b="1" dirty="0">
                <a:solidFill>
                  <a:schemeClr val="accent6"/>
                </a:solidFill>
                <a:latin typeface="Consolas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accent2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chemeClr val="accent2"/>
                </a:solidFill>
                <a:latin typeface="Arial"/>
              </a:rPr>
              <a:t> (before SFT)</a:t>
            </a:r>
            <a:r>
              <a:rPr sz="1200" b="1" dirty="0">
                <a:solidFill>
                  <a:schemeClr val="accent2"/>
                </a:solidFill>
                <a:latin typeface="Arial"/>
              </a:rPr>
              <a:t>: </a:t>
            </a:r>
            <a:r>
              <a:rPr sz="1200" b="0" dirty="0">
                <a:solidFill>
                  <a:schemeClr val="accent2"/>
                </a:solidFill>
                <a:latin typeface="Consolas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accent2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chemeClr val="accent2"/>
                </a:solidFill>
                <a:latin typeface="Arial"/>
              </a:rPr>
              <a:t> (before SFT)</a:t>
            </a:r>
            <a:r>
              <a:rPr sz="1200" b="1" dirty="0">
                <a:solidFill>
                  <a:schemeClr val="accent2"/>
                </a:solidFill>
                <a:latin typeface="Arial"/>
              </a:rPr>
              <a:t>: </a:t>
            </a:r>
            <a:r>
              <a:rPr sz="1200" b="0" dirty="0">
                <a:solidFill>
                  <a:schemeClr val="accent2"/>
                </a:solidFill>
                <a:latin typeface="Consolas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latin typeface="Arial"/>
              </a:rPr>
              <a:t>New </a:t>
            </a:r>
            <a:r>
              <a:rPr lang="en-US" sz="1400" dirty="0">
                <a:latin typeface="Arial"/>
              </a:rPr>
              <a:t>behavior is entirely due to</a:t>
            </a:r>
            <a:r>
              <a:rPr lang="en-US" sz="1400" b="0" dirty="0"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Catastrophic forgetting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Style drift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Can’t shape preferences: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C12A2A"/>
                </a:solidFill>
                <a:latin typeface="Arial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C12A2A"/>
                </a:solidFill>
                <a:latin typeface="Arial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Arial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C12A2A"/>
                </a:solidFill>
                <a:latin typeface="Arial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927561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555555"/>
                </a:solidFill>
                <a:latin typeface="Whitney Bold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Whitney Bold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2E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B825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0000"/>
                  </a:solidFill>
                  <a:latin typeface="Arial"/>
                </a:rPr>
                <a:t>Scoring </a:t>
              </a:r>
              <a:r>
                <a:rPr lang="en-US" sz="1180" b="1" dirty="0">
                  <a:solidFill>
                    <a:srgbClr val="000000"/>
                  </a:solidFill>
                  <a:latin typeface="Arial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4317" y="1008717"/>
            <a:ext cx="8686800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0000"/>
                  </a:solidFill>
                  <a:latin typeface="Arial"/>
                </a:rPr>
                <a:t>Scoring </a:t>
              </a:r>
              <a:r>
                <a:rPr lang="en-US" sz="1180" b="1" dirty="0">
                  <a:solidFill>
                    <a:srgbClr val="000000"/>
                  </a:solidFill>
                  <a:latin typeface="Arial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1F1F1F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0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k preference pairs
(</a:t>
            </a:r>
            <a:r>
              <a:rPr lang="en-US" sz="1200" dirty="0">
                <a:solidFill>
                  <a:srgbClr val="1F1F1F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1F1F1F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0k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 prompts</a:t>
            </a:r>
            <a:r>
              <a:rPr lang="en-US" sz="1200" dirty="0">
                <a:solidFill>
                  <a:srgbClr val="1F1F1F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1F1F1F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1F1F1F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1F1F1F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1F1F1F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1F1F1F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1F1F1F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1F1F1F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FFFFFF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Synthetic data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Distillation</a:t>
            </a:r>
            <a:r>
              <a:rPr dirty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2121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12121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6348" tIns="-4761" rIns="-6348" bIns="-476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F1F1F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es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005587"/>
                </a:solidFill>
                <a:latin typeface="Arial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dirty="0">
                <a:solidFill>
                  <a:srgbClr val="555555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F1F1F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1F1F1F"/>
                </a:solidFill>
                <a:latin typeface="Arial"/>
              </a:rPr>
              <a:t>model </a:t>
            </a:r>
            <a:r>
              <a:rPr lang="en-US" sz="1200" dirty="0">
                <a:solidFill>
                  <a:srgbClr val="1F1F1F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Arial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5587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1F1F1F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6488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C644FC-BC3D-AB24-96F3-226E9F15618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56175-3F5E-5EB3-F540-A5655345449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8C1DBEC-895C-501A-B6B0-714C66F341E2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3799158-CD0A-4C12-15F8-F0932F705C3B}"/>
              </a:ext>
            </a:extLst>
          </p:cNvPr>
          <p:cNvSpPr txBox="1"/>
          <p:nvPr/>
        </p:nvSpPr>
        <p:spPr>
          <a:xfrm>
            <a:off x="1812275" y="1599187"/>
            <a:ext cx="4274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ways for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reasoning to occur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B3ECC-05EB-D7E5-B88C-AE53ABFBABE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51C92-2E1F-E5F6-E0BF-2287CCAD85C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Self Consistency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10145D-8CA3-166D-DA0B-1AE93373CF3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8BB8E8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0" dirty="0"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44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44B8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44B8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44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44B8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44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44B8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44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44B8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44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44B8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7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7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3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4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 dirty="0">
                <a:solidFill>
                  <a:schemeClr val="accent2"/>
                </a:solidFill>
                <a:latin typeface="Arial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5587"/>
                </a:solidFill>
                <a:latin typeface="Whitney Bold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F1F1F"/>
                </a:solidFill>
                <a:latin typeface="Arial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>
                <a:solidFill>
                  <a:srgbClr val="1F1F1F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1F1F1F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55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1F1F"/>
                  </a:solidFill>
                  <a:latin typeface="Arial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>
                  <a:solidFill>
                    <a:srgbClr val="1F1F1F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55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1F1F1F"/>
                  </a:solidFill>
                  <a:latin typeface="Arial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>
                  <a:solidFill>
                    <a:srgbClr val="1F1F1F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1F1F1F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1F1F1F"/>
                </a:solidFill>
                <a:latin typeface="Arial"/>
              </a:rPr>
              <a:t>big </a:t>
            </a:r>
            <a:r>
              <a:rPr lang="en-US" dirty="0">
                <a:solidFill>
                  <a:srgbClr val="1F1F1F"/>
                </a:solidFill>
                <a:latin typeface="Arial"/>
              </a:rPr>
              <a:t>companies </a:t>
            </a:r>
            <a:r>
              <a:rPr b="0" dirty="0">
                <a:solidFill>
                  <a:srgbClr val="1F1F1F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vast.ai</a:t>
            </a:r>
            <a:r>
              <a:rPr lang="en-US" dirty="0"/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Whitney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Whitney Bold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Whitney Bold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Whitney Bold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8321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4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dirty="0">
                <a:solidFill>
                  <a:srgbClr val="1F1F1F"/>
                </a:solidFill>
                <a:latin typeface="Arial"/>
              </a:rPr>
              <a:t>Training is </a:t>
            </a:r>
            <a:r>
              <a:rPr lang="en-US" sz="2000" dirty="0">
                <a:solidFill>
                  <a:srgbClr val="1F1F1F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397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>
                <a:solidFill>
                  <a:srgbClr val="555555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dirty="0">
                <a:solidFill>
                  <a:srgbClr val="1F1F1F"/>
                </a:solidFill>
                <a:latin typeface="Arial"/>
              </a:rPr>
              <a:t>API prices for the same intelligence level have dropped </a:t>
            </a:r>
            <a:r>
              <a:rPr lang="en-US" sz="1300" dirty="0">
                <a:solidFill>
                  <a:srgbClr val="1F1F1F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Whitney Bold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Whitney Bold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Whitney Bold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Whitney Bold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1F1F"/>
                </a:solidFill>
                <a:latin typeface="Cambria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A1C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>
                <a:solidFill>
                  <a:srgbClr val="1A1C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1A1C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1A1C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 dirty="0">
                <a:solidFill>
                  <a:srgbClr val="555555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555555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F1F1F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F1F1F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F1F1F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1F1F1F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1F1F1F"/>
                </a:solidFill>
                <a:latin typeface="Arial"/>
              </a:rPr>
              <a:t>frontier 2025</a:t>
            </a:r>
            <a:r>
              <a:rPr lang="en-US" sz="800" dirty="0">
                <a:solidFill>
                  <a:srgbClr val="1F1F1F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1F1F1F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hitney Bold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hitney Bold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hitney Bold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hitney Bold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/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1F1F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